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[1:20 · Architecture] One product, two engines. The left is held fixed: the browser talks to CloudFront, which serves the React app out of S3 and sends /api/* and /ws to the ALB. The ALB is the fork.</a:t>
            </a:r>
          </a:p>
          <a:p/>
          <a:p>
            <a:r>
              <a:t>Up and to the right is engine A — the glue code I wrote. One Fargate service calls Bedrock directly and runs a hand-written extractor.</a:t>
            </a:r>
          </a:p>
          <a:p/>
          <a:p>
            <a:r>
              <a:t>Along the bottom is engine B — the same product on Amazon Bedrock AgentCore. A thin Fargate proxy hands the turn to the AgentCore Runtime, which uses Memory for extraction, Gateway to reach the profile-tools Lambda over MCP, and Observability for session traces.</a:t>
            </a:r>
          </a:p>
          <a:p/>
          <a:p>
            <a:r>
              <a:t>The column on the right is what neither engine owns. Both call the same model. Both report into one CloudWatch dashboard. And both write the same table — the tinted card, because people assume the database belongs to engine A. It does not. It stays the source of truth for the profile either way: engine A writes it directly, and on engine B whatever Memory extracts is mirrored into it after every turn. So the profile UI works unchanged on both.</a:t>
            </a:r>
          </a:p>
          <a:p/>
          <a:p>
            <a:r>
              <a:t>Only the two dashed regions differ — and the four decisions inside them are the next four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232F3E"/>
                </a:solidFill>
                <a:latin typeface="Calibri"/>
              </a:rPr>
              <a:t>Architecture — one product, two engines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371600" cy="3657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82296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545B64"/>
                </a:solidFill>
                <a:latin typeface="Calibri"/>
              </a:rPr>
              <a:t>VALENTIN   ·   GenAI TFC Capstone Deep-Dive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133856"/>
            <a:ext cx="4160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545B64"/>
                </a:solidFill>
                <a:latin typeface="Calibri"/>
              </a:rPr>
              <a:t>SHARED FRONT DOOR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2584" y="1133856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Calibri"/>
              </a:rPr>
              <a:t>ENGINE A · GLUE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133856"/>
            <a:ext cx="36941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545B64"/>
                </a:solidFill>
                <a:latin typeface="Calibri"/>
              </a:rPr>
              <a:t>SHARED BY BOTH ENGINES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40690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7C3C"/>
                </a:solidFill>
                <a:latin typeface="Calibri"/>
              </a:rPr>
              <a:t>ENGINE B · AGENTCORE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389888"/>
            <a:ext cx="4160520" cy="1709928"/>
          </a:xfrm>
          <a:prstGeom prst="roundRect">
            <a:avLst>
              <a:gd name="adj" fmla="val 4278"/>
            </a:avLst>
          </a:prstGeom>
          <a:noFill/>
          <a:ln w="15875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72584" y="1389888"/>
            <a:ext cx="3099816" cy="850391"/>
          </a:xfrm>
          <a:prstGeom prst="roundRect">
            <a:avLst>
              <a:gd name="adj" fmla="val 8602"/>
            </a:avLst>
          </a:prstGeom>
          <a:noFill/>
          <a:ln w="22225">
            <a:solidFill>
              <a:srgbClr val="232F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8160" y="1389888"/>
            <a:ext cx="3694176" cy="2569464"/>
          </a:xfrm>
          <a:prstGeom prst="roundRect">
            <a:avLst>
              <a:gd name="adj" fmla="val 2846"/>
            </a:avLst>
          </a:prstGeom>
          <a:noFill/>
          <a:ln w="15875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" y="4325112"/>
            <a:ext cx="11448288" cy="1609343"/>
          </a:xfrm>
          <a:prstGeom prst="roundRect">
            <a:avLst>
              <a:gd name="adj" fmla="val 4545"/>
            </a:avLst>
          </a:prstGeom>
          <a:noFill/>
          <a:ln w="22225">
            <a:solidFill>
              <a:srgbClr val="1E7C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4632" y="1517904"/>
            <a:ext cx="1915668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rowser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636776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9848" y="1572768"/>
            <a:ext cx="124815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Browser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1828800"/>
            <a:ext cx="12481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the chat UI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28316" y="1517904"/>
            <a:ext cx="1915668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loudFron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0" y="1636776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113532" y="1572768"/>
            <a:ext cx="124815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CloudFront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3532" y="1828800"/>
            <a:ext cx="12481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one origin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" y="2377440"/>
            <a:ext cx="1915668" cy="621792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3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2496312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69848" y="2432304"/>
            <a:ext cx="124815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545B64"/>
                </a:solidFill>
                <a:latin typeface="Calibri"/>
              </a:rPr>
              <a:t>S3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2688336"/>
            <a:ext cx="12481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app bundle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28316" y="2377440"/>
            <a:ext cx="1915668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LB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900" y="2496312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113532" y="2432304"/>
            <a:ext cx="124815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ALB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13532" y="2688336"/>
            <a:ext cx="12481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/api/* · /ws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73168" y="1517904"/>
            <a:ext cx="2898648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argat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1636776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358384" y="1572768"/>
            <a:ext cx="223113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Fargate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58384" y="1828800"/>
            <a:ext cx="22311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valentin-service-dev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38744" y="1517904"/>
            <a:ext cx="3493008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edro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9327" y="1636776"/>
            <a:ext cx="384048" cy="3840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823959" y="1572768"/>
            <a:ext cx="282549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Bedrock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59" y="1828800"/>
            <a:ext cx="28254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Claude Sonnet 4.5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38744" y="2377440"/>
            <a:ext cx="3493008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CloudWatch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27" y="2496312"/>
            <a:ext cx="384048" cy="38404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432304"/>
            <a:ext cx="282549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CloudWatch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3959" y="2688336"/>
            <a:ext cx="28254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one dashboard, both engines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8744" y="3236976"/>
            <a:ext cx="3493008" cy="621792"/>
          </a:xfrm>
          <a:prstGeom prst="roundRect">
            <a:avLst>
              <a:gd name="adj" fmla="val 11764"/>
            </a:avLst>
          </a:prstGeom>
          <a:solidFill>
            <a:srgbClr val="FFEFD6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ynamoDB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9327" y="3355848"/>
            <a:ext cx="384048" cy="38404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23959" y="3291840"/>
            <a:ext cx="282549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DynamoDB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23959" y="3547872"/>
            <a:ext cx="28254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ValentinTable-dev · shared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4632" y="4425696"/>
            <a:ext cx="3664000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Fargat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" y="4544568"/>
            <a:ext cx="384048" cy="3840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69848" y="4480559"/>
            <a:ext cx="299648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Fargate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" y="4736592"/>
            <a:ext cx="2996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valentin-ac-proxy-dev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76648" y="4425696"/>
            <a:ext cx="3664000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Runtime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7232" y="4544568"/>
            <a:ext cx="384048" cy="38404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861864" y="4480559"/>
            <a:ext cx="299648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Runtime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61864" y="4736592"/>
            <a:ext cx="2996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valentin_agent_dev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68665" y="4425696"/>
            <a:ext cx="3664000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Memory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69249" y="4544568"/>
            <a:ext cx="384048" cy="38404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53881" y="4480559"/>
            <a:ext cx="299648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Memory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53881" y="4736592"/>
            <a:ext cx="2996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valentin_memory_dev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4632" y="5212080"/>
            <a:ext cx="3664000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Observability ico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5216" y="5330952"/>
            <a:ext cx="384048" cy="38404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69848" y="5266944"/>
            <a:ext cx="299648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Observability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9848" y="5522976"/>
            <a:ext cx="2996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session traces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6648" y="5212080"/>
            <a:ext cx="3664000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Gateway ic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77232" y="5330952"/>
            <a:ext cx="384048" cy="38404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861864" y="5266944"/>
            <a:ext cx="299648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Gateway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61864" y="5522976"/>
            <a:ext cx="2996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MCP · CUSTOM_JWT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68665" y="5212080"/>
            <a:ext cx="3664000" cy="621792"/>
          </a:xfrm>
          <a:prstGeom prst="roundRect">
            <a:avLst>
              <a:gd name="adj" fmla="val 11764"/>
            </a:avLst>
          </a:prstGeom>
          <a:solidFill>
            <a:srgbClr val="F7F8FA"/>
          </a:solidFill>
          <a:ln w="1270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Lambda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69249" y="5330952"/>
            <a:ext cx="384048" cy="38404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653881" y="5266944"/>
            <a:ext cx="299648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32F3E"/>
                </a:solidFill>
                <a:latin typeface="Calibri"/>
              </a:rPr>
              <a:t>Lambda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53881" y="5522976"/>
            <a:ext cx="2996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45B64"/>
                </a:solidFill>
                <a:latin typeface="Calibri"/>
              </a:rPr>
              <a:t>valentin-profile-tools-dev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2920" y="6208776"/>
            <a:ext cx="502920" cy="0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1124712" y="6044184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6191F"/>
                </a:solidFill>
                <a:latin typeface="Calibri"/>
              </a:rPr>
              <a:t>the request path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10128" y="6089904"/>
            <a:ext cx="502920" cy="237744"/>
          </a:xfrm>
          <a:prstGeom prst="roundRect">
            <a:avLst>
              <a:gd name="adj" fmla="val 15384"/>
            </a:avLst>
          </a:prstGeom>
          <a:solidFill>
            <a:srgbClr val="F7F8FA"/>
          </a:solidFill>
          <a:ln w="22225">
            <a:solidFill>
              <a:srgbClr val="232F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931920" y="6044184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6191F"/>
                </a:solidFill>
                <a:latin typeface="Calibri"/>
              </a:rPr>
              <a:t>engine A · my code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117336" y="6089904"/>
            <a:ext cx="502920" cy="237744"/>
          </a:xfrm>
          <a:prstGeom prst="roundRect">
            <a:avLst>
              <a:gd name="adj" fmla="val 15384"/>
            </a:avLst>
          </a:prstGeom>
          <a:solidFill>
            <a:srgbClr val="F7F8FA"/>
          </a:solidFill>
          <a:ln w="22225">
            <a:solidFill>
              <a:srgbClr val="1E7C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739127" y="6044184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6191F"/>
                </a:solidFill>
                <a:latin typeface="Calibri"/>
              </a:rPr>
              <a:t>engine B · AgentCore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924544" y="6089904"/>
            <a:ext cx="502920" cy="237744"/>
          </a:xfrm>
          <a:prstGeom prst="roundRect">
            <a:avLst>
              <a:gd name="adj" fmla="val 15384"/>
            </a:avLst>
          </a:prstGeom>
          <a:solidFill>
            <a:srgbClr val="F7F8FA"/>
          </a:solidFill>
          <a:ln w="22225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546336" y="6044184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6191F"/>
                </a:solidFill>
                <a:latin typeface="Calibri"/>
              </a:rPr>
              <a:t>shared · both engines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2400300" y="1828800"/>
            <a:ext cx="128016" cy="0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486150" y="2139696"/>
            <a:ext cx="0" cy="237744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784348" y="2139696"/>
            <a:ext cx="0" cy="118872"/>
          </a:xfrm>
          <a:prstGeom prst="line">
            <a:avLst/>
          </a:prstGeom>
          <a:ln w="1905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1442466" y="2258568"/>
            <a:ext cx="1341882" cy="0"/>
          </a:xfrm>
          <a:prstGeom prst="line">
            <a:avLst/>
          </a:prstGeom>
          <a:ln w="1905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442466" y="2258568"/>
            <a:ext cx="0" cy="118872"/>
          </a:xfrm>
          <a:prstGeom prst="line">
            <a:avLst/>
          </a:prstGeom>
          <a:ln w="1905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443984" y="2688336"/>
            <a:ext cx="164592" cy="0"/>
          </a:xfrm>
          <a:prstGeom prst="line">
            <a:avLst/>
          </a:prstGeom>
          <a:ln w="28575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608576" y="1828800"/>
            <a:ext cx="0" cy="859536"/>
          </a:xfrm>
          <a:prstGeom prst="line">
            <a:avLst/>
          </a:prstGeom>
          <a:ln w="28575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608576" y="1828800"/>
            <a:ext cx="164592" cy="0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486150" y="2999232"/>
            <a:ext cx="0" cy="1325880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71816" y="1737360"/>
            <a:ext cx="566928" cy="0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7498080" y="2139696"/>
            <a:ext cx="0" cy="1408176"/>
          </a:xfrm>
          <a:prstGeom prst="line">
            <a:avLst/>
          </a:prstGeom>
          <a:ln w="28575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498080" y="3547872"/>
            <a:ext cx="740664" cy="0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148632" y="4736592"/>
            <a:ext cx="128016" cy="0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7940649" y="4736592"/>
            <a:ext cx="128016" cy="0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7882127" y="1965960"/>
            <a:ext cx="0" cy="2459736"/>
          </a:xfrm>
          <a:prstGeom prst="line">
            <a:avLst/>
          </a:prstGeom>
          <a:ln w="28575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882127" y="1965960"/>
            <a:ext cx="356617" cy="0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6108649" y="5047488"/>
            <a:ext cx="0" cy="164592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940649" y="5522976"/>
            <a:ext cx="128016" cy="0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9900666" y="3858768"/>
            <a:ext cx="0" cy="566928"/>
          </a:xfrm>
          <a:prstGeom prst="line">
            <a:avLst/>
          </a:prstGeom>
          <a:ln w="28575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4148632" y="4901183"/>
            <a:ext cx="128016" cy="0"/>
          </a:xfrm>
          <a:prstGeom prst="line">
            <a:avLst/>
          </a:prstGeom>
          <a:ln w="1905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148632" y="4901183"/>
            <a:ext cx="0" cy="621793"/>
          </a:xfrm>
          <a:prstGeom prst="line">
            <a:avLst/>
          </a:prstGeom>
          <a:ln w="1905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148632" y="5522976"/>
            <a:ext cx="0" cy="0"/>
          </a:xfrm>
          <a:prstGeom prst="line">
            <a:avLst/>
          </a:prstGeom>
          <a:ln w="1905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