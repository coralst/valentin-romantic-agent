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Architecture] One product, two engines. Everything on the left is held fixed: the browser talks to CloudFront, which serves the React app out of S3 and sends /api/* and /ws to the ALB. The ALB is the fork.</a:t>
            </a:r>
          </a:p>
          <a:p/>
          <a:p>
            <a:r>
              <a:t>Up and to the right is engine A — the glue code I wrote. One Fargate service, valentin-service-dev, calls Bedrock directly and keeps preferences in DynamoDB.</a:t>
            </a:r>
          </a:p>
          <a:p/>
          <a:p>
            <a:r>
              <a:t>Down and to the right is engine B — the same product on Amazon Bedrock AgentCore. A thin Fargate proxy, valentin-ac-proxy-dev, hands the turn to the AgentCore Runtime valentin_agent_dev, which uses AgentCore Memory for preferences, Gateway to reach the profile-tools Lambda over MCP with CUSTOM_JWT, and Observability for session traces.</a:t>
            </a:r>
          </a:p>
          <a:p/>
          <a:p>
            <a:r>
              <a:t>Both engines call the same model, Claude Sonnet 4.5, and both report into one CloudWatch dashboard. Only the two dashed regions differ — and the four decisions inside them are the next four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Architecture — one product, two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3657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133856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45B64"/>
                </a:solidFill>
                <a:latin typeface="Calibri"/>
              </a:rPr>
              <a:t>SHARED FRONT DOOR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4064" y="1133856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Calibri"/>
              </a:rPr>
              <a:t>ENGINE A · GLUE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0456" y="1133856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45B64"/>
                </a:solidFill>
                <a:latin typeface="Calibri"/>
              </a:rPr>
              <a:t>SHARED BY BOTH ENGINES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621024"/>
            <a:ext cx="30540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E7C3C"/>
                </a:solidFill>
                <a:latin typeface="Calibri"/>
              </a:rPr>
              <a:t>ENGINE B · AGENTCORE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389888"/>
            <a:ext cx="4572000" cy="2139696"/>
          </a:xfrm>
          <a:prstGeom prst="roundRect">
            <a:avLst>
              <a:gd name="adj" fmla="val 3418"/>
            </a:avLst>
          </a:prstGeom>
          <a:noFill/>
          <a:ln w="15875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84064" y="1389888"/>
            <a:ext cx="3008376" cy="2139696"/>
          </a:xfrm>
          <a:prstGeom prst="roundRect">
            <a:avLst>
              <a:gd name="adj" fmla="val 3418"/>
            </a:avLst>
          </a:prstGeom>
          <a:noFill/>
          <a:ln w="22225">
            <a:solidFill>
              <a:srgbClr val="232F3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0456" y="1389888"/>
            <a:ext cx="3611880" cy="2139696"/>
          </a:xfrm>
          <a:prstGeom prst="roundRect">
            <a:avLst>
              <a:gd name="adj" fmla="val 3418"/>
            </a:avLst>
          </a:prstGeom>
          <a:noFill/>
          <a:ln w="15875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" y="3877056"/>
            <a:ext cx="11448288" cy="2084831"/>
          </a:xfrm>
          <a:prstGeom prst="roundRect">
            <a:avLst>
              <a:gd name="adj" fmla="val 3508"/>
            </a:avLst>
          </a:prstGeom>
          <a:noFill/>
          <a:ln w="22225">
            <a:solidFill>
              <a:srgbClr val="1E7C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" y="1536192"/>
            <a:ext cx="1920240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rowser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728216"/>
            <a:ext cx="420624" cy="420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9576" y="1655064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1929384"/>
            <a:ext cx="11795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the chat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1536192"/>
            <a:ext cx="1920240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oudFron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728216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02152" y="1655064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CloudFront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1929384"/>
            <a:ext cx="11795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one origin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2615184"/>
            <a:ext cx="1920240" cy="804672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3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807208"/>
            <a:ext cx="420624" cy="4206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9576" y="2734056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45B64"/>
                </a:solidFill>
                <a:latin typeface="Calibri"/>
              </a:rPr>
              <a:t>S3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" y="3008376"/>
            <a:ext cx="11795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static assets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2928" y="2615184"/>
            <a:ext cx="1920240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LB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2807208"/>
            <a:ext cx="420624" cy="4206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02152" y="2734056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ALB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3008376"/>
            <a:ext cx="11795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/api/* · /ws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30368" y="1536192"/>
            <a:ext cx="2715768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argat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728216"/>
            <a:ext cx="420624" cy="42062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79592" y="1655064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Fargate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9592" y="1929384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valentin-service-dev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30368" y="2615184"/>
            <a:ext cx="2715768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ynamoDB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2807208"/>
            <a:ext cx="420624" cy="4206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79592" y="2734056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DynamoDB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9592" y="3008376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ValentinTable-dev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1536192"/>
            <a:ext cx="3319272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Bedrock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1728216"/>
            <a:ext cx="420624" cy="42062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015984" y="1655064"/>
            <a:ext cx="25786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Bedrock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1929384"/>
            <a:ext cx="25786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Claude Sonnet 4.5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2615184"/>
            <a:ext cx="3319272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loudWatch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5632" y="2807208"/>
            <a:ext cx="420624" cy="42062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015984" y="2734056"/>
            <a:ext cx="25786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CloudWatch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15984" y="3008376"/>
            <a:ext cx="25786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one dashboard, both engines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4005072"/>
            <a:ext cx="3447288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Fargat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4197096"/>
            <a:ext cx="420624" cy="42062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79576" y="4123944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Fargate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9576" y="4398264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valentin-ac-proxy-dev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79976" y="4005072"/>
            <a:ext cx="3447288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Runtim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8848" y="4197096"/>
            <a:ext cx="420624" cy="42062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029200" y="4123944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Runtime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4398264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valentin_agent_dev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4005072"/>
            <a:ext cx="3447288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Memory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8472" y="4197096"/>
            <a:ext cx="420624" cy="42062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878824" y="4123944"/>
            <a:ext cx="27066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Memory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78824" y="4398264"/>
            <a:ext cx="27066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valentin_memory_dev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5029200"/>
            <a:ext cx="3447288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Observability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" y="5221224"/>
            <a:ext cx="420624" cy="42062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79576" y="5148072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Observability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9576" y="5422392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session traces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79976" y="5029200"/>
            <a:ext cx="3447288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Gateway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8848" y="5221224"/>
            <a:ext cx="420624" cy="42062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029200" y="5148072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Gateway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5422392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MCP · CUSTOM_JWT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29600" y="5029200"/>
            <a:ext cx="3447288" cy="804672"/>
          </a:xfrm>
          <a:prstGeom prst="roundRect">
            <a:avLst>
              <a:gd name="adj" fmla="val 909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Lambda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8472" y="5221224"/>
            <a:ext cx="420624" cy="42062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878824" y="5148072"/>
            <a:ext cx="27066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Lambda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78824" y="5422392"/>
            <a:ext cx="27066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valentin-profile-tools-dev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02920" y="6208776"/>
            <a:ext cx="502920" cy="0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124712" y="603504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6191F"/>
                </a:solidFill>
                <a:latin typeface="Calibri"/>
              </a:rPr>
              <a:t>the request path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310128" y="6080759"/>
            <a:ext cx="502920" cy="256032"/>
          </a:xfrm>
          <a:prstGeom prst="roundRect">
            <a:avLst>
              <a:gd name="adj" fmla="val 14285"/>
            </a:avLst>
          </a:prstGeom>
          <a:solidFill>
            <a:srgbClr val="F7F8FA"/>
          </a:solidFill>
          <a:ln w="22225">
            <a:solidFill>
              <a:srgbClr val="232F3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31920" y="603504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6191F"/>
                </a:solidFill>
                <a:latin typeface="Calibri"/>
              </a:rPr>
              <a:t>engine A · my code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17336" y="6080759"/>
            <a:ext cx="502920" cy="256032"/>
          </a:xfrm>
          <a:prstGeom prst="roundRect">
            <a:avLst>
              <a:gd name="adj" fmla="val 14285"/>
            </a:avLst>
          </a:prstGeom>
          <a:solidFill>
            <a:srgbClr val="F7F8FA"/>
          </a:solidFill>
          <a:ln w="22225">
            <a:solidFill>
              <a:srgbClr val="1E7C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39127" y="603504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6191F"/>
                </a:solidFill>
                <a:latin typeface="Calibri"/>
              </a:rPr>
              <a:t>engine B · AgentCore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24544" y="6080759"/>
            <a:ext cx="502920" cy="256032"/>
          </a:xfrm>
          <a:prstGeom prst="roundRect">
            <a:avLst>
              <a:gd name="adj" fmla="val 14285"/>
            </a:avLst>
          </a:prstGeom>
          <a:solidFill>
            <a:srgbClr val="F7F8FA"/>
          </a:solidFill>
          <a:ln w="22225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46336" y="603504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6191F"/>
                </a:solidFill>
                <a:latin typeface="Calibri"/>
              </a:rPr>
              <a:t>shared · both engines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450592" y="1938528"/>
            <a:ext cx="402336" cy="0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813048" y="2340864"/>
            <a:ext cx="0" cy="274320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08960" y="2340864"/>
            <a:ext cx="0" cy="137160"/>
          </a:xfrm>
          <a:prstGeom prst="line">
            <a:avLst/>
          </a:prstGeom>
          <a:ln w="19050">
            <a:solidFill>
              <a:srgbClr val="54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1490472" y="2478024"/>
            <a:ext cx="1618488" cy="0"/>
          </a:xfrm>
          <a:prstGeom prst="line">
            <a:avLst/>
          </a:prstGeom>
          <a:ln w="19050">
            <a:solidFill>
              <a:srgbClr val="54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490472" y="2478024"/>
            <a:ext cx="0" cy="137160"/>
          </a:xfrm>
          <a:prstGeom prst="line">
            <a:avLst/>
          </a:prstGeom>
          <a:ln w="1905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773168" y="3017520"/>
            <a:ext cx="246888" cy="0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5020056" y="1938528"/>
            <a:ext cx="0" cy="1078992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20056" y="1938528"/>
            <a:ext cx="210312" cy="0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813048" y="3419856"/>
            <a:ext cx="0" cy="585216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88252" y="2340864"/>
            <a:ext cx="0" cy="274320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946136" y="1938528"/>
            <a:ext cx="420624" cy="0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977639" y="4407408"/>
            <a:ext cx="402337" cy="0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827264" y="4407408"/>
            <a:ext cx="402336" cy="0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827264" y="4160520"/>
            <a:ext cx="329184" cy="0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156448" y="2148839"/>
            <a:ext cx="0" cy="2011681"/>
          </a:xfrm>
          <a:prstGeom prst="line">
            <a:avLst/>
          </a:prstGeom>
          <a:ln w="28575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156448" y="2148839"/>
            <a:ext cx="210312" cy="0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103620" y="4809744"/>
            <a:ext cx="0" cy="219456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827264" y="5431536"/>
            <a:ext cx="402336" cy="0"/>
          </a:xfrm>
          <a:prstGeom prst="line">
            <a:avLst/>
          </a:prstGeom>
          <a:ln w="2857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4178808" y="4663440"/>
            <a:ext cx="201168" cy="0"/>
          </a:xfrm>
          <a:prstGeom prst="line">
            <a:avLst/>
          </a:prstGeom>
          <a:ln w="19050">
            <a:solidFill>
              <a:srgbClr val="54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178808" y="4663440"/>
            <a:ext cx="0" cy="768096"/>
          </a:xfrm>
          <a:prstGeom prst="line">
            <a:avLst/>
          </a:prstGeom>
          <a:ln w="19050">
            <a:solidFill>
              <a:srgbClr val="54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3977639" y="5431536"/>
            <a:ext cx="201169" cy="0"/>
          </a:xfrm>
          <a:prstGeom prst="line">
            <a:avLst/>
          </a:prstGeom>
          <a:ln w="19050">
            <a:solidFill>
              <a:srgbClr val="545B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