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subfolder per service — Ontopo, Amadeus, Google Calendar/Gmail, Spotify, Wolt, Google Places, Hebcal, WhatsApp, web search — plus reminders and sharing, which sit just outside the folder. buildToolRegistry() does not define the tools, it assembles them, and it is the one function both engines ultimately consume.</a:t>
            </a:r>
          </a:p>
          <a:p/>
          <a:p>
            <a:r>
              <a:t>DISCOVERY. Engine A gates each tool set on its own credential flag, so the model is never shown a tool it cannot call — no Spotify refresh token means no music tools, rather than a tool that fails. Engine B cannot do that: agent.py is Python and the tools are TypeScript, so it has to ask. The 29 indexed are 3 profile tools, 19 of the 20 integration tools (create_conversation_link is withheld), and 7 confirm_* generated from the propose_* list — so a gated tool cannot ship without its confirm.</a:t>
            </a:r>
          </a:p>
          <a:p/>
          <a:p>
            <a:r>
              <a:t>TRAVERSAL. On A the tool is a function in the same process — no gateway, no Lambda cold start, no JWT — and parallel requests are dispatched with Promise.all, so a two-tool turn costs one tool's latency; the loop caps at 5 model round trips. On B every call is a network hop and CUSTOM_JWT is the Gateway's only inbound auth mode. Tool names are snake_case and the separator is three underscores, so splitting is unambiguous — but GATEWAY_NAME_SEPARATOR in span-bridge.ts and INTEGRATIONS_TARGET in agentcore-orchestrator.ts must match the CDK target name, or every confirm comes back 'tool not found'.</a:t>
            </a:r>
          </a:p>
          <a:p/>
          <a:p>
            <a:r>
              <a:t>IDENTITY, if asked. Two mechanisms, both needed: the identity args are removed from the inputSchema before the tools reach Strands, and _inject_identity pops the model's value before merging ours in — dict.update would already win, but popping first states the rule that a model must not be able to name a different user. A tool that cannot be bound is dropped rather than exposed unbound. One subtlety that caused a real fault: AgentCore Memory rejects '#', so actorId is sanitised, while user_id travels raw because the profile tools key DynamoDB where a demo visitor's id genuinely is &lt;sub&gt;#&lt;visitorId&gt;.</a:t>
            </a:r>
          </a:p>
          <a:p/>
          <a:p>
            <a:r>
              <a:t>PROVENANCE. The tool counts, rates, separator and iteration cap are re-read from the tree at build time by assert_facts_match_sources(). The 47 ms / 523 ms / 120-invocation figures are from the controlled 120-turn run: git show 91c9fe2:runs/report.md on branch worktree-experiment-cost-latency. The ~1.1 s cold start sometimes quoted alongside these belongs to the AgentCore Runtime, not the Gateway — attribute it correctly if pressed.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THIS IS COMPLEX. Indexing charges the SIZE of your catalogue; invocations charge your TRAFFIC. Nothing links them. So two apps with the same number of conversations diverge on three independent things: how many tools they index, how many the model actually calls per turn, and whether they re-discover the catalogue every invocation. The app with a big catalogue pays whether anyone calls anything or not — that line recurs monthly. The app with ten tools called constantly pays the opposite way.</a:t>
            </a:r>
          </a:p>
          <a:p/>
          <a:p>
            <a:r>
              <a:t>OUR SPLIT IS 70/30 TOWARD THE CATALOGUE. 29 tools at $0.02 per 100 per month is $0.0058; 487 calls at $0.005 per 1,000 is $0.0024. Total $0.0082 — which is exactly the figure in the run report, so the arithmetic self-checks.</a:t>
            </a:r>
          </a:p>
          <a:p/>
          <a:p>
            <a:r>
              <a:t>THE GATEWAY WAS NEVER THE COST PROBLEM. Eight tenths of a cent per user per month, 100% inbound auth success, zero Lambda errors (profile 59 invocations, integration 68). Tokens ($12.43) and the second always-on Fargate task ($18.02) drove the whole engine-A-vs-B gap.</a:t>
            </a:r>
          </a:p>
          <a:p/>
          <a:p>
            <a:r>
              <a:t>IF PRESSED ON THE $0.0082. It prices the 120-turn run AS one user-month, which is how cost-one-user.mjs scales it — so it is a rate at that activity level, not an independently counted calendar month. Say 'at this activity level' and the figure holds.</a:t>
            </a:r>
          </a:p>
          <a:p/>
          <a:p>
            <a:r>
              <a:t>THE NETWORKING NOTE. The hub-vs-point-to-point argument is topological and real: n relationships instead of n(n-1)/2, crossover at n &gt; 3, so at two teams point-to-point wins outright. Partner egress also leaves from Lambda rather than the Fargate task's NAT Gateway — but ALB and NAT Gateway are excluded from cost-one-user.mjs as shared infrastructure, so do not quote a number for that saving.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274320"/>
            <a:ext cx="493776" cy="493776"/>
          </a:xfrm>
          <a:prstGeom prst="ellipse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9900"/>
                </a:solidFill>
                <a:latin typeface="Calibri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" y="256032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232F3E"/>
                </a:solidFill>
                <a:latin typeface="Calibri"/>
              </a:rPr>
              <a:t>Tools in Valentin — </a:t>
            </a:r>
            <a:r>
              <a:rPr sz="2700" b="0">
                <a:solidFill>
                  <a:srgbClr val="232F3E"/>
                </a:solidFill>
                <a:latin typeface="Calibri"/>
              </a:rPr>
              <a:t>one codebase, two ways to reach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1115568" y="859536"/>
            <a:ext cx="1325880" cy="5029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3593592" cy="1115568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24128"/>
            <a:ext cx="3593592" cy="41148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32278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45B64"/>
                </a:solidFill>
                <a:latin typeface="Calibri"/>
              </a:rPr>
              <a:t>THE TOOL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26464"/>
            <a:ext cx="3227832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232F3E"/>
                </a:solidFill>
                <a:latin typeface="Calibri"/>
              </a:rPr>
              <a:t>One folder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1F77A8"/>
                </a:solidFill>
                <a:latin typeface="Consolas"/>
              </a:rPr>
              <a:t>src/server/integrations/</a:t>
            </a:r>
            <a:r>
              <a:rPr sz="1150" b="0">
                <a:solidFill>
                  <a:srgbClr val="16191F"/>
                </a:solidFill>
                <a:latin typeface="Calibri"/>
              </a:rPr>
              <a:t> — assembled by </a:t>
            </a:r>
            <a:r>
              <a:rPr sz="1100" b="0">
                <a:solidFill>
                  <a:srgbClr val="1F77A8"/>
                </a:solidFill>
                <a:latin typeface="Consolas"/>
              </a:rPr>
              <a:t>buildToolRegistry()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79" y="1024128"/>
            <a:ext cx="3593592" cy="1115568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79" y="1024128"/>
            <a:ext cx="3593592" cy="41148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59" y="1143000"/>
            <a:ext cx="32278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45B64"/>
                </a:solidFill>
                <a:latin typeface="Calibri"/>
              </a:rPr>
              <a:t>INTEGRATION SCHEMAS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1426464"/>
            <a:ext cx="3227832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232F3E"/>
                </a:solidFill>
                <a:latin typeface="Calibri"/>
              </a:rPr>
              <a:t>20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16191F"/>
                </a:solidFill>
                <a:latin typeface="Calibri"/>
              </a:rPr>
              <a:t>13 read-only  ·  7 </a:t>
            </a:r>
            <a:r>
              <a:rPr sz="1100" b="0">
                <a:solidFill>
                  <a:srgbClr val="1F77A8"/>
                </a:solidFill>
                <a:latin typeface="Consolas"/>
              </a:rPr>
              <a:t>propose_*</a:t>
            </a:r>
            <a:r>
              <a:rPr sz="1150" b="0">
                <a:solidFill>
                  <a:srgbClr val="16191F"/>
                </a:solidFill>
                <a:latin typeface="Calibri"/>
              </a:rPr>
              <a:t> that cannot act without a human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024128"/>
            <a:ext cx="3593592" cy="1115568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024128"/>
            <a:ext cx="3593592" cy="41148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143000"/>
            <a:ext cx="32278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45B64"/>
                </a:solidFill>
                <a:latin typeface="Calibri"/>
              </a:rPr>
              <a:t>INDEXED IN THE GATEWAY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426464"/>
            <a:ext cx="3227832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232F3E"/>
                </a:solidFill>
                <a:latin typeface="Calibri"/>
              </a:rPr>
              <a:t>29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16191F"/>
                </a:solidFill>
                <a:latin typeface="Calibri"/>
              </a:rPr>
              <a:t>3 profile  ·  19 offered  ·  7 </a:t>
            </a:r>
            <a:r>
              <a:rPr sz="1100" b="0">
                <a:solidFill>
                  <a:srgbClr val="1F77A8"/>
                </a:solidFill>
                <a:latin typeface="Consolas"/>
              </a:rPr>
              <a:t>confirm_*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231136"/>
            <a:ext cx="11274552" cy="768096"/>
          </a:xfrm>
          <a:prstGeom prst="rect">
            <a:avLst/>
          </a:prstGeom>
          <a:solidFill>
            <a:srgbClr val="F0A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2331720"/>
            <a:ext cx="108722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232F3E"/>
                </a:solidFill>
                <a:latin typeface="Calibri"/>
              </a:rPr>
              <a:t>THE WHOLE COMPARISON, IN ONE 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2578608"/>
            <a:ext cx="10872216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232F3E"/>
                </a:solidFill>
                <a:latin typeface="Calibri"/>
              </a:rPr>
              <a:t>The tools are identical on both engines. Only two things differ — how the agent </a:t>
            </a:r>
            <a:r>
              <a:rPr sz="1500" b="1">
                <a:solidFill>
                  <a:srgbClr val="232F3E"/>
                </a:solidFill>
                <a:latin typeface="Calibri"/>
              </a:rPr>
              <a:t>discovers</a:t>
            </a:r>
            <a:r>
              <a:rPr sz="1500" b="0">
                <a:solidFill>
                  <a:srgbClr val="232F3E"/>
                </a:solidFill>
                <a:latin typeface="Calibri"/>
              </a:rPr>
              <a:t> them, and how the call </a:t>
            </a:r>
            <a:r>
              <a:rPr sz="1500" b="1">
                <a:solidFill>
                  <a:srgbClr val="232F3E"/>
                </a:solidFill>
                <a:latin typeface="Calibri"/>
              </a:rPr>
              <a:t>travels</a:t>
            </a:r>
            <a:r>
              <a:rPr sz="1500" b="0">
                <a:solidFill>
                  <a:srgbClr val="232F3E"/>
                </a:solidFill>
                <a:latin typeface="Calibri"/>
              </a:rPr>
              <a:t>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127248"/>
            <a:ext cx="5513832" cy="192024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127248"/>
            <a:ext cx="41148" cy="1920240"/>
          </a:xfrm>
          <a:prstGeom prst="rect">
            <a:avLst/>
          </a:prstGeom>
          <a:solidFill>
            <a:srgbClr val="1E7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246120"/>
            <a:ext cx="51480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E7C3C"/>
                </a:solidFill>
                <a:latin typeface="Calibri"/>
              </a:rPr>
              <a:t>HOW THEY ARE DISCOVERED</a:t>
            </a:r>
            <a:r>
              <a:rPr sz="1050" b="0">
                <a:solidFill>
                  <a:srgbClr val="545B64"/>
                </a:solidFill>
                <a:latin typeface="Calibri"/>
              </a:rPr>
              <a:t>   ·   does the agent know the tool exists?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529584"/>
            <a:ext cx="5148072" cy="1389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  <a:p>
            <a:pPr algn="l"/>
            <a:r>
              <a:rPr sz="1200" b="0">
                <a:solidFill>
                  <a:srgbClr val="FF9900"/>
                </a:solidFill>
                <a:latin typeface="Calibri"/>
              </a:rPr>
              <a:t>• </a:t>
            </a:r>
            <a:r>
              <a:rPr sz="1200" b="1">
                <a:solidFill>
                  <a:srgbClr val="16191F"/>
                </a:solidFill>
                <a:latin typeface="Calibri"/>
              </a:rPr>
              <a:t>Engine A — compiled in.</a:t>
            </a:r>
            <a:r>
              <a:rPr sz="1200" b="0">
                <a:solidFill>
                  <a:srgbClr val="16191F"/>
                </a:solidFill>
                <a:latin typeface="Calibri"/>
              </a:rPr>
              <a:t> Each set gated on its own credential flag, so a half-configured deployment offers the half that works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FF9900"/>
                </a:solidFill>
                <a:latin typeface="Calibri"/>
              </a:rPr>
              <a:t>• </a:t>
            </a:r>
            <a:r>
              <a:rPr sz="1200" b="1">
                <a:solidFill>
                  <a:srgbClr val="16191F"/>
                </a:solidFill>
                <a:latin typeface="Calibri"/>
              </a:rPr>
              <a:t>Engine B — asked at runtime.</a:t>
            </a:r>
            <a:r>
              <a:rPr sz="1200" b="0">
                <a:solidFill>
                  <a:srgbClr val="16191F"/>
                </a:solidFill>
                <a:latin typeface="Calibri"/>
              </a:rPr>
              <a:t> </a:t>
            </a:r>
            <a:r>
              <a:rPr sz="1100" b="0">
                <a:solidFill>
                  <a:srgbClr val="1F77A8"/>
                </a:solidFill>
                <a:latin typeface="Consolas"/>
              </a:rPr>
              <a:t>agent.py</a:t>
            </a:r>
            <a:r>
              <a:rPr sz="1200" b="0">
                <a:solidFill>
                  <a:srgbClr val="16191F"/>
                </a:solidFill>
                <a:latin typeface="Calibri"/>
              </a:rPr>
              <a:t> cannot import TypeScript, so it calls </a:t>
            </a:r>
            <a:r>
              <a:rPr sz="1100" b="0">
                <a:solidFill>
                  <a:srgbClr val="1F77A8"/>
                </a:solidFill>
                <a:latin typeface="Consolas"/>
              </a:rPr>
              <a:t>tools/list</a:t>
            </a:r>
            <a:r>
              <a:rPr sz="1200" b="0">
                <a:solidFill>
                  <a:srgbClr val="16191F"/>
                </a:solidFill>
                <a:latin typeface="Calibri"/>
              </a:rPr>
              <a:t> over MCP every invocation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FF9900"/>
                </a:solidFill>
                <a:latin typeface="Calibri"/>
              </a:rPr>
              <a:t>• </a:t>
            </a:r>
            <a:r>
              <a:rPr sz="1200" b="1">
                <a:solidFill>
                  <a:srgbClr val="16191F"/>
                </a:solidFill>
                <a:latin typeface="Calibri"/>
              </a:rPr>
              <a:t>The trade.</a:t>
            </a:r>
            <a:r>
              <a:rPr sz="1200" b="0">
                <a:solidFill>
                  <a:srgbClr val="16191F"/>
                </a:solidFill>
                <a:latin typeface="Calibri"/>
              </a:rPr>
              <a:t> A new tool never touches </a:t>
            </a:r>
            <a:r>
              <a:rPr sz="1100" b="0">
                <a:solidFill>
                  <a:srgbClr val="1F77A8"/>
                </a:solidFill>
                <a:latin typeface="Consolas"/>
              </a:rPr>
              <a:t>agent.py</a:t>
            </a:r>
            <a:r>
              <a:rPr sz="1200" b="0">
                <a:solidFill>
                  <a:srgbClr val="16191F"/>
                </a:solidFill>
                <a:latin typeface="Calibri"/>
              </a:rPr>
              <a:t> — but the handshake never amortises: 120 invocations, 120 </a:t>
            </a:r>
            <a:r>
              <a:rPr sz="1100" b="0">
                <a:solidFill>
                  <a:srgbClr val="1F77A8"/>
                </a:solidFill>
                <a:latin typeface="Consolas"/>
              </a:rPr>
              <a:t>tools/list</a:t>
            </a:r>
            <a:r>
              <a:rPr sz="1200" b="0">
                <a:solidFill>
                  <a:srgbClr val="16191F"/>
                </a:solidFill>
                <a:latin typeface="Calibri"/>
              </a:rPr>
              <a:t> calls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3127248"/>
            <a:ext cx="5513832" cy="192024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3127248"/>
            <a:ext cx="41148" cy="1920240"/>
          </a:xfrm>
          <a:prstGeom prst="rect">
            <a:avLst/>
          </a:prstGeom>
          <a:solidFill>
            <a:srgbClr val="1F7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246120"/>
            <a:ext cx="51480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F77A8"/>
                </a:solidFill>
                <a:latin typeface="Calibri"/>
              </a:rPr>
              <a:t>HOW THE CALL TRAVELS</a:t>
            </a:r>
            <a:r>
              <a:rPr sz="1050" b="0">
                <a:solidFill>
                  <a:srgbClr val="545B64"/>
                </a:solidFill>
                <a:latin typeface="Calibri"/>
              </a:rPr>
              <a:t>   ·   what happens when it is invoked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529584"/>
            <a:ext cx="5148072" cy="1389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  <a:p>
            <a:pPr algn="l"/>
            <a:r>
              <a:rPr sz="1200" b="0">
                <a:solidFill>
                  <a:srgbClr val="FF9900"/>
                </a:solidFill>
                <a:latin typeface="Calibri"/>
              </a:rPr>
              <a:t>• </a:t>
            </a:r>
            <a:r>
              <a:rPr sz="1200" b="1">
                <a:solidFill>
                  <a:srgbClr val="16191F"/>
                </a:solidFill>
                <a:latin typeface="Calibri"/>
              </a:rPr>
              <a:t>Engine A — a function call, same process.</a:t>
            </a:r>
            <a:r>
              <a:rPr sz="1200" b="0">
                <a:solidFill>
                  <a:srgbClr val="16191F"/>
                </a:solidFill>
                <a:latin typeface="Calibri"/>
              </a:rPr>
              <a:t> No hop, no JWT. Parallel tools go out via </a:t>
            </a:r>
            <a:r>
              <a:rPr sz="1100" b="0">
                <a:solidFill>
                  <a:srgbClr val="1F77A8"/>
                </a:solidFill>
                <a:latin typeface="Consolas"/>
              </a:rPr>
              <a:t>Promise.all</a:t>
            </a:r>
            <a:r>
              <a:rPr sz="1200" b="0">
                <a:solidFill>
                  <a:srgbClr val="16191F"/>
                </a:solidFill>
                <a:latin typeface="Calibri"/>
              </a:rPr>
              <a:t>, so a two-tool turn costs one tool’s latency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FF9900"/>
                </a:solidFill>
                <a:latin typeface="Calibri"/>
              </a:rPr>
              <a:t>• </a:t>
            </a:r>
            <a:r>
              <a:rPr sz="1200" b="1">
                <a:solidFill>
                  <a:srgbClr val="16191F"/>
                </a:solidFill>
                <a:latin typeface="Calibri"/>
              </a:rPr>
              <a:t>Engine B — a network hop.</a:t>
            </a:r>
            <a:r>
              <a:rPr sz="1200" b="0">
                <a:solidFill>
                  <a:srgbClr val="16191F"/>
                </a:solidFill>
                <a:latin typeface="Calibri"/>
              </a:rPr>
              <a:t> MCP → Gateway → Lambda → partner, on </a:t>
            </a:r>
            <a:r>
              <a:rPr sz="1100" b="0">
                <a:solidFill>
                  <a:srgbClr val="1F77A8"/>
                </a:solidFill>
                <a:latin typeface="Consolas"/>
              </a:rPr>
              <a:t>CUSTOM_JWT</a:t>
            </a:r>
            <a:r>
              <a:rPr sz="1200" b="0">
                <a:solidFill>
                  <a:srgbClr val="16191F"/>
                </a:solidFill>
                <a:latin typeface="Calibri"/>
              </a:rPr>
              <a:t> — its only inbound mode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FF9900"/>
                </a:solidFill>
                <a:latin typeface="Calibri"/>
              </a:rPr>
              <a:t>• </a:t>
            </a:r>
            <a:r>
              <a:rPr sz="1200" b="1">
                <a:solidFill>
                  <a:srgbClr val="16191F"/>
                </a:solidFill>
                <a:latin typeface="Calibri"/>
              </a:rPr>
              <a:t>Names return prefixed</a:t>
            </a:r>
            <a:r>
              <a:rPr sz="1200" b="0">
                <a:solidFill>
                  <a:srgbClr val="16191F"/>
                </a:solidFill>
                <a:latin typeface="Calibri"/>
              </a:rPr>
              <a:t> — </a:t>
            </a:r>
            <a:r>
              <a:rPr sz="1050" b="0">
                <a:solidFill>
                  <a:srgbClr val="1F77A8"/>
                </a:solidFill>
                <a:latin typeface="Consolas"/>
              </a:rPr>
              <a:t>valentin-integrations___propose_reservation</a:t>
            </a:r>
            <a:r>
              <a:rPr sz="1200" b="0">
                <a:solidFill>
                  <a:srgbClr val="16191F"/>
                </a:solidFill>
                <a:latin typeface="Calibri"/>
              </a:rPr>
              <a:t>. Rename the target without the constant and every confirm 404s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175504"/>
            <a:ext cx="11274552" cy="1060704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5276088"/>
            <a:ext cx="108722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F9900"/>
                </a:solidFill>
                <a:latin typeface="Calibri"/>
              </a:rPr>
              <a:t>ADDITIONAL CONSIDERATIONS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5522976"/>
            <a:ext cx="10872216" cy="585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9900"/>
                </a:solidFill>
                <a:latin typeface="Calibri"/>
              </a:rPr>
              <a:t>Identity — </a:t>
            </a:r>
            <a:r>
              <a:rPr sz="1200" b="0">
                <a:solidFill>
                  <a:srgbClr val="FFFFFF"/>
                </a:solidFill>
                <a:latin typeface="Calibri"/>
              </a:rPr>
              <a:t>the JWT is a machine’s, so </a:t>
            </a:r>
            <a:r>
              <a:rPr sz="1100" b="0">
                <a:solidFill>
                  <a:srgbClr val="F0A32C"/>
                </a:solidFill>
                <a:latin typeface="Consolas"/>
              </a:rPr>
              <a:t>user_id</a:t>
            </a:r>
            <a:r>
              <a:rPr sz="1200" b="0">
                <a:solidFill>
                  <a:srgbClr val="FFFFFF"/>
                </a:solidFill>
                <a:latin typeface="Calibri"/>
              </a:rPr>
              <a:t> / </a:t>
            </a:r>
            <a:r>
              <a:rPr sz="1100" b="0">
                <a:solidFill>
                  <a:srgbClr val="F0A32C"/>
                </a:solidFill>
                <a:latin typeface="Consolas"/>
              </a:rPr>
              <a:t>session_id</a:t>
            </a:r>
            <a:r>
              <a:rPr sz="1200" b="0">
                <a:solidFill>
                  <a:srgbClr val="FFFFFF"/>
                </a:solidFill>
                <a:latin typeface="Calibri"/>
              </a:rPr>
              <a:t> are stripped from the model’s schema and injected in code at call time.</a:t>
            </a:r>
          </a:p>
          <a:p>
            <a:pPr algn="l">
              <a:spcBef>
                <a:spcPts val="300"/>
              </a:spcBef>
            </a:pPr>
            <a:r>
              <a:rPr sz="1200" b="1">
                <a:solidFill>
                  <a:srgbClr val="FF9900"/>
                </a:solidFill>
                <a:latin typeface="Calibri"/>
              </a:rPr>
              <a:t>Security — </a:t>
            </a:r>
            <a:r>
              <a:rPr sz="1100" b="0">
                <a:solidFill>
                  <a:srgbClr val="F0A32C"/>
                </a:solidFill>
                <a:latin typeface="Consolas"/>
              </a:rPr>
              <a:t>confirm_*</a:t>
            </a:r>
            <a:r>
              <a:rPr sz="1200" b="0">
                <a:solidFill>
                  <a:srgbClr val="FFFFFF"/>
                </a:solidFill>
                <a:latin typeface="Calibri"/>
              </a:rPr>
              <a:t> is hidden from the model and called by the proxy: no language model in the authority path for spending money.</a:t>
            </a:r>
          </a:p>
          <a:p>
            <a:pPr algn="l">
              <a:spcBef>
                <a:spcPts val="300"/>
              </a:spcBef>
            </a:pPr>
            <a:r>
              <a:rPr sz="1200" b="1">
                <a:solidFill>
                  <a:srgbClr val="FF9900"/>
                </a:solidFill>
                <a:latin typeface="Calibri"/>
              </a:rPr>
              <a:t>Latency — </a:t>
            </a:r>
            <a:r>
              <a:rPr sz="1200" b="0">
                <a:solidFill>
                  <a:srgbClr val="FFFFFF"/>
                </a:solidFill>
                <a:latin typeface="Calibri"/>
              </a:rPr>
              <a:t>~47 ms per turn of Gateway overhead; the 523 ms </a:t>
            </a:r>
            <a:r>
              <a:rPr sz="1100" b="0">
                <a:solidFill>
                  <a:srgbClr val="F0A32C"/>
                </a:solidFill>
                <a:latin typeface="Consolas"/>
              </a:rPr>
              <a:t>tools/call</a:t>
            </a:r>
            <a:r>
              <a:rPr sz="1200" b="0">
                <a:solidFill>
                  <a:srgbClr val="FFFFFF"/>
                </a:solidFill>
                <a:latin typeface="Calibri"/>
              </a:rPr>
              <a:t> average is the tool’s own work, not the hop.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1908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32F3E"/>
                </a:solidFill>
                <a:latin typeface="Calibri"/>
              </a:rPr>
              <a:t>VALENTIN</a:t>
            </a:r>
            <a:r>
              <a:rPr sz="1000" b="0">
                <a:solidFill>
                  <a:srgbClr val="545B64"/>
                </a:solidFill>
                <a:latin typeface="Calibri"/>
              </a:rPr>
              <a:t>   ·   GenAI TFC Capstone Deep-Dive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274320"/>
            <a:ext cx="493776" cy="493776"/>
          </a:xfrm>
          <a:prstGeom prst="ellipse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9900"/>
                </a:solidFill>
                <a:latin typeface="Calibri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" y="256032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232F3E"/>
                </a:solidFill>
                <a:latin typeface="Calibri"/>
              </a:rPr>
              <a:t>What the AgentCore Gateway costs — </a:t>
            </a:r>
            <a:r>
              <a:rPr sz="2700" b="0">
                <a:solidFill>
                  <a:srgbClr val="232F3E"/>
                </a:solidFill>
                <a:latin typeface="Calibri"/>
              </a:rPr>
              <a:t>two meters on unrelated clocks</a:t>
            </a:r>
          </a:p>
        </p:txBody>
      </p:sp>
      <p:sp>
        <p:nvSpPr>
          <p:cNvPr id="4" name="Rectangle 3"/>
          <p:cNvSpPr/>
          <p:nvPr/>
        </p:nvSpPr>
        <p:spPr>
          <a:xfrm>
            <a:off x="1115568" y="859536"/>
            <a:ext cx="1325880" cy="5029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42415"/>
            <a:ext cx="112745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232F3E"/>
                </a:solidFill>
                <a:latin typeface="Calibri"/>
              </a:rPr>
              <a:t>THE TWO METERS</a:t>
            </a:r>
            <a:r>
              <a:rPr sz="1050" b="0">
                <a:solidFill>
                  <a:srgbClr val="545B64"/>
                </a:solidFill>
                <a:latin typeface="Calibri"/>
              </a:rPr>
              <a:t>   ·   what AWS charges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98448"/>
          <a:ext cx="11274550" cy="8778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93146"/>
                <a:gridCol w="2931383"/>
                <a:gridCol w="3720602"/>
                <a:gridCol w="2029419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45B64"/>
                          </a:solidFill>
                          <a:latin typeface="Consolas"/>
                        </a:rPr>
                        <a:t>Meter</a:t>
                      </a:r>
                    </a:p>
                  </a:txBody>
                  <a:tcPr anchor="ctr" marL="82296" marR="82296" marT="18288" marB="18288">
                    <a:lnL w="12700" cap="flat" cmpd="sng" algn="ctr">
                      <a:solidFill>
                        <a:srgbClr val="232F3E"/>
                      </a:solidFill>
                    </a:lnL>
                    <a:lnR w="12700" cap="flat" cmpd="sng" algn="ctr">
                      <a:solidFill>
                        <a:srgbClr val="232F3E"/>
                      </a:solidFill>
                    </a:lnR>
                    <a:lnT w="12700" cap="flat" cmpd="sng" algn="ctr">
                      <a:solidFill>
                        <a:srgbClr val="232F3E"/>
                      </a:solidFill>
                    </a:lnT>
                    <a:lnB w="12700" cap="flat" cmpd="sng" algn="ctr">
                      <a:solidFill>
                        <a:srgbClr val="232F3E"/>
                      </a:solidFill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45B64"/>
                          </a:solidFill>
                          <a:latin typeface="Consolas"/>
                        </a:rPr>
                        <a:t>Rate</a:t>
                      </a:r>
                    </a:p>
                  </a:txBody>
                  <a:tcPr anchor="ctr" marL="82296" marR="82296" marT="18288" marB="18288">
                    <a:lnL w="12700" cap="flat" cmpd="sng" algn="ctr">
                      <a:solidFill>
                        <a:srgbClr val="232F3E"/>
                      </a:solidFill>
                    </a:lnL>
                    <a:lnR w="12700" cap="flat" cmpd="sng" algn="ctr">
                      <a:solidFill>
                        <a:srgbClr val="232F3E"/>
                      </a:solidFill>
                    </a:lnR>
                    <a:lnT w="12700" cap="flat" cmpd="sng" algn="ctr">
                      <a:solidFill>
                        <a:srgbClr val="232F3E"/>
                      </a:solidFill>
                    </a:lnT>
                    <a:lnB w="12700" cap="flat" cmpd="sng" algn="ctr">
                      <a:solidFill>
                        <a:srgbClr val="232F3E"/>
                      </a:solidFill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45B64"/>
                          </a:solidFill>
                          <a:latin typeface="Consolas"/>
                        </a:rPr>
                        <a:t>Billed when</a:t>
                      </a:r>
                    </a:p>
                  </a:txBody>
                  <a:tcPr anchor="ctr" marL="82296" marR="82296" marT="18288" marB="18288">
                    <a:lnL w="12700" cap="flat" cmpd="sng" algn="ctr">
                      <a:solidFill>
                        <a:srgbClr val="232F3E"/>
                      </a:solidFill>
                    </a:lnL>
                    <a:lnR w="12700" cap="flat" cmpd="sng" algn="ctr">
                      <a:solidFill>
                        <a:srgbClr val="232F3E"/>
                      </a:solidFill>
                    </a:lnR>
                    <a:lnT w="12700" cap="flat" cmpd="sng" algn="ctr">
                      <a:solidFill>
                        <a:srgbClr val="232F3E"/>
                      </a:solidFill>
                    </a:lnT>
                    <a:lnB w="12700" cap="flat" cmpd="sng" algn="ctr">
                      <a:solidFill>
                        <a:srgbClr val="232F3E"/>
                      </a:solidFill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45B64"/>
                          </a:solidFill>
                          <a:latin typeface="Consolas"/>
                        </a:rPr>
                        <a:t>Recurring?</a:t>
                      </a:r>
                    </a:p>
                  </a:txBody>
                  <a:tcPr anchor="ctr" marL="82296" marR="82296" marT="18288" marB="18288">
                    <a:lnL w="12700" cap="flat" cmpd="sng" algn="ctr">
                      <a:solidFill>
                        <a:srgbClr val="232F3E"/>
                      </a:solidFill>
                    </a:lnL>
                    <a:lnR w="12700" cap="flat" cmpd="sng" algn="ctr">
                      <a:solidFill>
                        <a:srgbClr val="232F3E"/>
                      </a:solidFill>
                    </a:lnR>
                    <a:lnT w="12700" cap="flat" cmpd="sng" algn="ctr">
                      <a:solidFill>
                        <a:srgbClr val="232F3E"/>
                      </a:solidFill>
                    </a:lnT>
                    <a:lnB w="12700" cap="flat" cmpd="sng" algn="ctr">
                      <a:solidFill>
                        <a:srgbClr val="232F3E"/>
                      </a:solidFill>
                    </a:lnB>
                    <a:solidFill>
                      <a:srgbClr val="F7F8FA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6191F"/>
                          </a:solidFill>
                          <a:latin typeface="Consolas"/>
                        </a:rPr>
                        <a:t>Invocation</a:t>
                      </a:r>
                      <a:r>
                        <a:rPr sz="1100" b="0">
                          <a:solidFill>
                            <a:srgbClr val="16191F"/>
                          </a:solidFill>
                          <a:latin typeface="Consolas"/>
                        </a:rPr>
                        <a:t>  (traffic)</a:t>
                      </a:r>
                    </a:p>
                  </a:txBody>
                  <a:tcPr anchor="ctr" marL="82296" marR="82296" marT="18288" marB="18288">
                    <a:lnL w="12700" cap="flat" cmpd="sng" algn="ctr">
                      <a:solidFill>
                        <a:srgbClr val="232F3E"/>
                      </a:solidFill>
                    </a:lnL>
                    <a:lnR w="12700" cap="flat" cmpd="sng" algn="ctr">
                      <a:solidFill>
                        <a:srgbClr val="232F3E"/>
                      </a:solidFill>
                    </a:lnR>
                    <a:lnT w="12700" cap="flat" cmpd="sng" algn="ctr">
                      <a:solidFill>
                        <a:srgbClr val="232F3E"/>
                      </a:solidFill>
                    </a:lnT>
                    <a:lnB w="12700" cap="flat" cmpd="sng" algn="ctr">
                      <a:solidFill>
                        <a:srgbClr val="232F3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6191F"/>
                          </a:solidFill>
                          <a:latin typeface="Consolas"/>
                        </a:rPr>
                        <a:t>$0.005 per 1,000 calls</a:t>
                      </a:r>
                    </a:p>
                  </a:txBody>
                  <a:tcPr anchor="ctr" marL="82296" marR="82296" marT="18288" marB="18288">
                    <a:lnL w="12700" cap="flat" cmpd="sng" algn="ctr">
                      <a:solidFill>
                        <a:srgbClr val="232F3E"/>
                      </a:solidFill>
                    </a:lnL>
                    <a:lnR w="12700" cap="flat" cmpd="sng" algn="ctr">
                      <a:solidFill>
                        <a:srgbClr val="232F3E"/>
                      </a:solidFill>
                    </a:lnR>
                    <a:lnT w="12700" cap="flat" cmpd="sng" algn="ctr">
                      <a:solidFill>
                        <a:srgbClr val="232F3E"/>
                      </a:solidFill>
                    </a:lnT>
                    <a:lnB w="12700" cap="flat" cmpd="sng" algn="ctr">
                      <a:solidFill>
                        <a:srgbClr val="232F3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91F"/>
                          </a:solidFill>
                          <a:latin typeface="Consolas"/>
                        </a:rPr>
                        <a:t>every </a:t>
                      </a:r>
                      <a:r>
                        <a:rPr sz="1100" b="0">
                          <a:solidFill>
                            <a:srgbClr val="1F77A8"/>
                          </a:solidFill>
                          <a:latin typeface="Consolas"/>
                        </a:rPr>
                        <a:t>tools/list</a:t>
                      </a:r>
                      <a:r>
                        <a:rPr sz="1100" b="0">
                          <a:solidFill>
                            <a:srgbClr val="16191F"/>
                          </a:solidFill>
                          <a:latin typeface="Consolas"/>
                        </a:rPr>
                        <a:t> and </a:t>
                      </a:r>
                      <a:r>
                        <a:rPr sz="1100" b="0">
                          <a:solidFill>
                            <a:srgbClr val="1F77A8"/>
                          </a:solidFill>
                          <a:latin typeface="Consolas"/>
                        </a:rPr>
                        <a:t>tools/call</a:t>
                      </a:r>
                    </a:p>
                  </a:txBody>
                  <a:tcPr anchor="ctr" marL="82296" marR="82296" marT="18288" marB="18288">
                    <a:lnL w="12700" cap="flat" cmpd="sng" algn="ctr">
                      <a:solidFill>
                        <a:srgbClr val="232F3E"/>
                      </a:solidFill>
                    </a:lnL>
                    <a:lnR w="12700" cap="flat" cmpd="sng" algn="ctr">
                      <a:solidFill>
                        <a:srgbClr val="232F3E"/>
                      </a:solidFill>
                    </a:lnR>
                    <a:lnT w="12700" cap="flat" cmpd="sng" algn="ctr">
                      <a:solidFill>
                        <a:srgbClr val="232F3E"/>
                      </a:solidFill>
                    </a:lnT>
                    <a:lnB w="12700" cap="flat" cmpd="sng" algn="ctr">
                      <a:solidFill>
                        <a:srgbClr val="232F3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91F"/>
                          </a:solidFill>
                          <a:latin typeface="Consolas"/>
                        </a:rPr>
                        <a:t>No — one-off</a:t>
                      </a:r>
                    </a:p>
                  </a:txBody>
                  <a:tcPr anchor="ctr" marL="82296" marR="82296" marT="18288" marB="18288">
                    <a:lnL w="12700" cap="flat" cmpd="sng" algn="ctr">
                      <a:solidFill>
                        <a:srgbClr val="232F3E"/>
                      </a:solidFill>
                    </a:lnL>
                    <a:lnR w="12700" cap="flat" cmpd="sng" algn="ctr">
                      <a:solidFill>
                        <a:srgbClr val="232F3E"/>
                      </a:solidFill>
                    </a:lnR>
                    <a:lnT w="12700" cap="flat" cmpd="sng" algn="ctr">
                      <a:solidFill>
                        <a:srgbClr val="232F3E"/>
                      </a:solidFill>
                    </a:lnT>
                    <a:lnB w="12700" cap="flat" cmpd="sng" algn="ctr">
                      <a:solidFill>
                        <a:srgbClr val="232F3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6191F"/>
                          </a:solidFill>
                          <a:latin typeface="Consolas"/>
                        </a:rPr>
                        <a:t>Tool indexed</a:t>
                      </a:r>
                      <a:r>
                        <a:rPr sz="1100" b="0">
                          <a:solidFill>
                            <a:srgbClr val="16191F"/>
                          </a:solidFill>
                          <a:latin typeface="Consolas"/>
                        </a:rPr>
                        <a:t>  (catalogue)</a:t>
                      </a:r>
                    </a:p>
                  </a:txBody>
                  <a:tcPr anchor="ctr" marL="82296" marR="82296" marT="18288" marB="18288">
                    <a:lnL w="12700" cap="flat" cmpd="sng" algn="ctr">
                      <a:solidFill>
                        <a:srgbClr val="232F3E"/>
                      </a:solidFill>
                    </a:lnL>
                    <a:lnR w="12700" cap="flat" cmpd="sng" algn="ctr">
                      <a:solidFill>
                        <a:srgbClr val="232F3E"/>
                      </a:solidFill>
                    </a:lnR>
                    <a:lnT w="12700" cap="flat" cmpd="sng" algn="ctr">
                      <a:solidFill>
                        <a:srgbClr val="232F3E"/>
                      </a:solidFill>
                    </a:lnT>
                    <a:lnB w="12700" cap="flat" cmpd="sng" algn="ctr">
                      <a:solidFill>
                        <a:srgbClr val="232F3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6191F"/>
                          </a:solidFill>
                          <a:latin typeface="Consolas"/>
                        </a:rPr>
                        <a:t>$0.02 per 100 tools per month</a:t>
                      </a:r>
                    </a:p>
                  </a:txBody>
                  <a:tcPr anchor="ctr" marL="82296" marR="82296" marT="18288" marB="18288">
                    <a:lnL w="12700" cap="flat" cmpd="sng" algn="ctr">
                      <a:solidFill>
                        <a:srgbClr val="232F3E"/>
                      </a:solidFill>
                    </a:lnL>
                    <a:lnR w="12700" cap="flat" cmpd="sng" algn="ctr">
                      <a:solidFill>
                        <a:srgbClr val="232F3E"/>
                      </a:solidFill>
                    </a:lnR>
                    <a:lnT w="12700" cap="flat" cmpd="sng" algn="ctr">
                      <a:solidFill>
                        <a:srgbClr val="232F3E"/>
                      </a:solidFill>
                    </a:lnT>
                    <a:lnB w="12700" cap="flat" cmpd="sng" algn="ctr">
                      <a:solidFill>
                        <a:srgbClr val="232F3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91F"/>
                          </a:solidFill>
                          <a:latin typeface="Consolas"/>
                        </a:rPr>
                        <a:t>for every tool the Gateway holds</a:t>
                      </a:r>
                    </a:p>
                  </a:txBody>
                  <a:tcPr anchor="ctr" marL="82296" marR="82296" marT="18288" marB="18288">
                    <a:lnL w="12700" cap="flat" cmpd="sng" algn="ctr">
                      <a:solidFill>
                        <a:srgbClr val="232F3E"/>
                      </a:solidFill>
                    </a:lnL>
                    <a:lnR w="12700" cap="flat" cmpd="sng" algn="ctr">
                      <a:solidFill>
                        <a:srgbClr val="232F3E"/>
                      </a:solidFill>
                    </a:lnR>
                    <a:lnT w="12700" cap="flat" cmpd="sng" algn="ctr">
                      <a:solidFill>
                        <a:srgbClr val="232F3E"/>
                      </a:solidFill>
                    </a:lnT>
                    <a:lnB w="12700" cap="flat" cmpd="sng" algn="ctr">
                      <a:solidFill>
                        <a:srgbClr val="232F3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32F3E"/>
                          </a:solidFill>
                          <a:latin typeface="Consolas"/>
                        </a:rPr>
                        <a:t>Yes — every month</a:t>
                      </a:r>
                    </a:p>
                  </a:txBody>
                  <a:tcPr anchor="ctr" marL="82296" marR="82296" marT="18288" marB="18288">
                    <a:lnL w="12700" cap="flat" cmpd="sng" algn="ctr">
                      <a:solidFill>
                        <a:srgbClr val="232F3E"/>
                      </a:solidFill>
                    </a:lnL>
                    <a:lnR w="12700" cap="flat" cmpd="sng" algn="ctr">
                      <a:solidFill>
                        <a:srgbClr val="232F3E"/>
                      </a:solidFill>
                    </a:lnR>
                    <a:lnT w="12700" cap="flat" cmpd="sng" algn="ctr">
                      <a:solidFill>
                        <a:srgbClr val="232F3E"/>
                      </a:solidFill>
                    </a:lnT>
                    <a:lnB w="12700" cap="flat" cmpd="sng" algn="ctr">
                      <a:solidFill>
                        <a:srgbClr val="232F3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2286000"/>
            <a:ext cx="112745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232F3E"/>
                </a:solidFill>
                <a:latin typeface="Calibri"/>
              </a:rPr>
              <a:t>USE-CASE PROFILES</a:t>
            </a:r>
            <a:r>
              <a:rPr sz="1050" b="0">
                <a:solidFill>
                  <a:srgbClr val="545B64"/>
                </a:solidFill>
                <a:latin typeface="Calibri"/>
              </a:rPr>
              <a:t>   ·   all three at the same 120 turns a month — per user, per month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542032"/>
          <a:ext cx="11274549" cy="13167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33347"/>
                <a:gridCol w="1352946"/>
                <a:gridCol w="1240200"/>
                <a:gridCol w="1240200"/>
                <a:gridCol w="1127455"/>
                <a:gridCol w="2480401"/>
              </a:tblGrid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45B64"/>
                          </a:solidFill>
                          <a:latin typeface="Consolas"/>
                        </a:rPr>
                        <a:t>Profile</a:t>
                      </a:r>
                    </a:p>
                  </a:txBody>
                  <a:tcPr anchor="ctr" marL="82296" marR="82296" marT="18288" marB="18288">
                    <a:lnL w="12700" cap="flat" cmpd="sng" algn="ctr">
                      <a:solidFill>
                        <a:srgbClr val="232F3E"/>
                      </a:solidFill>
                    </a:lnL>
                    <a:lnR w="12700" cap="flat" cmpd="sng" algn="ctr">
                      <a:solidFill>
                        <a:srgbClr val="232F3E"/>
                      </a:solidFill>
                    </a:lnR>
                    <a:lnT w="12700" cap="flat" cmpd="sng" algn="ctr">
                      <a:solidFill>
                        <a:srgbClr val="232F3E"/>
                      </a:solidFill>
                    </a:lnT>
                    <a:lnB w="12700" cap="flat" cmpd="sng" algn="ctr">
                      <a:solidFill>
                        <a:srgbClr val="232F3E"/>
                      </a:solidFill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45B64"/>
                          </a:solidFill>
                          <a:latin typeface="Consolas"/>
                        </a:rPr>
                        <a:t>Tools indexed</a:t>
                      </a:r>
                    </a:p>
                  </a:txBody>
                  <a:tcPr anchor="ctr" marL="82296" marR="82296" marT="18288" marB="18288">
                    <a:lnL w="12700" cap="flat" cmpd="sng" algn="ctr">
                      <a:solidFill>
                        <a:srgbClr val="232F3E"/>
                      </a:solidFill>
                    </a:lnL>
                    <a:lnR w="12700" cap="flat" cmpd="sng" algn="ctr">
                      <a:solidFill>
                        <a:srgbClr val="232F3E"/>
                      </a:solidFill>
                    </a:lnR>
                    <a:lnT w="12700" cap="flat" cmpd="sng" algn="ctr">
                      <a:solidFill>
                        <a:srgbClr val="232F3E"/>
                      </a:solidFill>
                    </a:lnT>
                    <a:lnB w="12700" cap="flat" cmpd="sng" algn="ctr">
                      <a:solidFill>
                        <a:srgbClr val="232F3E"/>
                      </a:solidFill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45B64"/>
                          </a:solidFill>
                          <a:latin typeface="Consolas"/>
                        </a:rPr>
                        <a:t>Calls/turn</a:t>
                      </a:r>
                    </a:p>
                  </a:txBody>
                  <a:tcPr anchor="ctr" marL="82296" marR="82296" marT="18288" marB="18288">
                    <a:lnL w="12700" cap="flat" cmpd="sng" algn="ctr">
                      <a:solidFill>
                        <a:srgbClr val="232F3E"/>
                      </a:solidFill>
                    </a:lnL>
                    <a:lnR w="12700" cap="flat" cmpd="sng" algn="ctr">
                      <a:solidFill>
                        <a:srgbClr val="232F3E"/>
                      </a:solidFill>
                    </a:lnR>
                    <a:lnT w="12700" cap="flat" cmpd="sng" algn="ctr">
                      <a:solidFill>
                        <a:srgbClr val="232F3E"/>
                      </a:solidFill>
                    </a:lnT>
                    <a:lnB w="12700" cap="flat" cmpd="sng" algn="ctr">
                      <a:solidFill>
                        <a:srgbClr val="232F3E"/>
                      </a:solidFill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45B64"/>
                          </a:solidFill>
                          <a:latin typeface="Consolas"/>
                        </a:rPr>
                        <a:t>Calls/mo</a:t>
                      </a:r>
                    </a:p>
                  </a:txBody>
                  <a:tcPr anchor="ctr" marL="82296" marR="82296" marT="18288" marB="18288">
                    <a:lnL w="12700" cap="flat" cmpd="sng" algn="ctr">
                      <a:solidFill>
                        <a:srgbClr val="232F3E"/>
                      </a:solidFill>
                    </a:lnL>
                    <a:lnR w="12700" cap="flat" cmpd="sng" algn="ctr">
                      <a:solidFill>
                        <a:srgbClr val="232F3E"/>
                      </a:solidFill>
                    </a:lnR>
                    <a:lnT w="12700" cap="flat" cmpd="sng" algn="ctr">
                      <a:solidFill>
                        <a:srgbClr val="232F3E"/>
                      </a:solidFill>
                    </a:lnT>
                    <a:lnB w="12700" cap="flat" cmpd="sng" algn="ctr">
                      <a:solidFill>
                        <a:srgbClr val="232F3E"/>
                      </a:solidFill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45B64"/>
                          </a:solidFill>
                          <a:latin typeface="Consolas"/>
                        </a:rPr>
                        <a:t>Bill/mo</a:t>
                      </a:r>
                    </a:p>
                  </a:txBody>
                  <a:tcPr anchor="ctr" marL="82296" marR="82296" marT="18288" marB="18288">
                    <a:lnL w="12700" cap="flat" cmpd="sng" algn="ctr">
                      <a:solidFill>
                        <a:srgbClr val="232F3E"/>
                      </a:solidFill>
                    </a:lnL>
                    <a:lnR w="12700" cap="flat" cmpd="sng" algn="ctr">
                      <a:solidFill>
                        <a:srgbClr val="232F3E"/>
                      </a:solidFill>
                    </a:lnR>
                    <a:lnT w="12700" cap="flat" cmpd="sng" algn="ctr">
                      <a:solidFill>
                        <a:srgbClr val="232F3E"/>
                      </a:solidFill>
                    </a:lnT>
                    <a:lnB w="12700" cap="flat" cmpd="sng" algn="ctr">
                      <a:solidFill>
                        <a:srgbClr val="232F3E"/>
                      </a:solidFill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45B64"/>
                          </a:solidFill>
                          <a:latin typeface="Consolas"/>
                        </a:rPr>
                        <a:t>What dominates</a:t>
                      </a:r>
                    </a:p>
                  </a:txBody>
                  <a:tcPr anchor="ctr" marL="82296" marR="82296" marT="18288" marB="18288">
                    <a:lnL w="12700" cap="flat" cmpd="sng" algn="ctr">
                      <a:solidFill>
                        <a:srgbClr val="232F3E"/>
                      </a:solidFill>
                    </a:lnL>
                    <a:lnR w="12700" cap="flat" cmpd="sng" algn="ctr">
                      <a:solidFill>
                        <a:srgbClr val="232F3E"/>
                      </a:solidFill>
                    </a:lnR>
                    <a:lnT w="12700" cap="flat" cmpd="sng" algn="ctr">
                      <a:solidFill>
                        <a:srgbClr val="232F3E"/>
                      </a:solidFill>
                    </a:lnT>
                    <a:lnB w="12700" cap="flat" cmpd="sng" algn="ctr">
                      <a:solidFill>
                        <a:srgbClr val="232F3E"/>
                      </a:solidFill>
                    </a:lnB>
                    <a:solidFill>
                      <a:srgbClr val="F7F8F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6191F"/>
                          </a:solidFill>
                          <a:latin typeface="Consolas"/>
                        </a:rPr>
                        <a:t>Big catalogue, light use</a:t>
                      </a:r>
                      <a:r>
                        <a:rPr sz="1100" b="0">
                          <a:solidFill>
                            <a:srgbClr val="545B64"/>
                          </a:solidFill>
                          <a:latin typeface="Consolas"/>
                        </a:rPr>
                        <a:t>  — rarely called</a:t>
                      </a:r>
                    </a:p>
                  </a:txBody>
                  <a:tcPr anchor="ctr" marL="82296" marR="82296" marT="18288" marB="18288">
                    <a:lnL w="12700" cap="flat" cmpd="sng" algn="ctr">
                      <a:solidFill>
                        <a:srgbClr val="232F3E"/>
                      </a:solidFill>
                    </a:lnL>
                    <a:lnR w="12700" cap="flat" cmpd="sng" algn="ctr">
                      <a:solidFill>
                        <a:srgbClr val="232F3E"/>
                      </a:solidFill>
                    </a:lnR>
                    <a:lnT w="12700" cap="flat" cmpd="sng" algn="ctr">
                      <a:solidFill>
                        <a:srgbClr val="232F3E"/>
                      </a:solidFill>
                    </a:lnT>
                    <a:lnB w="12700" cap="flat" cmpd="sng" algn="ctr">
                      <a:solidFill>
                        <a:srgbClr val="232F3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91F"/>
                          </a:solidFill>
                          <a:latin typeface="Consolas"/>
                        </a:rPr>
                        <a:t>200</a:t>
                      </a:r>
                    </a:p>
                  </a:txBody>
                  <a:tcPr anchor="ctr" marL="82296" marR="82296" marT="18288" marB="18288">
                    <a:lnL w="12700" cap="flat" cmpd="sng" algn="ctr">
                      <a:solidFill>
                        <a:srgbClr val="232F3E"/>
                      </a:solidFill>
                    </a:lnL>
                    <a:lnR w="12700" cap="flat" cmpd="sng" algn="ctr">
                      <a:solidFill>
                        <a:srgbClr val="232F3E"/>
                      </a:solidFill>
                    </a:lnR>
                    <a:lnT w="12700" cap="flat" cmpd="sng" algn="ctr">
                      <a:solidFill>
                        <a:srgbClr val="232F3E"/>
                      </a:solidFill>
                    </a:lnT>
                    <a:lnB w="12700" cap="flat" cmpd="sng" algn="ctr">
                      <a:solidFill>
                        <a:srgbClr val="232F3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91F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 anchor="ctr" marL="82296" marR="82296" marT="18288" marB="18288">
                    <a:lnL w="12700" cap="flat" cmpd="sng" algn="ctr">
                      <a:solidFill>
                        <a:srgbClr val="232F3E"/>
                      </a:solidFill>
                    </a:lnL>
                    <a:lnR w="12700" cap="flat" cmpd="sng" algn="ctr">
                      <a:solidFill>
                        <a:srgbClr val="232F3E"/>
                      </a:solidFill>
                    </a:lnR>
                    <a:lnT w="12700" cap="flat" cmpd="sng" algn="ctr">
                      <a:solidFill>
                        <a:srgbClr val="232F3E"/>
                      </a:solidFill>
                    </a:lnT>
                    <a:lnB w="12700" cap="flat" cmpd="sng" algn="ctr">
                      <a:solidFill>
                        <a:srgbClr val="232F3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91F"/>
                          </a:solidFill>
                          <a:latin typeface="Consolas"/>
                        </a:rPr>
                        <a:t>240</a:t>
                      </a:r>
                    </a:p>
                  </a:txBody>
                  <a:tcPr anchor="ctr" marL="82296" marR="82296" marT="18288" marB="18288">
                    <a:lnL w="12700" cap="flat" cmpd="sng" algn="ctr">
                      <a:solidFill>
                        <a:srgbClr val="232F3E"/>
                      </a:solidFill>
                    </a:lnL>
                    <a:lnR w="12700" cap="flat" cmpd="sng" algn="ctr">
                      <a:solidFill>
                        <a:srgbClr val="232F3E"/>
                      </a:solidFill>
                    </a:lnR>
                    <a:lnT w="12700" cap="flat" cmpd="sng" algn="ctr">
                      <a:solidFill>
                        <a:srgbClr val="232F3E"/>
                      </a:solidFill>
                    </a:lnT>
                    <a:lnB w="12700" cap="flat" cmpd="sng" algn="ctr">
                      <a:solidFill>
                        <a:srgbClr val="232F3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6191F"/>
                          </a:solidFill>
                          <a:latin typeface="Consolas"/>
                        </a:rPr>
                        <a:t>$0.0412</a:t>
                      </a:r>
                    </a:p>
                  </a:txBody>
                  <a:tcPr anchor="ctr" marL="82296" marR="82296" marT="18288" marB="18288">
                    <a:lnL w="12700" cap="flat" cmpd="sng" algn="ctr">
                      <a:solidFill>
                        <a:srgbClr val="232F3E"/>
                      </a:solidFill>
                    </a:lnL>
                    <a:lnR w="12700" cap="flat" cmpd="sng" algn="ctr">
                      <a:solidFill>
                        <a:srgbClr val="232F3E"/>
                      </a:solidFill>
                    </a:lnR>
                    <a:lnT w="12700" cap="flat" cmpd="sng" algn="ctr">
                      <a:solidFill>
                        <a:srgbClr val="232F3E"/>
                      </a:solidFill>
                    </a:lnT>
                    <a:lnB w="12700" cap="flat" cmpd="sng" algn="ctr">
                      <a:solidFill>
                        <a:srgbClr val="232F3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91F"/>
                          </a:solidFill>
                          <a:latin typeface="Consolas"/>
                        </a:rPr>
                        <a:t>catalogue — 97%, recurring</a:t>
                      </a:r>
                    </a:p>
                  </a:txBody>
                  <a:tcPr anchor="ctr" marL="82296" marR="82296" marT="18288" marB="18288">
                    <a:lnL w="12700" cap="flat" cmpd="sng" algn="ctr">
                      <a:solidFill>
                        <a:srgbClr val="232F3E"/>
                      </a:solidFill>
                    </a:lnL>
                    <a:lnR w="12700" cap="flat" cmpd="sng" algn="ctr">
                      <a:solidFill>
                        <a:srgbClr val="232F3E"/>
                      </a:solidFill>
                    </a:lnR>
                    <a:lnT w="12700" cap="flat" cmpd="sng" algn="ctr">
                      <a:solidFill>
                        <a:srgbClr val="232F3E"/>
                      </a:solidFill>
                    </a:lnT>
                    <a:lnB w="12700" cap="flat" cmpd="sng" algn="ctr">
                      <a:solidFill>
                        <a:srgbClr val="232F3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6191F"/>
                          </a:solidFill>
                          <a:latin typeface="Consolas"/>
                        </a:rPr>
                        <a:t>Lean catalogue, heavy use</a:t>
                      </a:r>
                      <a:r>
                        <a:rPr sz="1100" b="0">
                          <a:solidFill>
                            <a:srgbClr val="545B64"/>
                          </a:solidFill>
                          <a:latin typeface="Consolas"/>
                        </a:rPr>
                        <a:t>  — called constantly</a:t>
                      </a:r>
                    </a:p>
                  </a:txBody>
                  <a:tcPr anchor="ctr" marL="82296" marR="82296" marT="18288" marB="18288">
                    <a:lnL w="12700" cap="flat" cmpd="sng" algn="ctr">
                      <a:solidFill>
                        <a:srgbClr val="232F3E"/>
                      </a:solidFill>
                    </a:lnL>
                    <a:lnR w="12700" cap="flat" cmpd="sng" algn="ctr">
                      <a:solidFill>
                        <a:srgbClr val="232F3E"/>
                      </a:solidFill>
                    </a:lnR>
                    <a:lnT w="12700" cap="flat" cmpd="sng" algn="ctr">
                      <a:solidFill>
                        <a:srgbClr val="232F3E"/>
                      </a:solidFill>
                    </a:lnT>
                    <a:lnB w="12700" cap="flat" cmpd="sng" algn="ctr">
                      <a:solidFill>
                        <a:srgbClr val="232F3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91F"/>
                          </a:solidFill>
                          <a:latin typeface="Consolas"/>
                        </a:rPr>
                        <a:t>10</a:t>
                      </a:r>
                    </a:p>
                  </a:txBody>
                  <a:tcPr anchor="ctr" marL="82296" marR="82296" marT="18288" marB="18288">
                    <a:lnL w="12700" cap="flat" cmpd="sng" algn="ctr">
                      <a:solidFill>
                        <a:srgbClr val="232F3E"/>
                      </a:solidFill>
                    </a:lnL>
                    <a:lnR w="12700" cap="flat" cmpd="sng" algn="ctr">
                      <a:solidFill>
                        <a:srgbClr val="232F3E"/>
                      </a:solidFill>
                    </a:lnR>
                    <a:lnT w="12700" cap="flat" cmpd="sng" algn="ctr">
                      <a:solidFill>
                        <a:srgbClr val="232F3E"/>
                      </a:solidFill>
                    </a:lnT>
                    <a:lnB w="12700" cap="flat" cmpd="sng" algn="ctr">
                      <a:solidFill>
                        <a:srgbClr val="232F3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91F"/>
                          </a:solidFill>
                          <a:latin typeface="Consolas"/>
                        </a:rPr>
                        <a:t>10</a:t>
                      </a:r>
                    </a:p>
                  </a:txBody>
                  <a:tcPr anchor="ctr" marL="82296" marR="82296" marT="18288" marB="18288">
                    <a:lnL w="12700" cap="flat" cmpd="sng" algn="ctr">
                      <a:solidFill>
                        <a:srgbClr val="232F3E"/>
                      </a:solidFill>
                    </a:lnL>
                    <a:lnR w="12700" cap="flat" cmpd="sng" algn="ctr">
                      <a:solidFill>
                        <a:srgbClr val="232F3E"/>
                      </a:solidFill>
                    </a:lnR>
                    <a:lnT w="12700" cap="flat" cmpd="sng" algn="ctr">
                      <a:solidFill>
                        <a:srgbClr val="232F3E"/>
                      </a:solidFill>
                    </a:lnT>
                    <a:lnB w="12700" cap="flat" cmpd="sng" algn="ctr">
                      <a:solidFill>
                        <a:srgbClr val="232F3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91F"/>
                          </a:solidFill>
                          <a:latin typeface="Consolas"/>
                        </a:rPr>
                        <a:t>1,200</a:t>
                      </a:r>
                    </a:p>
                  </a:txBody>
                  <a:tcPr anchor="ctr" marL="82296" marR="82296" marT="18288" marB="18288">
                    <a:lnL w="12700" cap="flat" cmpd="sng" algn="ctr">
                      <a:solidFill>
                        <a:srgbClr val="232F3E"/>
                      </a:solidFill>
                    </a:lnL>
                    <a:lnR w="12700" cap="flat" cmpd="sng" algn="ctr">
                      <a:solidFill>
                        <a:srgbClr val="232F3E"/>
                      </a:solidFill>
                    </a:lnR>
                    <a:lnT w="12700" cap="flat" cmpd="sng" algn="ctr">
                      <a:solidFill>
                        <a:srgbClr val="232F3E"/>
                      </a:solidFill>
                    </a:lnT>
                    <a:lnB w="12700" cap="flat" cmpd="sng" algn="ctr">
                      <a:solidFill>
                        <a:srgbClr val="232F3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6191F"/>
                          </a:solidFill>
                          <a:latin typeface="Consolas"/>
                        </a:rPr>
                        <a:t>$0.0080</a:t>
                      </a:r>
                    </a:p>
                  </a:txBody>
                  <a:tcPr anchor="ctr" marL="82296" marR="82296" marT="18288" marB="18288">
                    <a:lnL w="12700" cap="flat" cmpd="sng" algn="ctr">
                      <a:solidFill>
                        <a:srgbClr val="232F3E"/>
                      </a:solidFill>
                    </a:lnL>
                    <a:lnR w="12700" cap="flat" cmpd="sng" algn="ctr">
                      <a:solidFill>
                        <a:srgbClr val="232F3E"/>
                      </a:solidFill>
                    </a:lnR>
                    <a:lnT w="12700" cap="flat" cmpd="sng" algn="ctr">
                      <a:solidFill>
                        <a:srgbClr val="232F3E"/>
                      </a:solidFill>
                    </a:lnT>
                    <a:lnB w="12700" cap="flat" cmpd="sng" algn="ctr">
                      <a:solidFill>
                        <a:srgbClr val="232F3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91F"/>
                          </a:solidFill>
                          <a:latin typeface="Consolas"/>
                        </a:rPr>
                        <a:t>traffic — 75%</a:t>
                      </a:r>
                    </a:p>
                  </a:txBody>
                  <a:tcPr anchor="ctr" marL="82296" marR="82296" marT="18288" marB="18288">
                    <a:lnL w="12700" cap="flat" cmpd="sng" algn="ctr">
                      <a:solidFill>
                        <a:srgbClr val="232F3E"/>
                      </a:solidFill>
                    </a:lnL>
                    <a:lnR w="12700" cap="flat" cmpd="sng" algn="ctr">
                      <a:solidFill>
                        <a:srgbClr val="232F3E"/>
                      </a:solidFill>
                    </a:lnR>
                    <a:lnT w="12700" cap="flat" cmpd="sng" algn="ctr">
                      <a:solidFill>
                        <a:srgbClr val="232F3E"/>
                      </a:solidFill>
                    </a:lnT>
                    <a:lnB w="12700" cap="flat" cmpd="sng" algn="ctr">
                      <a:solidFill>
                        <a:srgbClr val="232F3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32F3E"/>
                          </a:solidFill>
                          <a:latin typeface="Consolas"/>
                        </a:rPr>
                        <a:t>Valentin, modelled</a:t>
                      </a:r>
                      <a:r>
                        <a:rPr sz="1100" b="0">
                          <a:solidFill>
                            <a:srgbClr val="545B64"/>
                          </a:solidFill>
                          <a:latin typeface="Consolas"/>
                        </a:rPr>
                        <a:t>  — the 120-turn run</a:t>
                      </a:r>
                    </a:p>
                  </a:txBody>
                  <a:tcPr anchor="ctr" marL="82296" marR="82296" marT="18288" marB="18288">
                    <a:lnL w="12700" cap="flat" cmpd="sng" algn="ctr">
                      <a:solidFill>
                        <a:srgbClr val="232F3E"/>
                      </a:solidFill>
                    </a:lnL>
                    <a:lnR w="12700" cap="flat" cmpd="sng" algn="ctr">
                      <a:solidFill>
                        <a:srgbClr val="232F3E"/>
                      </a:solidFill>
                    </a:lnR>
                    <a:lnT w="12700" cap="flat" cmpd="sng" algn="ctr">
                      <a:solidFill>
                        <a:srgbClr val="232F3E"/>
                      </a:solidFill>
                    </a:lnT>
                    <a:lnB w="12700" cap="flat" cmpd="sng" algn="ctr">
                      <a:solidFill>
                        <a:srgbClr val="232F3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91F"/>
                          </a:solidFill>
                          <a:latin typeface="Consolas"/>
                        </a:rPr>
                        <a:t>29</a:t>
                      </a:r>
                    </a:p>
                  </a:txBody>
                  <a:tcPr anchor="ctr" marL="82296" marR="82296" marT="18288" marB="18288">
                    <a:lnL w="12700" cap="flat" cmpd="sng" algn="ctr">
                      <a:solidFill>
                        <a:srgbClr val="232F3E"/>
                      </a:solidFill>
                    </a:lnL>
                    <a:lnR w="12700" cap="flat" cmpd="sng" algn="ctr">
                      <a:solidFill>
                        <a:srgbClr val="232F3E"/>
                      </a:solidFill>
                    </a:lnR>
                    <a:lnT w="12700" cap="flat" cmpd="sng" algn="ctr">
                      <a:solidFill>
                        <a:srgbClr val="232F3E"/>
                      </a:solidFill>
                    </a:lnT>
                    <a:lnB w="12700" cap="flat" cmpd="sng" algn="ctr">
                      <a:solidFill>
                        <a:srgbClr val="232F3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91F"/>
                          </a:solidFill>
                          <a:latin typeface="Consolas"/>
                        </a:rPr>
                        <a:t>4.06</a:t>
                      </a:r>
                    </a:p>
                  </a:txBody>
                  <a:tcPr anchor="ctr" marL="82296" marR="82296" marT="18288" marB="18288">
                    <a:lnL w="12700" cap="flat" cmpd="sng" algn="ctr">
                      <a:solidFill>
                        <a:srgbClr val="232F3E"/>
                      </a:solidFill>
                    </a:lnL>
                    <a:lnR w="12700" cap="flat" cmpd="sng" algn="ctr">
                      <a:solidFill>
                        <a:srgbClr val="232F3E"/>
                      </a:solidFill>
                    </a:lnR>
                    <a:lnT w="12700" cap="flat" cmpd="sng" algn="ctr">
                      <a:solidFill>
                        <a:srgbClr val="232F3E"/>
                      </a:solidFill>
                    </a:lnT>
                    <a:lnB w="12700" cap="flat" cmpd="sng" algn="ctr">
                      <a:solidFill>
                        <a:srgbClr val="232F3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91F"/>
                          </a:solidFill>
                          <a:latin typeface="Consolas"/>
                        </a:rPr>
                        <a:t>487</a:t>
                      </a:r>
                    </a:p>
                  </a:txBody>
                  <a:tcPr anchor="ctr" marL="82296" marR="82296" marT="18288" marB="18288">
                    <a:lnL w="12700" cap="flat" cmpd="sng" algn="ctr">
                      <a:solidFill>
                        <a:srgbClr val="232F3E"/>
                      </a:solidFill>
                    </a:lnL>
                    <a:lnR w="12700" cap="flat" cmpd="sng" algn="ctr">
                      <a:solidFill>
                        <a:srgbClr val="232F3E"/>
                      </a:solidFill>
                    </a:lnR>
                    <a:lnT w="12700" cap="flat" cmpd="sng" algn="ctr">
                      <a:solidFill>
                        <a:srgbClr val="232F3E"/>
                      </a:solidFill>
                    </a:lnT>
                    <a:lnB w="12700" cap="flat" cmpd="sng" algn="ctr">
                      <a:solidFill>
                        <a:srgbClr val="232F3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32F3E"/>
                          </a:solidFill>
                          <a:latin typeface="Consolas"/>
                        </a:rPr>
                        <a:t>$0.0082</a:t>
                      </a:r>
                    </a:p>
                  </a:txBody>
                  <a:tcPr anchor="ctr" marL="82296" marR="82296" marT="18288" marB="18288">
                    <a:lnL w="12700" cap="flat" cmpd="sng" algn="ctr">
                      <a:solidFill>
                        <a:srgbClr val="232F3E"/>
                      </a:solidFill>
                    </a:lnL>
                    <a:lnR w="12700" cap="flat" cmpd="sng" algn="ctr">
                      <a:solidFill>
                        <a:srgbClr val="232F3E"/>
                      </a:solidFill>
                    </a:lnR>
                    <a:lnT w="12700" cap="flat" cmpd="sng" algn="ctr">
                      <a:solidFill>
                        <a:srgbClr val="232F3E"/>
                      </a:solidFill>
                    </a:lnT>
                    <a:lnB w="12700" cap="flat" cmpd="sng" algn="ctr">
                      <a:solidFill>
                        <a:srgbClr val="232F3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91F"/>
                          </a:solidFill>
                          <a:latin typeface="Consolas"/>
                        </a:rPr>
                        <a:t>catalogue — 70%</a:t>
                      </a:r>
                    </a:p>
                  </a:txBody>
                  <a:tcPr anchor="ctr" marL="82296" marR="82296" marT="18288" marB="18288">
                    <a:lnL w="12700" cap="flat" cmpd="sng" algn="ctr">
                      <a:solidFill>
                        <a:srgbClr val="232F3E"/>
                      </a:solidFill>
                    </a:lnL>
                    <a:lnR w="12700" cap="flat" cmpd="sng" algn="ctr">
                      <a:solidFill>
                        <a:srgbClr val="232F3E"/>
                      </a:solidFill>
                    </a:lnR>
                    <a:lnT w="12700" cap="flat" cmpd="sng" algn="ctr">
                      <a:solidFill>
                        <a:srgbClr val="232F3E"/>
                      </a:solidFill>
                    </a:lnT>
                    <a:lnB w="12700" cap="flat" cmpd="sng" algn="ctr">
                      <a:solidFill>
                        <a:srgbClr val="232F3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57200" y="3986784"/>
            <a:ext cx="11274552" cy="932688"/>
          </a:xfrm>
          <a:prstGeom prst="rect">
            <a:avLst/>
          </a:prstGeom>
          <a:solidFill>
            <a:srgbClr val="F0A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4087368"/>
            <a:ext cx="108722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232F3E"/>
                </a:solidFill>
                <a:latin typeface="Calibri"/>
              </a:rPr>
              <a:t>THE ONE THING TO REMEMBER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334256"/>
            <a:ext cx="1087221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232F3E"/>
                </a:solidFill>
                <a:latin typeface="Calibri"/>
              </a:rPr>
              <a:t>Cost tracks your catalogue and your calls — not your conversations.</a:t>
            </a:r>
          </a:p>
          <a:p>
            <a:pPr algn="ctr">
              <a:spcBef>
                <a:spcPts val="300"/>
              </a:spcBef>
            </a:pPr>
            <a:r>
              <a:rPr sz="1200" b="0">
                <a:solidFill>
                  <a:srgbClr val="232F3E"/>
                </a:solidFill>
                <a:latin typeface="Calibri"/>
              </a:rPr>
              <a:t>Same 120 turns, 5× the bill — and what dominates flips. Ours: $0.0058 catalogue + $0.0024 calls.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029200"/>
            <a:ext cx="11274552" cy="1225296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5129784"/>
            <a:ext cx="108722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F9900"/>
                </a:solidFill>
                <a:latin typeface="Calibri"/>
              </a:rPr>
              <a:t>WORTH OWNING  ·  AND THE NETWORKING IT DOES SAVE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5376672"/>
            <a:ext cx="10872216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120 of our 487 calls — 25% of all traffic — were </a:t>
            </a:r>
            <a:r>
              <a:rPr sz="1100" b="0">
                <a:solidFill>
                  <a:srgbClr val="F0A32C"/>
                </a:solidFill>
                <a:latin typeface="Consolas"/>
              </a:rPr>
              <a:t>tools/list</a:t>
            </a:r>
            <a:r>
              <a:rPr sz="1150" b="0">
                <a:solidFill>
                  <a:srgbClr val="FFFFFF"/>
                </a:solidFill>
                <a:latin typeface="Calibri"/>
              </a:rPr>
              <a:t> re-reading a catalogue that changed zero times.</a:t>
            </a:r>
          </a:p>
          <a:p>
            <a:pPr algn="l">
              <a:spcBef>
                <a:spcPts val="300"/>
              </a:spcBef>
            </a:pPr>
            <a:r>
              <a:rPr sz="1150" b="0">
                <a:solidFill>
                  <a:srgbClr val="FFFFFF"/>
                </a:solidFill>
                <a:latin typeface="Calibri"/>
              </a:rPr>
              <a:t>Against that, the hub does save networking: consumers integrate once, not once per tool owner — </a:t>
            </a:r>
            <a:r>
              <a:rPr sz="1150" b="1">
                <a:solidFill>
                  <a:srgbClr val="FFFFFF"/>
                </a:solidFill>
                <a:latin typeface="Calibri"/>
              </a:rPr>
              <a:t>n</a:t>
            </a:r>
            <a:r>
              <a:rPr sz="1150" b="0">
                <a:solidFill>
                  <a:srgbClr val="FFFFFF"/>
                </a:solidFill>
                <a:latin typeface="Calibri"/>
              </a:rPr>
              <a:t> relationships instead of </a:t>
            </a:r>
            <a:r>
              <a:rPr sz="1100" b="0">
                <a:solidFill>
                  <a:srgbClr val="F0A32C"/>
                </a:solidFill>
                <a:latin typeface="Consolas"/>
              </a:rPr>
              <a:t>n(n-1)/2</a:t>
            </a:r>
            <a:r>
              <a:rPr sz="1150" b="0">
                <a:solidFill>
                  <a:srgbClr val="FFFFFF"/>
                </a:solidFill>
                <a:latin typeface="Calibri"/>
              </a:rPr>
              <a:t>, which only wins above n = 3.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E4E7EA"/>
                </a:solidFill>
                <a:latin typeface="Calibri"/>
              </a:rPr>
              <a:t>Rates and tool counts are re-read from the tree at build time; the first two profiles are illustrative.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1908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32F3E"/>
                </a:solidFill>
                <a:latin typeface="Calibri"/>
              </a:rPr>
              <a:t>VALENTIN</a:t>
            </a:r>
            <a:r>
              <a:rPr sz="1000" b="0">
                <a:solidFill>
                  <a:srgbClr val="545B64"/>
                </a:solidFill>
                <a:latin typeface="Calibri"/>
              </a:rPr>
              <a:t>   ·   GenAI TFC Capstone Deep-Dive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