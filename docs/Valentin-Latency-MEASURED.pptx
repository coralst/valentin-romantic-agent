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Lato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1F2A37"/>
                </a:solidFill>
                <a:latin typeface="Lato"/>
              </a:rPr>
              <a:t>What the user waits —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37160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444C56"/>
                </a:solidFill>
                <a:latin typeface="Lato"/>
              </a:rPr>
              <a:t>120 turns per engine, same 12 conversations, server-reported replyLatencyMs. The deck assumed ~2.1 s / ~2.4 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1F2A37"/>
                </a:solidFill>
                <a:latin typeface="Lato"/>
              </a:rPr>
              <a:t>median · engine 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938527"/>
            <a:ext cx="8595360" cy="1737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148840" y="1938527"/>
            <a:ext cx="273823" cy="17373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14103" y="1874519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2E7D32"/>
                </a:solidFill>
                <a:latin typeface="Lato"/>
              </a:rPr>
              <a:t>3.2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40279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1F2A37"/>
                </a:solidFill>
                <a:latin typeface="Lato"/>
              </a:rPr>
              <a:t>median · engine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2304287"/>
            <a:ext cx="8595360" cy="1737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148840" y="2304287"/>
            <a:ext cx="443891" cy="173736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84171" y="2240279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B03A2B"/>
                </a:solidFill>
                <a:latin typeface="Lato"/>
              </a:rPr>
              <a:t>5.2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697479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Lato"/>
              </a:rPr>
              <a:t>p90 · engine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2761487"/>
            <a:ext cx="8595360" cy="1737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148840" y="2761487"/>
            <a:ext cx="838947" cy="17373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079227" y="2697479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2E7D32"/>
                </a:solidFill>
                <a:latin typeface="Lato"/>
              </a:rPr>
              <a:t>9.8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063239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Lato"/>
              </a:rPr>
              <a:t>p90 · engine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3127247"/>
            <a:ext cx="8595360" cy="1737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148840" y="3127247"/>
            <a:ext cx="865336" cy="173736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105616" y="3063239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B03A2B"/>
                </a:solidFill>
                <a:latin typeface="Lato"/>
              </a:rPr>
              <a:t>10.1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520439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Lato"/>
              </a:rPr>
              <a:t>p99 · engine 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3584447"/>
            <a:ext cx="8595360" cy="1737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2148840" y="3584447"/>
            <a:ext cx="2738403" cy="17373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978683" y="3520439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2E7D32"/>
                </a:solidFill>
                <a:latin typeface="Lato"/>
              </a:rPr>
              <a:t>32.0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886199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Lato"/>
              </a:rPr>
              <a:t>p99 · engine 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40" y="3950207"/>
            <a:ext cx="8595360" cy="1737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2148840" y="3950207"/>
            <a:ext cx="6049814" cy="173736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90094" y="3886199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B03A2B"/>
                </a:solidFill>
                <a:latin typeface="Lato"/>
              </a:rPr>
              <a:t>70.6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343399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Lato"/>
              </a:rPr>
              <a:t>worst turn · engine 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4407407"/>
            <a:ext cx="8595360" cy="1737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2148840" y="4407407"/>
            <a:ext cx="2845328" cy="17373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85608" y="4343399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2E7D32"/>
                </a:solidFill>
                <a:latin typeface="Lato"/>
              </a:rPr>
              <a:t>33.2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709159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444C56"/>
                </a:solidFill>
                <a:latin typeface="Lato"/>
              </a:rPr>
              <a:t>worst turn · engine 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48840" y="4773167"/>
            <a:ext cx="8595360" cy="1737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148840" y="4773167"/>
            <a:ext cx="8595360" cy="173736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835640" y="4709159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B03A2B"/>
                </a:solidFill>
                <a:latin typeface="Lato"/>
              </a:rPr>
              <a:t>100.3 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230368"/>
            <a:ext cx="5440680" cy="10972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66928" y="5230368"/>
            <a:ext cx="45720" cy="10972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22960" y="5358384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2E7D32"/>
                </a:solidFill>
                <a:latin typeface="Lato"/>
              </a:rPr>
              <a:t>ENGINE A  ·  capped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444C56"/>
                </a:solidFill>
                <a:latin typeface="Lato"/>
              </a:rPr>
              <a:t>Tool loop caps at 5 iterations — 5 turns hit the cap and were cut off. 2 turns over 30 s. The median excludes the extraction call A defers past the reply.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5230368"/>
            <a:ext cx="5431536" cy="10972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199632" y="5230368"/>
            <a:ext cx="45720" cy="1097280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55664" y="5358384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B03A2B"/>
                </a:solidFill>
                <a:latin typeface="Lato"/>
              </a:rPr>
              <a:t>ENGINE B  ·  uncapped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444C56"/>
                </a:solidFill>
                <a:latin typeface="Lato"/>
              </a:rPr>
              <a:t>agent.py has no iteration cap, so the tail is unbounded: 4 turns over 30 s, worst 100 s. The tail is the finding, not the median.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1">
                <a:solidFill>
                  <a:srgbClr val="7A8490"/>
                </a:solidFill>
                <a:latin typeface="Lato"/>
              </a:rPr>
              <a:t>No cold-start penalty: the first turn of a conversation runs at 4.4 s on B against 5.4 s for later turns — the container stays warm and later turns carry more history. n = 1 run, so read p50/p90 with confidence and p99 as indicative.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