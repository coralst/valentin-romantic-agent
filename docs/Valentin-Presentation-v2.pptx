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mazon-my.sharepoint.com/personal/coralst_amazon_com/Lists/Natural%20Intelligence%20Support%20Planning%20Workshop/AllItems.aspx?sortField=Order0&amp;isAscending=false&amp;viewid=082e8a62%2D439c%2D4e01%2Da1d9%2D6bd9a85907a3&amp;env=WebViewList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858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9900"/>
                </a:solidFill>
                <a:latin typeface="Calibri"/>
              </a:rPr>
              <a:t>AWS ENTERPRISE SUPPORT · GenAI Core TFC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Calibri"/>
              </a:rPr>
              <a:t>Valentin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3832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FF9900"/>
                </a:solidFill>
                <a:latin typeface="Calibri"/>
              </a:rPr>
              <a:t>One product · Two agent platforms · Same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7548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879596"/>
                </a:solidFill>
                <a:latin typeface="Calibri"/>
              </a:rPr>
              <a:t>AgentCore vs Fargate + DynamoDB — a controlled A/B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440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Coral Magen  ·  Technical Account Manager  · 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365760"/>
            <a:ext cx="594360" cy="594360"/>
          </a:xfrm>
          <a:prstGeom prst="ellipse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 b="1">
                <a:solidFill>
                  <a:srgbClr val="FF9900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65760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232F3E"/>
                </a:solidFill>
                <a:latin typeface="Calibri"/>
              </a:rPr>
              <a:t>The Business Problem and the Application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371600" cy="35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1155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545B64"/>
                </a:solidFill>
                <a:latin typeface="Calibri"/>
              </a:rPr>
              <a:t>Small nudges over time — from a partner who's paying attention when you can't.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5532120" cy="1645920"/>
          </a:xfrm>
          <a:prstGeom prst="roundRect">
            <a:avLst/>
          </a:prstGeom>
          <a:solidFill>
            <a:srgbClr val="F7F8FA"/>
          </a:solidFill>
          <a:ln w="9525">
            <a:solidFill>
              <a:srgbClr val="E4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5532120" cy="13716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57400"/>
            <a:ext cx="4983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C0392B"/>
                </a:solidFill>
                <a:latin typeface="Calibri"/>
              </a:rPr>
              <a:t>THE BUSINESS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60320"/>
            <a:ext cx="49834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6191F"/>
                </a:solidFill>
                <a:latin typeface="Calibri"/>
              </a:rPr>
              <a:t>We're busy. The little things that make our partner feel seen slip through the cracks — until we need them.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783080"/>
            <a:ext cx="5532120" cy="1645920"/>
          </a:xfrm>
          <a:prstGeom prst="roundRect">
            <a:avLst/>
          </a:prstGeom>
          <a:solidFill>
            <a:srgbClr val="F7F8FA"/>
          </a:solidFill>
          <a:ln w="9525">
            <a:solidFill>
              <a:srgbClr val="E4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09360" y="1783080"/>
            <a:ext cx="5532120" cy="137160"/>
          </a:xfrm>
          <a:prstGeom prst="roundRect">
            <a:avLst/>
          </a:prstGeom>
          <a:solidFill>
            <a:srgbClr val="1E7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2057400"/>
            <a:ext cx="4983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E7C3C"/>
                </a:solidFill>
                <a:latin typeface="Calibri"/>
              </a:rPr>
              <a:t>WHAT VALENTIN 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560320"/>
            <a:ext cx="4983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6191F"/>
                </a:solidFill>
                <a:latin typeface="Calibri"/>
              </a:rPr>
              <a:t>A personal AI assistant that listens, remembers per partner, and acts weeks early — with your final word.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703320"/>
            <a:ext cx="2673019" cy="2377440"/>
          </a:xfrm>
          <a:prstGeom prst="roundRect">
            <a:avLst/>
          </a:prstGeom>
          <a:solidFill>
            <a:srgbClr val="F7F8FA"/>
          </a:solidFill>
          <a:ln w="9525">
            <a:solidFill>
              <a:srgbClr val="E4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2920" y="3703320"/>
            <a:ext cx="2673019" cy="137160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3977640"/>
            <a:ext cx="384048" cy="384048"/>
          </a:xfrm>
          <a:prstGeom prst="ellipse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9900"/>
                </a:solidFill>
                <a:latin typeface="Calibri"/>
              </a:rPr>
              <a:t>1</a:t>
            </a:r>
          </a:p>
        </p:txBody>
      </p:sp>
      <p:pic>
        <p:nvPicPr>
          <p:cNvPr id="18" name="Picture 17" descr="bedr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169" y="4069080"/>
            <a:ext cx="822960" cy="8229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725129" y="4069080"/>
            <a:ext cx="2286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>
                <a:solidFill>
                  <a:srgbClr val="FF9900"/>
                </a:solidFill>
                <a:latin typeface="Calibri"/>
              </a:rPr>
              <a:t>+</a:t>
            </a:r>
          </a:p>
        </p:txBody>
      </p:sp>
      <p:pic>
        <p:nvPicPr>
          <p:cNvPr id="20" name="Picture 19" descr="agentco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3729" y="4069080"/>
            <a:ext cx="822960" cy="8229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85800" y="5120640"/>
            <a:ext cx="230725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232F3E"/>
                </a:solidFill>
                <a:latin typeface="Calibri"/>
              </a:rPr>
              <a:t>Chatbot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532120"/>
            <a:ext cx="23986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C07000"/>
                </a:solidFill>
                <a:latin typeface="Calibri"/>
              </a:rPr>
              <a:t>Amazon Bedrock  ·  AgentCore Runtime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760720"/>
            <a:ext cx="230725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545B64"/>
                </a:solidFill>
                <a:latin typeface="Calibri"/>
              </a:rPr>
              <a:t>Claude in context of the partner profile — same model, two delivery paths.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3185939" y="4800600"/>
            <a:ext cx="144592" cy="182880"/>
          </a:xfrm>
          <a:prstGeom prst="rightArrow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340531" y="3703320"/>
            <a:ext cx="2673019" cy="2377440"/>
          </a:xfrm>
          <a:prstGeom prst="roundRect">
            <a:avLst/>
          </a:prstGeom>
          <a:solidFill>
            <a:srgbClr val="F7F8FA"/>
          </a:solidFill>
          <a:ln w="9525">
            <a:solidFill>
              <a:srgbClr val="E4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340531" y="3703320"/>
            <a:ext cx="2673019" cy="137160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569131" y="3977640"/>
            <a:ext cx="384048" cy="384048"/>
          </a:xfrm>
          <a:prstGeom prst="ellipse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9900"/>
                </a:solidFill>
                <a:latin typeface="Calibri"/>
              </a:rPr>
              <a:t>2</a:t>
            </a:r>
          </a:p>
        </p:txBody>
      </p:sp>
      <p:pic>
        <p:nvPicPr>
          <p:cNvPr id="28" name="Picture 27" descr="dynamod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9780" y="4069080"/>
            <a:ext cx="822960" cy="82296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562740" y="4069080"/>
            <a:ext cx="2286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>
                <a:solidFill>
                  <a:srgbClr val="FF9900"/>
                </a:solidFill>
                <a:latin typeface="Calibri"/>
              </a:rPr>
              <a:t>+</a:t>
            </a:r>
          </a:p>
        </p:txBody>
      </p:sp>
      <p:pic>
        <p:nvPicPr>
          <p:cNvPr id="30" name="Picture 29" descr="agentco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1340" y="4069080"/>
            <a:ext cx="822960" cy="82296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523411" y="5120640"/>
            <a:ext cx="230725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232F3E"/>
                </a:solidFill>
                <a:latin typeface="Calibri"/>
              </a:rPr>
              <a:t>Persistent Memory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77691" y="5532120"/>
            <a:ext cx="23986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C07000"/>
                </a:solidFill>
                <a:latin typeface="Calibri"/>
              </a:rPr>
              <a:t>Amazon DynamoDB  ·  AgentCore Memory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3411" y="5760720"/>
            <a:ext cx="230725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545B64"/>
                </a:solidFill>
                <a:latin typeface="Calibri"/>
              </a:rPr>
              <a:t>8 preference categories captured &amp; recalled across months.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6023551" y="4800600"/>
            <a:ext cx="144592" cy="182880"/>
          </a:xfrm>
          <a:prstGeom prst="rightArrow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78143" y="3703320"/>
            <a:ext cx="2673019" cy="2377440"/>
          </a:xfrm>
          <a:prstGeom prst="roundRect">
            <a:avLst/>
          </a:prstGeom>
          <a:solidFill>
            <a:srgbClr val="F7F8FA"/>
          </a:solidFill>
          <a:ln w="9525">
            <a:solidFill>
              <a:srgbClr val="E4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178143" y="3703320"/>
            <a:ext cx="2673019" cy="137160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406743" y="3977640"/>
            <a:ext cx="384048" cy="384048"/>
          </a:xfrm>
          <a:prstGeom prst="ellipse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9900"/>
                </a:solidFill>
                <a:latin typeface="Calibri"/>
              </a:rPr>
              <a:t>3</a:t>
            </a:r>
          </a:p>
        </p:txBody>
      </p:sp>
      <p:pic>
        <p:nvPicPr>
          <p:cNvPr id="38" name="Picture 37" descr="lambd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1732" y="4023360"/>
            <a:ext cx="1005840" cy="100584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361023" y="5120640"/>
            <a:ext cx="230725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232F3E"/>
                </a:solidFill>
                <a:latin typeface="Calibri"/>
              </a:rPr>
              <a:t>Tool Using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15303" y="5532120"/>
            <a:ext cx="23986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C07000"/>
                </a:solidFill>
                <a:latin typeface="Calibri"/>
              </a:rPr>
              <a:t>AWS Lambda · MCP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61023" y="5760720"/>
            <a:ext cx="230725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545B64"/>
                </a:solidFill>
                <a:latin typeface="Calibri"/>
              </a:rPr>
              <a:t>21 real tools: calendar, mail, restaurants, Spotify, Shabbat times.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8861163" y="4800600"/>
            <a:ext cx="144592" cy="182880"/>
          </a:xfrm>
          <a:prstGeom prst="rightArrow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015755" y="3703320"/>
            <a:ext cx="2673019" cy="2377440"/>
          </a:xfrm>
          <a:prstGeom prst="roundRect">
            <a:avLst/>
          </a:prstGeom>
          <a:solidFill>
            <a:srgbClr val="F7F8FA"/>
          </a:solidFill>
          <a:ln w="9525">
            <a:solidFill>
              <a:srgbClr val="E4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015755" y="3703320"/>
            <a:ext cx="2673019" cy="137160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244355" y="3977640"/>
            <a:ext cx="384048" cy="384048"/>
          </a:xfrm>
          <a:prstGeom prst="ellipse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9900"/>
                </a:solidFill>
                <a:latin typeface="Calibri"/>
              </a:rPr>
              <a:t>4</a:t>
            </a:r>
          </a:p>
        </p:txBody>
      </p:sp>
      <p:pic>
        <p:nvPicPr>
          <p:cNvPr id="46" name="Picture 45" descr="eventbrid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49344" y="4023360"/>
            <a:ext cx="1005840" cy="100584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9198635" y="5120640"/>
            <a:ext cx="230725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232F3E"/>
                </a:solidFill>
                <a:latin typeface="Calibri"/>
              </a:rPr>
              <a:t>Triggers &amp; Loop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52915" y="5532120"/>
            <a:ext cx="23986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C07000"/>
                </a:solidFill>
                <a:latin typeface="Calibri"/>
              </a:rPr>
              <a:t>EventBridge Scheduler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98635" y="5760720"/>
            <a:ext cx="230725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545B64"/>
                </a:solidFill>
                <a:latin typeface="Calibri"/>
              </a:rPr>
              <a:t>Reminders fire weeks later — no human, no model, deterministic.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545B64"/>
                </a:solidFill>
                <a:latin typeface="Calibri"/>
              </a:rPr>
              <a:t>VALENTIN   ·   GenAI TFC Capstone Deep-Dive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45B64"/>
                </a:solidFill>
                <a:latin typeface="Calibr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502920" y="365760"/>
            <a:ext cx="594360" cy="594360"/>
          </a:xfrm>
          <a:prstGeom prst="ellipse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FF9900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65760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232F3E"/>
                </a:solidFill>
                <a:latin typeface="Calibri"/>
              </a:rPr>
              <a:t>Valentin Agentic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371600" cy="3657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11338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545B64"/>
                </a:solidFill>
                <a:latin typeface="Calibri"/>
              </a:rPr>
              <a:t>One loop, always running — it never ends on a reply. Two flows enter it: the timeline of events, and everything new he learns about her.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72768"/>
            <a:ext cx="2697480" cy="1389888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 w="9525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02920" y="1572768"/>
            <a:ext cx="2697480" cy="118872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58952" y="1828800"/>
            <a:ext cx="2240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C07000"/>
                </a:solidFill>
                <a:latin typeface="Calibri"/>
              </a:rPr>
              <a:t>GOAL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084832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250" b="1">
                <a:solidFill>
                  <a:srgbClr val="232F3E"/>
                </a:solidFill>
                <a:latin typeface="Calibri"/>
              </a:rPr>
              <a:t>Make her feel seen.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560320"/>
            <a:ext cx="22402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>
                <a:solidFill>
                  <a:srgbClr val="545B64"/>
                </a:solidFill>
                <a:latin typeface="Calibri"/>
              </a:rPr>
              <a:t>A standing objective, not one prompt. Every turn is judged against it.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241548" y="2185416"/>
            <a:ext cx="141732" cy="173736"/>
          </a:xfrm>
          <a:prstGeom prst="rightArrow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3424428" y="1572768"/>
            <a:ext cx="2697480" cy="1389888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 w="9525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3424428" y="1572768"/>
            <a:ext cx="2697480" cy="118872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680460" y="1828800"/>
            <a:ext cx="2240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C07000"/>
                </a:solidFill>
                <a:latin typeface="Calibri"/>
              </a:rPr>
              <a:t>LOOP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80460" y="2084832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250" b="1">
                <a:solidFill>
                  <a:srgbClr val="232F3E"/>
                </a:solidFill>
                <a:latin typeface="Calibri"/>
              </a:rPr>
              <a:t>Observe → decide → act → re-read.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0460" y="2560320"/>
            <a:ext cx="22402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>
                <a:solidFill>
                  <a:srgbClr val="545B64"/>
                </a:solidFill>
                <a:latin typeface="Calibri"/>
              </a:rPr>
              <a:t>Up to 5 tool iterations per turn. The model chooses the next step from the last result.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163056" y="2185416"/>
            <a:ext cx="141732" cy="173736"/>
          </a:xfrm>
          <a:prstGeom prst="rightArrow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6345936" y="1572768"/>
            <a:ext cx="2697480" cy="1389888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 w="9525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6345936" y="1572768"/>
            <a:ext cx="2697480" cy="118872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601968" y="1828800"/>
            <a:ext cx="2240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C07000"/>
                </a:solidFill>
                <a:latin typeface="Calibri"/>
              </a:rPr>
              <a:t>TOOLS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084832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250" b="1">
                <a:solidFill>
                  <a:srgbClr val="232F3E"/>
                </a:solidFill>
                <a:latin typeface="Calibri"/>
              </a:rPr>
              <a:t>21 real tools, 6 live integrations.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01968" y="2560320"/>
            <a:ext cx="22402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>
                <a:solidFill>
                  <a:srgbClr val="545B64"/>
                </a:solidFill>
                <a:latin typeface="Calibri"/>
              </a:rPr>
              <a:t>Every write is a proposal awaiting her yes — nothing is sent on the model’s word alone.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084564" y="2185416"/>
            <a:ext cx="141732" cy="173736"/>
          </a:xfrm>
          <a:prstGeom prst="rightArrow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9267444" y="1572768"/>
            <a:ext cx="2697480" cy="1389888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 w="9525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9267444" y="1572768"/>
            <a:ext cx="2697480" cy="118872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523476" y="1828800"/>
            <a:ext cx="2240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C07000"/>
                </a:solidFill>
                <a:latin typeface="Calibri"/>
              </a:rPr>
              <a:t>MEMORY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23476" y="2084832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250" b="1">
                <a:solidFill>
                  <a:srgbClr val="232F3E"/>
                </a:solidFill>
                <a:latin typeface="Calibri"/>
              </a:rPr>
              <a:t>Her file, written back each turn.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23476" y="2560320"/>
            <a:ext cx="22402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>
                <a:solidFill>
                  <a:srgbClr val="545B64"/>
                </a:solidFill>
                <a:latin typeface="Calibri"/>
              </a:rPr>
              <a:t>8 preference categories, past outings, pending reminders. The next turn starts richer.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3108960"/>
            <a:ext cx="11183112" cy="18288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Left Arrow 30"/>
          <p:cNvSpPr/>
          <p:nvPr/>
        </p:nvSpPr>
        <p:spPr>
          <a:xfrm>
            <a:off x="502920" y="3035808"/>
            <a:ext cx="164592" cy="164592"/>
          </a:xfrm>
          <a:prstGeom prst="leftArrow">
            <a:avLst/>
          </a:prstGeom>
          <a:solidFill>
            <a:srgbClr val="C0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22960" y="3017520"/>
            <a:ext cx="107899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C07000"/>
                </a:solidFill>
                <a:latin typeface="Calibri"/>
              </a:rPr>
              <a:t>…and back to the goal — the loop closes. Memory is the reason turn 40 is better than turn 1.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3310128"/>
            <a:ext cx="11183112" cy="1298448"/>
          </a:xfrm>
          <a:prstGeom prst="roundRect">
            <a:avLst>
              <a:gd name="adj" fmla="val 9000"/>
            </a:avLst>
          </a:prstGeom>
          <a:solidFill>
            <a:srgbClr val="F7F8FA"/>
          </a:solidFill>
          <a:ln w="9525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77240" y="3429000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C07000"/>
                </a:solidFill>
                <a:latin typeface="Calibri"/>
              </a:rPr>
              <a:t>FLOW 1 · TIME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0" y="3429000"/>
            <a:ext cx="795527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45B64"/>
                </a:solidFill>
                <a:latin typeface="Calibri"/>
              </a:rPr>
              <a:t>Events on the timeline. Nothing is waiting on her to ask.</a:t>
            </a:r>
          </a:p>
        </p:txBody>
      </p:sp>
      <p:sp>
        <p:nvSpPr>
          <p:cNvPr id="36" name="Chevron 35"/>
          <p:cNvSpPr/>
          <p:nvPr/>
        </p:nvSpPr>
        <p:spPr>
          <a:xfrm>
            <a:off x="777240" y="3712464"/>
            <a:ext cx="2724912" cy="402336"/>
          </a:xfrm>
          <a:prstGeom prst="chevron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/>
          <a:lstStyle/>
          <a:p>
            <a:pPr algn="l">
              <a:lnSpc>
                <a:spcPct val="90000"/>
              </a:lnSpc>
            </a:pPr>
            <a:r>
              <a:rPr sz="900" b="1">
                <a:solidFill>
                  <a:srgbClr val="FFFFFF"/>
                </a:solidFill>
                <a:latin typeface="Calibri"/>
              </a:rPr>
              <a:t>Occasion appears on the timeline — anniversary, birthday</a:t>
            </a:r>
          </a:p>
        </p:txBody>
      </p:sp>
      <p:sp>
        <p:nvSpPr>
          <p:cNvPr id="37" name="Chevron 36"/>
          <p:cNvSpPr/>
          <p:nvPr/>
        </p:nvSpPr>
        <p:spPr>
          <a:xfrm>
            <a:off x="3413760" y="3712464"/>
            <a:ext cx="2724912" cy="402336"/>
          </a:xfrm>
          <a:prstGeom prst="chevron">
            <a:avLst/>
          </a:prstGeom>
          <a:solidFill>
            <a:srgbClr val="3A48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/>
          <a:lstStyle/>
          <a:p>
            <a:pPr algn="l">
              <a:lnSpc>
                <a:spcPct val="90000"/>
              </a:lnSpc>
            </a:pPr>
            <a:r>
              <a:rPr sz="900" b="1">
                <a:solidFill>
                  <a:srgbClr val="FFFFFF"/>
                </a:solidFill>
                <a:latin typeface="Calibri"/>
              </a:rPr>
              <a:t>Model decides now, schedules the reminder weeks out</a:t>
            </a:r>
          </a:p>
        </p:txBody>
      </p:sp>
      <p:sp>
        <p:nvSpPr>
          <p:cNvPr id="38" name="Chevron 37"/>
          <p:cNvSpPr/>
          <p:nvPr/>
        </p:nvSpPr>
        <p:spPr>
          <a:xfrm>
            <a:off x="6050280" y="3712464"/>
            <a:ext cx="2724912" cy="402336"/>
          </a:xfrm>
          <a:prstGeom prst="chevron">
            <a:avLst/>
          </a:prstGeom>
          <a:solidFill>
            <a:srgbClr val="3A48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/>
          <a:lstStyle/>
          <a:p>
            <a:pPr algn="l">
              <a:lnSpc>
                <a:spcPct val="90000"/>
              </a:lnSpc>
            </a:pPr>
            <a:r>
              <a:rPr sz="900" b="1">
                <a:solidFill>
                  <a:srgbClr val="FFFFFF"/>
                </a:solidFill>
                <a:latin typeface="Calibri"/>
              </a:rPr>
              <a:t>EventBridge fires on the date — no human, no model</a:t>
            </a:r>
          </a:p>
        </p:txBody>
      </p:sp>
      <p:sp>
        <p:nvSpPr>
          <p:cNvPr id="39" name="Chevron 38"/>
          <p:cNvSpPr/>
          <p:nvPr/>
        </p:nvSpPr>
        <p:spPr>
          <a:xfrm>
            <a:off x="8686800" y="3712464"/>
            <a:ext cx="2724912" cy="402336"/>
          </a:xfrm>
          <a:prstGeom prst="chevron">
            <a:avLst/>
          </a:prstGeom>
          <a:solidFill>
            <a:srgbClr val="3A48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/>
          <a:lstStyle/>
          <a:p>
            <a:pPr algn="l">
              <a:lnSpc>
                <a:spcPct val="90000"/>
              </a:lnSpc>
            </a:pPr>
            <a:r>
              <a:rPr sz="900" b="1">
                <a:solidFill>
                  <a:srgbClr val="FFFFFF"/>
                </a:solidFill>
                <a:latin typeface="Calibri"/>
              </a:rPr>
              <a:t>She gets the nudge with a plan already assembled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4242816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0">
                <a:solidFill>
                  <a:srgbClr val="545B64"/>
                </a:solidFill>
                <a:latin typeface="Calibri"/>
              </a:rPr>
              <a:t>tools:  get_hebrew_occasions  ·  check_shabbat  ·  find_occasions  ·  set_reminder  ·  propose_calendar_event  ·  propose_email  ·  propose_whatsapp_nudge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920" y="4791456"/>
            <a:ext cx="11183112" cy="1298448"/>
          </a:xfrm>
          <a:prstGeom prst="roundRect">
            <a:avLst>
              <a:gd name="adj" fmla="val 9000"/>
            </a:avLst>
          </a:prstGeom>
          <a:solidFill>
            <a:srgbClr val="F7F8FA"/>
          </a:solidFill>
          <a:ln w="9525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777240" y="4910328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C07000"/>
                </a:solidFill>
                <a:latin typeface="Calibri"/>
              </a:rPr>
              <a:t>FLOW 2 · PREFERENCE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0" y="4910328"/>
            <a:ext cx="795527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45B64"/>
                </a:solidFill>
                <a:latin typeface="Calibri"/>
              </a:rPr>
              <a:t>Ongoing updates about her. Every conversation makes the profile sharper.</a:t>
            </a:r>
          </a:p>
        </p:txBody>
      </p:sp>
      <p:sp>
        <p:nvSpPr>
          <p:cNvPr id="44" name="Chevron 43"/>
          <p:cNvSpPr/>
          <p:nvPr/>
        </p:nvSpPr>
        <p:spPr>
          <a:xfrm>
            <a:off x="777240" y="5193792"/>
            <a:ext cx="2724912" cy="402336"/>
          </a:xfrm>
          <a:prstGeom prst="chevron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/>
          <a:lstStyle/>
          <a:p>
            <a:pPr algn="l">
              <a:lnSpc>
                <a:spcPct val="90000"/>
              </a:lnSpc>
            </a:pPr>
            <a:r>
              <a:rPr sz="900" b="1">
                <a:solidFill>
                  <a:srgbClr val="FFFFFF"/>
                </a:solidFill>
                <a:latin typeface="Calibri"/>
              </a:rPr>
              <a:t>She mentions something in passing — a dish, a band</a:t>
            </a:r>
          </a:p>
        </p:txBody>
      </p:sp>
      <p:sp>
        <p:nvSpPr>
          <p:cNvPr id="45" name="Chevron 44"/>
          <p:cNvSpPr/>
          <p:nvPr/>
        </p:nvSpPr>
        <p:spPr>
          <a:xfrm>
            <a:off x="3413760" y="5193792"/>
            <a:ext cx="2724912" cy="402336"/>
          </a:xfrm>
          <a:prstGeom prst="chevron">
            <a:avLst/>
          </a:prstGeom>
          <a:solidFill>
            <a:srgbClr val="3A48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/>
          <a:lstStyle/>
          <a:p>
            <a:pPr algn="l">
              <a:lnSpc>
                <a:spcPct val="90000"/>
              </a:lnSpc>
            </a:pPr>
            <a:r>
              <a:rPr sz="900" b="1">
                <a:solidFill>
                  <a:srgbClr val="FFFFFF"/>
                </a:solidFill>
                <a:latin typeface="Calibri"/>
              </a:rPr>
              <a:t>extract_preferences pulls it into 8 categories</a:t>
            </a:r>
          </a:p>
        </p:txBody>
      </p:sp>
      <p:sp>
        <p:nvSpPr>
          <p:cNvPr id="46" name="Chevron 45"/>
          <p:cNvSpPr/>
          <p:nvPr/>
        </p:nvSpPr>
        <p:spPr>
          <a:xfrm>
            <a:off x="6050280" y="5193792"/>
            <a:ext cx="2724912" cy="402336"/>
          </a:xfrm>
          <a:prstGeom prst="chevron">
            <a:avLst/>
          </a:prstGeom>
          <a:solidFill>
            <a:srgbClr val="3A48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/>
          <a:lstStyle/>
          <a:p>
            <a:pPr algn="l">
              <a:lnSpc>
                <a:spcPct val="90000"/>
              </a:lnSpc>
            </a:pPr>
            <a:r>
              <a:rPr sz="900" b="1">
                <a:solidFill>
                  <a:srgbClr val="FFFFFF"/>
                </a:solidFill>
                <a:latin typeface="Calibri"/>
              </a:rPr>
              <a:t>Her file is updated — DynamoDB / AgentCore Memory</a:t>
            </a:r>
          </a:p>
        </p:txBody>
      </p:sp>
      <p:sp>
        <p:nvSpPr>
          <p:cNvPr id="47" name="Chevron 46"/>
          <p:cNvSpPr/>
          <p:nvPr/>
        </p:nvSpPr>
        <p:spPr>
          <a:xfrm>
            <a:off x="8686800" y="5193792"/>
            <a:ext cx="2724912" cy="402336"/>
          </a:xfrm>
          <a:prstGeom prst="chevron">
            <a:avLst/>
          </a:prstGeom>
          <a:solidFill>
            <a:srgbClr val="3A48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/>
          <a:lstStyle/>
          <a:p>
            <a:pPr algn="l">
              <a:lnSpc>
                <a:spcPct val="90000"/>
              </a:lnSpc>
            </a:pPr>
            <a:r>
              <a:rPr sz="900" b="1">
                <a:solidFill>
                  <a:srgbClr val="FFFFFF"/>
                </a:solidFill>
                <a:latin typeface="Calibri"/>
              </a:rPr>
              <a:t>The next plan is built from it, and the outing is written back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5724144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0">
                <a:solidFill>
                  <a:srgbClr val="545B64"/>
                </a:solidFill>
                <a:latin typeface="Calibri"/>
              </a:rPr>
              <a:t>tools:  extract_preferences  ·  find_restaurants  ·  check_availability  ·  propose_reservation  ·  find_music / propose_playlist  ·  search_hotels  ·  search_activities  ·  order_flowers  ·  read_webpage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6181344"/>
            <a:ext cx="1118311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232F3E"/>
                </a:solidFill>
                <a:latin typeface="Calibri"/>
              </a:rPr>
              <a:t>Goal · Loop · Memory · Tools — remove any one and it stops being an agent.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545B64"/>
                </a:solidFill>
                <a:latin typeface="Calibri"/>
              </a:rPr>
              <a:t>VALENTIN   ·   GenAI TFC Capstone Deep-Dive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45B64"/>
                </a:solidFill>
                <a:latin typeface="Calibr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365760"/>
            <a:ext cx="594360" cy="594360"/>
          </a:xfrm>
          <a:prstGeom prst="ellipse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 b="1">
                <a:solidFill>
                  <a:srgbClr val="FF9900"/>
                </a:solidFill>
                <a:latin typeface="Calibri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65760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232F3E"/>
                </a:solidFill>
                <a:latin typeface="Calibri"/>
              </a:rPr>
              <a:t>Demo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371600" cy="35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545B64"/>
                </a:solidFill>
                <a:latin typeface="Calibri"/>
              </a:rPr>
              <a:t>Live product · deployed on AWS · 6 real integrations</a:t>
            </a:r>
          </a:p>
        </p:txBody>
      </p:sp>
      <p:sp>
        <p:nvSpPr>
          <p:cNvPr id="7" name="Rounded Rectangle 6">
            <a:hlinkClick r:id="rId2"/>
          </p:cNvPr>
          <p:cNvSpPr/>
          <p:nvPr/>
        </p:nvSpPr>
        <p:spPr>
          <a:xfrm>
            <a:off x="2209647" y="2926080"/>
            <a:ext cx="7772400" cy="1828800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09647" y="324612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232F3E"/>
                </a:solidFill>
                <a:latin typeface="Calibri"/>
              </a:rPr>
              <a:t>OPEN THE 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3967" y="3657600"/>
            <a:ext cx="7223760" cy="59436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sz="2600" b="1">
                <a:solidFill>
                  <a:srgbClr val="232F3E"/>
                </a:solidFill>
                <a:latin typeface="Calibri"/>
                <a:hlinkClick r:id="rId2"/>
              </a:rPr>
              <a:t>Valentin — Live Demo  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09647" y="429768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232F3E"/>
                </a:solidFill>
                <a:latin typeface="Calibri"/>
              </a:rPr>
              <a:t>The four beats: extract · remember · decide · 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545B64"/>
                </a:solidFill>
                <a:latin typeface="Calibri"/>
              </a:rPr>
              <a:t>VALENTIN   ·   GenAI TFC Capstone Deep-Dive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45B64"/>
                </a:solidFill>
                <a:latin typeface="Calibr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365760"/>
            <a:ext cx="594360" cy="594360"/>
          </a:xfrm>
          <a:prstGeom prst="ellipse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 b="1">
                <a:solidFill>
                  <a:srgbClr val="FF9900"/>
                </a:solidFill>
                <a:latin typeface="Calibri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65760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232F3E"/>
                </a:solidFill>
                <a:latin typeface="Calibri"/>
              </a:rPr>
              <a:t>Architecture — Two Engines, One Product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371600" cy="35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45B64"/>
                </a:solidFill>
                <a:latin typeface="Calibri"/>
              </a:rPr>
              <a:t>The front door and the middle strip are shared. Only the two dashed bands differ.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545B64"/>
                </a:solidFill>
                <a:latin typeface="Calibri"/>
              </a:rPr>
              <a:t>VALENTIN   ·   GenAI TFC Capstone Deep-Dive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45B64"/>
                </a:solidFill>
                <a:latin typeface="Calibri"/>
              </a:rPr>
              <a:t>5 / 12</a:t>
            </a:r>
          </a:p>
        </p:txBody>
      </p:sp>
      <p:pic>
        <p:nvPicPr>
          <p:cNvPr id="10" name="Picture 9" descr="diagram-two-engines-l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291" y="2139091"/>
            <a:ext cx="11183112" cy="385997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365760"/>
            <a:ext cx="594360" cy="594360"/>
          </a:xfrm>
          <a:prstGeom prst="ellipse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 b="1">
                <a:solidFill>
                  <a:srgbClr val="FF9900"/>
                </a:solidFill>
                <a:latin typeface="Calibri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65760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232F3E"/>
                </a:solidFill>
                <a:latin typeface="Calibri"/>
              </a:rPr>
              <a:t>Deep-Dive · Runtime (where the agent runs)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371600" cy="35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45B64"/>
                </a:solidFill>
                <a:latin typeface="Calibri"/>
              </a:rPr>
              <a:t>An always-on task vs a per-session microVM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3727" y="1783080"/>
            <a:ext cx="5394960" cy="3657600"/>
          </a:xfrm>
          <a:prstGeom prst="roundRect">
            <a:avLst/>
          </a:prstGeom>
          <a:solidFill>
            <a:srgbClr val="F7F8FA"/>
          </a:solidFill>
          <a:ln w="9525">
            <a:solidFill>
              <a:srgbClr val="E4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3727" y="1783080"/>
            <a:ext cx="5394960" cy="502920"/>
          </a:xfrm>
          <a:prstGeom prst="round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8047" y="1783080"/>
            <a:ext cx="48463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9900"/>
                </a:solidFill>
                <a:latin typeface="Calibri"/>
              </a:rPr>
              <a:t>ENGINE A · Fargate + DynamoDB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3767" y="251460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32F3E"/>
                </a:solidFill>
                <a:latin typeface="Calibri"/>
              </a:rPr>
              <a:t>ECS Fargate task — always on</a:t>
            </a:r>
          </a:p>
        </p:txBody>
      </p:sp>
      <p:sp>
        <p:nvSpPr>
          <p:cNvPr id="11" name="Oval 10"/>
          <p:cNvSpPr/>
          <p:nvPr/>
        </p:nvSpPr>
        <p:spPr>
          <a:xfrm>
            <a:off x="929487" y="3300984"/>
            <a:ext cx="100584" cy="100584"/>
          </a:xfrm>
          <a:prstGeom prst="ellipse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58087" y="320040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91F"/>
                </a:solidFill>
                <a:latin typeface="Calibri"/>
              </a:rPr>
              <a:t>One task, one container, always paying</a:t>
            </a:r>
          </a:p>
        </p:txBody>
      </p:sp>
      <p:sp>
        <p:nvSpPr>
          <p:cNvPr id="13" name="Oval 12"/>
          <p:cNvSpPr/>
          <p:nvPr/>
        </p:nvSpPr>
        <p:spPr>
          <a:xfrm>
            <a:off x="929487" y="3803904"/>
            <a:ext cx="100584" cy="100584"/>
          </a:xfrm>
          <a:prstGeom prst="ellipse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58087" y="370332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91F"/>
                </a:solidFill>
                <a:latin typeface="Calibri"/>
              </a:rPr>
              <a:t>All sessions share one process (logical isolation)</a:t>
            </a:r>
          </a:p>
        </p:txBody>
      </p:sp>
      <p:sp>
        <p:nvSpPr>
          <p:cNvPr id="15" name="Oval 14"/>
          <p:cNvSpPr/>
          <p:nvPr/>
        </p:nvSpPr>
        <p:spPr>
          <a:xfrm>
            <a:off x="929487" y="4306824"/>
            <a:ext cx="100584" cy="100584"/>
          </a:xfrm>
          <a:prstGeom prst="ellipse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58087" y="420624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91F"/>
                </a:solidFill>
                <a:latin typeface="Calibri"/>
              </a:rPr>
              <a:t>At 500 turns/mo the task runs at 0.057% utilisation</a:t>
            </a:r>
          </a:p>
        </p:txBody>
      </p:sp>
      <p:sp>
        <p:nvSpPr>
          <p:cNvPr id="17" name="Oval 16"/>
          <p:cNvSpPr/>
          <p:nvPr/>
        </p:nvSpPr>
        <p:spPr>
          <a:xfrm>
            <a:off x="929487" y="4809744"/>
            <a:ext cx="100584" cy="100584"/>
          </a:xfrm>
          <a:prstGeom prst="ellipse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58087" y="470916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91F"/>
                </a:solidFill>
                <a:latin typeface="Calibri"/>
              </a:rPr>
              <a:t>Simple to deploy, expensive at low load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007" y="1783080"/>
            <a:ext cx="5394960" cy="3657600"/>
          </a:xfrm>
          <a:prstGeom prst="roundRect">
            <a:avLst/>
          </a:prstGeom>
          <a:solidFill>
            <a:srgbClr val="F7F8FA"/>
          </a:solidFill>
          <a:ln w="9525">
            <a:solidFill>
              <a:srgbClr val="E4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33007" y="1783080"/>
            <a:ext cx="5394960" cy="502920"/>
          </a:xfrm>
          <a:prstGeom prst="roundRect">
            <a:avLst/>
          </a:prstGeom>
          <a:solidFill>
            <a:srgbClr val="1E7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07327" y="1783080"/>
            <a:ext cx="48463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ENGINE B · AgentCore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3047" y="251460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E7C3C"/>
                </a:solidFill>
                <a:latin typeface="Calibri"/>
              </a:rPr>
              <a:t>AgentCore Runtime — per-session microVM</a:t>
            </a:r>
          </a:p>
        </p:txBody>
      </p:sp>
      <p:sp>
        <p:nvSpPr>
          <p:cNvPr id="23" name="Oval 22"/>
          <p:cNvSpPr/>
          <p:nvPr/>
        </p:nvSpPr>
        <p:spPr>
          <a:xfrm>
            <a:off x="6598767" y="3300984"/>
            <a:ext cx="100584" cy="100584"/>
          </a:xfrm>
          <a:prstGeom prst="ellipse">
            <a:avLst/>
          </a:prstGeom>
          <a:solidFill>
            <a:srgbClr val="1E7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27367" y="320040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91F"/>
                </a:solidFill>
                <a:latin typeface="Calibri"/>
              </a:rPr>
              <a:t>Each session gets its own isolated compute</a:t>
            </a:r>
          </a:p>
        </p:txBody>
      </p:sp>
      <p:sp>
        <p:nvSpPr>
          <p:cNvPr id="25" name="Oval 24"/>
          <p:cNvSpPr/>
          <p:nvPr/>
        </p:nvSpPr>
        <p:spPr>
          <a:xfrm>
            <a:off x="6598767" y="3803904"/>
            <a:ext cx="100584" cy="100584"/>
          </a:xfrm>
          <a:prstGeom prst="ellipse">
            <a:avLst/>
          </a:prstGeom>
          <a:solidFill>
            <a:srgbClr val="1E7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27367" y="370332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91F"/>
                </a:solidFill>
                <a:latin typeface="Calibri"/>
              </a:rPr>
              <a:t>Per-second billing, 1-second minimum</a:t>
            </a:r>
          </a:p>
        </p:txBody>
      </p:sp>
      <p:sp>
        <p:nvSpPr>
          <p:cNvPr id="27" name="Oval 26"/>
          <p:cNvSpPr/>
          <p:nvPr/>
        </p:nvSpPr>
        <p:spPr>
          <a:xfrm>
            <a:off x="6598767" y="4306824"/>
            <a:ext cx="100584" cy="100584"/>
          </a:xfrm>
          <a:prstGeom prst="ellipse">
            <a:avLst/>
          </a:prstGeom>
          <a:solidFill>
            <a:srgbClr val="1E7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27367" y="420624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91F"/>
                </a:solidFill>
                <a:latin typeface="Calibri"/>
              </a:rPr>
              <a:t>Runtime price is 2.2× dearer per vCPU — but only pays while running</a:t>
            </a:r>
          </a:p>
        </p:txBody>
      </p:sp>
      <p:sp>
        <p:nvSpPr>
          <p:cNvPr id="29" name="Oval 28"/>
          <p:cNvSpPr/>
          <p:nvPr/>
        </p:nvSpPr>
        <p:spPr>
          <a:xfrm>
            <a:off x="6598767" y="4809744"/>
            <a:ext cx="100584" cy="100584"/>
          </a:xfrm>
          <a:prstGeom prst="ellipse">
            <a:avLst/>
          </a:prstGeom>
          <a:solidFill>
            <a:srgbClr val="1E7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27367" y="470916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91F"/>
                </a:solidFill>
                <a:latin typeface="Calibri"/>
              </a:rPr>
              <a:t>Cannot be an ALB target → still needs a proxy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3727" y="5623560"/>
            <a:ext cx="11064240" cy="685800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32F3E"/>
                </a:solidFill>
                <a:latin typeface="Calibri"/>
              </a:rPr>
              <a:t>AgentCore wins at low utilisation. Session isolation goes from logical → physical. But you still keep a Fargate proxy in front — no compute deletion.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545B64"/>
                </a:solidFill>
                <a:latin typeface="Calibri"/>
              </a:rPr>
              <a:t>VALENTIN   ·   GenAI TFC Capstone Deep-Dive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45B64"/>
                </a:solidFill>
                <a:latin typeface="Calibr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365760"/>
            <a:ext cx="594360" cy="594360"/>
          </a:xfrm>
          <a:prstGeom prst="ellipse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 b="1">
                <a:solidFill>
                  <a:srgbClr val="FF9900"/>
                </a:solidFill>
                <a:latin typeface="Calibri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65760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232F3E"/>
                </a:solidFill>
                <a:latin typeface="Calibri"/>
              </a:rPr>
              <a:t>Deep-Dive · Memory (how the agent remembers)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371600" cy="35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45B64"/>
                </a:solidFill>
                <a:latin typeface="Calibri"/>
              </a:rPr>
              <a:t>A DIY extraction call per turn vs a managed memory strategy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3727" y="1783080"/>
            <a:ext cx="5394960" cy="3657600"/>
          </a:xfrm>
          <a:prstGeom prst="roundRect">
            <a:avLst/>
          </a:prstGeom>
          <a:solidFill>
            <a:srgbClr val="F7F8FA"/>
          </a:solidFill>
          <a:ln w="9525">
            <a:solidFill>
              <a:srgbClr val="E4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3727" y="1783080"/>
            <a:ext cx="5394960" cy="502920"/>
          </a:xfrm>
          <a:prstGeom prst="round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8047" y="1783080"/>
            <a:ext cx="48463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9900"/>
                </a:solidFill>
                <a:latin typeface="Calibri"/>
              </a:rPr>
              <a:t>ENGINE A · Fargate + DynamoDB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3767" y="251460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32F3E"/>
                </a:solidFill>
                <a:latin typeface="Calibri"/>
              </a:rPr>
              <a:t>DynamoDB + a 2nd Claude call every turn</a:t>
            </a:r>
          </a:p>
        </p:txBody>
      </p:sp>
      <p:sp>
        <p:nvSpPr>
          <p:cNvPr id="11" name="Oval 10"/>
          <p:cNvSpPr/>
          <p:nvPr/>
        </p:nvSpPr>
        <p:spPr>
          <a:xfrm>
            <a:off x="929487" y="3300984"/>
            <a:ext cx="100584" cy="100584"/>
          </a:xfrm>
          <a:prstGeom prst="ellipse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58087" y="320040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91F"/>
                </a:solidFill>
                <a:latin typeface="Calibri"/>
              </a:rPr>
              <a:t>DynamoDB stores conversation + profile items</a:t>
            </a:r>
          </a:p>
        </p:txBody>
      </p:sp>
      <p:sp>
        <p:nvSpPr>
          <p:cNvPr id="13" name="Oval 12"/>
          <p:cNvSpPr/>
          <p:nvPr/>
        </p:nvSpPr>
        <p:spPr>
          <a:xfrm>
            <a:off x="929487" y="3803904"/>
            <a:ext cx="100584" cy="100584"/>
          </a:xfrm>
          <a:prstGeom prst="ellipse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58087" y="370332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91F"/>
                </a:solidFill>
                <a:latin typeface="Calibri"/>
              </a:rPr>
              <a:t>Every turn: a second Bedrock call to extract preferences</a:t>
            </a:r>
          </a:p>
        </p:txBody>
      </p:sp>
      <p:sp>
        <p:nvSpPr>
          <p:cNvPr id="15" name="Oval 14"/>
          <p:cNvSpPr/>
          <p:nvPr/>
        </p:nvSpPr>
        <p:spPr>
          <a:xfrm>
            <a:off x="929487" y="4306824"/>
            <a:ext cx="100584" cy="100584"/>
          </a:xfrm>
          <a:prstGeom prst="ellipse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58087" y="420624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91F"/>
                </a:solidFill>
                <a:latin typeface="Calibri"/>
              </a:rPr>
              <a:t>~656 lines of extraction &amp; memory glue code</a:t>
            </a:r>
          </a:p>
        </p:txBody>
      </p:sp>
      <p:sp>
        <p:nvSpPr>
          <p:cNvPr id="17" name="Oval 16"/>
          <p:cNvSpPr/>
          <p:nvPr/>
        </p:nvSpPr>
        <p:spPr>
          <a:xfrm>
            <a:off x="929487" y="4809744"/>
            <a:ext cx="100584" cy="100584"/>
          </a:xfrm>
          <a:prstGeom prst="ellipse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58087" y="470916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91F"/>
                </a:solidFill>
                <a:latin typeface="Calibri"/>
              </a:rPr>
              <a:t>This second call = 99.95% of Engine A's per-turn cost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007" y="1783080"/>
            <a:ext cx="5394960" cy="3657600"/>
          </a:xfrm>
          <a:prstGeom prst="roundRect">
            <a:avLst/>
          </a:prstGeom>
          <a:solidFill>
            <a:srgbClr val="F7F8FA"/>
          </a:solidFill>
          <a:ln w="9525">
            <a:solidFill>
              <a:srgbClr val="E4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33007" y="1783080"/>
            <a:ext cx="5394960" cy="502920"/>
          </a:xfrm>
          <a:prstGeom prst="roundRect">
            <a:avLst/>
          </a:prstGeom>
          <a:solidFill>
            <a:srgbClr val="1E7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07327" y="1783080"/>
            <a:ext cx="48463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ENGINE B · AgentCore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3047" y="251460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E7C3C"/>
                </a:solidFill>
                <a:latin typeface="Calibri"/>
              </a:rPr>
              <a:t>AgentCore Memory — managed strategy</a:t>
            </a:r>
          </a:p>
        </p:txBody>
      </p:sp>
      <p:sp>
        <p:nvSpPr>
          <p:cNvPr id="23" name="Oval 22"/>
          <p:cNvSpPr/>
          <p:nvPr/>
        </p:nvSpPr>
        <p:spPr>
          <a:xfrm>
            <a:off x="6598767" y="3300984"/>
            <a:ext cx="100584" cy="100584"/>
          </a:xfrm>
          <a:prstGeom prst="ellipse">
            <a:avLst/>
          </a:prstGeom>
          <a:solidFill>
            <a:srgbClr val="1E7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27367" y="320040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91F"/>
                </a:solidFill>
                <a:latin typeface="Calibri"/>
              </a:rPr>
              <a:t>Configure userPreferenceMemoryStrategy — extraction is managed</a:t>
            </a:r>
          </a:p>
        </p:txBody>
      </p:sp>
      <p:sp>
        <p:nvSpPr>
          <p:cNvPr id="25" name="Oval 24"/>
          <p:cNvSpPr/>
          <p:nvPr/>
        </p:nvSpPr>
        <p:spPr>
          <a:xfrm>
            <a:off x="6598767" y="3803904"/>
            <a:ext cx="100584" cy="100584"/>
          </a:xfrm>
          <a:prstGeom prst="ellipse">
            <a:avLst/>
          </a:prstGeom>
          <a:solidFill>
            <a:srgbClr val="1E7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27367" y="370332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91F"/>
                </a:solidFill>
                <a:latin typeface="Calibri"/>
              </a:rPr>
              <a:t>No per-turn extraction call from you</a:t>
            </a:r>
          </a:p>
        </p:txBody>
      </p:sp>
      <p:sp>
        <p:nvSpPr>
          <p:cNvPr id="27" name="Oval 26"/>
          <p:cNvSpPr/>
          <p:nvPr/>
        </p:nvSpPr>
        <p:spPr>
          <a:xfrm>
            <a:off x="6598767" y="4306824"/>
            <a:ext cx="100584" cy="100584"/>
          </a:xfrm>
          <a:prstGeom prst="ellipse">
            <a:avLst/>
          </a:prstGeom>
          <a:solidFill>
            <a:srgbClr val="1E7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27367" y="420624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91F"/>
                </a:solidFill>
                <a:latin typeface="Calibri"/>
              </a:rPr>
              <a:t>But: extraction is async → profile trails by one message</a:t>
            </a:r>
          </a:p>
        </p:txBody>
      </p:sp>
      <p:sp>
        <p:nvSpPr>
          <p:cNvPr id="29" name="Oval 28"/>
          <p:cNvSpPr/>
          <p:nvPr/>
        </p:nvSpPr>
        <p:spPr>
          <a:xfrm>
            <a:off x="6598767" y="4809744"/>
            <a:ext cx="100584" cy="100584"/>
          </a:xfrm>
          <a:prstGeom prst="ellipse">
            <a:avLst/>
          </a:prstGeom>
          <a:solidFill>
            <a:srgbClr val="1E7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27367" y="470916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91F"/>
                </a:solidFill>
                <a:latin typeface="Calibri"/>
              </a:rPr>
              <a:t>Memory expires at 90 days → DynamoDB still source of truth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3727" y="5623560"/>
            <a:ext cx="11064240" cy="68580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32F3E"/>
                </a:solidFill>
                <a:latin typeface="Calibri"/>
              </a:rPr>
              <a:t>Biggest cost win, but caveat: $0.50 / 1k retrievals — if billed per-record not per-call, AgentCore becomes 3.8× more expensive. Unresolved.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545B64"/>
                </a:solidFill>
                <a:latin typeface="Calibri"/>
              </a:rPr>
              <a:t>VALENTIN   ·   GenAI TFC Capstone Deep-Dive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45B64"/>
                </a:solidFill>
                <a:latin typeface="Calibr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365760"/>
            <a:ext cx="594360" cy="594360"/>
          </a:xfrm>
          <a:prstGeom prst="ellipse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 b="1">
                <a:solidFill>
                  <a:srgbClr val="FF9900"/>
                </a:solidFill>
                <a:latin typeface="Calibri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65760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232F3E"/>
                </a:solidFill>
                <a:latin typeface="Calibri"/>
              </a:rPr>
              <a:t>Deep-Dive · Gateway (how the agent uses tools)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371600" cy="35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45B64"/>
                </a:solidFill>
                <a:latin typeface="Calibri"/>
              </a:rPr>
              <a:t>Tools in-process vs tools behind an authenticated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3727" y="1783080"/>
            <a:ext cx="5394960" cy="3657600"/>
          </a:xfrm>
          <a:prstGeom prst="roundRect">
            <a:avLst/>
          </a:prstGeom>
          <a:solidFill>
            <a:srgbClr val="F7F8FA"/>
          </a:solidFill>
          <a:ln w="9525">
            <a:solidFill>
              <a:srgbClr val="E4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3727" y="1783080"/>
            <a:ext cx="5394960" cy="502920"/>
          </a:xfrm>
          <a:prstGeom prst="round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8047" y="1783080"/>
            <a:ext cx="48463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9900"/>
                </a:solidFill>
                <a:latin typeface="Calibri"/>
              </a:rPr>
              <a:t>ENGINE A · Fargate + DynamoDB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3767" y="251460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32F3E"/>
                </a:solidFill>
                <a:latin typeface="Calibri"/>
              </a:rPr>
              <a:t>TypeScript tool registry — in-process</a:t>
            </a:r>
          </a:p>
        </p:txBody>
      </p:sp>
      <p:sp>
        <p:nvSpPr>
          <p:cNvPr id="11" name="Oval 10"/>
          <p:cNvSpPr/>
          <p:nvPr/>
        </p:nvSpPr>
        <p:spPr>
          <a:xfrm>
            <a:off x="929487" y="3300984"/>
            <a:ext cx="100584" cy="100584"/>
          </a:xfrm>
          <a:prstGeom prst="ellipse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58087" y="320040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91F"/>
                </a:solidFill>
                <a:latin typeface="Calibri"/>
              </a:rPr>
              <a:t>21 tools live inside the agent process</a:t>
            </a:r>
          </a:p>
        </p:txBody>
      </p:sp>
      <p:sp>
        <p:nvSpPr>
          <p:cNvPr id="13" name="Oval 12"/>
          <p:cNvSpPr/>
          <p:nvPr/>
        </p:nvSpPr>
        <p:spPr>
          <a:xfrm>
            <a:off x="929487" y="3803904"/>
            <a:ext cx="100584" cy="100584"/>
          </a:xfrm>
          <a:prstGeom prst="ellipse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58087" y="370332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91F"/>
                </a:solidFill>
                <a:latin typeface="Calibri"/>
              </a:rPr>
              <a:t>One IAM role for all tools (the task's role)</a:t>
            </a:r>
          </a:p>
        </p:txBody>
      </p:sp>
      <p:sp>
        <p:nvSpPr>
          <p:cNvPr id="15" name="Oval 14"/>
          <p:cNvSpPr/>
          <p:nvPr/>
        </p:nvSpPr>
        <p:spPr>
          <a:xfrm>
            <a:off x="929487" y="4306824"/>
            <a:ext cx="100584" cy="100584"/>
          </a:xfrm>
          <a:prstGeom prst="ellipse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58087" y="420624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91F"/>
                </a:solidFill>
                <a:latin typeface="Calibri"/>
              </a:rPr>
              <a:t>Prompt injection = tool runs with agent's credentials</a:t>
            </a:r>
          </a:p>
        </p:txBody>
      </p:sp>
      <p:sp>
        <p:nvSpPr>
          <p:cNvPr id="17" name="Oval 16"/>
          <p:cNvSpPr/>
          <p:nvPr/>
        </p:nvSpPr>
        <p:spPr>
          <a:xfrm>
            <a:off x="929487" y="4809744"/>
            <a:ext cx="100584" cy="100584"/>
          </a:xfrm>
          <a:prstGeom prst="ellipse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58087" y="470916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91F"/>
                </a:solidFill>
                <a:latin typeface="Calibri"/>
              </a:rPr>
              <a:t>One failing tool target loses all 40 tools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007" y="1783080"/>
            <a:ext cx="5394960" cy="3657600"/>
          </a:xfrm>
          <a:prstGeom prst="roundRect">
            <a:avLst/>
          </a:prstGeom>
          <a:solidFill>
            <a:srgbClr val="F7F8FA"/>
          </a:solidFill>
          <a:ln w="9525">
            <a:solidFill>
              <a:srgbClr val="E4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33007" y="1783080"/>
            <a:ext cx="5394960" cy="502920"/>
          </a:xfrm>
          <a:prstGeom prst="roundRect">
            <a:avLst/>
          </a:prstGeom>
          <a:solidFill>
            <a:srgbClr val="1E7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07327" y="1783080"/>
            <a:ext cx="48463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ENGINE B · AgentCore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3047" y="251460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E7C3C"/>
                </a:solidFill>
                <a:latin typeface="Calibri"/>
              </a:rPr>
              <a:t>AgentCore Gateway — MCP + CUSTOM_JWT</a:t>
            </a:r>
          </a:p>
        </p:txBody>
      </p:sp>
      <p:sp>
        <p:nvSpPr>
          <p:cNvPr id="23" name="Oval 22"/>
          <p:cNvSpPr/>
          <p:nvPr/>
        </p:nvSpPr>
        <p:spPr>
          <a:xfrm>
            <a:off x="6598767" y="3300984"/>
            <a:ext cx="100584" cy="100584"/>
          </a:xfrm>
          <a:prstGeom prst="ellipse">
            <a:avLst/>
          </a:prstGeom>
          <a:solidFill>
            <a:srgbClr val="1E7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27367" y="320040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91F"/>
                </a:solidFill>
                <a:latin typeface="Calibri"/>
              </a:rPr>
              <a:t>Tools are Lambdas behind an MCP endpoint</a:t>
            </a:r>
          </a:p>
        </p:txBody>
      </p:sp>
      <p:sp>
        <p:nvSpPr>
          <p:cNvPr id="25" name="Oval 24"/>
          <p:cNvSpPr/>
          <p:nvPr/>
        </p:nvSpPr>
        <p:spPr>
          <a:xfrm>
            <a:off x="6598767" y="3803904"/>
            <a:ext cx="100584" cy="100584"/>
          </a:xfrm>
          <a:prstGeom prst="ellipse">
            <a:avLst/>
          </a:prstGeom>
          <a:solidFill>
            <a:srgbClr val="1E7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27367" y="370332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91F"/>
                </a:solidFill>
                <a:latin typeface="Calibri"/>
              </a:rPr>
              <a:t>Each tool has its own execution role — scoped blast radius</a:t>
            </a:r>
          </a:p>
        </p:txBody>
      </p:sp>
      <p:sp>
        <p:nvSpPr>
          <p:cNvPr id="27" name="Oval 26"/>
          <p:cNvSpPr/>
          <p:nvPr/>
        </p:nvSpPr>
        <p:spPr>
          <a:xfrm>
            <a:off x="6598767" y="4306824"/>
            <a:ext cx="100584" cy="100584"/>
          </a:xfrm>
          <a:prstGeom prst="ellipse">
            <a:avLst/>
          </a:prstGeom>
          <a:solidFill>
            <a:srgbClr val="1E7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27367" y="420624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91F"/>
                </a:solidFill>
                <a:latin typeface="Calibri"/>
              </a:rPr>
              <a:t>CUSTOM_JWT required — no anonymous access</a:t>
            </a:r>
          </a:p>
        </p:txBody>
      </p:sp>
      <p:sp>
        <p:nvSpPr>
          <p:cNvPr id="29" name="Oval 28"/>
          <p:cNvSpPr/>
          <p:nvPr/>
        </p:nvSpPr>
        <p:spPr>
          <a:xfrm>
            <a:off x="6598767" y="4809744"/>
            <a:ext cx="100584" cy="100584"/>
          </a:xfrm>
          <a:prstGeom prst="ellipse">
            <a:avLst/>
          </a:prstGeom>
          <a:solidFill>
            <a:srgbClr val="1E7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27367" y="470916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91F"/>
                </a:solidFill>
                <a:latin typeface="Calibri"/>
              </a:rPr>
              <a:t>confirm_* tools deployed but hidden from the model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3727" y="5623560"/>
            <a:ext cx="11064240" cy="685800"/>
          </a:xfrm>
          <a:prstGeom prst="roundRect">
            <a:avLst/>
          </a:prstGeom>
          <a:solidFill>
            <a:srgbClr val="1E7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32F3E"/>
                </a:solidFill>
                <a:latin typeface="Calibri"/>
              </a:rPr>
              <a:t>Strongest architectural argument for AgentCore. Tool failure blast radius: 40/40 → 1/40. Trust boundary lives outside the model.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545B64"/>
                </a:solidFill>
                <a:latin typeface="Calibri"/>
              </a:rPr>
              <a:t>VALENTIN   ·   GenAI TFC Capstone Deep-Dive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45B64"/>
                </a:solidFill>
                <a:latin typeface="Calibr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365760"/>
            <a:ext cx="594360" cy="594360"/>
          </a:xfrm>
          <a:prstGeom prst="ellipse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 b="1">
                <a:solidFill>
                  <a:srgbClr val="FF9900"/>
                </a:solidFill>
                <a:latin typeface="Calibri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65760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232F3E"/>
                </a:solidFill>
                <a:latin typeface="Calibri"/>
              </a:rPr>
              <a:t>Deep-Dive · Identity (who the agent acts as)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371600" cy="35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45B64"/>
                </a:solidFill>
                <a:latin typeface="Calibri"/>
              </a:rPr>
              <a:t>One shared role vs per-session workload identity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3727" y="1783080"/>
            <a:ext cx="5394960" cy="3657600"/>
          </a:xfrm>
          <a:prstGeom prst="roundRect">
            <a:avLst/>
          </a:prstGeom>
          <a:solidFill>
            <a:srgbClr val="F7F8FA"/>
          </a:solidFill>
          <a:ln w="9525">
            <a:solidFill>
              <a:srgbClr val="E4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3727" y="1783080"/>
            <a:ext cx="5394960" cy="502920"/>
          </a:xfrm>
          <a:prstGeom prst="round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8047" y="1783080"/>
            <a:ext cx="48463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9900"/>
                </a:solidFill>
                <a:latin typeface="Calibri"/>
              </a:rPr>
              <a:t>ENGINE A · Fargate + DynamoDB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3767" y="251460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32F3E"/>
                </a:solidFill>
                <a:latin typeface="Calibri"/>
              </a:rPr>
              <a:t>Task role — one identity for everything</a:t>
            </a:r>
          </a:p>
        </p:txBody>
      </p:sp>
      <p:sp>
        <p:nvSpPr>
          <p:cNvPr id="11" name="Oval 10"/>
          <p:cNvSpPr/>
          <p:nvPr/>
        </p:nvSpPr>
        <p:spPr>
          <a:xfrm>
            <a:off x="929487" y="3300984"/>
            <a:ext cx="100584" cy="100584"/>
          </a:xfrm>
          <a:prstGeom prst="ellipse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58087" y="320040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91F"/>
                </a:solidFill>
                <a:latin typeface="Calibri"/>
              </a:rPr>
              <a:t>Whole Fargate task uses one IAM role</a:t>
            </a:r>
          </a:p>
        </p:txBody>
      </p:sp>
      <p:sp>
        <p:nvSpPr>
          <p:cNvPr id="13" name="Oval 12"/>
          <p:cNvSpPr/>
          <p:nvPr/>
        </p:nvSpPr>
        <p:spPr>
          <a:xfrm>
            <a:off x="929487" y="3803904"/>
            <a:ext cx="100584" cy="100584"/>
          </a:xfrm>
          <a:prstGeom prst="ellipse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58087" y="370332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91F"/>
                </a:solidFill>
                <a:latin typeface="Calibri"/>
              </a:rPr>
              <a:t>No per-user or per-session identity</a:t>
            </a:r>
          </a:p>
        </p:txBody>
      </p:sp>
      <p:sp>
        <p:nvSpPr>
          <p:cNvPr id="15" name="Oval 14"/>
          <p:cNvSpPr/>
          <p:nvPr/>
        </p:nvSpPr>
        <p:spPr>
          <a:xfrm>
            <a:off x="929487" y="4306824"/>
            <a:ext cx="100584" cy="100584"/>
          </a:xfrm>
          <a:prstGeom prst="ellipse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58087" y="420624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91F"/>
                </a:solidFill>
                <a:latin typeface="Calibri"/>
              </a:rPr>
              <a:t>No workload identity for tool calls</a:t>
            </a:r>
          </a:p>
        </p:txBody>
      </p:sp>
      <p:sp>
        <p:nvSpPr>
          <p:cNvPr id="17" name="Oval 16"/>
          <p:cNvSpPr/>
          <p:nvPr/>
        </p:nvSpPr>
        <p:spPr>
          <a:xfrm>
            <a:off x="929487" y="4809744"/>
            <a:ext cx="100584" cy="100584"/>
          </a:xfrm>
          <a:prstGeom prst="ellipse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58087" y="470916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91F"/>
                </a:solidFill>
                <a:latin typeface="Calibri"/>
              </a:rPr>
              <a:t>Auditing is coarse-grained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007" y="1783080"/>
            <a:ext cx="5394960" cy="3657600"/>
          </a:xfrm>
          <a:prstGeom prst="roundRect">
            <a:avLst/>
          </a:prstGeom>
          <a:solidFill>
            <a:srgbClr val="F7F8FA"/>
          </a:solidFill>
          <a:ln w="9525">
            <a:solidFill>
              <a:srgbClr val="E4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33007" y="1783080"/>
            <a:ext cx="5394960" cy="502920"/>
          </a:xfrm>
          <a:prstGeom prst="roundRect">
            <a:avLst/>
          </a:prstGeom>
          <a:solidFill>
            <a:srgbClr val="1E7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07327" y="1783080"/>
            <a:ext cx="48463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ENGINE B · AgentCore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3047" y="251460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E7C3C"/>
                </a:solidFill>
                <a:latin typeface="Calibri"/>
              </a:rPr>
              <a:t>AgentCore Identity — per-session actor</a:t>
            </a:r>
          </a:p>
        </p:txBody>
      </p:sp>
      <p:sp>
        <p:nvSpPr>
          <p:cNvPr id="23" name="Oval 22"/>
          <p:cNvSpPr/>
          <p:nvPr/>
        </p:nvSpPr>
        <p:spPr>
          <a:xfrm>
            <a:off x="6598767" y="3300984"/>
            <a:ext cx="100584" cy="100584"/>
          </a:xfrm>
          <a:prstGeom prst="ellipse">
            <a:avLst/>
          </a:prstGeom>
          <a:solidFill>
            <a:srgbClr val="1E7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27367" y="320040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91F"/>
                </a:solidFill>
                <a:latin typeface="Calibri"/>
              </a:rPr>
              <a:t>actorId per user (sanitised for Memory)</a:t>
            </a:r>
          </a:p>
        </p:txBody>
      </p:sp>
      <p:sp>
        <p:nvSpPr>
          <p:cNvPr id="25" name="Oval 24"/>
          <p:cNvSpPr/>
          <p:nvPr/>
        </p:nvSpPr>
        <p:spPr>
          <a:xfrm>
            <a:off x="6598767" y="3803904"/>
            <a:ext cx="100584" cy="100584"/>
          </a:xfrm>
          <a:prstGeom prst="ellipse">
            <a:avLst/>
          </a:prstGeom>
          <a:solidFill>
            <a:srgbClr val="1E7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27367" y="370332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91F"/>
                </a:solidFill>
                <a:latin typeface="Calibri"/>
              </a:rPr>
              <a:t>Workload identity via JWT for Gateway calls</a:t>
            </a:r>
          </a:p>
        </p:txBody>
      </p:sp>
      <p:sp>
        <p:nvSpPr>
          <p:cNvPr id="27" name="Oval 26"/>
          <p:cNvSpPr/>
          <p:nvPr/>
        </p:nvSpPr>
        <p:spPr>
          <a:xfrm>
            <a:off x="6598767" y="4306824"/>
            <a:ext cx="100584" cy="100584"/>
          </a:xfrm>
          <a:prstGeom prst="ellipse">
            <a:avLst/>
          </a:prstGeom>
          <a:solidFill>
            <a:srgbClr val="1E7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27367" y="420624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91F"/>
                </a:solidFill>
                <a:latin typeface="Calibri"/>
              </a:rPr>
              <a:t>user_id and session_id stripped from the model's tool schema</a:t>
            </a:r>
          </a:p>
        </p:txBody>
      </p:sp>
      <p:sp>
        <p:nvSpPr>
          <p:cNvPr id="29" name="Oval 28"/>
          <p:cNvSpPr/>
          <p:nvPr/>
        </p:nvSpPr>
        <p:spPr>
          <a:xfrm>
            <a:off x="6598767" y="4809744"/>
            <a:ext cx="100584" cy="100584"/>
          </a:xfrm>
          <a:prstGeom prst="ellipse">
            <a:avLst/>
          </a:prstGeom>
          <a:solidFill>
            <a:srgbClr val="1E7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27367" y="470916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91F"/>
                </a:solidFill>
                <a:latin typeface="Calibri"/>
              </a:rPr>
              <a:t>Injected server-side — model can't spoof identity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3727" y="5623560"/>
            <a:ext cx="11064240" cy="685800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32F3E"/>
                </a:solidFill>
                <a:latin typeface="Calibri"/>
              </a:rPr>
              <a:t>AgentCore wins on identity. Cost: two identities per user (actorId vs userId) — and a # in actorId will silently break Memory.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545B64"/>
                </a:solidFill>
                <a:latin typeface="Calibri"/>
              </a:rPr>
              <a:t>VALENTIN   ·   GenAI TFC Capstone Deep-Dive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45B64"/>
                </a:solidFill>
                <a:latin typeface="Calibr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365760"/>
            <a:ext cx="594360" cy="594360"/>
          </a:xfrm>
          <a:prstGeom prst="ellipse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 b="1">
                <a:solidFill>
                  <a:srgbClr val="FF9900"/>
                </a:solidFill>
                <a:latin typeface="Calibri"/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65760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232F3E"/>
                </a:solidFill>
                <a:latin typeface="Calibri"/>
              </a:rPr>
              <a:t>Deep-Dive · Observability (what you can see)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371600" cy="35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45B64"/>
                </a:solidFill>
                <a:latin typeface="Calibri"/>
              </a:rPr>
              <a:t>Hand-wired spans vs managed OTEL — with a surprise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3727" y="1783080"/>
            <a:ext cx="5394960" cy="3657600"/>
          </a:xfrm>
          <a:prstGeom prst="roundRect">
            <a:avLst/>
          </a:prstGeom>
          <a:solidFill>
            <a:srgbClr val="F7F8FA"/>
          </a:solidFill>
          <a:ln w="9525">
            <a:solidFill>
              <a:srgbClr val="E4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3727" y="1783080"/>
            <a:ext cx="5394960" cy="502920"/>
          </a:xfrm>
          <a:prstGeom prst="round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8047" y="1783080"/>
            <a:ext cx="48463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9900"/>
                </a:solidFill>
                <a:latin typeface="Calibri"/>
              </a:rPr>
              <a:t>ENGINE A · Fargate + DynamoDB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3767" y="251460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32F3E"/>
                </a:solidFill>
                <a:latin typeface="Calibri"/>
              </a:rPr>
              <a:t>Hand-wired OpenTelemetry — full-fat</a:t>
            </a:r>
          </a:p>
        </p:txBody>
      </p:sp>
      <p:sp>
        <p:nvSpPr>
          <p:cNvPr id="11" name="Oval 10"/>
          <p:cNvSpPr/>
          <p:nvPr/>
        </p:nvSpPr>
        <p:spPr>
          <a:xfrm>
            <a:off x="929487" y="3300984"/>
            <a:ext cx="100584" cy="100584"/>
          </a:xfrm>
          <a:prstGeom prst="ellipse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58087" y="320040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91F"/>
                </a:solidFill>
                <a:latin typeface="Calibri"/>
              </a:rPr>
              <a:t>Real durations, real token counts per turn</a:t>
            </a:r>
          </a:p>
        </p:txBody>
      </p:sp>
      <p:sp>
        <p:nvSpPr>
          <p:cNvPr id="13" name="Oval 12"/>
          <p:cNvSpPr/>
          <p:nvPr/>
        </p:nvSpPr>
        <p:spPr>
          <a:xfrm>
            <a:off x="929487" y="3803904"/>
            <a:ext cx="100584" cy="100584"/>
          </a:xfrm>
          <a:prstGeom prst="ellipse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58087" y="370332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91F"/>
                </a:solidFill>
                <a:latin typeface="Calibri"/>
              </a:rPr>
              <a:t>4 CloudWatch alarms + 1 dashboard</a:t>
            </a:r>
          </a:p>
        </p:txBody>
      </p:sp>
      <p:sp>
        <p:nvSpPr>
          <p:cNvPr id="15" name="Oval 14"/>
          <p:cNvSpPr/>
          <p:nvPr/>
        </p:nvSpPr>
        <p:spPr>
          <a:xfrm>
            <a:off x="929487" y="4306824"/>
            <a:ext cx="100584" cy="100584"/>
          </a:xfrm>
          <a:prstGeom prst="ellipse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58087" y="420624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91F"/>
                </a:solidFill>
                <a:latin typeface="Calibri"/>
              </a:rPr>
              <a:t>Custom span-bridge.ts wired manually</a:t>
            </a:r>
          </a:p>
        </p:txBody>
      </p:sp>
      <p:sp>
        <p:nvSpPr>
          <p:cNvPr id="17" name="Oval 16"/>
          <p:cNvSpPr/>
          <p:nvPr/>
        </p:nvSpPr>
        <p:spPr>
          <a:xfrm>
            <a:off x="929487" y="4809744"/>
            <a:ext cx="100584" cy="100584"/>
          </a:xfrm>
          <a:prstGeom prst="ellipse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58087" y="470916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91F"/>
                </a:solidFill>
                <a:latin typeface="Calibri"/>
              </a:rPr>
              <a:t>You maintain it, but you can query anything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007" y="1783080"/>
            <a:ext cx="5394960" cy="3657600"/>
          </a:xfrm>
          <a:prstGeom prst="roundRect">
            <a:avLst/>
          </a:prstGeom>
          <a:solidFill>
            <a:srgbClr val="F7F8FA"/>
          </a:solidFill>
          <a:ln w="9525">
            <a:solidFill>
              <a:srgbClr val="E4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33007" y="1783080"/>
            <a:ext cx="5394960" cy="502920"/>
          </a:xfrm>
          <a:prstGeom prst="roundRect">
            <a:avLst/>
          </a:prstGeom>
          <a:solidFill>
            <a:srgbClr val="1E7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07327" y="1783080"/>
            <a:ext cx="48463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ENGINE B · AgentCore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3047" y="251460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E7C3C"/>
                </a:solidFill>
                <a:latin typeface="Calibri"/>
              </a:rPr>
              <a:t>AgentCore Observability — managed, incomplete today</a:t>
            </a:r>
          </a:p>
        </p:txBody>
      </p:sp>
      <p:sp>
        <p:nvSpPr>
          <p:cNvPr id="23" name="Oval 22"/>
          <p:cNvSpPr/>
          <p:nvPr/>
        </p:nvSpPr>
        <p:spPr>
          <a:xfrm>
            <a:off x="6598767" y="3300984"/>
            <a:ext cx="100584" cy="100584"/>
          </a:xfrm>
          <a:prstGeom prst="ellipse">
            <a:avLst/>
          </a:prstGeom>
          <a:solidFill>
            <a:srgbClr val="1E7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27367" y="320040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91F"/>
                </a:solidFill>
                <a:latin typeface="Calibri"/>
              </a:rPr>
              <a:t>OTEL traces &amp; sessions → CloudWatch GenAI</a:t>
            </a:r>
          </a:p>
        </p:txBody>
      </p:sp>
      <p:sp>
        <p:nvSpPr>
          <p:cNvPr id="25" name="Oval 24"/>
          <p:cNvSpPr/>
          <p:nvPr/>
        </p:nvSpPr>
        <p:spPr>
          <a:xfrm>
            <a:off x="6598767" y="3803904"/>
            <a:ext cx="100584" cy="100584"/>
          </a:xfrm>
          <a:prstGeom prst="ellipse">
            <a:avLst/>
          </a:prstGeom>
          <a:solidFill>
            <a:srgbClr val="1E7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27367" y="370332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91F"/>
                </a:solidFill>
                <a:latin typeface="Calibri"/>
              </a:rPr>
              <a:t>Runtime reports NO token usage today (blank counter)</a:t>
            </a:r>
          </a:p>
        </p:txBody>
      </p:sp>
      <p:sp>
        <p:nvSpPr>
          <p:cNvPr id="27" name="Oval 26"/>
          <p:cNvSpPr/>
          <p:nvPr/>
        </p:nvSpPr>
        <p:spPr>
          <a:xfrm>
            <a:off x="6598767" y="4306824"/>
            <a:ext cx="100584" cy="100584"/>
          </a:xfrm>
          <a:prstGeom prst="ellipse">
            <a:avLst/>
          </a:prstGeom>
          <a:solidFill>
            <a:srgbClr val="1E7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27367" y="420624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91F"/>
                </a:solidFill>
                <a:latin typeface="Calibri"/>
              </a:rPr>
              <a:t>Requires manual CLI enablement (Transaction Search)</a:t>
            </a:r>
          </a:p>
        </p:txBody>
      </p:sp>
      <p:sp>
        <p:nvSpPr>
          <p:cNvPr id="29" name="Oval 28"/>
          <p:cNvSpPr/>
          <p:nvPr/>
        </p:nvSpPr>
        <p:spPr>
          <a:xfrm>
            <a:off x="6598767" y="4809744"/>
            <a:ext cx="100584" cy="100584"/>
          </a:xfrm>
          <a:prstGeom prst="ellipse">
            <a:avLst/>
          </a:prstGeom>
          <a:solidFill>
            <a:srgbClr val="1E7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27367" y="470916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91F"/>
                </a:solidFill>
                <a:latin typeface="Calibri"/>
              </a:rPr>
              <a:t>monitoring-stack.ts covers Engine B not at all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3727" y="5623560"/>
            <a:ext cx="11064240" cy="68580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32F3E"/>
                </a:solidFill>
                <a:latin typeface="Calibri"/>
              </a:rPr>
              <a:t>Engine A wins observability today. AgentCore will catch up — but as-is, the platform we're recommending has the weaker instrumentation.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545B64"/>
                </a:solidFill>
                <a:latin typeface="Calibri"/>
              </a:rPr>
              <a:t>VALENTIN   ·   GenAI TFC Capstone Deep-Dive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45B64"/>
                </a:solidFill>
                <a:latin typeface="Calibr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365760"/>
            <a:ext cx="594360" cy="594360"/>
          </a:xfrm>
          <a:prstGeom prst="ellipse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 b="1">
                <a:solidFill>
                  <a:srgbClr val="FF9900"/>
                </a:solidFill>
                <a:latin typeface="Calibri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65760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232F3E"/>
                </a:solidFill>
                <a:latin typeface="Calibri"/>
              </a:rPr>
              <a:t>Summary &amp; Lessons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371600" cy="35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32F3E"/>
                </a:solidFill>
                <a:latin typeface="Calibri"/>
              </a:rPr>
              <a:t>What AgentCore actually bought — and what it cost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3727" y="1920240"/>
            <a:ext cx="5394960" cy="2194560"/>
          </a:xfrm>
          <a:prstGeom prst="roundRect">
            <a:avLst/>
          </a:prstGeom>
          <a:solidFill>
            <a:srgbClr val="E4F3E2"/>
          </a:solidFill>
          <a:ln w="9525">
            <a:solidFill>
              <a:srgbClr val="1E7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8047" y="205740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E7C3C"/>
                </a:solidFill>
                <a:latin typeface="Calibri"/>
              </a:rPr>
              <a:t>BOUGHT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3767" y="246888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6191F"/>
                </a:solidFill>
                <a:latin typeface="Calibri"/>
              </a:rPr>
              <a:t>• Blast radius: 1-of-40 tools fail instead of 40-of-40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3767" y="2779776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6191F"/>
                </a:solidFill>
                <a:latin typeface="Calibri"/>
              </a:rPr>
              <a:t>• Tool trust boundary — enumerable outside the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3767" y="3090672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6191F"/>
                </a:solidFill>
                <a:latin typeface="Calibri"/>
              </a:rPr>
              <a:t>• ~62× cheaper at 500 turns/mo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3767" y="3401568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6191F"/>
                </a:solidFill>
                <a:latin typeface="Calibri"/>
              </a:rPr>
              <a:t>• Physical session isolation (microVMs)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3767" y="3712464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6191F"/>
                </a:solidFill>
                <a:latin typeface="Calibri"/>
              </a:rPr>
              <a:t>• ~656 lines of extraction code stop being yours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3007" y="1920240"/>
            <a:ext cx="5394960" cy="2194560"/>
          </a:xfrm>
          <a:prstGeom prst="roundRect">
            <a:avLst/>
          </a:prstGeom>
          <a:solidFill>
            <a:srgbClr val="FBE7E4"/>
          </a:solidFill>
          <a:ln w="9525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07327" y="205740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C0392B"/>
                </a:solidFill>
                <a:latin typeface="Calibri"/>
              </a:rPr>
              <a:t>COST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3047" y="246888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6191F"/>
                </a:solidFill>
                <a:latin typeface="Calibri"/>
              </a:rPr>
              <a:t>• Latency: extra network hop, no streaming today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3047" y="2779776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6191F"/>
                </a:solidFill>
                <a:latin typeface="Calibri"/>
              </a:rPr>
              <a:t>• Observability: no tokens, no alarms, manual setup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3047" y="3090672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6191F"/>
                </a:solidFill>
                <a:latin typeface="Calibri"/>
              </a:rPr>
              <a:t>• Contradictory naming rules · untaggable resources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3401568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6191F"/>
                </a:solidFill>
                <a:latin typeface="Calibri"/>
              </a:rPr>
              <a:t>• Two identities per user (actorId vs userId)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3712464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6191F"/>
                </a:solidFill>
                <a:latin typeface="Calibri"/>
              </a:rPr>
              <a:t>• "Deployed &amp; green" served ZERO turns for weeks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75488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32F3E"/>
                </a:solidFill>
                <a:latin typeface="Calibri"/>
              </a:rPr>
              <a:t>Three numbers to never get wrong on stage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212080"/>
            <a:ext cx="3703320" cy="1051560"/>
          </a:xfrm>
          <a:prstGeom prst="roundRect">
            <a:avLst/>
          </a:prstGeom>
          <a:solidFill>
            <a:srgbClr val="F7F8FA"/>
          </a:solidFill>
          <a:ln w="9525">
            <a:solidFill>
              <a:srgbClr val="E4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02920" y="5212080"/>
            <a:ext cx="3703320" cy="91440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376672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232F3E"/>
                </a:solidFill>
                <a:latin typeface="Calibri"/>
              </a:rPr>
              <a:t>62×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20" y="5413248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32F3E"/>
                </a:solidFill>
                <a:latin typeface="Calibri"/>
              </a:rPr>
              <a:t>cheaper at 500 turns/mo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31720" y="5806440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45B64"/>
                </a:solidFill>
                <a:latin typeface="Calibri"/>
              </a:rPr>
              <a:t>with the Memory billing caveat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0" y="5212080"/>
            <a:ext cx="3703320" cy="1051560"/>
          </a:xfrm>
          <a:prstGeom prst="roundRect">
            <a:avLst/>
          </a:prstGeom>
          <a:solidFill>
            <a:srgbClr val="F7F8FA"/>
          </a:solidFill>
          <a:ln w="9525">
            <a:solidFill>
              <a:srgbClr val="E4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389120" y="5212080"/>
            <a:ext cx="3703320" cy="91440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17720" y="5376672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232F3E"/>
                </a:solidFill>
                <a:latin typeface="Calibri"/>
              </a:rPr>
              <a:t>1 of 40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5413248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32F3E"/>
                </a:solidFill>
                <a:latin typeface="Calibri"/>
              </a:rPr>
              <a:t>tools survive a failure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5806440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45B64"/>
                </a:solidFill>
                <a:latin typeface="Calibri"/>
              </a:rPr>
              <a:t>vs 40 of 40 with in-process registry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75320" y="5212080"/>
            <a:ext cx="3703320" cy="1051560"/>
          </a:xfrm>
          <a:prstGeom prst="roundRect">
            <a:avLst/>
          </a:prstGeom>
          <a:solidFill>
            <a:srgbClr val="F7F8FA"/>
          </a:solidFill>
          <a:ln w="9525">
            <a:solidFill>
              <a:srgbClr val="E4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275320" y="5212080"/>
            <a:ext cx="3703320" cy="91440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03920" y="5376672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232F3E"/>
                </a:solidFill>
                <a:latin typeface="Calibri"/>
              </a:rPr>
              <a:t>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04120" y="5413248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32F3E"/>
                </a:solidFill>
                <a:latin typeface="Calibri"/>
              </a:rPr>
              <a:t>real defects behind 3,591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04120" y="5806440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45B64"/>
                </a:solidFill>
                <a:latin typeface="Calibri"/>
              </a:rPr>
              <a:t>green unit tests — why live evals matter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545B64"/>
                </a:solidFill>
                <a:latin typeface="Calibri"/>
              </a:rPr>
              <a:t>VALENTIN   ·   GenAI TFC Capstone Deep-Dive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45B64"/>
                </a:solidFill>
                <a:latin typeface="Calibr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194560"/>
            <a:ext cx="112471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0" b="1">
                <a:solidFill>
                  <a:srgbClr val="FFFFFF"/>
                </a:solidFill>
                <a:latin typeface="Calibri"/>
              </a:rPr>
              <a:t>Thank you.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0">
                <a:solidFill>
                  <a:srgbClr val="FF9900"/>
                </a:solidFill>
                <a:latin typeface="Calibri"/>
              </a:rPr>
              <a:t>Questions?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0" y="4892040"/>
            <a:ext cx="1920240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Coral Magen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53212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879596"/>
                </a:solidFill>
                <a:latin typeface="Calibri"/>
              </a:rPr>
              <a:t>Technical Account Manager   ·   coralst@amazon.com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