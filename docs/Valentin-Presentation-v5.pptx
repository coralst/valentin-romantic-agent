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68" r:id="rId12"/>
    <p:sldId id="269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82"/>
  </p:normalViewPr>
  <p:slideViewPr>
    <p:cSldViewPr snapToGrid="0" snapToObjects="1">
      <p:cViewPr>
        <p:scale>
          <a:sx n="125" d="100"/>
          <a:sy n="125" d="100"/>
        </p:scale>
        <p:origin x="232" y="-3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mazon-my.sharepoint.com/personal/coralst_amazon_com/Lists/Natural%20Intelligence%20Support%20Planning%20Workshop/AllItems.aspx?sortField=Order0&amp;isAscending=false&amp;viewid=082e8a62%2D439c%2D4e01%2Da1d9%2D6bd9a85907a3&amp;env=WebViewList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hyperlink" Target="https://d26dwovftfq9oe.cloudfront.net/explore.html#wor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9900"/>
                </a:solidFill>
                <a:latin typeface="Calibri"/>
              </a:rPr>
              <a:t>AWS ENTERPRISE SUPPORT · GenAI Core TFC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Valentin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38328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rgbClr val="FF9900"/>
                </a:solidFill>
                <a:latin typeface="Calibri"/>
              </a:rPr>
              <a:t>One product · Two agent platforms · Same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7548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879596"/>
                </a:solidFill>
                <a:latin typeface="Calibri"/>
              </a:rPr>
              <a:t>AgentCore vs Fargate + DynamoDB — a controlled A/B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440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Coral Magen  ·  Technical Account Manager  ·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365760"/>
            <a:ext cx="594360" cy="594360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9900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65760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232F3E"/>
                </a:solidFill>
                <a:latin typeface="Calibri"/>
              </a:rPr>
              <a:t>The Business Problem and the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371600" cy="35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545B64"/>
                </a:solidFill>
                <a:latin typeface="Calibri"/>
              </a:rPr>
              <a:t>Small nudges over time — from a partner who's paying attention when you can't.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532120" cy="1645920"/>
          </a:xfrm>
          <a:prstGeom prst="roundRect">
            <a:avLst/>
          </a:prstGeom>
          <a:solidFill>
            <a:srgbClr val="F7F8FA"/>
          </a:solidFill>
          <a:ln w="9525">
            <a:solidFill>
              <a:srgbClr val="E4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5532120" cy="13716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4983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  <a:latin typeface="Calibri"/>
              </a:rPr>
              <a:t>THE BUSINESS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49834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16191F"/>
                </a:solidFill>
                <a:latin typeface="Calibri"/>
              </a:rPr>
              <a:t>We're busy. The little things that make our partner feel seen slip through the cracks — until we need them.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83080"/>
            <a:ext cx="5532120" cy="1645920"/>
          </a:xfrm>
          <a:prstGeom prst="roundRect">
            <a:avLst/>
          </a:prstGeom>
          <a:solidFill>
            <a:srgbClr val="F7F8FA"/>
          </a:solidFill>
          <a:ln w="9525">
            <a:solidFill>
              <a:srgbClr val="E4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09360" y="1783080"/>
            <a:ext cx="5532120" cy="137160"/>
          </a:xfrm>
          <a:prstGeom prst="roundRect">
            <a:avLst/>
          </a:prstGeom>
          <a:solidFill>
            <a:srgbClr val="1E7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400" y="2057400"/>
            <a:ext cx="4983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E7C3C"/>
                </a:solidFill>
                <a:latin typeface="Calibri"/>
              </a:rPr>
              <a:t>WHAT VALENTIN 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560320"/>
            <a:ext cx="4983480" cy="7848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dirty="0">
                <a:solidFill>
                  <a:srgbClr val="16191F"/>
                </a:solidFill>
                <a:latin typeface="Calibri"/>
              </a:rPr>
              <a:t>A personal AI assistant that listens, remembers per partner, and acts weeks early — with your final word.</a:t>
            </a:r>
            <a:endParaRPr lang="en-US" sz="1700" b="0" dirty="0">
              <a:solidFill>
                <a:srgbClr val="16191F"/>
              </a:solidFill>
              <a:latin typeface="Calibri"/>
            </a:endParaRPr>
          </a:p>
          <a:p>
            <a:pPr algn="l"/>
            <a:r>
              <a:rPr lang="en-IL" sz="1700" dirty="0">
                <a:solidFill>
                  <a:srgbClr val="16191F"/>
                </a:solidFill>
                <a:latin typeface="Calibri"/>
              </a:rPr>
              <a:t>(with two beckends: DIY / Agentcore)</a:t>
            </a:r>
            <a:endParaRPr sz="1700" b="0" dirty="0">
              <a:solidFill>
                <a:srgbClr val="16191F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2920" y="3703320"/>
            <a:ext cx="2673019" cy="2377440"/>
          </a:xfrm>
          <a:prstGeom prst="roundRect">
            <a:avLst/>
          </a:prstGeom>
          <a:solidFill>
            <a:srgbClr val="F7F8FA"/>
          </a:solidFill>
          <a:ln w="9525">
            <a:solidFill>
              <a:srgbClr val="E4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920" y="3703320"/>
            <a:ext cx="2673019" cy="13716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31520" y="3977640"/>
            <a:ext cx="384048" cy="384048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9900"/>
                </a:solidFill>
                <a:latin typeface="Calibri"/>
              </a:rPr>
              <a:t>1</a:t>
            </a:r>
          </a:p>
        </p:txBody>
      </p:sp>
      <p:pic>
        <p:nvPicPr>
          <p:cNvPr id="18" name="Picture 17" descr="bedr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049" y="4332984"/>
            <a:ext cx="640080" cy="640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833483" y="4437580"/>
            <a:ext cx="166545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800" b="1" dirty="0">
                <a:solidFill>
                  <a:srgbClr val="FF9900"/>
                </a:solidFill>
                <a:latin typeface="Calibri"/>
              </a:rPr>
              <a:t>/</a:t>
            </a:r>
            <a:endParaRPr sz="2800" b="1" dirty="0">
              <a:solidFill>
                <a:srgbClr val="FF9900"/>
              </a:solidFill>
              <a:latin typeface="Calibri"/>
            </a:endParaRPr>
          </a:p>
        </p:txBody>
      </p:sp>
      <p:pic>
        <p:nvPicPr>
          <p:cNvPr id="20" name="Picture 19" descr="agent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6609" y="4332984"/>
            <a:ext cx="640080" cy="6400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5800" y="5120640"/>
            <a:ext cx="230725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232F3E"/>
                </a:solidFill>
                <a:latin typeface="Calibri"/>
              </a:rPr>
              <a:t>Chatbot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532120"/>
            <a:ext cx="23986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C07000"/>
                </a:solidFill>
                <a:latin typeface="Calibri"/>
              </a:rPr>
              <a:t>Amazon Bedrock  ·  AgentCore Runtime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185939" y="4800600"/>
            <a:ext cx="144592" cy="182880"/>
          </a:xfrm>
          <a:prstGeom prst="rightArrow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340531" y="3703320"/>
            <a:ext cx="2673019" cy="2377440"/>
          </a:xfrm>
          <a:prstGeom prst="roundRect">
            <a:avLst/>
          </a:prstGeom>
          <a:solidFill>
            <a:srgbClr val="F7F8FA"/>
          </a:solidFill>
          <a:ln w="9525">
            <a:solidFill>
              <a:srgbClr val="E4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340531" y="3703320"/>
            <a:ext cx="2673019" cy="13716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569131" y="3977640"/>
            <a:ext cx="384048" cy="384048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9900"/>
                </a:solidFill>
                <a:latin typeface="Calibri"/>
              </a:rPr>
              <a:t>2</a:t>
            </a:r>
          </a:p>
        </p:txBody>
      </p:sp>
      <p:pic>
        <p:nvPicPr>
          <p:cNvPr id="28" name="Picture 27" descr="dynamo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2660" y="4332984"/>
            <a:ext cx="640080" cy="6400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671094" y="4437580"/>
            <a:ext cx="166545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800" b="1" dirty="0">
                <a:solidFill>
                  <a:srgbClr val="FF9900"/>
                </a:solidFill>
                <a:latin typeface="Calibri"/>
              </a:rPr>
              <a:t>/</a:t>
            </a:r>
            <a:endParaRPr sz="2800" b="1" dirty="0">
              <a:solidFill>
                <a:srgbClr val="FF9900"/>
              </a:solidFill>
              <a:latin typeface="Calibri"/>
            </a:endParaRPr>
          </a:p>
        </p:txBody>
      </p:sp>
      <p:pic>
        <p:nvPicPr>
          <p:cNvPr id="30" name="Picture 29" descr="agent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220" y="4332984"/>
            <a:ext cx="640080" cy="6400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523411" y="5120640"/>
            <a:ext cx="230725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232F3E"/>
                </a:solidFill>
                <a:latin typeface="Calibri"/>
              </a:rPr>
              <a:t>Persistent Memory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7691" y="5532120"/>
            <a:ext cx="23986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C07000"/>
                </a:solidFill>
                <a:latin typeface="Calibri"/>
              </a:rPr>
              <a:t>Amazon DynamoDB  ·  AgentCore Memory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6023551" y="4800600"/>
            <a:ext cx="144592" cy="182880"/>
          </a:xfrm>
          <a:prstGeom prst="rightArrow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178143" y="3703320"/>
            <a:ext cx="2673019" cy="2377440"/>
          </a:xfrm>
          <a:prstGeom prst="roundRect">
            <a:avLst/>
          </a:prstGeom>
          <a:solidFill>
            <a:srgbClr val="F7F8FA"/>
          </a:solidFill>
          <a:ln w="9525">
            <a:solidFill>
              <a:srgbClr val="E4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178143" y="3703320"/>
            <a:ext cx="2673019" cy="13716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510995" y="4062984"/>
            <a:ext cx="279795" cy="298704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9900"/>
                </a:solidFill>
                <a:latin typeface="Calibri"/>
              </a:rPr>
              <a:t>3</a:t>
            </a:r>
          </a:p>
        </p:txBody>
      </p:sp>
      <p:pic>
        <p:nvPicPr>
          <p:cNvPr id="38" name="Picture 37" descr="lamb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5252" y="4246880"/>
            <a:ext cx="782320" cy="78232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361023" y="5120640"/>
            <a:ext cx="230725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232F3E"/>
                </a:solidFill>
                <a:latin typeface="Calibri"/>
              </a:rPr>
              <a:t>Tool Using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15303" y="5532120"/>
            <a:ext cx="23986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C07000"/>
                </a:solidFill>
                <a:latin typeface="Calibri"/>
              </a:rPr>
              <a:t>AWS Lambda · MCP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8861163" y="4800600"/>
            <a:ext cx="144592" cy="182880"/>
          </a:xfrm>
          <a:prstGeom prst="rightArrow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9015755" y="3703320"/>
            <a:ext cx="2673019" cy="2377440"/>
          </a:xfrm>
          <a:prstGeom prst="roundRect">
            <a:avLst/>
          </a:prstGeom>
          <a:solidFill>
            <a:srgbClr val="F7F8FA"/>
          </a:solidFill>
          <a:ln w="9525">
            <a:solidFill>
              <a:srgbClr val="E4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9015755" y="3703320"/>
            <a:ext cx="2673019" cy="13716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9244355" y="3977640"/>
            <a:ext cx="384048" cy="384048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9900"/>
                </a:solidFill>
                <a:latin typeface="Calibri"/>
              </a:rPr>
              <a:t>4</a:t>
            </a:r>
          </a:p>
        </p:txBody>
      </p:sp>
      <p:pic>
        <p:nvPicPr>
          <p:cNvPr id="46" name="Picture 45" descr="eventbrid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2864" y="4246880"/>
            <a:ext cx="782320" cy="78232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198635" y="5120640"/>
            <a:ext cx="230725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232F3E"/>
                </a:solidFill>
                <a:latin typeface="Calibri"/>
              </a:rPr>
              <a:t>Triggers &amp; Loop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52915" y="5532120"/>
            <a:ext cx="23986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C07000"/>
                </a:solidFill>
                <a:latin typeface="Calibri"/>
              </a:rPr>
              <a:t>EventBridge Scheduler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45B64"/>
                </a:solidFill>
                <a:latin typeface="Calibri"/>
              </a:rPr>
              <a:t>VALENTIN   ·   GenAI TFC Capstone Deep-Dive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545B64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502920" y="365760"/>
            <a:ext cx="594360" cy="594360"/>
          </a:xfrm>
          <a:prstGeom prst="ellipse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9900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65760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232F3E"/>
                </a:solidFill>
                <a:latin typeface="Calibri"/>
              </a:rPr>
              <a:t>Valentin Agentic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371600" cy="3657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545B64"/>
                </a:solidFill>
                <a:latin typeface="Calibri"/>
              </a:rPr>
              <a:t>VALENTIN   ·   GenAI TFC Capstone Deep-Dive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45B64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365760"/>
            <a:ext cx="594360" cy="594360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9900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65760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232F3E"/>
                </a:solidFill>
                <a:latin typeface="Calibri"/>
              </a:rPr>
              <a:t>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371600" cy="35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545B64"/>
                </a:solidFill>
                <a:latin typeface="Calibri"/>
              </a:rPr>
              <a:t>Live product · deployed on AWS · 6 real integrations</a:t>
            </a:r>
          </a:p>
        </p:txBody>
      </p:sp>
      <p:sp>
        <p:nvSpPr>
          <p:cNvPr id="7" name="Rounded Rectangle 6">
            <a:hlinkClick r:id="rId2"/>
          </p:cNvPr>
          <p:cNvSpPr/>
          <p:nvPr/>
        </p:nvSpPr>
        <p:spPr>
          <a:xfrm>
            <a:off x="2209647" y="2926080"/>
            <a:ext cx="7772400" cy="182880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09647" y="324612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232F3E"/>
                </a:solidFill>
                <a:latin typeface="Calibri"/>
              </a:rPr>
              <a:t>OPEN THE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3967" y="3657600"/>
            <a:ext cx="7223760" cy="5943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2600" b="1">
                <a:solidFill>
                  <a:srgbClr val="232F3E"/>
                </a:solidFill>
                <a:latin typeface="Calibri"/>
                <a:hlinkClick r:id="rId2"/>
              </a:rPr>
              <a:t>Valentin — Live Demo 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09647" y="429768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232F3E"/>
                </a:solidFill>
                <a:latin typeface="Calibri"/>
              </a:rPr>
              <a:t>The four beats: extract · remember · decide · 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45B64"/>
                </a:solidFill>
                <a:latin typeface="Calibri"/>
              </a:rPr>
              <a:t>VALENTIN   ·   GenAI TFC Capstone Deep-Dive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545B64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32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365760"/>
            <a:ext cx="594360" cy="594360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9900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65760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232F3E"/>
                </a:solidFill>
                <a:latin typeface="Calibri"/>
              </a:rPr>
              <a:t>Architecture — Two Engines, One 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371600" cy="35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45B64"/>
                </a:solidFill>
                <a:latin typeface="Calibri"/>
              </a:rPr>
              <a:t>Everything at top and bottom is shared. Only the middle changes.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45B64"/>
                </a:solidFill>
                <a:latin typeface="Calibri"/>
              </a:rPr>
              <a:t>VALENTIN   ·   GenAI TFC Capstone Deep-Dive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545B64"/>
                </a:solidFill>
                <a:latin typeface="Calibri"/>
              </a:rPr>
              <a:t>5 / 12</a:t>
            </a:r>
          </a:p>
        </p:txBody>
      </p:sp>
      <p:pic>
        <p:nvPicPr>
          <p:cNvPr id="10" name="Picture 9" descr="diagram-two-engines-lr.png">
            <a:extLst>
              <a:ext uri="{FF2B5EF4-FFF2-40B4-BE49-F238E27FC236}">
                <a16:creationId xmlns:a16="http://schemas.microsoft.com/office/drawing/2014/main" id="{D8E894E4-BD23-7AD5-A320-F6E28D26D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" y="1839520"/>
            <a:ext cx="12191695" cy="4208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DD0E5-E75D-D03A-7485-23B24AD14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CA3F3F-15A1-1B73-0DE1-4E0C20D8116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908F882-E139-4EE3-23DA-85809386E953}"/>
              </a:ext>
            </a:extLst>
          </p:cNvPr>
          <p:cNvSpPr/>
          <p:nvPr/>
        </p:nvSpPr>
        <p:spPr>
          <a:xfrm>
            <a:off x="502920" y="365760"/>
            <a:ext cx="594360" cy="594360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9900"/>
                </a:solidFill>
                <a:latin typeface="Calibri"/>
              </a:rPr>
              <a:t>10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13A60C-7E27-43EA-7514-FAF28FCC5560}"/>
              </a:ext>
            </a:extLst>
          </p:cNvPr>
          <p:cNvSpPr txBox="1"/>
          <p:nvPr/>
        </p:nvSpPr>
        <p:spPr>
          <a:xfrm>
            <a:off x="1280160" y="365760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232F3E"/>
                </a:solidFill>
                <a:latin typeface="Calibri"/>
              </a:rPr>
              <a:t>Summary &amp; Lessons Learned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BB7E90-3AF4-ED9A-AE90-C1F458088809}"/>
              </a:ext>
            </a:extLst>
          </p:cNvPr>
          <p:cNvSpPr/>
          <p:nvPr/>
        </p:nvSpPr>
        <p:spPr>
          <a:xfrm>
            <a:off x="502920" y="1051560"/>
            <a:ext cx="1371600" cy="35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EB0B51C-D702-D0E1-3681-73114B94F835}"/>
              </a:ext>
            </a:extLst>
          </p:cNvPr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45B64"/>
                </a:solidFill>
                <a:latin typeface="Calibri"/>
              </a:rPr>
              <a:t>VALENTIN   ·   GenAI TFC Capstone Deep-Dive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E3B69BD-AC48-F35F-3ECF-60EA7C9FD17B}"/>
              </a:ext>
            </a:extLst>
          </p:cNvPr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545B64"/>
                </a:solidFill>
                <a:latin typeface="Calibri"/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2591244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35B53-CFA8-E527-DD4B-DA3521A6D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B70F06-D725-BD1B-30B8-DA5DC9BEA68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0B2C6F4-59EA-96D8-F654-1A072EC7282F}"/>
              </a:ext>
            </a:extLst>
          </p:cNvPr>
          <p:cNvSpPr/>
          <p:nvPr/>
        </p:nvSpPr>
        <p:spPr>
          <a:xfrm>
            <a:off x="502920" y="365760"/>
            <a:ext cx="594360" cy="594360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9900"/>
                </a:solidFill>
                <a:latin typeface="Calibri"/>
              </a:rPr>
              <a:t>10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B90CCF-1FF5-DE39-1CF8-D46B967E28A0}"/>
              </a:ext>
            </a:extLst>
          </p:cNvPr>
          <p:cNvSpPr txBox="1"/>
          <p:nvPr/>
        </p:nvSpPr>
        <p:spPr>
          <a:xfrm>
            <a:off x="1280160" y="365760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232F3E"/>
                </a:solidFill>
                <a:latin typeface="Calibri"/>
              </a:rPr>
              <a:t>Summary &amp; Lessons Learned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F61C00-4049-D0ED-009C-9C0DAC0CA661}"/>
              </a:ext>
            </a:extLst>
          </p:cNvPr>
          <p:cNvSpPr/>
          <p:nvPr/>
        </p:nvSpPr>
        <p:spPr>
          <a:xfrm>
            <a:off x="502920" y="1051560"/>
            <a:ext cx="1371600" cy="35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895592A-262F-8854-7DEC-FB2F422F2B4C}"/>
              </a:ext>
            </a:extLst>
          </p:cNvPr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45B64"/>
                </a:solidFill>
                <a:latin typeface="Calibri"/>
              </a:rPr>
              <a:t>VALENTIN   ·   GenAI TFC Capstone Deep-Dive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7A44F81-4709-47CA-AD18-C795F6ED5753}"/>
              </a:ext>
            </a:extLst>
          </p:cNvPr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545B64"/>
                </a:solidFill>
                <a:latin typeface="Calibri"/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3626366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502920" y="365760"/>
            <a:ext cx="594360" cy="594360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9900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65760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232F3E"/>
                </a:solidFill>
                <a:latin typeface="Calibri"/>
              </a:rPr>
              <a:t>Summary &amp; Lessons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371600" cy="35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32F3E"/>
                </a:solidFill>
                <a:latin typeface="Calibri"/>
              </a:rPr>
              <a:t>What AgentCore actually bought — and what it cost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3727" y="1920240"/>
            <a:ext cx="5394960" cy="2194560"/>
          </a:xfrm>
          <a:prstGeom prst="roundRect">
            <a:avLst/>
          </a:prstGeom>
          <a:solidFill>
            <a:srgbClr val="E4F3E2"/>
          </a:solidFill>
          <a:ln w="9525">
            <a:solidFill>
              <a:srgbClr val="1E7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8047" y="20574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E7C3C"/>
                </a:solidFill>
                <a:latin typeface="Calibri"/>
              </a:rPr>
              <a:t>BOUGHT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3767" y="246888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6191F"/>
                </a:solidFill>
                <a:latin typeface="Calibri"/>
              </a:rPr>
              <a:t>• Blast radius: 1-of-40 tools fail instead of 40-of-40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3767" y="2779776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6191F"/>
                </a:solidFill>
                <a:latin typeface="Calibri"/>
              </a:rPr>
              <a:t>• Tool trust boundary — enumerable outside the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3767" y="3090672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6191F"/>
                </a:solidFill>
                <a:latin typeface="Calibri"/>
              </a:rPr>
              <a:t>• ~62× cheaper at 500 turns/mo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767" y="3401568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6191F"/>
                </a:solidFill>
                <a:latin typeface="Calibri"/>
              </a:rPr>
              <a:t>• Physical session isolation (microVMs)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3767" y="3712464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6191F"/>
                </a:solidFill>
                <a:latin typeface="Calibri"/>
              </a:rPr>
              <a:t>• ~656 lines of extraction code stop being yours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920240"/>
            <a:ext cx="5394960" cy="2194560"/>
          </a:xfrm>
          <a:prstGeom prst="roundRect">
            <a:avLst/>
          </a:prstGeom>
          <a:solidFill>
            <a:srgbClr val="FBE7E4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7327" y="20574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  <a:latin typeface="Calibri"/>
              </a:rPr>
              <a:t>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047" y="246888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6191F"/>
                </a:solidFill>
                <a:latin typeface="Calibri"/>
              </a:rPr>
              <a:t>• Latency: extra network hop, no streaming today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2779776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6191F"/>
                </a:solidFill>
                <a:latin typeface="Calibri"/>
              </a:rPr>
              <a:t>• Observability: no tokens, no alarms, manual setup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047" y="3090672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6191F"/>
                </a:solidFill>
                <a:latin typeface="Calibri"/>
              </a:rPr>
              <a:t>• Contradictory naming rules · untaggable resources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3401568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6191F"/>
                </a:solidFill>
                <a:latin typeface="Calibri"/>
              </a:rPr>
              <a:t>• Two identities per user (actorId vs userId)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3712464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6191F"/>
                </a:solidFill>
                <a:latin typeface="Calibri"/>
              </a:rPr>
              <a:t>• "Deployed &amp; green" served ZERO turns for weeks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45B64"/>
                </a:solidFill>
                <a:latin typeface="Calibri"/>
              </a:rPr>
              <a:t>VALENTIN   ·   GenAI TFC Capstone Deep-Dive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545B64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12471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0" b="1">
                <a:solidFill>
                  <a:srgbClr val="FFFFFF"/>
                </a:solidFill>
                <a:latin typeface="Calibri"/>
              </a:rPr>
              <a:t>Thank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>
                <a:solidFill>
                  <a:srgbClr val="FF9900"/>
                </a:solidFill>
                <a:latin typeface="Calibri"/>
              </a:rPr>
              <a:t>Questions?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0" y="4892040"/>
            <a:ext cx="192024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Coral Magen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53212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879596"/>
                </a:solidFill>
                <a:latin typeface="Calibri"/>
              </a:rPr>
              <a:t>Technical Account Manager   ·   coralst@amazon.com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wo engines, scored on four dimensio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untime - where the agent ru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mory - how the agent remember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ateway - how the agent uses tool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bservability - what you can se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wo bills, split into what is fixed and what grow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ne fault. Forty session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 didn't write it. They did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y node is a real pull reque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03420"/>
            <a:ext cx="1920240" cy="2819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>
                <a:hlinkClick r:id="rId3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1111</Words>
  <Application>Microsoft Macintosh PowerPoint</Application>
  <PresentationFormat>Widescreen</PresentationFormat>
  <Paragraphs>165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Coral Steinberg</cp:lastModifiedBy>
  <cp:revision>2</cp:revision>
  <dcterms:created xsi:type="dcterms:W3CDTF">2013-01-27T09:14:16Z</dcterms:created>
  <dcterms:modified xsi:type="dcterms:W3CDTF">2026-09-06T10:06:12Z</dcterms:modified>
  <cp:category/>
</cp:coreProperties>
</file>