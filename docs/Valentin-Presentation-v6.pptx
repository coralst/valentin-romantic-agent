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9" r:id="rId19"/>
    <p:sldId id="270" r:id="rId20"/>
    <p:sldId id="271" r:id="rId21"/>
    <p:sldId id="272" r:id="rId22"/>
    <p:sldId id="273" r:id="rId23"/>
    <p:sldId id="274" r:id="rId24"/>
    <p:sldId id="275" r:id="rId25"/>
    <p:sldId id="276" r:id="rId26"/>
    <p:sldId id="277" r:id="rId27"/>
    <p:sldId id="278" r:id="rId28"/>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40"/>
  </p:normalViewPr>
  <p:slideViewPr>
    <p:cSldViewPr snapToGrid="0" snapToObjects="1">
      <p:cViewPr>
        <p:scale>
          <a:sx n="110" d="100"/>
          <a:sy n="110" d="100"/>
        </p:scale>
        <p:origin x="824"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13" Type="http://schemas.openxmlformats.org/officeDocument/2006/relationships/notesMaster" Target="notesMasters/notesMaster1.xml"/><Relationship Id="rId14" Type="http://schemas.openxmlformats.org/officeDocument/2006/relationships/slide" Target="slides/slide13.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 cumulative 0:20 of 10:00]</a:t>
            </a:r>
          </a:p>
          <a:p/>
          <a:p>
            <a:r>
              <a:t>Valentin is an agent that helps me be a better partner. Ten minutes: what it does, why the loop is the interesting part, then the decision I actually came to present — build the agent platform myself on Fargate, or buy AgentCore.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cumulative 1:05 of 10:00]</a:t>
            </a:r>
          </a:p>
          <a:p/>
          <a:p>
            <a:r>
              <a:t>The problem is not that I forget her birthday. It is that being thoughtful is a background job: noticing an occasion is coming, remembering what she liked last time, and doing something about it before the day arrives. That is three different jobs, and a chat window only does the middle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 cumulative 2:10 of 10:00]</a:t>
            </a:r>
          </a:p>
          <a:p/>
          <a:p>
            <a:r>
              <a:t>This is the whole system in one picture, and it is the slide I would defend hardest. An event on the timeline triggers a planning pass — that is the arrow coming up from the calendar. The agent uses tools, proposes something, we talk, and it extracts what it learned about her. Then feedback after the event can set the next event, which is the arrow going back down to the timeline. Claude is one step in that ring. EventBridge is what closes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 cumulative 3:25 of 10:00]</a:t>
            </a:r>
          </a:p>
          <a:p/>
          <a:p>
            <a:r>
              <a:t>Short demo. Watch two things: it opens with an occasion I never typed, and by the end it has written something into her file that changes what it says next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cumulative 4:25 of 10:00]</a:t>
            </a:r>
          </a:p>
          <a:p/>
          <a:p>
            <a:r>
              <a:t>Now the real content. Same product, built twice: once as glue code I own on Fargate, once on AgentCore. Four decisions, one row each, and the number that settles it in the last column. Three of the four go to AgentCore. The fourth does not, and I will not skip it — a comparison that goes four-nil is a sales pitch.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 cumulative 5:00 of 10:00]</a:t>
            </a:r>
          </a:p>
          <a:p/>
          <a:p>
            <a:r>
              <a:t>Compute first. Engine A never scales to zero: one task, eighteen dollars a month before anyone says a word. Engine B bills per second of actual agent work — under a cent. But its unit price is worse, two point two times dearer per vCPU-hour. It wins on granularity, not on rate.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 cumulative 5:40 of 10:00]</a:t>
            </a:r>
          </a:p>
          <a:p/>
          <a:p>
            <a:r>
              <a:t>And this is what I actually care about. In-process, forty sessions share one Node process, one heap, one crash. A microVM per session means a fault has nowhere to travel. Same for credentials: one shared IAM role versus one role per tool.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 cumulative 6:15 of 10:00]</a:t>
            </a:r>
          </a:p>
          <a:p/>
          <a:p>
            <a:r>
              <a:t>The bill, itemised, with every rate from a pricing page and every quantity counted out of this repo. The reply call to Bedrock is identical on both sides, so I excluded it from both — otherwise it dominates and hides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 cumulative 6:50 of 10:00]</a:t>
            </a:r>
          </a:p>
          <a:p/>
          <a:p>
            <a:r>
              <a:t>Memory. Engine A pays a second model call every turn just to extract preferences, and I own that prompt forever. AgentCore Memory folds extraction into the service: fourteen times cheaper per user. One caveat I have not resolved — if retrieval meters per record instead of per call, that reverses.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 cumulative 7:25 of 10:00]</a:t>
            </a:r>
          </a:p>
          <a:p/>
          <a:p>
            <a:r>
              <a:t>Tool use, and the worst thing in engine A: a process-wide registry holding every user’s credentials in the same heap as every session. Gateway moves the tool surface out of the process and resolves auth per tool, for six ten-thousandths of a dollar a month.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cumulative 7:55 of 10:00]</a:t>
            </a:r>
          </a:p>
          <a:p/>
          <a:p>
            <a:r>
              <a:t>Observability is the one dimension the DIY side wins. Hand-wired OTEL emits exactly the fields I debug with. AgentCore gives me traces for free, but on its schema. Where I landed: take its traces as the floor, keep my own spans for the two or three fields that decide an incident.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cumulative 8:25 of 10:00]</a:t>
            </a:r>
          </a:p>
          <a:p/>
          <a:p>
            <a:r>
              <a:t>A word on how this got built, because it is the part people ask about. I wrote none of the application code. Six agents did, each with a prompt file and an explicit do-not-touch list — disjoint ownership is what stops five agents editing at once from being a merge-conflict generator.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 · cumulative 8:50 of 10:00]</a:t>
            </a:r>
          </a:p>
          <a:p/>
          <a:p>
            <a:r>
              <a:t>Every node here is a real pull request, in the order it was opened, connected to where it merged. Fifty-seven of them. The link opens the interactive version if you want to read any review thread.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cumulative 9:50 of 10:00]</a:t>
            </a:r>
          </a:p>
          <a:p/>
          <a:p>
            <a:r>
              <a:t>Five things I would tell the next person. An agent is a loop, not a chatbot. When you and the agent are both stuck, stop prompting and pick up a pen. Most of my tokens went to the workflow, not the code — and that is what made the code safe to merge. The strongest case for AgentCore is blast radius, not the bill. And it is easy to gate that the service is up, hard to gate that the model still works — a missing permission returned a polite fallback with a two hundred.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 · cumulative 10:00 of 10:00]</a:t>
            </a:r>
          </a:p>
          <a:p/>
          <a:p>
            <a:r>
              <a:t>That is Valentin. Happy to go deeper on any of the four deep-dives, or on the agent workflow that built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mazon-my.sharepoint.com/personal/coralst_amazon_com/Lists/Natural%20Intelligence%20Support%20Planning%20Workshop/AllItems.aspx?sortField=Order0&amp;isAscending=false&amp;viewid=082e8a62%2D439c%2D4e01%2Da1d9%2D6bd9a85907a3&amp;env=WebViewList" TargetMode="External"/><Relationship Id="rId3"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d26dwovftfq9oe.cloudfront.net/explore.html#work" TargetMode="External"/><Relationship Id="rId4"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85800"/>
            <a:ext cx="5486400" cy="365760"/>
          </a:xfrm>
          <a:prstGeom prst="rect">
            <a:avLst/>
          </a:prstGeom>
          <a:noFill/>
        </p:spPr>
        <p:txBody>
          <a:bodyPr wrap="square" lIns="0" tIns="0" rIns="0" bIns="0" anchor="t">
            <a:spAutoFit/>
          </a:bodyPr>
          <a:lstStyle/>
          <a:p>
            <a:pPr algn="l"/>
            <a:r>
              <a:rPr sz="1200" b="1">
                <a:solidFill>
                  <a:srgbClr val="FF9900"/>
                </a:solidFill>
                <a:latin typeface="Calibri"/>
              </a:rPr>
              <a:t>AWS ENTERPRISE SUPPORT · GenAI Core TFC</a:t>
            </a:r>
          </a:p>
        </p:txBody>
      </p:sp>
      <p:sp>
        <p:nvSpPr>
          <p:cNvPr id="5" name="TextBox 4"/>
          <p:cNvSpPr txBox="1"/>
          <p:nvPr/>
        </p:nvSpPr>
        <p:spPr>
          <a:xfrm>
            <a:off x="685800" y="2194560"/>
            <a:ext cx="10972800" cy="1371600"/>
          </a:xfrm>
          <a:prstGeom prst="rect">
            <a:avLst/>
          </a:prstGeom>
          <a:noFill/>
        </p:spPr>
        <p:txBody>
          <a:bodyPr wrap="square" lIns="0" tIns="0" rIns="0" bIns="0" anchor="t">
            <a:spAutoFit/>
          </a:bodyPr>
          <a:lstStyle/>
          <a:p>
            <a:pPr algn="l"/>
            <a:r>
              <a:rPr sz="7200" b="1">
                <a:solidFill>
                  <a:srgbClr val="FFFFFF"/>
                </a:solidFill>
                <a:latin typeface="Calibri"/>
              </a:rPr>
              <a:t>Valentin</a:t>
            </a:r>
          </a:p>
        </p:txBody>
      </p:sp>
      <p:sp>
        <p:nvSpPr>
          <p:cNvPr id="6" name="TextBox 5"/>
          <p:cNvSpPr txBox="1"/>
          <p:nvPr/>
        </p:nvSpPr>
        <p:spPr>
          <a:xfrm>
            <a:off x="685800" y="3383280"/>
            <a:ext cx="10972800" cy="731520"/>
          </a:xfrm>
          <a:prstGeom prst="rect">
            <a:avLst/>
          </a:prstGeom>
          <a:noFill/>
        </p:spPr>
        <p:txBody>
          <a:bodyPr wrap="square" lIns="0" tIns="0" rIns="0" bIns="0" anchor="t">
            <a:spAutoFit/>
          </a:bodyPr>
          <a:lstStyle/>
          <a:p>
            <a:pPr algn="l"/>
            <a:r>
              <a:rPr sz="2400" b="0">
                <a:solidFill>
                  <a:srgbClr val="FF9900"/>
                </a:solidFill>
                <a:latin typeface="Calibri"/>
              </a:rPr>
              <a:t>One product · Two agent platforms · Same model</a:t>
            </a:r>
          </a:p>
        </p:txBody>
      </p:sp>
      <p:sp>
        <p:nvSpPr>
          <p:cNvPr id="7" name="TextBox 6"/>
          <p:cNvSpPr txBox="1"/>
          <p:nvPr/>
        </p:nvSpPr>
        <p:spPr>
          <a:xfrm>
            <a:off x="685800" y="4754880"/>
            <a:ext cx="10972800" cy="457200"/>
          </a:xfrm>
          <a:prstGeom prst="rect">
            <a:avLst/>
          </a:prstGeom>
          <a:noFill/>
        </p:spPr>
        <p:txBody>
          <a:bodyPr wrap="square" lIns="0" tIns="0" rIns="0" bIns="0" anchor="t">
            <a:spAutoFit/>
          </a:bodyPr>
          <a:lstStyle/>
          <a:p>
            <a:pPr algn="l"/>
            <a:r>
              <a:rPr sz="1700" b="0" dirty="0">
                <a:solidFill>
                  <a:srgbClr val="879596"/>
                </a:solidFill>
                <a:latin typeface="Calibri"/>
              </a:rPr>
              <a:t>AgentCore vs Fargate + DynamoDB — a controlled A/B</a:t>
            </a:r>
          </a:p>
        </p:txBody>
      </p:sp>
      <p:sp>
        <p:nvSpPr>
          <p:cNvPr id="8" name="TextBox 7"/>
          <p:cNvSpPr txBox="1"/>
          <p:nvPr/>
        </p:nvSpPr>
        <p:spPr>
          <a:xfrm>
            <a:off x="685800" y="5440680"/>
            <a:ext cx="10972800" cy="365760"/>
          </a:xfrm>
          <a:prstGeom prst="rect">
            <a:avLst/>
          </a:prstGeom>
          <a:noFill/>
        </p:spPr>
        <p:txBody>
          <a:bodyPr wrap="square" lIns="0" tIns="0" rIns="0" bIns="0" anchor="t">
            <a:spAutoFit/>
          </a:bodyPr>
          <a:lstStyle/>
          <a:p>
            <a:pPr algn="l"/>
            <a:r>
              <a:rPr sz="1400" b="0">
                <a:solidFill>
                  <a:srgbClr val="FFFFFF"/>
                </a:solidFill>
                <a:latin typeface="Calibri"/>
              </a:rPr>
              <a:t>Coral Magen  ·  Technical Account Manager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1</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The Business Problem and the Application</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411480"/>
          </a:xfrm>
          <a:prstGeom prst="rect">
            <a:avLst/>
          </a:prstGeom>
          <a:noFill/>
        </p:spPr>
        <p:txBody>
          <a:bodyPr wrap="square" lIns="0" tIns="0" rIns="0" bIns="0" anchor="t">
            <a:spAutoFit/>
          </a:bodyPr>
          <a:lstStyle/>
          <a:p>
            <a:pPr algn="l"/>
            <a:r>
              <a:rPr sz="1700" b="0">
                <a:solidFill>
                  <a:srgbClr val="545B64"/>
                </a:solidFill>
                <a:latin typeface="Calibri"/>
              </a:rPr>
              <a:t>Small nudges over time — from a partner who's paying attention when you can't.</a:t>
            </a:r>
          </a:p>
        </p:txBody>
      </p:sp>
      <p:sp>
        <p:nvSpPr>
          <p:cNvPr id="7" name="Rounded Rectangle 6"/>
          <p:cNvSpPr/>
          <p:nvPr/>
        </p:nvSpPr>
        <p:spPr>
          <a:xfrm>
            <a:off x="50292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783080"/>
            <a:ext cx="5532120" cy="1371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057400"/>
            <a:ext cx="4983480" cy="411480"/>
          </a:xfrm>
          <a:prstGeom prst="rect">
            <a:avLst/>
          </a:prstGeom>
          <a:noFill/>
        </p:spPr>
        <p:txBody>
          <a:bodyPr wrap="square" lIns="0" tIns="0" rIns="0" bIns="0" anchor="t">
            <a:spAutoFit/>
          </a:bodyPr>
          <a:lstStyle/>
          <a:p>
            <a:pPr algn="l"/>
            <a:r>
              <a:rPr sz="1300" b="1">
                <a:solidFill>
                  <a:srgbClr val="C0392B"/>
                </a:solidFill>
                <a:latin typeface="Calibri"/>
              </a:rPr>
              <a:t>THE BUSINESS PROBLEM</a:t>
            </a:r>
          </a:p>
        </p:txBody>
      </p:sp>
      <p:sp>
        <p:nvSpPr>
          <p:cNvPr id="10" name="TextBox 9"/>
          <p:cNvSpPr txBox="1"/>
          <p:nvPr/>
        </p:nvSpPr>
        <p:spPr>
          <a:xfrm>
            <a:off x="822960" y="2560320"/>
            <a:ext cx="4983480" cy="777240"/>
          </a:xfrm>
          <a:prstGeom prst="rect">
            <a:avLst/>
          </a:prstGeom>
          <a:noFill/>
        </p:spPr>
        <p:txBody>
          <a:bodyPr wrap="square" lIns="0" tIns="0" rIns="0" bIns="0" anchor="t">
            <a:spAutoFit/>
          </a:bodyPr>
          <a:lstStyle/>
          <a:p>
            <a:pPr algn="l"/>
            <a:r>
              <a:rPr sz="1700" b="0">
                <a:solidFill>
                  <a:srgbClr val="16191F"/>
                </a:solidFill>
                <a:latin typeface="Calibri"/>
              </a:rPr>
              <a:t>We're busy. The little things that make our partner feel seen slip through the cracks — until we need them.</a:t>
            </a:r>
          </a:p>
        </p:txBody>
      </p:sp>
      <p:sp>
        <p:nvSpPr>
          <p:cNvPr id="11" name="Rounded Rectangle 10"/>
          <p:cNvSpPr/>
          <p:nvPr/>
        </p:nvSpPr>
        <p:spPr>
          <a:xfrm>
            <a:off x="630936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09360" y="1783080"/>
            <a:ext cx="5532120" cy="137160"/>
          </a:xfrm>
          <a:prstGeom prst="roundRect">
            <a:avLst/>
          </a:prstGeom>
          <a:solidFill>
            <a:srgbClr val="1E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057400"/>
            <a:ext cx="4983480" cy="411480"/>
          </a:xfrm>
          <a:prstGeom prst="rect">
            <a:avLst/>
          </a:prstGeom>
          <a:noFill/>
        </p:spPr>
        <p:txBody>
          <a:bodyPr wrap="square" lIns="0" tIns="0" rIns="0" bIns="0" anchor="t">
            <a:spAutoFit/>
          </a:bodyPr>
          <a:lstStyle/>
          <a:p>
            <a:pPr algn="l"/>
            <a:r>
              <a:rPr sz="1300" b="1">
                <a:solidFill>
                  <a:srgbClr val="1E7C3C"/>
                </a:solidFill>
                <a:latin typeface="Calibri"/>
              </a:rPr>
              <a:t>WHAT VALENTIN IS</a:t>
            </a:r>
          </a:p>
        </p:txBody>
      </p:sp>
      <p:sp>
        <p:nvSpPr>
          <p:cNvPr id="14" name="TextBox 13"/>
          <p:cNvSpPr txBox="1"/>
          <p:nvPr/>
        </p:nvSpPr>
        <p:spPr>
          <a:xfrm>
            <a:off x="6629400" y="2560320"/>
            <a:ext cx="4983480" cy="822960"/>
          </a:xfrm>
          <a:prstGeom prst="rect">
            <a:avLst/>
          </a:prstGeom>
          <a:noFill/>
        </p:spPr>
        <p:txBody>
          <a:bodyPr wrap="square" lIns="0" tIns="0" rIns="0" bIns="0" anchor="t">
            <a:spAutoFit/>
          </a:bodyPr>
          <a:lstStyle/>
          <a:p>
            <a:pPr algn="l"/>
            <a:r>
              <a:rPr sz="1700" b="0">
                <a:solidFill>
                  <a:srgbClr val="16191F"/>
                </a:solidFill>
                <a:latin typeface="Calibri"/>
              </a:rPr>
              <a:t>A personal AI assistant that listens, remembers per partner, and acts weeks early — with your final word.</a:t>
            </a:r>
          </a:p>
        </p:txBody>
      </p:sp>
      <p:sp>
        <p:nvSpPr>
          <p:cNvPr id="15" name="Rounded Rectangle 14"/>
          <p:cNvSpPr/>
          <p:nvPr/>
        </p:nvSpPr>
        <p:spPr>
          <a:xfrm>
            <a:off x="502920"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31520"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1</a:t>
            </a:r>
          </a:p>
        </p:txBody>
      </p:sp>
      <p:pic>
        <p:nvPicPr>
          <p:cNvPr id="18" name="Picture 17" descr="bedrock.png"/>
          <p:cNvPicPr>
            <a:picLocks noChangeAspect="1"/>
          </p:cNvPicPr>
          <p:nvPr/>
        </p:nvPicPr>
        <p:blipFill>
          <a:blip r:embed="rId2"/>
          <a:stretch>
            <a:fillRect/>
          </a:stretch>
        </p:blipFill>
        <p:spPr>
          <a:xfrm>
            <a:off x="1085049" y="4390858"/>
            <a:ext cx="640080" cy="640080"/>
          </a:xfrm>
          <a:prstGeom prst="rect">
            <a:avLst/>
          </a:prstGeom>
        </p:spPr>
      </p:pic>
      <p:sp>
        <p:nvSpPr>
          <p:cNvPr id="19" name="TextBox 18"/>
          <p:cNvSpPr txBox="1"/>
          <p:nvPr/>
        </p:nvSpPr>
        <p:spPr>
          <a:xfrm>
            <a:off x="1806154" y="4450309"/>
            <a:ext cx="228600" cy="430887"/>
          </a:xfrm>
          <a:prstGeom prst="rect">
            <a:avLst/>
          </a:prstGeom>
          <a:noFill/>
        </p:spPr>
        <p:txBody>
          <a:bodyPr wrap="square" lIns="0" tIns="0" rIns="0" bIns="0" anchor="ctr">
            <a:spAutoFit/>
          </a:bodyPr>
          <a:lstStyle/>
          <a:p>
            <a:pPr algn="ctr"/>
            <a:r>
              <a:rPr lang="en-US" sz="2800" b="1" dirty="0">
                <a:solidFill>
                  <a:srgbClr val="FF9900"/>
                </a:solidFill>
                <a:latin typeface="Calibri"/>
              </a:rPr>
              <a:t>/</a:t>
            </a:r>
            <a:endParaRPr sz="2800" b="1" dirty="0">
              <a:solidFill>
                <a:srgbClr val="FF9900"/>
              </a:solidFill>
              <a:latin typeface="Calibri"/>
            </a:endParaRPr>
          </a:p>
        </p:txBody>
      </p:sp>
      <p:pic>
        <p:nvPicPr>
          <p:cNvPr id="20" name="Picture 19" descr="agentcore.png"/>
          <p:cNvPicPr>
            <a:picLocks noChangeAspect="1"/>
          </p:cNvPicPr>
          <p:nvPr/>
        </p:nvPicPr>
        <p:blipFill>
          <a:blip r:embed="rId3"/>
          <a:stretch>
            <a:fillRect/>
          </a:stretch>
        </p:blipFill>
        <p:spPr>
          <a:xfrm>
            <a:off x="2136609" y="4390858"/>
            <a:ext cx="640080" cy="640080"/>
          </a:xfrm>
          <a:prstGeom prst="rect">
            <a:avLst/>
          </a:prstGeom>
        </p:spPr>
      </p:pic>
      <p:sp>
        <p:nvSpPr>
          <p:cNvPr id="21" name="TextBox 20"/>
          <p:cNvSpPr txBox="1"/>
          <p:nvPr/>
        </p:nvSpPr>
        <p:spPr>
          <a:xfrm>
            <a:off x="685800"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Chatbot</a:t>
            </a:r>
          </a:p>
        </p:txBody>
      </p:sp>
      <p:sp>
        <p:nvSpPr>
          <p:cNvPr id="22" name="TextBox 21"/>
          <p:cNvSpPr txBox="1"/>
          <p:nvPr/>
        </p:nvSpPr>
        <p:spPr>
          <a:xfrm>
            <a:off x="640080"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Bedrock  ·  AgentCore Runtime</a:t>
            </a:r>
          </a:p>
        </p:txBody>
      </p:sp>
      <p:sp>
        <p:nvSpPr>
          <p:cNvPr id="23" name="TextBox 22"/>
          <p:cNvSpPr txBox="1"/>
          <p:nvPr/>
        </p:nvSpPr>
        <p:spPr>
          <a:xfrm>
            <a:off x="685800"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Claude in context of the partner profile — same model, two delivery paths.</a:t>
            </a:r>
          </a:p>
        </p:txBody>
      </p:sp>
      <p:sp>
        <p:nvSpPr>
          <p:cNvPr id="24" name="Right Arrow 23"/>
          <p:cNvSpPr/>
          <p:nvPr/>
        </p:nvSpPr>
        <p:spPr>
          <a:xfrm>
            <a:off x="3185939"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340531"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340531"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569131"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2</a:t>
            </a:r>
          </a:p>
        </p:txBody>
      </p:sp>
      <p:pic>
        <p:nvPicPr>
          <p:cNvPr id="28" name="Picture 27" descr="dynamodb.png"/>
          <p:cNvPicPr>
            <a:picLocks noChangeAspect="1"/>
          </p:cNvPicPr>
          <p:nvPr/>
        </p:nvPicPr>
        <p:blipFill>
          <a:blip r:embed="rId4"/>
          <a:stretch>
            <a:fillRect/>
          </a:stretch>
        </p:blipFill>
        <p:spPr>
          <a:xfrm>
            <a:off x="3922660" y="4390858"/>
            <a:ext cx="640080" cy="640080"/>
          </a:xfrm>
          <a:prstGeom prst="rect">
            <a:avLst/>
          </a:prstGeom>
        </p:spPr>
      </p:pic>
      <p:sp>
        <p:nvSpPr>
          <p:cNvPr id="29" name="TextBox 28"/>
          <p:cNvSpPr txBox="1"/>
          <p:nvPr/>
        </p:nvSpPr>
        <p:spPr>
          <a:xfrm>
            <a:off x="4643765" y="4450309"/>
            <a:ext cx="228600" cy="430887"/>
          </a:xfrm>
          <a:prstGeom prst="rect">
            <a:avLst/>
          </a:prstGeom>
          <a:noFill/>
        </p:spPr>
        <p:txBody>
          <a:bodyPr wrap="square" lIns="0" tIns="0" rIns="0" bIns="0" anchor="ctr">
            <a:spAutoFit/>
          </a:bodyPr>
          <a:lstStyle/>
          <a:p>
            <a:pPr algn="ctr"/>
            <a:r>
              <a:rPr lang="en-US" sz="2800" b="1" dirty="0">
                <a:solidFill>
                  <a:srgbClr val="FF9900"/>
                </a:solidFill>
                <a:latin typeface="Calibri"/>
              </a:rPr>
              <a:t>/</a:t>
            </a:r>
            <a:endParaRPr sz="2800" b="1" dirty="0">
              <a:solidFill>
                <a:srgbClr val="FF9900"/>
              </a:solidFill>
              <a:latin typeface="Calibri"/>
            </a:endParaRPr>
          </a:p>
        </p:txBody>
      </p:sp>
      <p:pic>
        <p:nvPicPr>
          <p:cNvPr id="30" name="Picture 29" descr="agentcore.png"/>
          <p:cNvPicPr>
            <a:picLocks noChangeAspect="1"/>
          </p:cNvPicPr>
          <p:nvPr/>
        </p:nvPicPr>
        <p:blipFill>
          <a:blip r:embed="rId3"/>
          <a:stretch>
            <a:fillRect/>
          </a:stretch>
        </p:blipFill>
        <p:spPr>
          <a:xfrm>
            <a:off x="4974220" y="4390858"/>
            <a:ext cx="640080" cy="640080"/>
          </a:xfrm>
          <a:prstGeom prst="rect">
            <a:avLst/>
          </a:prstGeom>
        </p:spPr>
      </p:pic>
      <p:sp>
        <p:nvSpPr>
          <p:cNvPr id="31" name="TextBox 30"/>
          <p:cNvSpPr txBox="1"/>
          <p:nvPr/>
        </p:nvSpPr>
        <p:spPr>
          <a:xfrm>
            <a:off x="3523411"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Persistent Memory</a:t>
            </a:r>
          </a:p>
        </p:txBody>
      </p:sp>
      <p:sp>
        <p:nvSpPr>
          <p:cNvPr id="32" name="TextBox 31"/>
          <p:cNvSpPr txBox="1"/>
          <p:nvPr/>
        </p:nvSpPr>
        <p:spPr>
          <a:xfrm>
            <a:off x="3477691"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DynamoDB  ·  AgentCore Memory</a:t>
            </a:r>
          </a:p>
        </p:txBody>
      </p:sp>
      <p:sp>
        <p:nvSpPr>
          <p:cNvPr id="33" name="TextBox 32"/>
          <p:cNvSpPr txBox="1"/>
          <p:nvPr/>
        </p:nvSpPr>
        <p:spPr>
          <a:xfrm>
            <a:off x="3523411"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8 preference categories captured &amp; recalled across months.</a:t>
            </a:r>
          </a:p>
        </p:txBody>
      </p:sp>
      <p:sp>
        <p:nvSpPr>
          <p:cNvPr id="34" name="Right Arrow 33"/>
          <p:cNvSpPr/>
          <p:nvPr/>
        </p:nvSpPr>
        <p:spPr>
          <a:xfrm>
            <a:off x="6023551"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178143"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178143"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406743"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3</a:t>
            </a:r>
          </a:p>
        </p:txBody>
      </p:sp>
      <p:pic>
        <p:nvPicPr>
          <p:cNvPr id="38" name="Picture 37" descr="lambda.png"/>
          <p:cNvPicPr>
            <a:picLocks noChangeAspect="1"/>
          </p:cNvPicPr>
          <p:nvPr/>
        </p:nvPicPr>
        <p:blipFill>
          <a:blip r:embed="rId5"/>
          <a:stretch>
            <a:fillRect/>
          </a:stretch>
        </p:blipFill>
        <p:spPr>
          <a:xfrm>
            <a:off x="7011732" y="4023360"/>
            <a:ext cx="1005840" cy="1005840"/>
          </a:xfrm>
          <a:prstGeom prst="rect">
            <a:avLst/>
          </a:prstGeom>
        </p:spPr>
      </p:pic>
      <p:sp>
        <p:nvSpPr>
          <p:cNvPr id="39" name="TextBox 38"/>
          <p:cNvSpPr txBox="1"/>
          <p:nvPr/>
        </p:nvSpPr>
        <p:spPr>
          <a:xfrm>
            <a:off x="6361023"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Tool Using</a:t>
            </a:r>
          </a:p>
        </p:txBody>
      </p:sp>
      <p:sp>
        <p:nvSpPr>
          <p:cNvPr id="40" name="TextBox 39"/>
          <p:cNvSpPr txBox="1"/>
          <p:nvPr/>
        </p:nvSpPr>
        <p:spPr>
          <a:xfrm>
            <a:off x="6315303" y="5532120"/>
            <a:ext cx="2398699" cy="274320"/>
          </a:xfrm>
          <a:prstGeom prst="rect">
            <a:avLst/>
          </a:prstGeom>
          <a:noFill/>
        </p:spPr>
        <p:txBody>
          <a:bodyPr wrap="square" lIns="0" tIns="0" rIns="0" bIns="0" anchor="t">
            <a:spAutoFit/>
          </a:bodyPr>
          <a:lstStyle/>
          <a:p>
            <a:pPr algn="ctr"/>
            <a:r>
              <a:rPr sz="1000" b="1">
                <a:solidFill>
                  <a:srgbClr val="C07000"/>
                </a:solidFill>
                <a:latin typeface="Calibri"/>
              </a:rPr>
              <a:t>AWS Lambda · MCP</a:t>
            </a:r>
          </a:p>
        </p:txBody>
      </p:sp>
      <p:sp>
        <p:nvSpPr>
          <p:cNvPr id="41" name="TextBox 40"/>
          <p:cNvSpPr txBox="1"/>
          <p:nvPr/>
        </p:nvSpPr>
        <p:spPr>
          <a:xfrm>
            <a:off x="6361023"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21 real tools: calendar, mail, restaurants, Spotify, Shabbat times.</a:t>
            </a:r>
          </a:p>
        </p:txBody>
      </p:sp>
      <p:sp>
        <p:nvSpPr>
          <p:cNvPr id="42" name="Right Arrow 41"/>
          <p:cNvSpPr/>
          <p:nvPr/>
        </p:nvSpPr>
        <p:spPr>
          <a:xfrm>
            <a:off x="8861163"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015755"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9015755"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244355"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4</a:t>
            </a:r>
          </a:p>
        </p:txBody>
      </p:sp>
      <p:pic>
        <p:nvPicPr>
          <p:cNvPr id="46" name="Picture 45" descr="eventbridge.png"/>
          <p:cNvPicPr>
            <a:picLocks noChangeAspect="1"/>
          </p:cNvPicPr>
          <p:nvPr/>
        </p:nvPicPr>
        <p:blipFill>
          <a:blip r:embed="rId6"/>
          <a:stretch>
            <a:fillRect/>
          </a:stretch>
        </p:blipFill>
        <p:spPr>
          <a:xfrm>
            <a:off x="9849344" y="4023360"/>
            <a:ext cx="1005840" cy="1005840"/>
          </a:xfrm>
          <a:prstGeom prst="rect">
            <a:avLst/>
          </a:prstGeom>
        </p:spPr>
      </p:pic>
      <p:sp>
        <p:nvSpPr>
          <p:cNvPr id="47" name="TextBox 46"/>
          <p:cNvSpPr txBox="1"/>
          <p:nvPr/>
        </p:nvSpPr>
        <p:spPr>
          <a:xfrm>
            <a:off x="9198635"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Triggers &amp; Loop</a:t>
            </a:r>
          </a:p>
        </p:txBody>
      </p:sp>
      <p:sp>
        <p:nvSpPr>
          <p:cNvPr id="48" name="TextBox 47"/>
          <p:cNvSpPr txBox="1"/>
          <p:nvPr/>
        </p:nvSpPr>
        <p:spPr>
          <a:xfrm>
            <a:off x="9152915" y="5532120"/>
            <a:ext cx="2398699" cy="274320"/>
          </a:xfrm>
          <a:prstGeom prst="rect">
            <a:avLst/>
          </a:prstGeom>
          <a:noFill/>
        </p:spPr>
        <p:txBody>
          <a:bodyPr wrap="square" lIns="0" tIns="0" rIns="0" bIns="0" anchor="t">
            <a:spAutoFit/>
          </a:bodyPr>
          <a:lstStyle/>
          <a:p>
            <a:pPr algn="ctr"/>
            <a:r>
              <a:rPr sz="1000" b="1">
                <a:solidFill>
                  <a:srgbClr val="C07000"/>
                </a:solidFill>
                <a:latin typeface="Calibri"/>
              </a:rPr>
              <a:t>EventBridge Scheduler</a:t>
            </a:r>
          </a:p>
        </p:txBody>
      </p:sp>
      <p:sp>
        <p:nvSpPr>
          <p:cNvPr id="49" name="TextBox 48"/>
          <p:cNvSpPr txBox="1"/>
          <p:nvPr/>
        </p:nvSpPr>
        <p:spPr>
          <a:xfrm>
            <a:off x="9198635"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Reminders fire weeks later — no human, no model, deterministic.</a:t>
            </a:r>
          </a:p>
        </p:txBody>
      </p:sp>
      <p:sp>
        <p:nvSpPr>
          <p:cNvPr id="50" name="TextBox 49"/>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51" name="TextBox 50"/>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2 / 15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504825" y="361950"/>
            <a:ext cx="590550" cy="5905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9900"/>
                </a:solidFill>
                <a:latin typeface="Calibri"/>
              </a:rPr>
              <a:t>2</a:t>
            </a:r>
          </a:p>
        </p:txBody>
      </p:sp>
      <p:sp>
        <p:nvSpPr>
          <p:cNvPr id="4" name="TextBox 3"/>
          <p:cNvSpPr txBox="1"/>
          <p:nvPr/>
        </p:nvSpPr>
        <p:spPr>
          <a:xfrm>
            <a:off x="1276350" y="400050"/>
            <a:ext cx="8572500" cy="450123"/>
          </a:xfrm>
          <a:prstGeom prst="rect">
            <a:avLst/>
          </a:prstGeom>
          <a:noFill/>
        </p:spPr>
        <p:txBody>
          <a:bodyPr wrap="square" lIns="0" tIns="0" rIns="0" bIns="0">
            <a:spAutoFit/>
          </a:bodyPr>
          <a:lstStyle/>
          <a:p>
            <a:pPr algn="l"/>
            <a:r>
              <a:rPr sz="2925" b="1" dirty="0">
                <a:solidFill>
                  <a:srgbClr val="232F3E"/>
                </a:solidFill>
                <a:latin typeface="Calibri"/>
              </a:rPr>
              <a:t>Valentin Workflow</a:t>
            </a:r>
            <a:r>
              <a:rPr lang="en-US" sz="2925" b="1" dirty="0">
                <a:solidFill>
                  <a:srgbClr val="232F3E"/>
                </a:solidFill>
                <a:latin typeface="Calibri"/>
              </a:rPr>
              <a:t> – what make it agentic?</a:t>
            </a:r>
            <a:endParaRPr sz="2925" b="1" dirty="0">
              <a:solidFill>
                <a:srgbClr val="232F3E"/>
              </a:solidFill>
              <a:latin typeface="Calibri"/>
            </a:endParaRPr>
          </a:p>
        </p:txBody>
      </p:sp>
      <p:sp>
        <p:nvSpPr>
          <p:cNvPr id="5" name="Rectangle 4"/>
          <p:cNvSpPr/>
          <p:nvPr/>
        </p:nvSpPr>
        <p:spPr>
          <a:xfrm>
            <a:off x="504825" y="1047750"/>
            <a:ext cx="1371600" cy="381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Oval 6"/>
          <p:cNvSpPr/>
          <p:nvPr/>
        </p:nvSpPr>
        <p:spPr>
          <a:xfrm>
            <a:off x="1597533" y="1666875"/>
            <a:ext cx="3662934" cy="3524250"/>
          </a:xfrm>
          <a:prstGeom prst="ellipse">
            <a:avLst/>
          </a:prstGeom>
          <a:noFill/>
          <a:ln w="133350">
            <a:solidFill>
              <a:srgbClr val="FFEFD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ounded Rectangle 16"/>
          <p:cNvSpPr/>
          <p:nvPr/>
        </p:nvSpPr>
        <p:spPr>
          <a:xfrm>
            <a:off x="2666999" y="4834419"/>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781299" y="4929669"/>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Triger and planning</a:t>
            </a:r>
            <a:endParaRPr sz="1600" b="1" dirty="0">
              <a:solidFill>
                <a:srgbClr val="232F3E"/>
              </a:solidFill>
              <a:latin typeface="Calibri"/>
            </a:endParaRPr>
          </a:p>
        </p:txBody>
      </p:sp>
      <p:sp>
        <p:nvSpPr>
          <p:cNvPr id="19" name="TextBox 18"/>
          <p:cNvSpPr txBox="1"/>
          <p:nvPr/>
        </p:nvSpPr>
        <p:spPr>
          <a:xfrm>
            <a:off x="2781299" y="5129694"/>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0" name="Oval 19"/>
          <p:cNvSpPr/>
          <p:nvPr/>
        </p:nvSpPr>
        <p:spPr>
          <a:xfrm>
            <a:off x="2562224" y="4729644"/>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a:solidFill>
                  <a:srgbClr val="232F3E"/>
                </a:solidFill>
                <a:latin typeface="Calibri"/>
              </a:rPr>
              <a:t>1</a:t>
            </a:r>
          </a:p>
        </p:txBody>
      </p:sp>
      <p:sp>
        <p:nvSpPr>
          <p:cNvPr id="21" name="Rounded Rectangle 20"/>
          <p:cNvSpPr/>
          <p:nvPr/>
        </p:nvSpPr>
        <p:spPr>
          <a:xfrm>
            <a:off x="557212"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671512" y="3798426"/>
            <a:ext cx="1581150" cy="246221"/>
          </a:xfrm>
          <a:prstGeom prst="rect">
            <a:avLst/>
          </a:prstGeom>
          <a:noFill/>
        </p:spPr>
        <p:txBody>
          <a:bodyPr wrap="square" lIns="0" tIns="0" rIns="0" bIns="0">
            <a:spAutoFit/>
          </a:bodyPr>
          <a:lstStyle/>
          <a:p>
            <a:pPr algn="ctr"/>
            <a:r>
              <a:rPr sz="1600" b="1" dirty="0">
                <a:solidFill>
                  <a:srgbClr val="232F3E"/>
                </a:solidFill>
                <a:latin typeface="Calibri"/>
              </a:rPr>
              <a:t>Use tools</a:t>
            </a:r>
          </a:p>
        </p:txBody>
      </p:sp>
      <p:sp>
        <p:nvSpPr>
          <p:cNvPr id="23" name="TextBox 22"/>
          <p:cNvSpPr txBox="1"/>
          <p:nvPr/>
        </p:nvSpPr>
        <p:spPr>
          <a:xfrm>
            <a:off x="671512"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4" name="Oval 23"/>
          <p:cNvSpPr/>
          <p:nvPr/>
        </p:nvSpPr>
        <p:spPr>
          <a:xfrm>
            <a:off x="452437"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a:solidFill>
                  <a:srgbClr val="232F3E"/>
                </a:solidFill>
                <a:latin typeface="Calibri"/>
              </a:rPr>
              <a:t>2</a:t>
            </a:r>
          </a:p>
        </p:txBody>
      </p:sp>
      <p:sp>
        <p:nvSpPr>
          <p:cNvPr id="25" name="Rounded Rectangle 24"/>
          <p:cNvSpPr/>
          <p:nvPr/>
        </p:nvSpPr>
        <p:spPr>
          <a:xfrm>
            <a:off x="1273985" y="1738063"/>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1388285" y="1995359"/>
            <a:ext cx="1581150" cy="246221"/>
          </a:xfrm>
          <a:prstGeom prst="rect">
            <a:avLst/>
          </a:prstGeom>
          <a:noFill/>
        </p:spPr>
        <p:txBody>
          <a:bodyPr wrap="square" lIns="0" tIns="0" rIns="0" bIns="0">
            <a:spAutoFit/>
          </a:bodyPr>
          <a:lstStyle/>
          <a:p>
            <a:pPr algn="ctr"/>
            <a:r>
              <a:rPr sz="1600" b="1" dirty="0">
                <a:solidFill>
                  <a:srgbClr val="232F3E"/>
                </a:solidFill>
                <a:latin typeface="Calibri"/>
              </a:rPr>
              <a:t>Propose</a:t>
            </a:r>
          </a:p>
        </p:txBody>
      </p:sp>
      <p:sp>
        <p:nvSpPr>
          <p:cNvPr id="27" name="TextBox 26"/>
          <p:cNvSpPr txBox="1"/>
          <p:nvPr/>
        </p:nvSpPr>
        <p:spPr>
          <a:xfrm>
            <a:off x="1388285" y="2033338"/>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8" name="Oval 27"/>
          <p:cNvSpPr/>
          <p:nvPr/>
        </p:nvSpPr>
        <p:spPr>
          <a:xfrm>
            <a:off x="116921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a:solidFill>
                  <a:srgbClr val="232F3E"/>
                </a:solidFill>
                <a:latin typeface="Calibri"/>
              </a:rPr>
              <a:t>3</a:t>
            </a:r>
          </a:p>
        </p:txBody>
      </p:sp>
      <p:sp>
        <p:nvSpPr>
          <p:cNvPr id="29" name="Rounded Rectangle 28"/>
          <p:cNvSpPr/>
          <p:nvPr/>
        </p:nvSpPr>
        <p:spPr>
          <a:xfrm>
            <a:off x="3771900" y="1738063"/>
            <a:ext cx="194310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3693033" y="1833313"/>
            <a:ext cx="2100834" cy="492443"/>
          </a:xfrm>
          <a:prstGeom prst="rect">
            <a:avLst/>
          </a:prstGeom>
          <a:noFill/>
        </p:spPr>
        <p:txBody>
          <a:bodyPr wrap="square" lIns="0" tIns="0" rIns="0" bIns="0">
            <a:spAutoFit/>
          </a:bodyPr>
          <a:lstStyle/>
          <a:p>
            <a:pPr algn="ctr"/>
            <a:r>
              <a:rPr lang="en-US" sz="1600" b="1" dirty="0">
                <a:solidFill>
                  <a:srgbClr val="232F3E"/>
                </a:solidFill>
                <a:latin typeface="Calibri"/>
              </a:rPr>
              <a:t>Discussion and preference extraction</a:t>
            </a:r>
            <a:endParaRPr sz="1600" b="1" dirty="0">
              <a:solidFill>
                <a:srgbClr val="232F3E"/>
              </a:solidFill>
              <a:latin typeface="Calibri"/>
            </a:endParaRPr>
          </a:p>
        </p:txBody>
      </p:sp>
      <p:sp>
        <p:nvSpPr>
          <p:cNvPr id="32" name="Oval 31"/>
          <p:cNvSpPr/>
          <p:nvPr/>
        </p:nvSpPr>
        <p:spPr>
          <a:xfrm>
            <a:off x="373380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a:solidFill>
                  <a:srgbClr val="232F3E"/>
                </a:solidFill>
                <a:latin typeface="Calibri"/>
              </a:rPr>
              <a:t>4</a:t>
            </a:r>
          </a:p>
        </p:txBody>
      </p:sp>
      <p:sp>
        <p:nvSpPr>
          <p:cNvPr id="33" name="Rounded Rectangle 32"/>
          <p:cNvSpPr/>
          <p:nvPr/>
        </p:nvSpPr>
        <p:spPr>
          <a:xfrm>
            <a:off x="4514216"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4628516" y="3636380"/>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Feedback after the Event</a:t>
            </a:r>
            <a:endParaRPr sz="1600" b="1" dirty="0">
              <a:solidFill>
                <a:srgbClr val="232F3E"/>
              </a:solidFill>
              <a:latin typeface="Calibri"/>
            </a:endParaRPr>
          </a:p>
        </p:txBody>
      </p:sp>
      <p:sp>
        <p:nvSpPr>
          <p:cNvPr id="35" name="TextBox 34"/>
          <p:cNvSpPr txBox="1"/>
          <p:nvPr/>
        </p:nvSpPr>
        <p:spPr>
          <a:xfrm>
            <a:off x="4628516"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36" name="Oval 35"/>
          <p:cNvSpPr/>
          <p:nvPr/>
        </p:nvSpPr>
        <p:spPr>
          <a:xfrm>
            <a:off x="4409441"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a:solidFill>
                  <a:srgbClr val="232F3E"/>
                </a:solidFill>
                <a:latin typeface="Calibri"/>
              </a:rPr>
              <a:t>5</a:t>
            </a:r>
          </a:p>
        </p:txBody>
      </p:sp>
      <p:sp>
        <p:nvSpPr>
          <p:cNvPr id="37" name="Oval 36"/>
          <p:cNvSpPr/>
          <p:nvPr/>
        </p:nvSpPr>
        <p:spPr>
          <a:xfrm>
            <a:off x="2714625" y="2714625"/>
            <a:ext cx="1428750" cy="14287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2714625" y="3162300"/>
            <a:ext cx="1428750" cy="133350"/>
          </a:xfrm>
          <a:prstGeom prst="rect">
            <a:avLst/>
          </a:prstGeom>
          <a:noFill/>
        </p:spPr>
        <p:txBody>
          <a:bodyPr wrap="square" lIns="0" tIns="0" rIns="0" bIns="0">
            <a:spAutoFit/>
          </a:bodyPr>
          <a:lstStyle/>
          <a:p>
            <a:pPr algn="ctr"/>
            <a:r>
              <a:rPr sz="787" b="1" spc="120">
                <a:solidFill>
                  <a:srgbClr val="FF9900"/>
                </a:solidFill>
                <a:latin typeface="Calibri"/>
              </a:rPr>
              <a:t>GOAL</a:t>
            </a:r>
          </a:p>
        </p:txBody>
      </p:sp>
      <p:sp>
        <p:nvSpPr>
          <p:cNvPr id="39" name="TextBox 38"/>
          <p:cNvSpPr txBox="1"/>
          <p:nvPr/>
        </p:nvSpPr>
        <p:spPr>
          <a:xfrm>
            <a:off x="2809875" y="3333750"/>
            <a:ext cx="1238250" cy="419100"/>
          </a:xfrm>
          <a:prstGeom prst="rect">
            <a:avLst/>
          </a:prstGeom>
          <a:noFill/>
        </p:spPr>
        <p:txBody>
          <a:bodyPr wrap="square" lIns="0" tIns="0" rIns="0" bIns="0">
            <a:spAutoFit/>
          </a:bodyPr>
          <a:lstStyle/>
          <a:p>
            <a:pPr algn="ctr">
              <a:lnSpc>
                <a:spcPct val="95000"/>
              </a:lnSpc>
            </a:pPr>
            <a:r>
              <a:rPr sz="1087" b="1">
                <a:solidFill>
                  <a:srgbClr val="FFFFFF"/>
                </a:solidFill>
                <a:latin typeface="Calibri"/>
              </a:rPr>
              <a:t>Make her feel seen</a:t>
            </a:r>
          </a:p>
        </p:txBody>
      </p:sp>
      <p:sp>
        <p:nvSpPr>
          <p:cNvPr id="40" name="Rounded Rectangle 39"/>
          <p:cNvSpPr/>
          <p:nvPr/>
        </p:nvSpPr>
        <p:spPr>
          <a:xfrm>
            <a:off x="6667500" y="2131189"/>
            <a:ext cx="5029200" cy="1676400"/>
          </a:xfrm>
          <a:prstGeom prst="roundRect">
            <a:avLst>
              <a:gd name="adj" fmla="val 7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800088" y="2197423"/>
            <a:ext cx="4743450" cy="215444"/>
          </a:xfrm>
          <a:prstGeom prst="rect">
            <a:avLst/>
          </a:prstGeom>
          <a:noFill/>
        </p:spPr>
        <p:txBody>
          <a:bodyPr wrap="square" lIns="0" tIns="0" rIns="0" bIns="0">
            <a:spAutoFit/>
          </a:bodyPr>
          <a:lstStyle/>
          <a:p>
            <a:pPr algn="l"/>
            <a:r>
              <a:rPr sz="1400" b="1" spc="90" dirty="0">
                <a:solidFill>
                  <a:srgbClr val="C07000"/>
                </a:solidFill>
                <a:latin typeface="Calibri"/>
              </a:rPr>
              <a:t>TOOLS — THE LOOP’S HANDS</a:t>
            </a:r>
          </a:p>
        </p:txBody>
      </p:sp>
      <p:sp>
        <p:nvSpPr>
          <p:cNvPr id="42" name="Rounded Rectangle 41"/>
          <p:cNvSpPr/>
          <p:nvPr/>
        </p:nvSpPr>
        <p:spPr>
          <a:xfrm>
            <a:off x="6810375" y="2455039"/>
            <a:ext cx="918591"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C07000"/>
                </a:solidFill>
                <a:latin typeface="Consolas"/>
              </a:rPr>
              <a:t>check_shabbat</a:t>
            </a:r>
          </a:p>
        </p:txBody>
      </p:sp>
      <p:sp>
        <p:nvSpPr>
          <p:cNvPr id="43" name="Rounded Rectangle 42"/>
          <p:cNvSpPr/>
          <p:nvPr/>
        </p:nvSpPr>
        <p:spPr>
          <a:xfrm>
            <a:off x="7767066" y="2455039"/>
            <a:ext cx="131064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232F3E"/>
                </a:solidFill>
                <a:latin typeface="Consolas"/>
              </a:rPr>
              <a:t>get_hebrew_occasions</a:t>
            </a:r>
          </a:p>
        </p:txBody>
      </p:sp>
      <p:sp>
        <p:nvSpPr>
          <p:cNvPr id="44" name="Rounded Rectangle 43"/>
          <p:cNvSpPr/>
          <p:nvPr/>
        </p:nvSpPr>
        <p:spPr>
          <a:xfrm>
            <a:off x="9115806" y="2455039"/>
            <a:ext cx="974598"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232F3E"/>
                </a:solidFill>
                <a:latin typeface="Consolas"/>
              </a:rPr>
              <a:t>find_occasions</a:t>
            </a:r>
          </a:p>
        </p:txBody>
      </p:sp>
      <p:sp>
        <p:nvSpPr>
          <p:cNvPr id="45" name="Rounded Rectangle 44"/>
          <p:cNvSpPr/>
          <p:nvPr/>
        </p:nvSpPr>
        <p:spPr>
          <a:xfrm>
            <a:off x="10128504" y="2455039"/>
            <a:ext cx="1086612"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C07000"/>
                </a:solidFill>
                <a:latin typeface="Consolas"/>
              </a:rPr>
              <a:t>find_restaurants</a:t>
            </a:r>
          </a:p>
        </p:txBody>
      </p:sp>
      <p:sp>
        <p:nvSpPr>
          <p:cNvPr id="46" name="Rounded Rectangle 45"/>
          <p:cNvSpPr/>
          <p:nvPr/>
        </p:nvSpPr>
        <p:spPr>
          <a:xfrm>
            <a:off x="6810375" y="2678626"/>
            <a:ext cx="1198626"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232F3E"/>
                </a:solidFill>
                <a:latin typeface="Consolas"/>
              </a:rPr>
              <a:t>check_availability</a:t>
            </a:r>
          </a:p>
        </p:txBody>
      </p:sp>
      <p:sp>
        <p:nvSpPr>
          <p:cNvPr id="47" name="Rounded Rectangle 46"/>
          <p:cNvSpPr/>
          <p:nvPr/>
        </p:nvSpPr>
        <p:spPr>
          <a:xfrm>
            <a:off x="8047101" y="2678626"/>
            <a:ext cx="1254633"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232F3E"/>
                </a:solidFill>
                <a:latin typeface="Consolas"/>
              </a:rPr>
              <a:t>propose_reservation</a:t>
            </a:r>
          </a:p>
        </p:txBody>
      </p:sp>
      <p:sp>
        <p:nvSpPr>
          <p:cNvPr id="48" name="Rounded Rectangle 47"/>
          <p:cNvSpPr/>
          <p:nvPr/>
        </p:nvSpPr>
        <p:spPr>
          <a:xfrm>
            <a:off x="9339834" y="2678626"/>
            <a:ext cx="75057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232F3E"/>
                </a:solidFill>
                <a:latin typeface="Consolas"/>
              </a:rPr>
              <a:t>find_music</a:t>
            </a:r>
          </a:p>
        </p:txBody>
      </p:sp>
      <p:sp>
        <p:nvSpPr>
          <p:cNvPr id="49" name="Rounded Rectangle 48"/>
          <p:cNvSpPr/>
          <p:nvPr/>
        </p:nvSpPr>
        <p:spPr>
          <a:xfrm>
            <a:off x="10128504" y="2678626"/>
            <a:ext cx="1086612"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232F3E"/>
                </a:solidFill>
                <a:latin typeface="Consolas"/>
              </a:rPr>
              <a:t>propose_playlist</a:t>
            </a:r>
          </a:p>
        </p:txBody>
      </p:sp>
      <p:sp>
        <p:nvSpPr>
          <p:cNvPr id="50" name="Rounded Rectangle 49"/>
          <p:cNvSpPr/>
          <p:nvPr/>
        </p:nvSpPr>
        <p:spPr>
          <a:xfrm>
            <a:off x="681037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232F3E"/>
                </a:solidFill>
                <a:latin typeface="Consolas"/>
              </a:rPr>
              <a:t>search_hotels</a:t>
            </a:r>
          </a:p>
        </p:txBody>
      </p:sp>
      <p:sp>
        <p:nvSpPr>
          <p:cNvPr id="51" name="Rounded Rectangle 50"/>
          <p:cNvSpPr/>
          <p:nvPr/>
        </p:nvSpPr>
        <p:spPr>
          <a:xfrm>
            <a:off x="7767066" y="2902214"/>
            <a:ext cx="1142619"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232F3E"/>
                </a:solidFill>
                <a:latin typeface="Consolas"/>
              </a:rPr>
              <a:t>search_activities</a:t>
            </a:r>
          </a:p>
        </p:txBody>
      </p:sp>
      <p:sp>
        <p:nvSpPr>
          <p:cNvPr id="52" name="Rounded Rectangle 51"/>
          <p:cNvSpPr/>
          <p:nvPr/>
        </p:nvSpPr>
        <p:spPr>
          <a:xfrm>
            <a:off x="894778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232F3E"/>
                </a:solidFill>
                <a:latin typeface="Consolas"/>
              </a:rPr>
              <a:t>order_flowers</a:t>
            </a:r>
          </a:p>
        </p:txBody>
      </p:sp>
      <p:sp>
        <p:nvSpPr>
          <p:cNvPr id="53" name="Rounded Rectangle 52"/>
          <p:cNvSpPr/>
          <p:nvPr/>
        </p:nvSpPr>
        <p:spPr>
          <a:xfrm>
            <a:off x="9904476"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232F3E"/>
                </a:solidFill>
                <a:latin typeface="Consolas"/>
              </a:rPr>
              <a:t>propose_email</a:t>
            </a:r>
          </a:p>
        </p:txBody>
      </p:sp>
      <p:sp>
        <p:nvSpPr>
          <p:cNvPr id="54" name="Rounded Rectangle 53"/>
          <p:cNvSpPr/>
          <p:nvPr/>
        </p:nvSpPr>
        <p:spPr>
          <a:xfrm>
            <a:off x="6810375"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232F3E"/>
                </a:solidFill>
                <a:latin typeface="Consolas"/>
              </a:rPr>
              <a:t>propose_whatsapp_nudge</a:t>
            </a:r>
          </a:p>
        </p:txBody>
      </p:sp>
      <p:sp>
        <p:nvSpPr>
          <p:cNvPr id="55" name="Rounded Rectangle 54"/>
          <p:cNvSpPr/>
          <p:nvPr/>
        </p:nvSpPr>
        <p:spPr>
          <a:xfrm>
            <a:off x="8271129" y="3125801"/>
            <a:ext cx="862584"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C07000"/>
                </a:solidFill>
                <a:latin typeface="Consolas"/>
              </a:rPr>
              <a:t>set_reminder</a:t>
            </a:r>
          </a:p>
        </p:txBody>
      </p:sp>
      <p:sp>
        <p:nvSpPr>
          <p:cNvPr id="56" name="Rounded Rectangle 55"/>
          <p:cNvSpPr/>
          <p:nvPr/>
        </p:nvSpPr>
        <p:spPr>
          <a:xfrm>
            <a:off x="9171813"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87">
                <a:solidFill>
                  <a:srgbClr val="232F3E"/>
                </a:solidFill>
                <a:latin typeface="Consolas"/>
              </a:rPr>
              <a:t>propose_calendar_event</a:t>
            </a:r>
          </a:p>
        </p:txBody>
      </p:sp>
      <p:sp>
        <p:nvSpPr>
          <p:cNvPr id="57" name="TextBox 56"/>
          <p:cNvSpPr txBox="1"/>
          <p:nvPr/>
        </p:nvSpPr>
        <p:spPr>
          <a:xfrm>
            <a:off x="6810375" y="3402026"/>
            <a:ext cx="4743450" cy="369332"/>
          </a:xfrm>
          <a:prstGeom prst="rect">
            <a:avLst/>
          </a:prstGeom>
          <a:noFill/>
        </p:spPr>
        <p:txBody>
          <a:bodyPr wrap="square" lIns="0" tIns="0" rIns="0" bIns="0">
            <a:spAutoFit/>
          </a:bodyPr>
          <a:lstStyle/>
          <a:p>
            <a:pPr algn="l"/>
            <a:r>
              <a:rPr sz="1200" b="0" dirty="0">
                <a:solidFill>
                  <a:srgbClr val="545B64"/>
                </a:solidFill>
                <a:latin typeface="Calibri"/>
              </a:rPr>
              <a:t>21 registered tools · 6 live integrations. Every write leaves as a proposal, never as a fact.</a:t>
            </a:r>
          </a:p>
        </p:txBody>
      </p:sp>
      <p:sp>
        <p:nvSpPr>
          <p:cNvPr id="58" name="Rounded Rectangle 57"/>
          <p:cNvSpPr/>
          <p:nvPr/>
        </p:nvSpPr>
        <p:spPr>
          <a:xfrm>
            <a:off x="666750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681037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MEMORY</a:t>
            </a:r>
          </a:p>
        </p:txBody>
      </p:sp>
      <p:sp>
        <p:nvSpPr>
          <p:cNvPr id="60" name="TextBox 59"/>
          <p:cNvSpPr txBox="1"/>
          <p:nvPr/>
        </p:nvSpPr>
        <p:spPr>
          <a:xfrm>
            <a:off x="6810375" y="4424907"/>
            <a:ext cx="2171700" cy="190500"/>
          </a:xfrm>
          <a:prstGeom prst="rect">
            <a:avLst/>
          </a:prstGeom>
          <a:noFill/>
        </p:spPr>
        <p:txBody>
          <a:bodyPr wrap="square" lIns="0" tIns="0" rIns="0" bIns="0">
            <a:spAutoFit/>
          </a:bodyPr>
          <a:lstStyle/>
          <a:p>
            <a:pPr algn="l"/>
            <a:r>
              <a:rPr sz="1050" b="1" dirty="0">
                <a:solidFill>
                  <a:srgbClr val="232F3E"/>
                </a:solidFill>
                <a:latin typeface="Calibri"/>
              </a:rPr>
              <a:t>Her file, rewritten every turn</a:t>
            </a:r>
          </a:p>
        </p:txBody>
      </p:sp>
      <p:sp>
        <p:nvSpPr>
          <p:cNvPr id="61" name="TextBox 60"/>
          <p:cNvSpPr txBox="1"/>
          <p:nvPr/>
        </p:nvSpPr>
        <p:spPr>
          <a:xfrm>
            <a:off x="6810375" y="4653507"/>
            <a:ext cx="2171700" cy="571500"/>
          </a:xfrm>
          <a:prstGeom prst="rect">
            <a:avLst/>
          </a:prstGeom>
          <a:noFill/>
        </p:spPr>
        <p:txBody>
          <a:bodyPr wrap="square" lIns="0" tIns="0" rIns="0" bIns="0">
            <a:spAutoFit/>
          </a:bodyPr>
          <a:lstStyle/>
          <a:p>
            <a:pPr algn="l">
              <a:lnSpc>
                <a:spcPct val="95000"/>
              </a:lnSpc>
            </a:pPr>
            <a:r>
              <a:rPr sz="825" b="0" dirty="0">
                <a:solidFill>
                  <a:srgbClr val="545B64"/>
                </a:solidFill>
                <a:latin typeface="Calibri"/>
              </a:rPr>
              <a:t>8 preference categories · past outings · pending reminders. DynamoDB / AgentCore Memory.</a:t>
            </a:r>
          </a:p>
        </p:txBody>
      </p:sp>
      <p:sp>
        <p:nvSpPr>
          <p:cNvPr id="62" name="Rounded Rectangle 61"/>
          <p:cNvSpPr/>
          <p:nvPr/>
        </p:nvSpPr>
        <p:spPr>
          <a:xfrm>
            <a:off x="923925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938212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LOOP</a:t>
            </a:r>
          </a:p>
        </p:txBody>
      </p:sp>
      <p:sp>
        <p:nvSpPr>
          <p:cNvPr id="64" name="TextBox 63"/>
          <p:cNvSpPr txBox="1"/>
          <p:nvPr/>
        </p:nvSpPr>
        <p:spPr>
          <a:xfrm>
            <a:off x="9382125" y="4424907"/>
            <a:ext cx="2171700" cy="190500"/>
          </a:xfrm>
          <a:prstGeom prst="rect">
            <a:avLst/>
          </a:prstGeom>
          <a:noFill/>
        </p:spPr>
        <p:txBody>
          <a:bodyPr wrap="square" lIns="0" tIns="0" rIns="0" bIns="0">
            <a:spAutoFit/>
          </a:bodyPr>
          <a:lstStyle/>
          <a:p>
            <a:pPr algn="l"/>
            <a:r>
              <a:rPr sz="1050" b="1">
                <a:solidFill>
                  <a:srgbClr val="232F3E"/>
                </a:solidFill>
                <a:latin typeface="Calibri"/>
              </a:rPr>
              <a:t>It never ends on a reply</a:t>
            </a:r>
          </a:p>
        </p:txBody>
      </p:sp>
      <p:sp>
        <p:nvSpPr>
          <p:cNvPr id="65" name="TextBox 64"/>
          <p:cNvSpPr txBox="1"/>
          <p:nvPr/>
        </p:nvSpPr>
        <p:spPr>
          <a:xfrm>
            <a:off x="9382125" y="4653507"/>
            <a:ext cx="2171700" cy="571500"/>
          </a:xfrm>
          <a:prstGeom prst="rect">
            <a:avLst/>
          </a:prstGeom>
          <a:noFill/>
        </p:spPr>
        <p:txBody>
          <a:bodyPr wrap="square" lIns="0" tIns="0" rIns="0" bIns="0">
            <a:spAutoFit/>
          </a:bodyPr>
          <a:lstStyle/>
          <a:p>
            <a:pPr algn="l">
              <a:lnSpc>
                <a:spcPct val="95000"/>
              </a:lnSpc>
            </a:pPr>
            <a:r>
              <a:rPr sz="825" b="0">
                <a:solidFill>
                  <a:srgbClr val="545B64"/>
                </a:solidFill>
                <a:latin typeface="Calibri"/>
              </a:rPr>
              <a:t>Each pass reorganises the timeline: new dates land, stale ones fall off, reminders re-scheduled.</a:t>
            </a:r>
          </a:p>
        </p:txBody>
      </p:sp>
      <p:grpSp>
        <p:nvGrpSpPr>
          <p:cNvPr id="95" name="Group 94">
            <a:extLst>
              <a:ext uri="{FF2B5EF4-FFF2-40B4-BE49-F238E27FC236}">
                <a16:creationId xmlns:a16="http://schemas.microsoft.com/office/drawing/2014/main" id="{A0D98818-BC03-63C2-8438-EA6EF23603A0}"/>
              </a:ext>
            </a:extLst>
          </p:cNvPr>
          <p:cNvGrpSpPr/>
          <p:nvPr/>
        </p:nvGrpSpPr>
        <p:grpSpPr>
          <a:xfrm>
            <a:off x="6667808" y="1269273"/>
            <a:ext cx="3703107" cy="282320"/>
            <a:chOff x="6667809" y="1269273"/>
            <a:chExt cx="2522220" cy="228600"/>
          </a:xfrm>
        </p:grpSpPr>
        <p:sp>
          <p:nvSpPr>
            <p:cNvPr id="66" name="Rounded Rectangle 65"/>
            <p:cNvSpPr/>
            <p:nvPr/>
          </p:nvSpPr>
          <p:spPr>
            <a:xfrm>
              <a:off x="6667809" y="1269273"/>
              <a:ext cx="521970" cy="228600"/>
            </a:xfrm>
            <a:prstGeom prst="roundRect">
              <a:avLst>
                <a:gd name="adj" fmla="val 5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232F3E"/>
                  </a:solidFill>
                  <a:latin typeface="Calibri"/>
                </a:rPr>
                <a:t>GOAL</a:t>
              </a:r>
            </a:p>
          </p:txBody>
        </p:sp>
        <p:sp>
          <p:nvSpPr>
            <p:cNvPr id="67" name="Rounded Rectangle 66"/>
            <p:cNvSpPr/>
            <p:nvPr/>
          </p:nvSpPr>
          <p:spPr>
            <a:xfrm>
              <a:off x="7265979" y="1269273"/>
              <a:ext cx="52197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LOOP</a:t>
              </a:r>
            </a:p>
          </p:txBody>
        </p:sp>
        <p:sp>
          <p:nvSpPr>
            <p:cNvPr id="68" name="Rounded Rectangle 67"/>
            <p:cNvSpPr/>
            <p:nvPr/>
          </p:nvSpPr>
          <p:spPr>
            <a:xfrm>
              <a:off x="7864149" y="1269273"/>
              <a:ext cx="65913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MEMORY</a:t>
              </a:r>
            </a:p>
          </p:txBody>
        </p:sp>
        <p:sp>
          <p:nvSpPr>
            <p:cNvPr id="69" name="Rounded Rectangle 68"/>
            <p:cNvSpPr/>
            <p:nvPr/>
          </p:nvSpPr>
          <p:spPr>
            <a:xfrm>
              <a:off x="8599479" y="1269273"/>
              <a:ext cx="59055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TOOLS</a:t>
              </a:r>
            </a:p>
          </p:txBody>
        </p:sp>
      </p:grpSp>
      <p:sp>
        <p:nvSpPr>
          <p:cNvPr id="72" name="Rounded Rectangle 71"/>
          <p:cNvSpPr/>
          <p:nvPr/>
        </p:nvSpPr>
        <p:spPr>
          <a:xfrm>
            <a:off x="504825" y="5991827"/>
            <a:ext cx="11182350" cy="47625"/>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Oval 72"/>
          <p:cNvSpPr/>
          <p:nvPr/>
        </p:nvSpPr>
        <p:spPr>
          <a:xfrm>
            <a:off x="132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Oval 73"/>
          <p:cNvSpPr/>
          <p:nvPr/>
        </p:nvSpPr>
        <p:spPr>
          <a:xfrm>
            <a:off x="136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552450" y="6144227"/>
            <a:ext cx="1714500" cy="133350"/>
          </a:xfrm>
          <a:prstGeom prst="rect">
            <a:avLst/>
          </a:prstGeom>
          <a:noFill/>
        </p:spPr>
        <p:txBody>
          <a:bodyPr wrap="square" lIns="0" tIns="0" rIns="0" bIns="0">
            <a:spAutoFit/>
          </a:bodyPr>
          <a:lstStyle/>
          <a:p>
            <a:pPr algn="ctr"/>
            <a:r>
              <a:rPr sz="787" b="1" spc="60">
                <a:solidFill>
                  <a:srgbClr val="C07000"/>
                </a:solidFill>
                <a:latin typeface="Calibri"/>
              </a:rPr>
              <a:t>EVERY FRIDAY</a:t>
            </a:r>
          </a:p>
        </p:txBody>
      </p:sp>
      <p:sp>
        <p:nvSpPr>
          <p:cNvPr id="76" name="TextBox 75"/>
          <p:cNvSpPr txBox="1"/>
          <p:nvPr/>
        </p:nvSpPr>
        <p:spPr>
          <a:xfrm>
            <a:off x="552450" y="6277577"/>
            <a:ext cx="1714500" cy="171450"/>
          </a:xfrm>
          <a:prstGeom prst="rect">
            <a:avLst/>
          </a:prstGeom>
          <a:noFill/>
        </p:spPr>
        <p:txBody>
          <a:bodyPr wrap="square" lIns="0" tIns="0" rIns="0" bIns="0">
            <a:spAutoFit/>
          </a:bodyPr>
          <a:lstStyle/>
          <a:p>
            <a:pPr algn="ctr"/>
            <a:r>
              <a:rPr sz="937" b="1">
                <a:solidFill>
                  <a:srgbClr val="232F3E"/>
                </a:solidFill>
                <a:latin typeface="Calibri"/>
              </a:rPr>
              <a:t>Shabbat dinner</a:t>
            </a:r>
          </a:p>
        </p:txBody>
      </p:sp>
      <p:sp>
        <p:nvSpPr>
          <p:cNvPr id="77" name="Oval 76"/>
          <p:cNvSpPr/>
          <p:nvPr/>
        </p:nvSpPr>
        <p:spPr>
          <a:xfrm>
            <a:off x="39147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Oval 77"/>
          <p:cNvSpPr/>
          <p:nvPr/>
        </p:nvSpPr>
        <p:spPr>
          <a:xfrm>
            <a:off x="39528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143250" y="6144227"/>
            <a:ext cx="1714500" cy="133350"/>
          </a:xfrm>
          <a:prstGeom prst="rect">
            <a:avLst/>
          </a:prstGeom>
          <a:noFill/>
        </p:spPr>
        <p:txBody>
          <a:bodyPr wrap="square" lIns="0" tIns="0" rIns="0" bIns="0">
            <a:spAutoFit/>
          </a:bodyPr>
          <a:lstStyle/>
          <a:p>
            <a:pPr algn="ctr"/>
            <a:r>
              <a:rPr sz="787" b="1" spc="60">
                <a:solidFill>
                  <a:srgbClr val="C07000"/>
                </a:solidFill>
                <a:latin typeface="Calibri"/>
              </a:rPr>
              <a:t>3 NOV</a:t>
            </a:r>
          </a:p>
        </p:txBody>
      </p:sp>
      <p:sp>
        <p:nvSpPr>
          <p:cNvPr id="80" name="TextBox 79"/>
          <p:cNvSpPr txBox="1"/>
          <p:nvPr/>
        </p:nvSpPr>
        <p:spPr>
          <a:xfrm>
            <a:off x="3143250" y="6277577"/>
            <a:ext cx="1714500" cy="171450"/>
          </a:xfrm>
          <a:prstGeom prst="rect">
            <a:avLst/>
          </a:prstGeom>
          <a:noFill/>
        </p:spPr>
        <p:txBody>
          <a:bodyPr wrap="square" lIns="0" tIns="0" rIns="0" bIns="0">
            <a:spAutoFit/>
          </a:bodyPr>
          <a:lstStyle/>
          <a:p>
            <a:pPr algn="ctr"/>
            <a:r>
              <a:rPr sz="937" b="1">
                <a:solidFill>
                  <a:srgbClr val="232F3E"/>
                </a:solidFill>
                <a:latin typeface="Calibri"/>
              </a:rPr>
              <a:t>Anniversary</a:t>
            </a:r>
          </a:p>
        </p:txBody>
      </p:sp>
      <p:sp>
        <p:nvSpPr>
          <p:cNvPr id="81" name="Oval 80"/>
          <p:cNvSpPr/>
          <p:nvPr/>
        </p:nvSpPr>
        <p:spPr>
          <a:xfrm>
            <a:off x="648652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Oval 81"/>
          <p:cNvSpPr/>
          <p:nvPr/>
        </p:nvSpPr>
        <p:spPr>
          <a:xfrm>
            <a:off x="652462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5715000" y="6144227"/>
            <a:ext cx="1714500" cy="133350"/>
          </a:xfrm>
          <a:prstGeom prst="rect">
            <a:avLst/>
          </a:prstGeom>
          <a:noFill/>
        </p:spPr>
        <p:txBody>
          <a:bodyPr wrap="square" lIns="0" tIns="0" rIns="0" bIns="0">
            <a:spAutoFit/>
          </a:bodyPr>
          <a:lstStyle/>
          <a:p>
            <a:pPr algn="ctr"/>
            <a:r>
              <a:rPr sz="787" b="1" spc="60">
                <a:solidFill>
                  <a:srgbClr val="C07000"/>
                </a:solidFill>
                <a:latin typeface="Calibri"/>
              </a:rPr>
              <a:t>14 FEB</a:t>
            </a:r>
          </a:p>
        </p:txBody>
      </p:sp>
      <p:sp>
        <p:nvSpPr>
          <p:cNvPr id="84" name="TextBox 83"/>
          <p:cNvSpPr txBox="1"/>
          <p:nvPr/>
        </p:nvSpPr>
        <p:spPr>
          <a:xfrm>
            <a:off x="5715000" y="6277577"/>
            <a:ext cx="1714500" cy="171450"/>
          </a:xfrm>
          <a:prstGeom prst="rect">
            <a:avLst/>
          </a:prstGeom>
          <a:noFill/>
        </p:spPr>
        <p:txBody>
          <a:bodyPr wrap="square" lIns="0" tIns="0" rIns="0" bIns="0">
            <a:spAutoFit/>
          </a:bodyPr>
          <a:lstStyle/>
          <a:p>
            <a:pPr algn="ctr"/>
            <a:r>
              <a:rPr sz="937" b="1">
                <a:solidFill>
                  <a:srgbClr val="232F3E"/>
                </a:solidFill>
                <a:latin typeface="Calibri"/>
              </a:rPr>
              <a:t>Her birthday</a:t>
            </a:r>
          </a:p>
        </p:txBody>
      </p:sp>
      <p:sp>
        <p:nvSpPr>
          <p:cNvPr id="85" name="Oval 84"/>
          <p:cNvSpPr/>
          <p:nvPr/>
        </p:nvSpPr>
        <p:spPr>
          <a:xfrm>
            <a:off x="894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Oval 85"/>
          <p:cNvSpPr/>
          <p:nvPr/>
        </p:nvSpPr>
        <p:spPr>
          <a:xfrm>
            <a:off x="898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8172450" y="6144227"/>
            <a:ext cx="1714500" cy="133350"/>
          </a:xfrm>
          <a:prstGeom prst="rect">
            <a:avLst/>
          </a:prstGeom>
          <a:noFill/>
        </p:spPr>
        <p:txBody>
          <a:bodyPr wrap="square" lIns="0" tIns="0" rIns="0" bIns="0">
            <a:spAutoFit/>
          </a:bodyPr>
          <a:lstStyle/>
          <a:p>
            <a:pPr algn="ctr"/>
            <a:r>
              <a:rPr sz="787" b="1" spc="60">
                <a:solidFill>
                  <a:srgbClr val="C07000"/>
                </a:solidFill>
                <a:latin typeface="Calibri"/>
              </a:rPr>
              <a:t>21 MAR</a:t>
            </a:r>
          </a:p>
        </p:txBody>
      </p:sp>
      <p:sp>
        <p:nvSpPr>
          <p:cNvPr id="88" name="TextBox 87"/>
          <p:cNvSpPr txBox="1"/>
          <p:nvPr/>
        </p:nvSpPr>
        <p:spPr>
          <a:xfrm>
            <a:off x="8172450" y="6277577"/>
            <a:ext cx="1714500" cy="171450"/>
          </a:xfrm>
          <a:prstGeom prst="rect">
            <a:avLst/>
          </a:prstGeom>
          <a:noFill/>
        </p:spPr>
        <p:txBody>
          <a:bodyPr wrap="square" lIns="0" tIns="0" rIns="0" bIns="0">
            <a:spAutoFit/>
          </a:bodyPr>
          <a:lstStyle/>
          <a:p>
            <a:pPr algn="ctr"/>
            <a:r>
              <a:rPr sz="937" b="1">
                <a:solidFill>
                  <a:srgbClr val="232F3E"/>
                </a:solidFill>
                <a:latin typeface="Calibri"/>
              </a:rPr>
              <a:t>Bat mitzvah</a:t>
            </a:r>
          </a:p>
        </p:txBody>
      </p:sp>
      <p:sp>
        <p:nvSpPr>
          <p:cNvPr id="89" name="Oval 88"/>
          <p:cNvSpPr/>
          <p:nvPr/>
        </p:nvSpPr>
        <p:spPr>
          <a:xfrm>
            <a:off x="11182350"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Oval 89"/>
          <p:cNvSpPr/>
          <p:nvPr/>
        </p:nvSpPr>
        <p:spPr>
          <a:xfrm>
            <a:off x="11220450"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10410825" y="6144227"/>
            <a:ext cx="1714500" cy="133350"/>
          </a:xfrm>
          <a:prstGeom prst="rect">
            <a:avLst/>
          </a:prstGeom>
          <a:noFill/>
        </p:spPr>
        <p:txBody>
          <a:bodyPr wrap="square" lIns="0" tIns="0" rIns="0" bIns="0">
            <a:spAutoFit/>
          </a:bodyPr>
          <a:lstStyle/>
          <a:p>
            <a:pPr algn="ctr"/>
            <a:r>
              <a:rPr sz="787" b="1" spc="60">
                <a:solidFill>
                  <a:srgbClr val="C07000"/>
                </a:solidFill>
                <a:latin typeface="Calibri"/>
              </a:rPr>
              <a:t>JUNE</a:t>
            </a:r>
          </a:p>
        </p:txBody>
      </p:sp>
      <p:sp>
        <p:nvSpPr>
          <p:cNvPr id="92" name="TextBox 91"/>
          <p:cNvSpPr txBox="1"/>
          <p:nvPr/>
        </p:nvSpPr>
        <p:spPr>
          <a:xfrm>
            <a:off x="10410825" y="6277577"/>
            <a:ext cx="1714500" cy="171450"/>
          </a:xfrm>
          <a:prstGeom prst="rect">
            <a:avLst/>
          </a:prstGeom>
          <a:noFill/>
        </p:spPr>
        <p:txBody>
          <a:bodyPr wrap="square" lIns="0" tIns="0" rIns="0" bIns="0">
            <a:spAutoFit/>
          </a:bodyPr>
          <a:lstStyle/>
          <a:p>
            <a:pPr algn="ctr"/>
            <a:r>
              <a:rPr sz="937" b="1">
                <a:solidFill>
                  <a:srgbClr val="232F3E"/>
                </a:solidFill>
                <a:latin typeface="Calibri"/>
              </a:rPr>
              <a:t>Anniversary trip</a:t>
            </a:r>
          </a:p>
        </p:txBody>
      </p:sp>
      <p:sp>
        <p:nvSpPr>
          <p:cNvPr id="93" name="TextBox 92"/>
          <p:cNvSpPr txBox="1"/>
          <p:nvPr/>
        </p:nvSpPr>
        <p:spPr>
          <a:xfrm>
            <a:off x="504825" y="6534150"/>
            <a:ext cx="5715000" cy="152400"/>
          </a:xfrm>
          <a:prstGeom prst="rect">
            <a:avLst/>
          </a:prstGeom>
          <a:noFill/>
        </p:spPr>
        <p:txBody>
          <a:bodyPr wrap="square" lIns="0" tIns="0" rIns="0" bIns="0">
            <a:spAutoFit/>
          </a:bodyPr>
          <a:lstStyle/>
          <a:p>
            <a:pPr algn="l"/>
            <a:r>
              <a:rPr sz="900" b="1" dirty="0">
                <a:solidFill>
                  <a:srgbClr val="545B64"/>
                </a:solidFill>
                <a:latin typeface="Calibri"/>
              </a:rPr>
              <a:t>VALENTIN   ·   GenAI TFC Capstone Deep-Dive</a:t>
            </a:r>
          </a:p>
        </p:txBody>
      </p:sp>
      <p:sp>
        <p:nvSpPr>
          <p:cNvPr id="94" name="TextBox 93"/>
          <p:cNvSpPr txBox="1"/>
          <p:nvPr/>
        </p:nvSpPr>
        <p:spPr>
          <a:xfrm>
            <a:off x="10258425" y="6534150"/>
            <a:ext cx="1428750" cy="152400"/>
          </a:xfrm>
          <a:prstGeom prst="rect">
            <a:avLst/>
          </a:prstGeom>
          <a:noFill/>
        </p:spPr>
        <p:txBody>
          <a:bodyPr wrap="square" lIns="0" tIns="0" rIns="0" bIns="0">
            <a:spAutoFit/>
          </a:bodyPr>
          <a:lstStyle/>
          <a:p>
            <a:pPr algn="r"/>
            <a:r>
              <a:rPr sz="900" b="0">
                <a:solidFill>
                  <a:srgbClr val="545B64"/>
                </a:solidFill>
                <a:latin typeface="Calibri"/>
              </a:rPr>
              <a:t>3 / 15</a:t>
            </a:r>
          </a:p>
        </p:txBody>
      </p:sp>
      <p:sp>
        <p:nvSpPr>
          <p:cNvPr id="1078" name="Arc 1078"/>
          <p:cNvSpPr/>
          <p:nvPr/>
        </p:nvSpPr>
        <p:spPr>
          <a:xfrm>
            <a:off x="1600200" y="1664208"/>
            <a:ext cx="3666744" cy="3520440"/>
          </a:xfrm>
          <a:prstGeom prst="arc">
            <a:avLst>
              <a:gd name="adj1" fmla="val 6600000"/>
              <a:gd name="adj2" fmla="val 8880000"/>
            </a:avLst>
          </a:prstGeom>
          <a:noFill/>
          <a:ln w="38100" cap="rnd">
            <a:solidFill>
              <a:srgbClr val="FF9900"/>
            </a:solidFill>
            <a:tailEnd type="triangle" w="med" len="med"/>
          </a:ln>
        </p:spPr>
        <p:txBody>
          <a:bodyPr/>
          <a:lstStyle/>
          <a:p/>
        </p:txBody>
      </p:sp>
      <p:sp>
        <p:nvSpPr>
          <p:cNvPr id="1079" name="Arc 1079"/>
          <p:cNvSpPr/>
          <p:nvPr/>
        </p:nvSpPr>
        <p:spPr>
          <a:xfrm>
            <a:off x="1600200" y="1664208"/>
            <a:ext cx="3666744" cy="3520440"/>
          </a:xfrm>
          <a:prstGeom prst="arc">
            <a:avLst>
              <a:gd name="adj1" fmla="val 11100000"/>
              <a:gd name="adj2" fmla="val 12600000"/>
            </a:avLst>
          </a:prstGeom>
          <a:noFill/>
          <a:ln w="38100" cap="rnd">
            <a:solidFill>
              <a:srgbClr val="FF9900"/>
            </a:solidFill>
            <a:tailEnd type="triangle" w="med" len="med"/>
          </a:ln>
        </p:spPr>
        <p:txBody>
          <a:bodyPr/>
          <a:lstStyle/>
          <a:p/>
        </p:txBody>
      </p:sp>
      <p:sp>
        <p:nvSpPr>
          <p:cNvPr id="1080" name="Arc 1080"/>
          <p:cNvSpPr/>
          <p:nvPr/>
        </p:nvSpPr>
        <p:spPr>
          <a:xfrm>
            <a:off x="1600200" y="1664208"/>
            <a:ext cx="3666744" cy="3520440"/>
          </a:xfrm>
          <a:prstGeom prst="arc">
            <a:avLst>
              <a:gd name="adj1" fmla="val 14760000"/>
              <a:gd name="adj2" fmla="val 17760000"/>
            </a:avLst>
          </a:prstGeom>
          <a:noFill/>
          <a:ln w="38100" cap="rnd">
            <a:solidFill>
              <a:srgbClr val="FF9900"/>
            </a:solidFill>
            <a:tailEnd type="triangle" w="med" len="med"/>
          </a:ln>
        </p:spPr>
        <p:txBody>
          <a:bodyPr/>
          <a:lstStyle/>
          <a:p/>
        </p:txBody>
      </p:sp>
      <p:sp>
        <p:nvSpPr>
          <p:cNvPr id="1081" name="Arc 1081"/>
          <p:cNvSpPr/>
          <p:nvPr/>
        </p:nvSpPr>
        <p:spPr>
          <a:xfrm>
            <a:off x="1600200" y="1664208"/>
            <a:ext cx="3666744" cy="3520440"/>
          </a:xfrm>
          <a:prstGeom prst="arc">
            <a:avLst>
              <a:gd name="adj1" fmla="val 19980000"/>
              <a:gd name="adj2" fmla="val 21300000"/>
            </a:avLst>
          </a:prstGeom>
          <a:noFill/>
          <a:ln w="38100" cap="rnd">
            <a:solidFill>
              <a:srgbClr val="FF9900"/>
            </a:solidFill>
            <a:tailEnd type="triangle" w="med" len="med"/>
          </a:ln>
        </p:spPr>
        <p:txBody>
          <a:bodyPr/>
          <a:lstStyle/>
          <a:p/>
        </p:txBody>
      </p:sp>
      <p:sp>
        <p:nvSpPr>
          <p:cNvPr id="1082" name="Arc 1082"/>
          <p:cNvSpPr/>
          <p:nvPr/>
        </p:nvSpPr>
        <p:spPr>
          <a:xfrm>
            <a:off x="1600200" y="1664208"/>
            <a:ext cx="3666744" cy="3520440"/>
          </a:xfrm>
          <a:prstGeom prst="arc">
            <a:avLst>
              <a:gd name="adj1" fmla="val 1920000"/>
              <a:gd name="adj2" fmla="val 4320000"/>
            </a:avLst>
          </a:prstGeom>
          <a:noFill/>
          <a:ln w="38100" cap="rnd">
            <a:solidFill>
              <a:srgbClr val="FF9900"/>
            </a:solidFill>
            <a:tailEnd type="triangle" w="med" len="med"/>
          </a:ln>
        </p:spPr>
        <p:txBody>
          <a:bodyPr/>
          <a:lstStyle/>
          <a:p/>
        </p:txBody>
      </p:sp>
      <p:cxnSp>
        <p:nvCxnSpPr>
          <p:cNvPr id="1083" name="Connector 1082"/>
          <p:cNvCxnSpPr/>
          <p:nvPr/>
        </p:nvCxnSpPr>
        <p:spPr>
          <a:xfrm flipV="1">
            <a:off x="4000500" y="5632703"/>
            <a:ext cx="0" cy="256033"/>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6327648" y="3913632"/>
            <a:ext cx="242316" cy="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085" name="Connector 1084"/>
          <p:cNvCxnSpPr/>
          <p:nvPr/>
        </p:nvCxnSpPr>
        <p:spPr>
          <a:xfrm>
            <a:off x="6569964" y="3913632"/>
            <a:ext cx="0" cy="1956816"/>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86" name="TextBox 1085"/>
          <p:cNvSpPr txBox="1"/>
          <p:nvPr/>
        </p:nvSpPr>
        <p:spPr>
          <a:xfrm>
            <a:off x="4663440" y="4956048"/>
            <a:ext cx="1737360" cy="219456"/>
          </a:xfrm>
          <a:prstGeom prst="rect">
            <a:avLst/>
          </a:prstGeom>
          <a:noFill/>
        </p:spPr>
        <p:txBody>
          <a:bodyPr wrap="square" lIns="0" rIns="0" tIns="0" bIns="0" anchor="ctr">
            <a:spAutoFit/>
          </a:bodyPr>
          <a:lstStyle/>
          <a:p>
            <a:pPr algn="r"/>
            <a:r>
              <a:rPr sz="900" b="1">
                <a:solidFill>
                  <a:srgbClr val="FF9900"/>
                </a:solidFill>
                <a:latin typeface="Calibri"/>
              </a:rPr>
              <a:t>sets a new event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3</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Demo</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828800"/>
            <a:ext cx="11155680" cy="548640"/>
          </a:xfrm>
          <a:prstGeom prst="rect">
            <a:avLst/>
          </a:prstGeom>
          <a:noFill/>
        </p:spPr>
        <p:txBody>
          <a:bodyPr wrap="square" lIns="0" tIns="0" rIns="0" bIns="0" anchor="t">
            <a:spAutoFit/>
          </a:bodyPr>
          <a:lstStyle/>
          <a:p>
            <a:pPr algn="ctr"/>
            <a:r>
              <a:rPr sz="1800" b="0">
                <a:solidFill>
                  <a:srgbClr val="545B64"/>
                </a:solidFill>
                <a:latin typeface="Calibri"/>
              </a:rPr>
              <a:t>Live product · deployed on AWS · 6 real integrations</a:t>
            </a:r>
          </a:p>
        </p:txBody>
      </p:sp>
      <p:sp>
        <p:nvSpPr>
          <p:cNvPr id="7" name="Rounded Rectangle 6">
            <a:hlinkClick r:id="rId2"/>
          </p:cNvPr>
          <p:cNvSpPr/>
          <p:nvPr/>
        </p:nvSpPr>
        <p:spPr>
          <a:xfrm>
            <a:off x="2209647" y="2926080"/>
            <a:ext cx="7772400" cy="182880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09647" y="3246120"/>
            <a:ext cx="7772400" cy="365760"/>
          </a:xfrm>
          <a:prstGeom prst="rect">
            <a:avLst/>
          </a:prstGeom>
          <a:noFill/>
        </p:spPr>
        <p:txBody>
          <a:bodyPr wrap="square" lIns="0" tIns="0" rIns="0" bIns="0" anchor="t">
            <a:spAutoFit/>
          </a:bodyPr>
          <a:lstStyle/>
          <a:p>
            <a:pPr algn="ctr"/>
            <a:r>
              <a:rPr sz="1300" b="1">
                <a:solidFill>
                  <a:srgbClr val="232F3E"/>
                </a:solidFill>
                <a:latin typeface="Calibri"/>
              </a:rPr>
              <a:t>OPEN THE DEMO</a:t>
            </a:r>
          </a:p>
        </p:txBody>
      </p:sp>
      <p:sp>
        <p:nvSpPr>
          <p:cNvPr id="9" name="TextBox 8"/>
          <p:cNvSpPr txBox="1"/>
          <p:nvPr/>
        </p:nvSpPr>
        <p:spPr>
          <a:xfrm>
            <a:off x="2483967" y="3657600"/>
            <a:ext cx="7223760" cy="594360"/>
          </a:xfrm>
          <a:prstGeom prst="rect">
            <a:avLst/>
          </a:prstGeom>
          <a:noFill/>
        </p:spPr>
        <p:txBody>
          <a:bodyPr wrap="square" lIns="0" rIns="0" anchor="ctr">
            <a:spAutoFit/>
          </a:bodyPr>
          <a:lstStyle/>
          <a:p>
            <a:pPr algn="ctr"/>
            <a:r>
              <a:rPr sz="2600" b="1">
                <a:solidFill>
                  <a:srgbClr val="232F3E"/>
                </a:solidFill>
                <a:latin typeface="Calibri"/>
                <a:hlinkClick r:id="rId2"/>
              </a:rPr>
              <a:t>Valentin — Live Demo  ↗</a:t>
            </a:r>
          </a:p>
        </p:txBody>
      </p:sp>
      <p:sp>
        <p:nvSpPr>
          <p:cNvPr id="10" name="TextBox 9"/>
          <p:cNvSpPr txBox="1"/>
          <p:nvPr/>
        </p:nvSpPr>
        <p:spPr>
          <a:xfrm>
            <a:off x="2209647" y="4297680"/>
            <a:ext cx="7772400" cy="365760"/>
          </a:xfrm>
          <a:prstGeom prst="rect">
            <a:avLst/>
          </a:prstGeom>
          <a:noFill/>
        </p:spPr>
        <p:txBody>
          <a:bodyPr wrap="square" lIns="0" tIns="0" rIns="0" bIns="0" anchor="t">
            <a:spAutoFit/>
          </a:bodyPr>
          <a:lstStyle/>
          <a:p>
            <a:pPr algn="ctr"/>
            <a:r>
              <a:rPr sz="1200" b="0">
                <a:solidFill>
                  <a:srgbClr val="232F3E"/>
                </a:solidFill>
                <a:latin typeface="Calibri"/>
              </a:rPr>
              <a:t>The four beats: extract · remember · decide · act</a:t>
            </a:r>
          </a:p>
        </p:txBody>
      </p:sp>
      <p:sp>
        <p:nvSpPr>
          <p:cNvPr id="11" name="TextBox 10"/>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12" name="TextBox 11"/>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4 / 15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11247120" cy="1463040"/>
          </a:xfrm>
          <a:prstGeom prst="rect">
            <a:avLst/>
          </a:prstGeom>
          <a:noFill/>
        </p:spPr>
        <p:txBody>
          <a:bodyPr wrap="square" lIns="0" tIns="0" rIns="0" bIns="0" anchor="t">
            <a:spAutoFit/>
          </a:bodyPr>
          <a:lstStyle/>
          <a:p>
            <a:pPr algn="ctr"/>
            <a:r>
              <a:rPr sz="10000" b="1">
                <a:solidFill>
                  <a:srgbClr val="FFFFFF"/>
                </a:solidFill>
                <a:latin typeface="Calibri"/>
              </a:rPr>
              <a:t>Thank you.</a:t>
            </a:r>
          </a:p>
        </p:txBody>
      </p:sp>
      <p:sp>
        <p:nvSpPr>
          <p:cNvPr id="5" name="TextBox 4"/>
          <p:cNvSpPr txBox="1"/>
          <p:nvPr/>
        </p:nvSpPr>
        <p:spPr>
          <a:xfrm>
            <a:off x="457200" y="3931920"/>
            <a:ext cx="11247120" cy="457200"/>
          </a:xfrm>
          <a:prstGeom prst="rect">
            <a:avLst/>
          </a:prstGeom>
          <a:noFill/>
        </p:spPr>
        <p:txBody>
          <a:bodyPr wrap="square" lIns="0" tIns="0" rIns="0" bIns="0" anchor="t">
            <a:spAutoFit/>
          </a:bodyPr>
          <a:lstStyle/>
          <a:p>
            <a:pPr algn="ctr"/>
            <a:r>
              <a:rPr sz="2400" b="0">
                <a:solidFill>
                  <a:srgbClr val="FF9900"/>
                </a:solidFill>
                <a:latin typeface="Calibri"/>
              </a:rPr>
              <a:t>Questions?</a:t>
            </a:r>
          </a:p>
        </p:txBody>
      </p:sp>
      <p:sp>
        <p:nvSpPr>
          <p:cNvPr id="6" name="Rectangle 5"/>
          <p:cNvSpPr/>
          <p:nvPr/>
        </p:nvSpPr>
        <p:spPr>
          <a:xfrm>
            <a:off x="5120640" y="4892040"/>
            <a:ext cx="1920240" cy="457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5029200"/>
            <a:ext cx="11247120" cy="457200"/>
          </a:xfrm>
          <a:prstGeom prst="rect">
            <a:avLst/>
          </a:prstGeom>
          <a:noFill/>
        </p:spPr>
        <p:txBody>
          <a:bodyPr wrap="square" lIns="0" tIns="0" rIns="0" bIns="0" anchor="t">
            <a:spAutoFit/>
          </a:bodyPr>
          <a:lstStyle/>
          <a:p>
            <a:pPr algn="ctr"/>
            <a:r>
              <a:rPr sz="2200" b="1">
                <a:solidFill>
                  <a:srgbClr val="FFFFFF"/>
                </a:solidFill>
                <a:latin typeface="Calibri"/>
              </a:rPr>
              <a:t>Coral Magen</a:t>
            </a:r>
          </a:p>
        </p:txBody>
      </p:sp>
      <p:sp>
        <p:nvSpPr>
          <p:cNvPr id="8" name="TextBox 7"/>
          <p:cNvSpPr txBox="1"/>
          <p:nvPr/>
        </p:nvSpPr>
        <p:spPr>
          <a:xfrm>
            <a:off x="457200" y="5532120"/>
            <a:ext cx="11247120" cy="365760"/>
          </a:xfrm>
          <a:prstGeom prst="rect">
            <a:avLst/>
          </a:prstGeom>
          <a:noFill/>
        </p:spPr>
        <p:txBody>
          <a:bodyPr wrap="square" lIns="0" tIns="0" rIns="0" bIns="0" anchor="t">
            <a:spAutoFit/>
          </a:bodyPr>
          <a:lstStyle/>
          <a:p>
            <a:pPr algn="ctr"/>
            <a:r>
              <a:rPr sz="1400" b="0">
                <a:solidFill>
                  <a:srgbClr val="879596"/>
                </a:solidFill>
                <a:latin typeface="Calibri"/>
              </a:rPr>
              <a:t>Technical Account Manager   ·   coralst@amazon.com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4</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5 / 15</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2400" b="1">
                <a:solidFill>
                  <a:srgbClr val="232F3E"/>
                </a:solidFill>
                <a:latin typeface="Calibri"/>
              </a:rPr>
              <a:t>Architecture — four decisions, four deep-dives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Same product, two engines. Each row is one decision, the deep-dive that follows it, and the single number that settles it.</a:t>
            </a:r>
          </a:p>
        </p:txBody>
      </p:sp>
      <p:sp>
        <p:nvSpPr>
          <p:cNvPr id="10" name="Rounded Rectangle 9"/>
          <p:cNvSpPr/>
          <p:nvPr/>
        </p:nvSpPr>
        <p:spPr>
          <a:xfrm>
            <a:off x="566928" y="1783080"/>
            <a:ext cx="11064240" cy="384048"/>
          </a:xfrm>
          <a:prstGeom prst="roundRect">
            <a:avLst>
              <a:gd name="adj" fmla="val 14285"/>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783080"/>
            <a:ext cx="1700784" cy="384048"/>
          </a:xfrm>
          <a:prstGeom prst="rect">
            <a:avLst/>
          </a:prstGeom>
          <a:noFill/>
        </p:spPr>
        <p:txBody>
          <a:bodyPr wrap="square" lIns="0" rIns="0" tIns="0" bIns="0" anchor="ctr">
            <a:spAutoFit/>
          </a:bodyPr>
          <a:lstStyle/>
          <a:p>
            <a:pPr algn="l"/>
            <a:r>
              <a:rPr sz="1050" b="1">
                <a:solidFill>
                  <a:srgbClr val="FF9900"/>
                </a:solidFill>
                <a:latin typeface="Calibri"/>
              </a:rPr>
              <a:t>THE DECISION</a:t>
            </a:r>
          </a:p>
        </p:txBody>
      </p:sp>
      <p:sp>
        <p:nvSpPr>
          <p:cNvPr id="12" name="TextBox 11"/>
          <p:cNvSpPr txBox="1"/>
          <p:nvPr/>
        </p:nvSpPr>
        <p:spPr>
          <a:xfrm>
            <a:off x="2834640" y="1783080"/>
            <a:ext cx="2852928" cy="384048"/>
          </a:xfrm>
          <a:prstGeom prst="rect">
            <a:avLst/>
          </a:prstGeom>
          <a:noFill/>
        </p:spPr>
        <p:txBody>
          <a:bodyPr wrap="square" lIns="0" rIns="0" tIns="0" bIns="0" anchor="ctr">
            <a:spAutoFit/>
          </a:bodyPr>
          <a:lstStyle/>
          <a:p>
            <a:pPr algn="l"/>
            <a:r>
              <a:rPr sz="1050" b="1">
                <a:solidFill>
                  <a:srgbClr val="FFFFFF"/>
                </a:solidFill>
                <a:latin typeface="Calibri"/>
              </a:rPr>
              <a:t>ENGINE A · GLUE CODE</a:t>
            </a:r>
          </a:p>
        </p:txBody>
      </p:sp>
      <p:sp>
        <p:nvSpPr>
          <p:cNvPr id="13" name="TextBox 12"/>
          <p:cNvSpPr txBox="1"/>
          <p:nvPr/>
        </p:nvSpPr>
        <p:spPr>
          <a:xfrm>
            <a:off x="6080759" y="1783080"/>
            <a:ext cx="2852928" cy="384048"/>
          </a:xfrm>
          <a:prstGeom prst="rect">
            <a:avLst/>
          </a:prstGeom>
          <a:noFill/>
        </p:spPr>
        <p:txBody>
          <a:bodyPr wrap="square" lIns="0" rIns="0" tIns="0" bIns="0" anchor="ctr">
            <a:spAutoFit/>
          </a:bodyPr>
          <a:lstStyle/>
          <a:p>
            <a:pPr algn="l"/>
            <a:r>
              <a:rPr sz="1050" b="1">
                <a:solidFill>
                  <a:srgbClr val="FFFFFF"/>
                </a:solidFill>
                <a:latin typeface="Calibri"/>
              </a:rPr>
              <a:t>ENGINE B · AGENTCORE</a:t>
            </a:r>
          </a:p>
        </p:txBody>
      </p:sp>
      <p:sp>
        <p:nvSpPr>
          <p:cNvPr id="14" name="TextBox 13"/>
          <p:cNvSpPr txBox="1"/>
          <p:nvPr/>
        </p:nvSpPr>
        <p:spPr>
          <a:xfrm>
            <a:off x="9326880" y="1783080"/>
            <a:ext cx="2139696" cy="384048"/>
          </a:xfrm>
          <a:prstGeom prst="rect">
            <a:avLst/>
          </a:prstGeom>
          <a:noFill/>
        </p:spPr>
        <p:txBody>
          <a:bodyPr wrap="square" lIns="0" rIns="0" tIns="0" bIns="0" anchor="ctr">
            <a:spAutoFit/>
          </a:bodyPr>
          <a:lstStyle/>
          <a:p>
            <a:pPr algn="l"/>
            <a:r>
              <a:rPr sz="1050" b="1">
                <a:solidFill>
                  <a:srgbClr val="FFFFFF"/>
                </a:solidFill>
                <a:latin typeface="Calibri"/>
              </a:rPr>
              <a:t>WHAT SETTLES IT</a:t>
            </a:r>
          </a:p>
        </p:txBody>
      </p:sp>
      <p:sp>
        <p:nvSpPr>
          <p:cNvPr id="15" name="Rectangle 14"/>
          <p:cNvSpPr/>
          <p:nvPr/>
        </p:nvSpPr>
        <p:spPr>
          <a:xfrm>
            <a:off x="566928" y="2203704"/>
            <a:ext cx="11064240" cy="96926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16382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331720"/>
            <a:ext cx="1755648" cy="274320"/>
          </a:xfrm>
          <a:prstGeom prst="rect">
            <a:avLst/>
          </a:prstGeom>
          <a:noFill/>
        </p:spPr>
        <p:txBody>
          <a:bodyPr wrap="square" lIns="0" rIns="0" tIns="0" bIns="0" anchor="t">
            <a:spAutoFit/>
          </a:bodyPr>
          <a:lstStyle/>
          <a:p>
            <a:pPr algn="l"/>
            <a:r>
              <a:rPr sz="1500" b="1">
                <a:solidFill>
                  <a:srgbClr val="232F3E"/>
                </a:solidFill>
                <a:latin typeface="Calibri"/>
              </a:rPr>
              <a:t>Compute</a:t>
            </a:r>
          </a:p>
        </p:txBody>
      </p:sp>
      <p:sp>
        <p:nvSpPr>
          <p:cNvPr id="18" name="TextBox 17"/>
          <p:cNvSpPr txBox="1"/>
          <p:nvPr/>
        </p:nvSpPr>
        <p:spPr>
          <a:xfrm>
            <a:off x="731520" y="2624328"/>
            <a:ext cx="1755648" cy="237744"/>
          </a:xfrm>
          <a:prstGeom prst="rect">
            <a:avLst/>
          </a:prstGeom>
          <a:noFill/>
        </p:spPr>
        <p:txBody>
          <a:bodyPr wrap="square" lIns="0" rIns="0" tIns="0" bIns="0" anchor="t">
            <a:spAutoFit/>
          </a:bodyPr>
          <a:lstStyle/>
          <a:p>
            <a:pPr algn="l"/>
            <a:r>
              <a:rPr sz="1000" b="0">
                <a:solidFill>
                  <a:srgbClr val="545B64"/>
                </a:solidFill>
                <a:latin typeface="Calibri"/>
              </a:rPr>
              <a:t>AgentCore Runtime</a:t>
            </a:r>
          </a:p>
        </p:txBody>
      </p:sp>
      <p:sp>
        <p:nvSpPr>
          <p:cNvPr id="19" name="TextBox 18"/>
          <p:cNvSpPr txBox="1"/>
          <p:nvPr/>
        </p:nvSpPr>
        <p:spPr>
          <a:xfrm>
            <a:off x="2724912" y="2322576"/>
            <a:ext cx="2962656" cy="731520"/>
          </a:xfrm>
          <a:prstGeom prst="rect">
            <a:avLst/>
          </a:prstGeom>
          <a:noFill/>
        </p:spPr>
        <p:txBody>
          <a:bodyPr wrap="square" lIns="0" rIns="0" tIns="0" bIns="0" anchor="t">
            <a:spAutoFit/>
          </a:bodyPr>
          <a:lstStyle/>
          <a:p>
            <a:pPr algn="l"/>
            <a:r>
              <a:rPr sz="1150" b="0">
                <a:solidFill>
                  <a:srgbClr val="16191F"/>
                </a:solidFill>
                <a:latin typeface="Calibri"/>
              </a:rPr>
              <a:t>One Fargate task, 0.5 vCPU, billed 730 h a month whether anyone talks to Valentin or not. Forty live sessions share one Node process and one heap.</a:t>
            </a:r>
          </a:p>
        </p:txBody>
      </p:sp>
      <p:sp>
        <p:nvSpPr>
          <p:cNvPr id="20" name="TextBox 19"/>
          <p:cNvSpPr txBox="1"/>
          <p:nvPr/>
        </p:nvSpPr>
        <p:spPr>
          <a:xfrm>
            <a:off x="5971031" y="2322576"/>
            <a:ext cx="2962656" cy="731520"/>
          </a:xfrm>
          <a:prstGeom prst="rect">
            <a:avLst/>
          </a:prstGeom>
          <a:noFill/>
        </p:spPr>
        <p:txBody>
          <a:bodyPr wrap="square" lIns="0" rIns="0" tIns="0" bIns="0" anchor="t">
            <a:spAutoFit/>
          </a:bodyPr>
          <a:lstStyle/>
          <a:p>
            <a:pPr algn="l"/>
            <a:r>
              <a:rPr sz="1150" b="0">
                <a:solidFill>
                  <a:srgbClr val="16191F"/>
                </a:solidFill>
                <a:latin typeface="Calibri"/>
              </a:rPr>
              <a:t>One microVM per session, billed per second of actual agent work. A process-level fault has nowhere to travel.</a:t>
            </a:r>
          </a:p>
        </p:txBody>
      </p:sp>
      <p:sp>
        <p:nvSpPr>
          <p:cNvPr id="21" name="Rounded Rectangle 20"/>
          <p:cNvSpPr/>
          <p:nvPr/>
        </p:nvSpPr>
        <p:spPr>
          <a:xfrm>
            <a:off x="9217152" y="2331720"/>
            <a:ext cx="1243584" cy="219456"/>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17152" y="2331720"/>
            <a:ext cx="1243584" cy="219456"/>
          </a:xfrm>
          <a:prstGeom prst="rect">
            <a:avLst/>
          </a:prstGeom>
          <a:noFill/>
        </p:spPr>
        <p:txBody>
          <a:bodyPr wrap="square" lIns="0" rIns="0" tIns="0" bIns="0" anchor="ctr">
            <a:spAutoFit/>
          </a:bodyPr>
          <a:lstStyle/>
          <a:p>
            <a:pPr algn="ctr"/>
            <a:r>
              <a:rPr sz="900" b="1">
                <a:solidFill>
                  <a:srgbClr val="FFFFFF"/>
                </a:solidFill>
                <a:latin typeface="Calibri"/>
              </a:rPr>
              <a:t>AGENTCORE</a:t>
            </a:r>
          </a:p>
        </p:txBody>
      </p:sp>
      <p:sp>
        <p:nvSpPr>
          <p:cNvPr id="23" name="TextBox 22"/>
          <p:cNvSpPr txBox="1"/>
          <p:nvPr/>
        </p:nvSpPr>
        <p:spPr>
          <a:xfrm>
            <a:off x="9217152" y="2587752"/>
            <a:ext cx="2304288" cy="310896"/>
          </a:xfrm>
          <a:prstGeom prst="rect">
            <a:avLst/>
          </a:prstGeom>
          <a:noFill/>
        </p:spPr>
        <p:txBody>
          <a:bodyPr wrap="square" lIns="0" rIns="0" tIns="0" bIns="0" anchor="t">
            <a:spAutoFit/>
          </a:bodyPr>
          <a:lstStyle/>
          <a:p>
            <a:pPr algn="l"/>
            <a:r>
              <a:rPr sz="1700" b="1">
                <a:solidFill>
                  <a:srgbClr val="FF9900"/>
                </a:solidFill>
                <a:latin typeface="Calibri"/>
              </a:rPr>
              <a:t>40 → 1</a:t>
            </a:r>
          </a:p>
        </p:txBody>
      </p:sp>
      <p:sp>
        <p:nvSpPr>
          <p:cNvPr id="24" name="TextBox 23"/>
          <p:cNvSpPr txBox="1"/>
          <p:nvPr/>
        </p:nvSpPr>
        <p:spPr>
          <a:xfrm>
            <a:off x="9217152" y="2898648"/>
            <a:ext cx="2304288" cy="219456"/>
          </a:xfrm>
          <a:prstGeom prst="rect">
            <a:avLst/>
          </a:prstGeom>
          <a:noFill/>
        </p:spPr>
        <p:txBody>
          <a:bodyPr wrap="square" lIns="0" rIns="0" tIns="0" bIns="0" anchor="t">
            <a:spAutoFit/>
          </a:bodyPr>
          <a:lstStyle/>
          <a:p>
            <a:pPr algn="l"/>
            <a:r>
              <a:rPr sz="950" b="0">
                <a:solidFill>
                  <a:srgbClr val="545B64"/>
                </a:solidFill>
                <a:latin typeface="Calibri"/>
              </a:rPr>
              <a:t>sessions lost to one process fault</a:t>
            </a:r>
          </a:p>
        </p:txBody>
      </p:sp>
      <p:sp>
        <p:nvSpPr>
          <p:cNvPr id="25" name="Rectangle 24"/>
          <p:cNvSpPr/>
          <p:nvPr/>
        </p:nvSpPr>
        <p:spPr>
          <a:xfrm>
            <a:off x="566928" y="4133088"/>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300984"/>
            <a:ext cx="1755648" cy="274320"/>
          </a:xfrm>
          <a:prstGeom prst="rect">
            <a:avLst/>
          </a:prstGeom>
          <a:noFill/>
        </p:spPr>
        <p:txBody>
          <a:bodyPr wrap="square" lIns="0" rIns="0" tIns="0" bIns="0" anchor="t">
            <a:spAutoFit/>
          </a:bodyPr>
          <a:lstStyle/>
          <a:p>
            <a:pPr algn="l"/>
            <a:r>
              <a:rPr sz="1500" b="1">
                <a:solidFill>
                  <a:srgbClr val="232F3E"/>
                </a:solidFill>
                <a:latin typeface="Calibri"/>
              </a:rPr>
              <a:t>Memory</a:t>
            </a:r>
          </a:p>
        </p:txBody>
      </p:sp>
      <p:sp>
        <p:nvSpPr>
          <p:cNvPr id="27" name="TextBox 26"/>
          <p:cNvSpPr txBox="1"/>
          <p:nvPr/>
        </p:nvSpPr>
        <p:spPr>
          <a:xfrm>
            <a:off x="731520" y="3593592"/>
            <a:ext cx="1755648" cy="237744"/>
          </a:xfrm>
          <a:prstGeom prst="rect">
            <a:avLst/>
          </a:prstGeom>
          <a:noFill/>
        </p:spPr>
        <p:txBody>
          <a:bodyPr wrap="square" lIns="0" rIns="0" tIns="0" bIns="0" anchor="t">
            <a:spAutoFit/>
          </a:bodyPr>
          <a:lstStyle/>
          <a:p>
            <a:pPr algn="l"/>
            <a:r>
              <a:rPr sz="1000" b="0">
                <a:solidFill>
                  <a:srgbClr val="545B64"/>
                </a:solidFill>
                <a:latin typeface="Calibri"/>
              </a:rPr>
              <a:t>AgentCore Memory</a:t>
            </a:r>
          </a:p>
        </p:txBody>
      </p:sp>
      <p:sp>
        <p:nvSpPr>
          <p:cNvPr id="28" name="TextBox 27"/>
          <p:cNvSpPr txBox="1"/>
          <p:nvPr/>
        </p:nvSpPr>
        <p:spPr>
          <a:xfrm>
            <a:off x="2724912" y="3291840"/>
            <a:ext cx="2962656" cy="731520"/>
          </a:xfrm>
          <a:prstGeom prst="rect">
            <a:avLst/>
          </a:prstGeom>
          <a:noFill/>
        </p:spPr>
        <p:txBody>
          <a:bodyPr wrap="square" lIns="0" rIns="0" tIns="0" bIns="0" anchor="t">
            <a:spAutoFit/>
          </a:bodyPr>
          <a:lstStyle/>
          <a:p>
            <a:pPr algn="l"/>
            <a:r>
              <a:rPr sz="1150" b="0">
                <a:solidFill>
                  <a:srgbClr val="16191F"/>
                </a:solidFill>
                <a:latin typeface="Calibri"/>
              </a:rPr>
              <a:t>DynamoDB, plus a second Bedrock call every turn to extract preferences — an extraction prompt I own and maintain.</a:t>
            </a:r>
          </a:p>
        </p:txBody>
      </p:sp>
      <p:sp>
        <p:nvSpPr>
          <p:cNvPr id="29" name="TextBox 28"/>
          <p:cNvSpPr txBox="1"/>
          <p:nvPr/>
        </p:nvSpPr>
        <p:spPr>
          <a:xfrm>
            <a:off x="5971031" y="3291840"/>
            <a:ext cx="2962656" cy="731520"/>
          </a:xfrm>
          <a:prstGeom prst="rect">
            <a:avLst/>
          </a:prstGeom>
          <a:noFill/>
        </p:spPr>
        <p:txBody>
          <a:bodyPr wrap="square" lIns="0" rIns="0" tIns="0" bIns="0" anchor="t">
            <a:spAutoFit/>
          </a:bodyPr>
          <a:lstStyle/>
          <a:p>
            <a:pPr algn="l"/>
            <a:r>
              <a:rPr sz="1150" b="0">
                <a:solidFill>
                  <a:srgbClr val="16191F"/>
                </a:solidFill>
                <a:latin typeface="Calibri"/>
              </a:rPr>
              <a:t>One event in, one retrieval out. Extraction is part of the service, not a second model call.</a:t>
            </a:r>
          </a:p>
        </p:txBody>
      </p:sp>
      <p:sp>
        <p:nvSpPr>
          <p:cNvPr id="30" name="Rounded Rectangle 29"/>
          <p:cNvSpPr/>
          <p:nvPr/>
        </p:nvSpPr>
        <p:spPr>
          <a:xfrm>
            <a:off x="9217152" y="3300984"/>
            <a:ext cx="1243584" cy="219456"/>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17152" y="3300984"/>
            <a:ext cx="1243584" cy="219456"/>
          </a:xfrm>
          <a:prstGeom prst="rect">
            <a:avLst/>
          </a:prstGeom>
          <a:noFill/>
        </p:spPr>
        <p:txBody>
          <a:bodyPr wrap="square" lIns="0" rIns="0" tIns="0" bIns="0" anchor="ctr">
            <a:spAutoFit/>
          </a:bodyPr>
          <a:lstStyle/>
          <a:p>
            <a:pPr algn="ctr"/>
            <a:r>
              <a:rPr sz="900" b="1">
                <a:solidFill>
                  <a:srgbClr val="FFFFFF"/>
                </a:solidFill>
                <a:latin typeface="Calibri"/>
              </a:rPr>
              <a:t>AGENTCORE</a:t>
            </a:r>
          </a:p>
        </p:txBody>
      </p:sp>
      <p:sp>
        <p:nvSpPr>
          <p:cNvPr id="32" name="TextBox 31"/>
          <p:cNvSpPr txBox="1"/>
          <p:nvPr/>
        </p:nvSpPr>
        <p:spPr>
          <a:xfrm>
            <a:off x="9217152" y="3557016"/>
            <a:ext cx="2304288" cy="310896"/>
          </a:xfrm>
          <a:prstGeom prst="rect">
            <a:avLst/>
          </a:prstGeom>
          <a:noFill/>
        </p:spPr>
        <p:txBody>
          <a:bodyPr wrap="square" lIns="0" rIns="0" tIns="0" bIns="0" anchor="t">
            <a:spAutoFit/>
          </a:bodyPr>
          <a:lstStyle/>
          <a:p>
            <a:pPr algn="l"/>
            <a:r>
              <a:rPr sz="1700" b="1">
                <a:solidFill>
                  <a:srgbClr val="FF9900"/>
                </a:solidFill>
                <a:latin typeface="Calibri"/>
              </a:rPr>
              <a:t>14×</a:t>
            </a:r>
          </a:p>
        </p:txBody>
      </p:sp>
      <p:sp>
        <p:nvSpPr>
          <p:cNvPr id="33" name="TextBox 32"/>
          <p:cNvSpPr txBox="1"/>
          <p:nvPr/>
        </p:nvSpPr>
        <p:spPr>
          <a:xfrm>
            <a:off x="9217152" y="3867912"/>
            <a:ext cx="2304288" cy="219456"/>
          </a:xfrm>
          <a:prstGeom prst="rect">
            <a:avLst/>
          </a:prstGeom>
          <a:noFill/>
        </p:spPr>
        <p:txBody>
          <a:bodyPr wrap="square" lIns="0" rIns="0" tIns="0" bIns="0" anchor="t">
            <a:spAutoFit/>
          </a:bodyPr>
          <a:lstStyle/>
          <a:p>
            <a:pPr algn="l"/>
            <a:r>
              <a:rPr sz="950" b="0">
                <a:solidFill>
                  <a:srgbClr val="545B64"/>
                </a:solidFill>
                <a:latin typeface="Calibri"/>
              </a:rPr>
              <a:t>cheaper per user, per month</a:t>
            </a:r>
          </a:p>
        </p:txBody>
      </p:sp>
      <p:sp>
        <p:nvSpPr>
          <p:cNvPr id="34" name="Rectangle 33"/>
          <p:cNvSpPr/>
          <p:nvPr/>
        </p:nvSpPr>
        <p:spPr>
          <a:xfrm>
            <a:off x="566928" y="4142232"/>
            <a:ext cx="11064240" cy="96926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5102352"/>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270248"/>
            <a:ext cx="1755648" cy="274320"/>
          </a:xfrm>
          <a:prstGeom prst="rect">
            <a:avLst/>
          </a:prstGeom>
          <a:noFill/>
        </p:spPr>
        <p:txBody>
          <a:bodyPr wrap="square" lIns="0" rIns="0" tIns="0" bIns="0" anchor="t">
            <a:spAutoFit/>
          </a:bodyPr>
          <a:lstStyle/>
          <a:p>
            <a:pPr algn="l"/>
            <a:r>
              <a:rPr sz="1500" b="1">
                <a:solidFill>
                  <a:srgbClr val="232F3E"/>
                </a:solidFill>
                <a:latin typeface="Calibri"/>
              </a:rPr>
              <a:t>Tool use</a:t>
            </a:r>
          </a:p>
        </p:txBody>
      </p:sp>
      <p:sp>
        <p:nvSpPr>
          <p:cNvPr id="37" name="TextBox 36"/>
          <p:cNvSpPr txBox="1"/>
          <p:nvPr/>
        </p:nvSpPr>
        <p:spPr>
          <a:xfrm>
            <a:off x="731520" y="4562856"/>
            <a:ext cx="1755648" cy="237744"/>
          </a:xfrm>
          <a:prstGeom prst="rect">
            <a:avLst/>
          </a:prstGeom>
          <a:noFill/>
        </p:spPr>
        <p:txBody>
          <a:bodyPr wrap="square" lIns="0" rIns="0" tIns="0" bIns="0" anchor="t">
            <a:spAutoFit/>
          </a:bodyPr>
          <a:lstStyle/>
          <a:p>
            <a:pPr algn="l"/>
            <a:r>
              <a:rPr sz="1000" b="0">
                <a:solidFill>
                  <a:srgbClr val="545B64"/>
                </a:solidFill>
                <a:latin typeface="Calibri"/>
              </a:rPr>
              <a:t>AgentCore Gateway</a:t>
            </a:r>
          </a:p>
        </p:txBody>
      </p:sp>
      <p:sp>
        <p:nvSpPr>
          <p:cNvPr id="38" name="TextBox 37"/>
          <p:cNvSpPr txBox="1"/>
          <p:nvPr/>
        </p:nvSpPr>
        <p:spPr>
          <a:xfrm>
            <a:off x="2724912" y="4261104"/>
            <a:ext cx="2962656" cy="731520"/>
          </a:xfrm>
          <a:prstGeom prst="rect">
            <a:avLst/>
          </a:prstGeom>
          <a:noFill/>
        </p:spPr>
        <p:txBody>
          <a:bodyPr wrap="square" lIns="0" rIns="0" tIns="0" bIns="0" anchor="t">
            <a:spAutoFit/>
          </a:bodyPr>
          <a:lstStyle/>
          <a:p>
            <a:pPr algn="l"/>
            <a:r>
              <a:rPr sz="1150" b="0">
                <a:solidFill>
                  <a:srgbClr val="16191F"/>
                </a:solidFill>
                <a:latin typeface="Calibri"/>
              </a:rPr>
              <a:t>An in-process tool registry — a process-wide singleton holding every user’s credentials in the same heap as every session.</a:t>
            </a:r>
          </a:p>
        </p:txBody>
      </p:sp>
      <p:sp>
        <p:nvSpPr>
          <p:cNvPr id="39" name="TextBox 38"/>
          <p:cNvSpPr txBox="1"/>
          <p:nvPr/>
        </p:nvSpPr>
        <p:spPr>
          <a:xfrm>
            <a:off x="5971031" y="4261104"/>
            <a:ext cx="2962656" cy="731520"/>
          </a:xfrm>
          <a:prstGeom prst="rect">
            <a:avLst/>
          </a:prstGeom>
          <a:noFill/>
        </p:spPr>
        <p:txBody>
          <a:bodyPr wrap="square" lIns="0" rIns="0" tIns="0" bIns="0" anchor="t">
            <a:spAutoFit/>
          </a:bodyPr>
          <a:lstStyle/>
          <a:p>
            <a:pPr algn="l"/>
            <a:r>
              <a:rPr sz="1150" b="0">
                <a:solidFill>
                  <a:srgbClr val="16191F"/>
                </a:solidFill>
                <a:latin typeface="Calibri"/>
              </a:rPr>
              <a:t>Three tools indexed outside the process, auth resolved per tool. Adding a tool stops being a deploy.</a:t>
            </a:r>
          </a:p>
        </p:txBody>
      </p:sp>
      <p:sp>
        <p:nvSpPr>
          <p:cNvPr id="40" name="Rounded Rectangle 39"/>
          <p:cNvSpPr/>
          <p:nvPr/>
        </p:nvSpPr>
        <p:spPr>
          <a:xfrm>
            <a:off x="9217152" y="4270248"/>
            <a:ext cx="1243584" cy="219456"/>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17152" y="4270248"/>
            <a:ext cx="1243584" cy="219456"/>
          </a:xfrm>
          <a:prstGeom prst="rect">
            <a:avLst/>
          </a:prstGeom>
          <a:noFill/>
        </p:spPr>
        <p:txBody>
          <a:bodyPr wrap="square" lIns="0" rIns="0" tIns="0" bIns="0" anchor="ctr">
            <a:spAutoFit/>
          </a:bodyPr>
          <a:lstStyle/>
          <a:p>
            <a:pPr algn="ctr"/>
            <a:r>
              <a:rPr sz="900" b="1">
                <a:solidFill>
                  <a:srgbClr val="FFFFFF"/>
                </a:solidFill>
                <a:latin typeface="Calibri"/>
              </a:rPr>
              <a:t>AGENTCORE</a:t>
            </a:r>
          </a:p>
        </p:txBody>
      </p:sp>
      <p:sp>
        <p:nvSpPr>
          <p:cNvPr id="42" name="TextBox 41"/>
          <p:cNvSpPr txBox="1"/>
          <p:nvPr/>
        </p:nvSpPr>
        <p:spPr>
          <a:xfrm>
            <a:off x="9217152" y="4526280"/>
            <a:ext cx="2304288" cy="310896"/>
          </a:xfrm>
          <a:prstGeom prst="rect">
            <a:avLst/>
          </a:prstGeom>
          <a:noFill/>
        </p:spPr>
        <p:txBody>
          <a:bodyPr wrap="square" lIns="0" rIns="0" tIns="0" bIns="0" anchor="t">
            <a:spAutoFit/>
          </a:bodyPr>
          <a:lstStyle/>
          <a:p>
            <a:pPr algn="l"/>
            <a:r>
              <a:rPr sz="1700" b="1">
                <a:solidFill>
                  <a:srgbClr val="FF9900"/>
                </a:solidFill>
                <a:latin typeface="Calibri"/>
              </a:rPr>
              <a:t>$0.0006</a:t>
            </a:r>
          </a:p>
        </p:txBody>
      </p:sp>
      <p:sp>
        <p:nvSpPr>
          <p:cNvPr id="43" name="TextBox 42"/>
          <p:cNvSpPr txBox="1"/>
          <p:nvPr/>
        </p:nvSpPr>
        <p:spPr>
          <a:xfrm>
            <a:off x="9217152" y="4837176"/>
            <a:ext cx="2304288" cy="219456"/>
          </a:xfrm>
          <a:prstGeom prst="rect">
            <a:avLst/>
          </a:prstGeom>
          <a:noFill/>
        </p:spPr>
        <p:txBody>
          <a:bodyPr wrap="square" lIns="0" rIns="0" tIns="0" bIns="0" anchor="t">
            <a:spAutoFit/>
          </a:bodyPr>
          <a:lstStyle/>
          <a:p>
            <a:pPr algn="l"/>
            <a:r>
              <a:rPr sz="950" b="0">
                <a:solidFill>
                  <a:srgbClr val="545B64"/>
                </a:solidFill>
                <a:latin typeface="Calibri"/>
              </a:rPr>
              <a:t>the only fixed line on the bill</a:t>
            </a:r>
          </a:p>
        </p:txBody>
      </p:sp>
      <p:sp>
        <p:nvSpPr>
          <p:cNvPr id="44" name="Rectangle 43"/>
          <p:cNvSpPr/>
          <p:nvPr/>
        </p:nvSpPr>
        <p:spPr>
          <a:xfrm>
            <a:off x="566928" y="6071616"/>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5239512"/>
            <a:ext cx="1755648" cy="274320"/>
          </a:xfrm>
          <a:prstGeom prst="rect">
            <a:avLst/>
          </a:prstGeom>
          <a:noFill/>
        </p:spPr>
        <p:txBody>
          <a:bodyPr wrap="square" lIns="0" rIns="0" tIns="0" bIns="0" anchor="t">
            <a:spAutoFit/>
          </a:bodyPr>
          <a:lstStyle/>
          <a:p>
            <a:pPr algn="l"/>
            <a:r>
              <a:rPr sz="1500" b="1">
                <a:solidFill>
                  <a:srgbClr val="232F3E"/>
                </a:solidFill>
                <a:latin typeface="Calibri"/>
              </a:rPr>
              <a:t>Observability</a:t>
            </a:r>
          </a:p>
        </p:txBody>
      </p:sp>
      <p:sp>
        <p:nvSpPr>
          <p:cNvPr id="46" name="TextBox 45"/>
          <p:cNvSpPr txBox="1"/>
          <p:nvPr/>
        </p:nvSpPr>
        <p:spPr>
          <a:xfrm>
            <a:off x="731520" y="5532120"/>
            <a:ext cx="1755648" cy="237744"/>
          </a:xfrm>
          <a:prstGeom prst="rect">
            <a:avLst/>
          </a:prstGeom>
          <a:noFill/>
        </p:spPr>
        <p:txBody>
          <a:bodyPr wrap="square" lIns="0" rIns="0" tIns="0" bIns="0" anchor="t">
            <a:spAutoFit/>
          </a:bodyPr>
          <a:lstStyle/>
          <a:p>
            <a:pPr algn="l"/>
            <a:r>
              <a:rPr sz="1000" b="0">
                <a:solidFill>
                  <a:srgbClr val="545B64"/>
                </a:solidFill>
                <a:latin typeface="Calibri"/>
              </a:rPr>
              <a:t>AgentCore Observability</a:t>
            </a:r>
          </a:p>
        </p:txBody>
      </p:sp>
      <p:sp>
        <p:nvSpPr>
          <p:cNvPr id="47" name="TextBox 46"/>
          <p:cNvSpPr txBox="1"/>
          <p:nvPr/>
        </p:nvSpPr>
        <p:spPr>
          <a:xfrm>
            <a:off x="2724912" y="5230368"/>
            <a:ext cx="2962656" cy="731520"/>
          </a:xfrm>
          <a:prstGeom prst="rect">
            <a:avLst/>
          </a:prstGeom>
          <a:noFill/>
        </p:spPr>
        <p:txBody>
          <a:bodyPr wrap="square" lIns="0" rIns="0" tIns="0" bIns="0" anchor="t">
            <a:spAutoFit/>
          </a:bodyPr>
          <a:lstStyle/>
          <a:p>
            <a:pPr algn="l"/>
            <a:r>
              <a:rPr sz="1150" b="0">
                <a:solidFill>
                  <a:srgbClr val="16191F"/>
                </a:solidFill>
                <a:latin typeface="Calibri"/>
              </a:rPr>
              <a:t>Hand-wired OTEL spans emit exactly the fields I debug with: turn id, tool name, extraction latency, which reminder fired.</a:t>
            </a:r>
          </a:p>
        </p:txBody>
      </p:sp>
      <p:sp>
        <p:nvSpPr>
          <p:cNvPr id="48" name="TextBox 47"/>
          <p:cNvSpPr txBox="1"/>
          <p:nvPr/>
        </p:nvSpPr>
        <p:spPr>
          <a:xfrm>
            <a:off x="5971031" y="5230368"/>
            <a:ext cx="2962656" cy="731520"/>
          </a:xfrm>
          <a:prstGeom prst="rect">
            <a:avLst/>
          </a:prstGeom>
          <a:noFill/>
        </p:spPr>
        <p:txBody>
          <a:bodyPr wrap="square" lIns="0" rIns="0" tIns="0" bIns="0" anchor="t">
            <a:spAutoFit/>
          </a:bodyPr>
          <a:lstStyle/>
          <a:p>
            <a:pPr algn="l"/>
            <a:r>
              <a:rPr sz="1150" b="0">
                <a:solidFill>
                  <a:srgbClr val="16191F"/>
                </a:solidFill>
                <a:latin typeface="Calibri"/>
              </a:rPr>
              <a:t>Session traces for free, but on AgentCore’s schema — not the fields I actually reach for.</a:t>
            </a:r>
          </a:p>
        </p:txBody>
      </p:sp>
      <p:sp>
        <p:nvSpPr>
          <p:cNvPr id="49" name="Rounded Rectangle 48"/>
          <p:cNvSpPr/>
          <p:nvPr/>
        </p:nvSpPr>
        <p:spPr>
          <a:xfrm>
            <a:off x="9217152" y="5239512"/>
            <a:ext cx="1243584" cy="219456"/>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17152" y="5239512"/>
            <a:ext cx="1243584" cy="219456"/>
          </a:xfrm>
          <a:prstGeom prst="rect">
            <a:avLst/>
          </a:prstGeom>
          <a:noFill/>
        </p:spPr>
        <p:txBody>
          <a:bodyPr wrap="square" lIns="0" rIns="0" tIns="0" bIns="0" anchor="ctr">
            <a:spAutoFit/>
          </a:bodyPr>
          <a:lstStyle/>
          <a:p>
            <a:pPr algn="ctr"/>
            <a:r>
              <a:rPr sz="900" b="1">
                <a:solidFill>
                  <a:srgbClr val="FFFFFF"/>
                </a:solidFill>
                <a:latin typeface="Calibri"/>
              </a:rPr>
              <a:t>GLUE CODE</a:t>
            </a:r>
          </a:p>
        </p:txBody>
      </p:sp>
      <p:sp>
        <p:nvSpPr>
          <p:cNvPr id="51" name="TextBox 50"/>
          <p:cNvSpPr txBox="1"/>
          <p:nvPr/>
        </p:nvSpPr>
        <p:spPr>
          <a:xfrm>
            <a:off x="9217152" y="5495544"/>
            <a:ext cx="2304288" cy="310896"/>
          </a:xfrm>
          <a:prstGeom prst="rect">
            <a:avLst/>
          </a:prstGeom>
          <a:noFill/>
        </p:spPr>
        <p:txBody>
          <a:bodyPr wrap="square" lIns="0" rIns="0" tIns="0" bIns="0" anchor="t">
            <a:spAutoFit/>
          </a:bodyPr>
          <a:lstStyle/>
          <a:p>
            <a:pPr algn="l"/>
            <a:r>
              <a:rPr sz="1700" b="1">
                <a:solidFill>
                  <a:srgbClr val="FF9900"/>
                </a:solidFill>
                <a:latin typeface="Calibri"/>
              </a:rPr>
              <a:t>the one</a:t>
            </a:r>
          </a:p>
        </p:txBody>
      </p:sp>
      <p:sp>
        <p:nvSpPr>
          <p:cNvPr id="52" name="TextBox 51"/>
          <p:cNvSpPr txBox="1"/>
          <p:nvPr/>
        </p:nvSpPr>
        <p:spPr>
          <a:xfrm>
            <a:off x="9217152" y="5806440"/>
            <a:ext cx="2304288" cy="219456"/>
          </a:xfrm>
          <a:prstGeom prst="rect">
            <a:avLst/>
          </a:prstGeom>
          <a:noFill/>
        </p:spPr>
        <p:txBody>
          <a:bodyPr wrap="square" lIns="0" rIns="0" tIns="0" bIns="0" anchor="t">
            <a:spAutoFit/>
          </a:bodyPr>
          <a:lstStyle/>
          <a:p>
            <a:pPr algn="l"/>
            <a:r>
              <a:rPr sz="950" b="0">
                <a:solidFill>
                  <a:srgbClr val="545B64"/>
                </a:solidFill>
                <a:latin typeface="Calibri"/>
              </a:rPr>
              <a:t>dimension the DIY side wins</a:t>
            </a:r>
          </a:p>
        </p:txBody>
      </p:sp>
      <p:sp>
        <p:nvSpPr>
          <p:cNvPr id="53" name="Rounded Rectangle 52"/>
          <p:cNvSpPr/>
          <p:nvPr/>
        </p:nvSpPr>
        <p:spPr>
          <a:xfrm>
            <a:off x="566928" y="6016752"/>
            <a:ext cx="11064240" cy="384048"/>
          </a:xfrm>
          <a:prstGeom prst="roundRect">
            <a:avLst>
              <a:gd name="adj" fmla="val 23809"/>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9808" y="6016752"/>
            <a:ext cx="10698480" cy="384048"/>
          </a:xfrm>
          <a:prstGeom prst="rect">
            <a:avLst/>
          </a:prstGeom>
          <a:noFill/>
        </p:spPr>
        <p:txBody>
          <a:bodyPr wrap="square" lIns="0" rIns="0" tIns="0" bIns="0" anchor="ctr">
            <a:spAutoFit/>
          </a:bodyPr>
          <a:lstStyle/>
          <a:p>
            <a:pPr algn="l"/>
            <a:r>
              <a:rPr sz="1250" b="1">
                <a:solidFill>
                  <a:srgbClr val="232F3E"/>
                </a:solidFill>
                <a:latin typeface="Calibri"/>
              </a:rPr>
              <a:t>Three of four go to AgentCore. The fourth is the honest half: observability is where hand-wired spans still win.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5</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6 / 15</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Compute — Fargate vs. AgentCore Runtime</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Where the agent actually runs, and what that costs you in dollars and in blast radius.</a:t>
            </a:r>
          </a:p>
        </p:txBody>
      </p:sp>
      <p:sp>
        <p:nvSpPr>
          <p:cNvPr id="10" name="Rounded Rectangle 9"/>
          <p:cNvSpPr/>
          <p:nvPr/>
        </p:nvSpPr>
        <p:spPr>
          <a:xfrm>
            <a:off x="9052560" y="1243584"/>
            <a:ext cx="2606040" cy="274320"/>
          </a:xfrm>
          <a:prstGeom prst="roundRect">
            <a:avLst>
              <a:gd name="adj" fmla="val 43333"/>
            </a:avLst>
          </a:prstGeom>
          <a:noFill/>
          <a:ln w="1270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1243584"/>
            <a:ext cx="2606040" cy="274320"/>
          </a:xfrm>
          <a:prstGeom prst="rect">
            <a:avLst/>
          </a:prstGeom>
          <a:noFill/>
        </p:spPr>
        <p:txBody>
          <a:bodyPr wrap="square" lIns="0" rIns="0" tIns="0" bIns="0" anchor="ctr">
            <a:spAutoFit/>
          </a:bodyPr>
          <a:lstStyle/>
          <a:p>
            <a:pPr algn="ctr"/>
            <a:r>
              <a:rPr sz="950" b="1">
                <a:solidFill>
                  <a:srgbClr val="FF9900"/>
                </a:solidFill>
                <a:latin typeface="Calibri"/>
              </a:rPr>
              <a:t>PLACEHOLDER · MESSAGES ONLY</a:t>
            </a:r>
          </a:p>
        </p:txBody>
      </p:sp>
      <p:sp>
        <p:nvSpPr>
          <p:cNvPr id="12" name="Rounded Rectangle 11"/>
          <p:cNvSpPr/>
          <p:nvPr/>
        </p:nvSpPr>
        <p:spPr>
          <a:xfrm>
            <a:off x="566928" y="184708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847088"/>
            <a:ext cx="310896" cy="274320"/>
          </a:xfrm>
          <a:prstGeom prst="rect">
            <a:avLst/>
          </a:prstGeom>
          <a:noFill/>
        </p:spPr>
        <p:txBody>
          <a:bodyPr wrap="square" lIns="0" rIns="0" tIns="0" bIns="0" anchor="ctr">
            <a:spAutoFit/>
          </a:bodyPr>
          <a:lstStyle/>
          <a:p>
            <a:pPr algn="ctr"/>
            <a:r>
              <a:rPr sz="1200" b="1">
                <a:solidFill>
                  <a:srgbClr val="FF9900"/>
                </a:solidFill>
                <a:latin typeface="Calibri"/>
              </a:rPr>
              <a:t>1</a:t>
            </a:r>
          </a:p>
        </p:txBody>
      </p:sp>
      <p:sp>
        <p:nvSpPr>
          <p:cNvPr id="14" name="TextBox 13"/>
          <p:cNvSpPr txBox="1"/>
          <p:nvPr/>
        </p:nvSpPr>
        <p:spPr>
          <a:xfrm>
            <a:off x="1005840" y="1828800"/>
            <a:ext cx="10625328" cy="768096"/>
          </a:xfrm>
          <a:prstGeom prst="rect">
            <a:avLst/>
          </a:prstGeom>
          <a:noFill/>
        </p:spPr>
        <p:txBody>
          <a:bodyPr wrap="square" lIns="0" rIns="0" tIns="0" bIns="0" anchor="t">
            <a:spAutoFit/>
          </a:bodyPr>
          <a:lstStyle/>
          <a:p>
            <a:pPr algn="l"/>
            <a:r>
              <a:rPr sz="1450" b="1">
                <a:solidFill>
                  <a:srgbClr val="232F3E"/>
                </a:solidFill>
                <a:latin typeface="Calibri"/>
              </a:rPr>
              <a:t>Engine A never scales to zero. </a:t>
            </a:r>
            <a:r>
              <a:rPr sz="1450" b="0">
                <a:solidFill>
                  <a:srgbClr val="16191F"/>
                </a:solidFill>
                <a:latin typeface="Calibri"/>
              </a:rPr>
              <a:t>One Fargate task at 0.5 vCPU bills 730 hours a month whether anyone talks to Valentin or not — $18.02 before the first turn.</a:t>
            </a:r>
          </a:p>
        </p:txBody>
      </p:sp>
      <p:sp>
        <p:nvSpPr>
          <p:cNvPr id="15" name="Rounded Rectangle 14"/>
          <p:cNvSpPr/>
          <p:nvPr/>
        </p:nvSpPr>
        <p:spPr>
          <a:xfrm>
            <a:off x="566928" y="267004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670048"/>
            <a:ext cx="310896" cy="274320"/>
          </a:xfrm>
          <a:prstGeom prst="rect">
            <a:avLst/>
          </a:prstGeom>
          <a:noFill/>
        </p:spPr>
        <p:txBody>
          <a:bodyPr wrap="square" lIns="0" rIns="0" tIns="0" bIns="0" anchor="ctr">
            <a:spAutoFit/>
          </a:bodyPr>
          <a:lstStyle/>
          <a:p>
            <a:pPr algn="ctr"/>
            <a:r>
              <a:rPr sz="1200" b="1">
                <a:solidFill>
                  <a:srgbClr val="FF9900"/>
                </a:solidFill>
                <a:latin typeface="Calibri"/>
              </a:rPr>
              <a:t>2</a:t>
            </a:r>
          </a:p>
        </p:txBody>
      </p:sp>
      <p:sp>
        <p:nvSpPr>
          <p:cNvPr id="17" name="TextBox 16"/>
          <p:cNvSpPr txBox="1"/>
          <p:nvPr/>
        </p:nvSpPr>
        <p:spPr>
          <a:xfrm>
            <a:off x="1005840" y="2651760"/>
            <a:ext cx="10625328" cy="768096"/>
          </a:xfrm>
          <a:prstGeom prst="rect">
            <a:avLst/>
          </a:prstGeom>
          <a:noFill/>
        </p:spPr>
        <p:txBody>
          <a:bodyPr wrap="square" lIns="0" rIns="0" tIns="0" bIns="0" anchor="t">
            <a:spAutoFit/>
          </a:bodyPr>
          <a:lstStyle/>
          <a:p>
            <a:pPr algn="l"/>
            <a:r>
              <a:rPr sz="1450" b="1">
                <a:solidFill>
                  <a:srgbClr val="232F3E"/>
                </a:solidFill>
                <a:latin typeface="Calibri"/>
              </a:rPr>
              <a:t>Engine B bills per second of real work. </a:t>
            </a:r>
            <a:r>
              <a:rPr sz="1450" b="0">
                <a:solidFill>
                  <a:srgbClr val="16191F"/>
                </a:solidFill>
                <a:latin typeface="Calibri"/>
              </a:rPr>
              <a:t>3 s × 104 turns is $0.0047 a month. The floor disappears entirely; that is the whole of the cost difference at one user.</a:t>
            </a:r>
          </a:p>
        </p:txBody>
      </p:sp>
      <p:sp>
        <p:nvSpPr>
          <p:cNvPr id="18" name="Rounded Rectangle 17"/>
          <p:cNvSpPr/>
          <p:nvPr/>
        </p:nvSpPr>
        <p:spPr>
          <a:xfrm>
            <a:off x="566928" y="349300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493008"/>
            <a:ext cx="310896" cy="274320"/>
          </a:xfrm>
          <a:prstGeom prst="rect">
            <a:avLst/>
          </a:prstGeom>
          <a:noFill/>
        </p:spPr>
        <p:txBody>
          <a:bodyPr wrap="square" lIns="0" rIns="0" tIns="0" bIns="0" anchor="ctr">
            <a:spAutoFit/>
          </a:bodyPr>
          <a:lstStyle/>
          <a:p>
            <a:pPr algn="ctr"/>
            <a:r>
              <a:rPr sz="1200" b="1">
                <a:solidFill>
                  <a:srgbClr val="FF9900"/>
                </a:solidFill>
                <a:latin typeface="Calibri"/>
              </a:rPr>
              <a:t>3</a:t>
            </a:r>
          </a:p>
        </p:txBody>
      </p:sp>
      <p:sp>
        <p:nvSpPr>
          <p:cNvPr id="20" name="TextBox 19"/>
          <p:cNvSpPr txBox="1"/>
          <p:nvPr/>
        </p:nvSpPr>
        <p:spPr>
          <a:xfrm>
            <a:off x="1005840" y="3474720"/>
            <a:ext cx="10625328" cy="768096"/>
          </a:xfrm>
          <a:prstGeom prst="rect">
            <a:avLst/>
          </a:prstGeom>
          <a:noFill/>
        </p:spPr>
        <p:txBody>
          <a:bodyPr wrap="square" lIns="0" rIns="0" tIns="0" bIns="0" anchor="t">
            <a:spAutoFit/>
          </a:bodyPr>
          <a:lstStyle/>
          <a:p>
            <a:pPr algn="l"/>
            <a:r>
              <a:rPr sz="1450" b="1">
                <a:solidFill>
                  <a:srgbClr val="232F3E"/>
                </a:solidFill>
                <a:latin typeface="Calibri"/>
              </a:rPr>
              <a:t>AgentCore’s unit price is worse, not better. </a:t>
            </a:r>
            <a:r>
              <a:rPr sz="1450" b="0">
                <a:solidFill>
                  <a:srgbClr val="16191F"/>
                </a:solidFill>
                <a:latin typeface="Calibri"/>
              </a:rPr>
              <a:t>Runtime is 2.20× dearer per vCPU-hour. It wins on billing granularity, and only on billing granularity — say this before anyone checks.</a:t>
            </a:r>
          </a:p>
        </p:txBody>
      </p:sp>
      <p:sp>
        <p:nvSpPr>
          <p:cNvPr id="21" name="Rounded Rectangle 20"/>
          <p:cNvSpPr/>
          <p:nvPr/>
        </p:nvSpPr>
        <p:spPr>
          <a:xfrm>
            <a:off x="566928" y="431596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315968"/>
            <a:ext cx="310896" cy="274320"/>
          </a:xfrm>
          <a:prstGeom prst="rect">
            <a:avLst/>
          </a:prstGeom>
          <a:noFill/>
        </p:spPr>
        <p:txBody>
          <a:bodyPr wrap="square" lIns="0" rIns="0" tIns="0" bIns="0" anchor="ctr">
            <a:spAutoFit/>
          </a:bodyPr>
          <a:lstStyle/>
          <a:p>
            <a:pPr algn="ctr"/>
            <a:r>
              <a:rPr sz="1200" b="1">
                <a:solidFill>
                  <a:srgbClr val="FF9900"/>
                </a:solidFill>
                <a:latin typeface="Calibri"/>
              </a:rPr>
              <a:t>4</a:t>
            </a:r>
          </a:p>
        </p:txBody>
      </p:sp>
      <p:sp>
        <p:nvSpPr>
          <p:cNvPr id="23" name="TextBox 22"/>
          <p:cNvSpPr txBox="1"/>
          <p:nvPr/>
        </p:nvSpPr>
        <p:spPr>
          <a:xfrm>
            <a:off x="1005840" y="4297680"/>
            <a:ext cx="10625328" cy="768096"/>
          </a:xfrm>
          <a:prstGeom prst="rect">
            <a:avLst/>
          </a:prstGeom>
          <a:noFill/>
        </p:spPr>
        <p:txBody>
          <a:bodyPr wrap="square" lIns="0" rIns="0" tIns="0" bIns="0" anchor="t">
            <a:spAutoFit/>
          </a:bodyPr>
          <a:lstStyle/>
          <a:p>
            <a:pPr algn="l"/>
            <a:r>
              <a:rPr sz="1450" b="1">
                <a:solidFill>
                  <a:srgbClr val="232F3E"/>
                </a:solidFill>
                <a:latin typeface="Calibri"/>
              </a:rPr>
              <a:t>The real difference is isolation, not money. </a:t>
            </a:r>
            <a:r>
              <a:rPr sz="1450" b="0">
                <a:solidFill>
                  <a:srgbClr val="16191F"/>
                </a:solidFill>
                <a:latin typeface="Calibri"/>
              </a:rPr>
              <a:t>One microVM per session, versus forty sessions sharing one Node process, one heap and one event loop. The next slide is that experiment.</a:t>
            </a:r>
          </a:p>
        </p:txBody>
      </p:sp>
      <p:sp>
        <p:nvSpPr>
          <p:cNvPr id="24" name="Rounded Rectangle 23"/>
          <p:cNvSpPr/>
          <p:nvPr/>
        </p:nvSpPr>
        <p:spPr>
          <a:xfrm>
            <a:off x="566928" y="5138927"/>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5138927"/>
            <a:ext cx="310896" cy="274320"/>
          </a:xfrm>
          <a:prstGeom prst="rect">
            <a:avLst/>
          </a:prstGeom>
          <a:noFill/>
        </p:spPr>
        <p:txBody>
          <a:bodyPr wrap="square" lIns="0" rIns="0" tIns="0" bIns="0" anchor="ctr">
            <a:spAutoFit/>
          </a:bodyPr>
          <a:lstStyle/>
          <a:p>
            <a:pPr algn="ctr"/>
            <a:r>
              <a:rPr sz="1200" b="1">
                <a:solidFill>
                  <a:srgbClr val="FF9900"/>
                </a:solidFill>
                <a:latin typeface="Calibri"/>
              </a:rPr>
              <a:t>5</a:t>
            </a:r>
          </a:p>
        </p:txBody>
      </p:sp>
      <p:sp>
        <p:nvSpPr>
          <p:cNvPr id="26" name="TextBox 25"/>
          <p:cNvSpPr txBox="1"/>
          <p:nvPr/>
        </p:nvSpPr>
        <p:spPr>
          <a:xfrm>
            <a:off x="1005840" y="5120640"/>
            <a:ext cx="10625328" cy="768096"/>
          </a:xfrm>
          <a:prstGeom prst="rect">
            <a:avLst/>
          </a:prstGeom>
          <a:noFill/>
        </p:spPr>
        <p:txBody>
          <a:bodyPr wrap="square" lIns="0" rIns="0" tIns="0" bIns="0" anchor="t">
            <a:spAutoFit/>
          </a:bodyPr>
          <a:lstStyle/>
          <a:p>
            <a:pPr algn="l"/>
            <a:r>
              <a:rPr sz="1450" b="1">
                <a:solidFill>
                  <a:srgbClr val="232F3E"/>
                </a:solidFill>
                <a:latin typeface="Calibri"/>
              </a:rPr>
              <a:t>What you give up. </a:t>
            </a:r>
            <a:r>
              <a:rPr sz="1450" b="0">
                <a:solidFill>
                  <a:srgbClr val="16191F"/>
                </a:solidFill>
                <a:latin typeface="Calibri"/>
              </a:rPr>
              <a:t>Control of the container: no sidecars, no long-lived in-process cache, and a cold start on the first turn of an idle session.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eep-dive: AgentCore Runtime — reliability and security. Blast radius of an in-process tool registry versus one microVM and one IAM role per session."/>
          <p:cNvPicPr>
            <a:picLocks noChangeAspect="1"/>
          </p:cNvPicPr>
          <p:nvPr/>
        </p:nvPicPr>
        <p:blipFill>
          <a:blip r:embed="rId2"/>
          <a:stretch>
            <a:fillRect/>
          </a:stretch>
        </p:blipFill>
        <p:spPr>
          <a:xfrm>
            <a:off x="0" y="0"/>
            <a:ext cx="12192000" cy="6858000"/>
          </a:xfrm>
          <a:prstGeom prst="rect">
            <a:avLst/>
          </a:prstGeom>
        </p:spPr>
      </p:pic>
      <p:sp>
        <p:nvSpPr>
          <p:cNvPr id="4" name="Oval 3"/>
          <p:cNvSpPr/>
          <p:nvPr/>
        </p:nvSpPr>
        <p:spPr>
          <a:xfrm>
            <a:off x="502920" y="365760"/>
            <a:ext cx="594360" cy="59436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232F3E"/>
                </a:solidFill>
                <a:latin typeface="Calibri"/>
              </a:rPr>
              <a:t>6</a:t>
            </a:r>
          </a:p>
        </p:txBody>
      </p:sp>
      <p:sp>
        <p:nvSpPr>
          <p:cNvPr id="6" name="TextBox 5"/>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A6B0BA"/>
                </a:solidFill>
                <a:latin typeface="Calibri"/>
              </a:rPr>
              <a:t>VALENTIN   ·   GenAI TFC Capstone Deep-Dive</a:t>
            </a:r>
          </a:p>
        </p:txBody>
      </p:sp>
      <p:sp>
        <p:nvSpPr>
          <p:cNvPr id="7" name="TextBox 6"/>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A6B0BA"/>
                </a:solidFill>
                <a:latin typeface="Calibri"/>
              </a:rPr>
              <a:t>7 /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eep-dive: AgentCore Runtime — cost. Two bills split into what is fixed and what grows with usage."/>
          <p:cNvPicPr>
            <a:picLocks noChangeAspect="1"/>
          </p:cNvPicPr>
          <p:nvPr/>
        </p:nvPicPr>
        <p:blipFill>
          <a:blip r:embed="rId2"/>
          <a:stretch>
            <a:fillRect/>
          </a:stretch>
        </p:blipFill>
        <p:spPr>
          <a:xfrm>
            <a:off x="0" y="0"/>
            <a:ext cx="12192000" cy="6858000"/>
          </a:xfrm>
          <a:prstGeom prst="rect">
            <a:avLst/>
          </a:prstGeom>
        </p:spPr>
      </p:pic>
      <p:sp>
        <p:nvSpPr>
          <p:cNvPr id="4" name="Oval 3"/>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7</a:t>
            </a:r>
          </a:p>
        </p:txBody>
      </p:sp>
      <p:sp>
        <p:nvSpPr>
          <p:cNvPr id="6" name="TextBox 5"/>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7" name="TextBox 6"/>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8 / 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8</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9 / 15</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2400" b="1">
                <a:solidFill>
                  <a:srgbClr val="232F3E"/>
                </a:solidFill>
                <a:latin typeface="Calibri"/>
              </a:rPr>
              <a:t>Memory — DynamoDB + a second call vs. AgentCore Memory</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How the agent remembers her, and who owns the extraction prompt.</a:t>
            </a:r>
          </a:p>
        </p:txBody>
      </p:sp>
      <p:sp>
        <p:nvSpPr>
          <p:cNvPr id="10" name="Rounded Rectangle 9"/>
          <p:cNvSpPr/>
          <p:nvPr/>
        </p:nvSpPr>
        <p:spPr>
          <a:xfrm>
            <a:off x="9052560" y="1243584"/>
            <a:ext cx="2606040" cy="274320"/>
          </a:xfrm>
          <a:prstGeom prst="roundRect">
            <a:avLst>
              <a:gd name="adj" fmla="val 43333"/>
            </a:avLst>
          </a:prstGeom>
          <a:noFill/>
          <a:ln w="1270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1243584"/>
            <a:ext cx="2606040" cy="274320"/>
          </a:xfrm>
          <a:prstGeom prst="rect">
            <a:avLst/>
          </a:prstGeom>
          <a:noFill/>
        </p:spPr>
        <p:txBody>
          <a:bodyPr wrap="square" lIns="0" rIns="0" tIns="0" bIns="0" anchor="ctr">
            <a:spAutoFit/>
          </a:bodyPr>
          <a:lstStyle/>
          <a:p>
            <a:pPr algn="ctr"/>
            <a:r>
              <a:rPr sz="950" b="1">
                <a:solidFill>
                  <a:srgbClr val="FF9900"/>
                </a:solidFill>
                <a:latin typeface="Calibri"/>
              </a:rPr>
              <a:t>PLACEHOLDER · MESSAGES ONLY</a:t>
            </a:r>
          </a:p>
        </p:txBody>
      </p:sp>
      <p:sp>
        <p:nvSpPr>
          <p:cNvPr id="12" name="Rounded Rectangle 11"/>
          <p:cNvSpPr/>
          <p:nvPr/>
        </p:nvSpPr>
        <p:spPr>
          <a:xfrm>
            <a:off x="566928" y="184708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847088"/>
            <a:ext cx="310896" cy="274320"/>
          </a:xfrm>
          <a:prstGeom prst="rect">
            <a:avLst/>
          </a:prstGeom>
          <a:noFill/>
        </p:spPr>
        <p:txBody>
          <a:bodyPr wrap="square" lIns="0" rIns="0" tIns="0" bIns="0" anchor="ctr">
            <a:spAutoFit/>
          </a:bodyPr>
          <a:lstStyle/>
          <a:p>
            <a:pPr algn="ctr"/>
            <a:r>
              <a:rPr sz="1200" b="1">
                <a:solidFill>
                  <a:srgbClr val="FF9900"/>
                </a:solidFill>
                <a:latin typeface="Calibri"/>
              </a:rPr>
              <a:t>1</a:t>
            </a:r>
          </a:p>
        </p:txBody>
      </p:sp>
      <p:sp>
        <p:nvSpPr>
          <p:cNvPr id="14" name="TextBox 13"/>
          <p:cNvSpPr txBox="1"/>
          <p:nvPr/>
        </p:nvSpPr>
        <p:spPr>
          <a:xfrm>
            <a:off x="1005840" y="1828800"/>
            <a:ext cx="10625328" cy="768096"/>
          </a:xfrm>
          <a:prstGeom prst="rect">
            <a:avLst/>
          </a:prstGeom>
          <a:noFill/>
        </p:spPr>
        <p:txBody>
          <a:bodyPr wrap="square" lIns="0" rIns="0" tIns="0" bIns="0" anchor="t">
            <a:spAutoFit/>
          </a:bodyPr>
          <a:lstStyle/>
          <a:p>
            <a:pPr algn="l"/>
            <a:r>
              <a:rPr sz="1450" b="1">
                <a:solidFill>
                  <a:srgbClr val="232F3E"/>
                </a:solidFill>
                <a:latin typeface="Calibri"/>
              </a:rPr>
              <a:t>Engine A pays a second model call per turn. </a:t>
            </a:r>
            <a:r>
              <a:rPr sz="1450" b="0">
                <a:solidFill>
                  <a:srgbClr val="16191F"/>
                </a:solidFill>
                <a:latin typeface="Calibri"/>
              </a:rPr>
              <a:t>Extracting preferences needs its own Bedrock invocation — $1.385 per user per month, and an extraction prompt that is mine to maintain forever.</a:t>
            </a:r>
          </a:p>
        </p:txBody>
      </p:sp>
      <p:sp>
        <p:nvSpPr>
          <p:cNvPr id="15" name="Rounded Rectangle 14"/>
          <p:cNvSpPr/>
          <p:nvPr/>
        </p:nvSpPr>
        <p:spPr>
          <a:xfrm>
            <a:off x="566928" y="267004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670048"/>
            <a:ext cx="310896" cy="274320"/>
          </a:xfrm>
          <a:prstGeom prst="rect">
            <a:avLst/>
          </a:prstGeom>
          <a:noFill/>
        </p:spPr>
        <p:txBody>
          <a:bodyPr wrap="square" lIns="0" rIns="0" tIns="0" bIns="0" anchor="ctr">
            <a:spAutoFit/>
          </a:bodyPr>
          <a:lstStyle/>
          <a:p>
            <a:pPr algn="ctr"/>
            <a:r>
              <a:rPr sz="1200" b="1">
                <a:solidFill>
                  <a:srgbClr val="FF9900"/>
                </a:solidFill>
                <a:latin typeface="Calibri"/>
              </a:rPr>
              <a:t>2</a:t>
            </a:r>
          </a:p>
        </p:txBody>
      </p:sp>
      <p:sp>
        <p:nvSpPr>
          <p:cNvPr id="17" name="TextBox 16"/>
          <p:cNvSpPr txBox="1"/>
          <p:nvPr/>
        </p:nvSpPr>
        <p:spPr>
          <a:xfrm>
            <a:off x="1005840" y="2651760"/>
            <a:ext cx="10625328" cy="768096"/>
          </a:xfrm>
          <a:prstGeom prst="rect">
            <a:avLst/>
          </a:prstGeom>
          <a:noFill/>
        </p:spPr>
        <p:txBody>
          <a:bodyPr wrap="square" lIns="0" rIns="0" tIns="0" bIns="0" anchor="t">
            <a:spAutoFit/>
          </a:bodyPr>
          <a:lstStyle/>
          <a:p>
            <a:pPr algn="l"/>
            <a:r>
              <a:rPr sz="1450" b="1">
                <a:solidFill>
                  <a:srgbClr val="232F3E"/>
                </a:solidFill>
                <a:latin typeface="Calibri"/>
              </a:rPr>
              <a:t>AgentCore Memory folds extraction into the service. </a:t>
            </a:r>
            <a:r>
              <a:rPr sz="1450" b="0">
                <a:solidFill>
                  <a:srgbClr val="16191F"/>
                </a:solidFill>
                <a:latin typeface="Calibri"/>
              </a:rPr>
              <a:t>One event written, one retrieval read per turn: $0.098 per user per month, 14× cheaper, and one fewer prompt to own.</a:t>
            </a:r>
          </a:p>
        </p:txBody>
      </p:sp>
      <p:sp>
        <p:nvSpPr>
          <p:cNvPr id="18" name="Rounded Rectangle 17"/>
          <p:cNvSpPr/>
          <p:nvPr/>
        </p:nvSpPr>
        <p:spPr>
          <a:xfrm>
            <a:off x="566928" y="349300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493008"/>
            <a:ext cx="310896" cy="274320"/>
          </a:xfrm>
          <a:prstGeom prst="rect">
            <a:avLst/>
          </a:prstGeom>
          <a:noFill/>
        </p:spPr>
        <p:txBody>
          <a:bodyPr wrap="square" lIns="0" rIns="0" tIns="0" bIns="0" anchor="ctr">
            <a:spAutoFit/>
          </a:bodyPr>
          <a:lstStyle/>
          <a:p>
            <a:pPr algn="ctr"/>
            <a:r>
              <a:rPr sz="1200" b="1">
                <a:solidFill>
                  <a:srgbClr val="FF9900"/>
                </a:solidFill>
                <a:latin typeface="Calibri"/>
              </a:rPr>
              <a:t>3</a:t>
            </a:r>
          </a:p>
        </p:txBody>
      </p:sp>
      <p:sp>
        <p:nvSpPr>
          <p:cNvPr id="20" name="TextBox 19"/>
          <p:cNvSpPr txBox="1"/>
          <p:nvPr/>
        </p:nvSpPr>
        <p:spPr>
          <a:xfrm>
            <a:off x="1005840" y="3474720"/>
            <a:ext cx="10625328" cy="768096"/>
          </a:xfrm>
          <a:prstGeom prst="rect">
            <a:avLst/>
          </a:prstGeom>
          <a:noFill/>
        </p:spPr>
        <p:txBody>
          <a:bodyPr wrap="square" lIns="0" rIns="0" tIns="0" bIns="0" anchor="t">
            <a:spAutoFit/>
          </a:bodyPr>
          <a:lstStyle/>
          <a:p>
            <a:pPr algn="l"/>
            <a:r>
              <a:rPr sz="1450" b="1">
                <a:solidFill>
                  <a:srgbClr val="232F3E"/>
                </a:solidFill>
                <a:latin typeface="Calibri"/>
              </a:rPr>
              <a:t>It is not cheap storage — it is a replaced call. </a:t>
            </a:r>
            <a:r>
              <a:rPr sz="1450" b="0">
                <a:solidFill>
                  <a:srgbClr val="16191F"/>
                </a:solidFill>
                <a:latin typeface="Calibri"/>
              </a:rPr>
              <a:t>Per turn, Memory is roughly 124× DynamoDB’s price. It only wins because it removes the extraction call, and that is the argument to make.</a:t>
            </a:r>
          </a:p>
        </p:txBody>
      </p:sp>
      <p:sp>
        <p:nvSpPr>
          <p:cNvPr id="21" name="Rounded Rectangle 20"/>
          <p:cNvSpPr/>
          <p:nvPr/>
        </p:nvSpPr>
        <p:spPr>
          <a:xfrm>
            <a:off x="566928" y="431596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315968"/>
            <a:ext cx="310896" cy="274320"/>
          </a:xfrm>
          <a:prstGeom prst="rect">
            <a:avLst/>
          </a:prstGeom>
          <a:noFill/>
        </p:spPr>
        <p:txBody>
          <a:bodyPr wrap="square" lIns="0" rIns="0" tIns="0" bIns="0" anchor="ctr">
            <a:spAutoFit/>
          </a:bodyPr>
          <a:lstStyle/>
          <a:p>
            <a:pPr algn="ctr"/>
            <a:r>
              <a:rPr sz="1200" b="1">
                <a:solidFill>
                  <a:srgbClr val="FF9900"/>
                </a:solidFill>
                <a:latin typeface="Calibri"/>
              </a:rPr>
              <a:t>4</a:t>
            </a:r>
          </a:p>
        </p:txBody>
      </p:sp>
      <p:sp>
        <p:nvSpPr>
          <p:cNvPr id="23" name="TextBox 22"/>
          <p:cNvSpPr txBox="1"/>
          <p:nvPr/>
        </p:nvSpPr>
        <p:spPr>
          <a:xfrm>
            <a:off x="1005840" y="4297680"/>
            <a:ext cx="10625328" cy="768096"/>
          </a:xfrm>
          <a:prstGeom prst="rect">
            <a:avLst/>
          </a:prstGeom>
          <a:noFill/>
        </p:spPr>
        <p:txBody>
          <a:bodyPr wrap="square" lIns="0" rIns="0" tIns="0" bIns="0" anchor="t">
            <a:spAutoFit/>
          </a:bodyPr>
          <a:lstStyle/>
          <a:p>
            <a:pPr algn="l"/>
            <a:r>
              <a:rPr sz="1450" b="1">
                <a:solidFill>
                  <a:srgbClr val="232F3E"/>
                </a:solidFill>
                <a:latin typeface="Calibri"/>
              </a:rPr>
              <a:t>One unresolved risk, worth flagging out loud. </a:t>
            </a:r>
            <a:r>
              <a:rPr sz="1450" b="0">
                <a:solidFill>
                  <a:srgbClr val="16191F"/>
                </a:solidFill>
                <a:latin typeface="Calibri"/>
              </a:rPr>
              <a:t>If retrievals meter per record rather than per call, engine B becomes 3.8× worse. Confirm with the service team before quoting any figure.</a:t>
            </a:r>
          </a:p>
        </p:txBody>
      </p:sp>
      <p:sp>
        <p:nvSpPr>
          <p:cNvPr id="24" name="Rounded Rectangle 23"/>
          <p:cNvSpPr/>
          <p:nvPr/>
        </p:nvSpPr>
        <p:spPr>
          <a:xfrm>
            <a:off x="566928" y="5138927"/>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5138927"/>
            <a:ext cx="310896" cy="274320"/>
          </a:xfrm>
          <a:prstGeom prst="rect">
            <a:avLst/>
          </a:prstGeom>
          <a:noFill/>
        </p:spPr>
        <p:txBody>
          <a:bodyPr wrap="square" lIns="0" rIns="0" tIns="0" bIns="0" anchor="ctr">
            <a:spAutoFit/>
          </a:bodyPr>
          <a:lstStyle/>
          <a:p>
            <a:pPr algn="ctr"/>
            <a:r>
              <a:rPr sz="1200" b="1">
                <a:solidFill>
                  <a:srgbClr val="FF9900"/>
                </a:solidFill>
                <a:latin typeface="Calibri"/>
              </a:rPr>
              <a:t>5</a:t>
            </a:r>
          </a:p>
        </p:txBody>
      </p:sp>
      <p:sp>
        <p:nvSpPr>
          <p:cNvPr id="26" name="TextBox 25"/>
          <p:cNvSpPr txBox="1"/>
          <p:nvPr/>
        </p:nvSpPr>
        <p:spPr>
          <a:xfrm>
            <a:off x="1005840" y="5120640"/>
            <a:ext cx="10625328" cy="768096"/>
          </a:xfrm>
          <a:prstGeom prst="rect">
            <a:avLst/>
          </a:prstGeom>
          <a:noFill/>
        </p:spPr>
        <p:txBody>
          <a:bodyPr wrap="square" lIns="0" rIns="0" tIns="0" bIns="0" anchor="t">
            <a:spAutoFit/>
          </a:bodyPr>
          <a:lstStyle/>
          <a:p>
            <a:pPr algn="l"/>
            <a:r>
              <a:rPr sz="1450" b="1">
                <a:solidFill>
                  <a:srgbClr val="232F3E"/>
                </a:solidFill>
                <a:latin typeface="Calibri"/>
              </a:rPr>
              <a:t>What you give up. </a:t>
            </a:r>
            <a:r>
              <a:rPr sz="1450" b="0">
                <a:solidFill>
                  <a:srgbClr val="16191F"/>
                </a:solidFill>
                <a:latin typeface="Calibri"/>
              </a:rPr>
              <a:t>The extraction schema. DynamoDB let me define exactly what counts as a preference — including preferenceCategoryCount, which nothing managed would have given 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9</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10 / 15</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2400" b="1">
                <a:solidFill>
                  <a:srgbClr val="232F3E"/>
                </a:solidFill>
                <a:latin typeface="Calibri"/>
              </a:rPr>
              <a:t>Tool use — in-process registry vs. AgentCore Gateway</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How the agent reaches Spotify, Gmail and the calendar — and who holds the credentials.</a:t>
            </a:r>
          </a:p>
        </p:txBody>
      </p:sp>
      <p:sp>
        <p:nvSpPr>
          <p:cNvPr id="10" name="Rounded Rectangle 9"/>
          <p:cNvSpPr/>
          <p:nvPr/>
        </p:nvSpPr>
        <p:spPr>
          <a:xfrm>
            <a:off x="9052560" y="1243584"/>
            <a:ext cx="2606040" cy="274320"/>
          </a:xfrm>
          <a:prstGeom prst="roundRect">
            <a:avLst>
              <a:gd name="adj" fmla="val 43333"/>
            </a:avLst>
          </a:prstGeom>
          <a:noFill/>
          <a:ln w="1270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1243584"/>
            <a:ext cx="2606040" cy="274320"/>
          </a:xfrm>
          <a:prstGeom prst="rect">
            <a:avLst/>
          </a:prstGeom>
          <a:noFill/>
        </p:spPr>
        <p:txBody>
          <a:bodyPr wrap="square" lIns="0" rIns="0" tIns="0" bIns="0" anchor="ctr">
            <a:spAutoFit/>
          </a:bodyPr>
          <a:lstStyle/>
          <a:p>
            <a:pPr algn="ctr"/>
            <a:r>
              <a:rPr sz="950" b="1">
                <a:solidFill>
                  <a:srgbClr val="FF9900"/>
                </a:solidFill>
                <a:latin typeface="Calibri"/>
              </a:rPr>
              <a:t>PLACEHOLDER · MESSAGES ONLY</a:t>
            </a:r>
          </a:p>
        </p:txBody>
      </p:sp>
      <p:sp>
        <p:nvSpPr>
          <p:cNvPr id="12" name="Rounded Rectangle 11"/>
          <p:cNvSpPr/>
          <p:nvPr/>
        </p:nvSpPr>
        <p:spPr>
          <a:xfrm>
            <a:off x="566928" y="184708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847088"/>
            <a:ext cx="310896" cy="274320"/>
          </a:xfrm>
          <a:prstGeom prst="rect">
            <a:avLst/>
          </a:prstGeom>
          <a:noFill/>
        </p:spPr>
        <p:txBody>
          <a:bodyPr wrap="square" lIns="0" rIns="0" tIns="0" bIns="0" anchor="ctr">
            <a:spAutoFit/>
          </a:bodyPr>
          <a:lstStyle/>
          <a:p>
            <a:pPr algn="ctr"/>
            <a:r>
              <a:rPr sz="1200" b="1">
                <a:solidFill>
                  <a:srgbClr val="FF9900"/>
                </a:solidFill>
                <a:latin typeface="Calibri"/>
              </a:rPr>
              <a:t>1</a:t>
            </a:r>
          </a:p>
        </p:txBody>
      </p:sp>
      <p:sp>
        <p:nvSpPr>
          <p:cNvPr id="14" name="TextBox 13"/>
          <p:cNvSpPr txBox="1"/>
          <p:nvPr/>
        </p:nvSpPr>
        <p:spPr>
          <a:xfrm>
            <a:off x="1005840" y="1828800"/>
            <a:ext cx="10625328" cy="768096"/>
          </a:xfrm>
          <a:prstGeom prst="rect">
            <a:avLst/>
          </a:prstGeom>
          <a:noFill/>
        </p:spPr>
        <p:txBody>
          <a:bodyPr wrap="square" lIns="0" rIns="0" tIns="0" bIns="0" anchor="t">
            <a:spAutoFit/>
          </a:bodyPr>
          <a:lstStyle/>
          <a:p>
            <a:pPr algn="l"/>
            <a:r>
              <a:rPr sz="1450" b="1">
                <a:solidFill>
                  <a:srgbClr val="232F3E"/>
                </a:solidFill>
                <a:latin typeface="Calibri"/>
              </a:rPr>
              <a:t>The in-process registry is the worst thing in engine A. </a:t>
            </a:r>
            <a:r>
              <a:rPr sz="1450" b="0">
                <a:solidFill>
                  <a:srgbClr val="16191F"/>
                </a:solidFill>
                <a:latin typeface="Calibri"/>
              </a:rPr>
              <a:t>A process-wide singleton holds every user’s credentials in the same heap as every live session.</a:t>
            </a:r>
          </a:p>
        </p:txBody>
      </p:sp>
      <p:sp>
        <p:nvSpPr>
          <p:cNvPr id="15" name="Rounded Rectangle 14"/>
          <p:cNvSpPr/>
          <p:nvPr/>
        </p:nvSpPr>
        <p:spPr>
          <a:xfrm>
            <a:off x="566928" y="267004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670048"/>
            <a:ext cx="310896" cy="274320"/>
          </a:xfrm>
          <a:prstGeom prst="rect">
            <a:avLst/>
          </a:prstGeom>
          <a:noFill/>
        </p:spPr>
        <p:txBody>
          <a:bodyPr wrap="square" lIns="0" rIns="0" tIns="0" bIns="0" anchor="ctr">
            <a:spAutoFit/>
          </a:bodyPr>
          <a:lstStyle/>
          <a:p>
            <a:pPr algn="ctr"/>
            <a:r>
              <a:rPr sz="1200" b="1">
                <a:solidFill>
                  <a:srgbClr val="FF9900"/>
                </a:solidFill>
                <a:latin typeface="Calibri"/>
              </a:rPr>
              <a:t>2</a:t>
            </a:r>
          </a:p>
        </p:txBody>
      </p:sp>
      <p:sp>
        <p:nvSpPr>
          <p:cNvPr id="17" name="TextBox 16"/>
          <p:cNvSpPr txBox="1"/>
          <p:nvPr/>
        </p:nvSpPr>
        <p:spPr>
          <a:xfrm>
            <a:off x="1005840" y="2651760"/>
            <a:ext cx="10625328" cy="768096"/>
          </a:xfrm>
          <a:prstGeom prst="rect">
            <a:avLst/>
          </a:prstGeom>
          <a:noFill/>
        </p:spPr>
        <p:txBody>
          <a:bodyPr wrap="square" lIns="0" rIns="0" tIns="0" bIns="0" anchor="t">
            <a:spAutoFit/>
          </a:bodyPr>
          <a:lstStyle/>
          <a:p>
            <a:pPr algn="l"/>
            <a:r>
              <a:rPr sz="1450" b="1">
                <a:solidFill>
                  <a:srgbClr val="232F3E"/>
                </a:solidFill>
                <a:latin typeface="Calibri"/>
              </a:rPr>
              <a:t>That is the highest-severity finding in the comparison. </a:t>
            </a:r>
            <a:r>
              <a:rPr sz="1450" b="0">
                <a:solidFill>
                  <a:srgbClr val="16191F"/>
                </a:solidFill>
                <a:latin typeface="Calibri"/>
              </a:rPr>
              <a:t>An injection that pivots to the registry reaches the shared Bedrock client and everyone’s tokens — not just the attacker’s own session.</a:t>
            </a:r>
          </a:p>
        </p:txBody>
      </p:sp>
      <p:sp>
        <p:nvSpPr>
          <p:cNvPr id="18" name="Rounded Rectangle 17"/>
          <p:cNvSpPr/>
          <p:nvPr/>
        </p:nvSpPr>
        <p:spPr>
          <a:xfrm>
            <a:off x="566928" y="349300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493008"/>
            <a:ext cx="310896" cy="274320"/>
          </a:xfrm>
          <a:prstGeom prst="rect">
            <a:avLst/>
          </a:prstGeom>
          <a:noFill/>
        </p:spPr>
        <p:txBody>
          <a:bodyPr wrap="square" lIns="0" rIns="0" tIns="0" bIns="0" anchor="ctr">
            <a:spAutoFit/>
          </a:bodyPr>
          <a:lstStyle/>
          <a:p>
            <a:pPr algn="ctr"/>
            <a:r>
              <a:rPr sz="1200" b="1">
                <a:solidFill>
                  <a:srgbClr val="FF9900"/>
                </a:solidFill>
                <a:latin typeface="Calibri"/>
              </a:rPr>
              <a:t>3</a:t>
            </a:r>
          </a:p>
        </p:txBody>
      </p:sp>
      <p:sp>
        <p:nvSpPr>
          <p:cNvPr id="20" name="TextBox 19"/>
          <p:cNvSpPr txBox="1"/>
          <p:nvPr/>
        </p:nvSpPr>
        <p:spPr>
          <a:xfrm>
            <a:off x="1005840" y="3474720"/>
            <a:ext cx="10625328" cy="768096"/>
          </a:xfrm>
          <a:prstGeom prst="rect">
            <a:avLst/>
          </a:prstGeom>
          <a:noFill/>
        </p:spPr>
        <p:txBody>
          <a:bodyPr wrap="square" lIns="0" rIns="0" tIns="0" bIns="0" anchor="t">
            <a:spAutoFit/>
          </a:bodyPr>
          <a:lstStyle/>
          <a:p>
            <a:pPr algn="l"/>
            <a:r>
              <a:rPr sz="1450" b="1">
                <a:solidFill>
                  <a:srgbClr val="232F3E"/>
                </a:solidFill>
                <a:latin typeface="Calibri"/>
              </a:rPr>
              <a:t>Gateway moves the tool surface out of the process. </a:t>
            </a:r>
            <a:r>
              <a:rPr sz="1450" b="0">
                <a:solidFill>
                  <a:srgbClr val="16191F"/>
                </a:solidFill>
                <a:latin typeface="Calibri"/>
              </a:rPr>
              <a:t>Three tools indexed, auth resolved per tool, $0.0006 a month — the only fixed line on the entire AgentCore bill.</a:t>
            </a:r>
          </a:p>
        </p:txBody>
      </p:sp>
      <p:sp>
        <p:nvSpPr>
          <p:cNvPr id="21" name="Rounded Rectangle 20"/>
          <p:cNvSpPr/>
          <p:nvPr/>
        </p:nvSpPr>
        <p:spPr>
          <a:xfrm>
            <a:off x="566928" y="431596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315968"/>
            <a:ext cx="310896" cy="274320"/>
          </a:xfrm>
          <a:prstGeom prst="rect">
            <a:avLst/>
          </a:prstGeom>
          <a:noFill/>
        </p:spPr>
        <p:txBody>
          <a:bodyPr wrap="square" lIns="0" rIns="0" tIns="0" bIns="0" anchor="ctr">
            <a:spAutoFit/>
          </a:bodyPr>
          <a:lstStyle/>
          <a:p>
            <a:pPr algn="ctr"/>
            <a:r>
              <a:rPr sz="1200" b="1">
                <a:solidFill>
                  <a:srgbClr val="FF9900"/>
                </a:solidFill>
                <a:latin typeface="Calibri"/>
              </a:rPr>
              <a:t>4</a:t>
            </a:r>
          </a:p>
        </p:txBody>
      </p:sp>
      <p:sp>
        <p:nvSpPr>
          <p:cNvPr id="23" name="TextBox 22"/>
          <p:cNvSpPr txBox="1"/>
          <p:nvPr/>
        </p:nvSpPr>
        <p:spPr>
          <a:xfrm>
            <a:off x="1005840" y="4297680"/>
            <a:ext cx="10625328" cy="768096"/>
          </a:xfrm>
          <a:prstGeom prst="rect">
            <a:avLst/>
          </a:prstGeom>
          <a:noFill/>
        </p:spPr>
        <p:txBody>
          <a:bodyPr wrap="square" lIns="0" rIns="0" tIns="0" bIns="0" anchor="t">
            <a:spAutoFit/>
          </a:bodyPr>
          <a:lstStyle/>
          <a:p>
            <a:pPr algn="l"/>
            <a:r>
              <a:rPr sz="1450" b="1">
                <a:solidFill>
                  <a:srgbClr val="232F3E"/>
                </a:solidFill>
                <a:latin typeface="Calibri"/>
              </a:rPr>
              <a:t>It also turns the tool list into data. </a:t>
            </a:r>
            <a:r>
              <a:rPr sz="1450" b="0">
                <a:solidFill>
                  <a:srgbClr val="16191F"/>
                </a:solidFill>
                <a:latin typeface="Calibri"/>
              </a:rPr>
              <a:t>Adding or revoking a tool stops being a deploy, which is what actually changes how fast the agent can grow.</a:t>
            </a:r>
          </a:p>
        </p:txBody>
      </p:sp>
      <p:sp>
        <p:nvSpPr>
          <p:cNvPr id="24" name="Rounded Rectangle 23"/>
          <p:cNvSpPr/>
          <p:nvPr/>
        </p:nvSpPr>
        <p:spPr>
          <a:xfrm>
            <a:off x="566928" y="5138927"/>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5138927"/>
            <a:ext cx="310896" cy="274320"/>
          </a:xfrm>
          <a:prstGeom prst="rect">
            <a:avLst/>
          </a:prstGeom>
          <a:noFill/>
        </p:spPr>
        <p:txBody>
          <a:bodyPr wrap="square" lIns="0" rIns="0" tIns="0" bIns="0" anchor="ctr">
            <a:spAutoFit/>
          </a:bodyPr>
          <a:lstStyle/>
          <a:p>
            <a:pPr algn="ctr"/>
            <a:r>
              <a:rPr sz="1200" b="1">
                <a:solidFill>
                  <a:srgbClr val="FF9900"/>
                </a:solidFill>
                <a:latin typeface="Calibri"/>
              </a:rPr>
              <a:t>5</a:t>
            </a:r>
          </a:p>
        </p:txBody>
      </p:sp>
      <p:sp>
        <p:nvSpPr>
          <p:cNvPr id="26" name="TextBox 25"/>
          <p:cNvSpPr txBox="1"/>
          <p:nvPr/>
        </p:nvSpPr>
        <p:spPr>
          <a:xfrm>
            <a:off x="1005840" y="5120640"/>
            <a:ext cx="10625328" cy="768096"/>
          </a:xfrm>
          <a:prstGeom prst="rect">
            <a:avLst/>
          </a:prstGeom>
          <a:noFill/>
        </p:spPr>
        <p:txBody>
          <a:bodyPr wrap="square" lIns="0" rIns="0" tIns="0" bIns="0" anchor="t">
            <a:spAutoFit/>
          </a:bodyPr>
          <a:lstStyle/>
          <a:p>
            <a:pPr algn="l"/>
            <a:r>
              <a:rPr sz="1450" b="1">
                <a:solidFill>
                  <a:srgbClr val="232F3E"/>
                </a:solidFill>
                <a:latin typeface="Calibri"/>
              </a:rPr>
              <a:t>What you give up. </a:t>
            </a:r>
            <a:r>
              <a:rPr sz="1450" b="0">
                <a:solidFill>
                  <a:srgbClr val="16191F"/>
                </a:solidFill>
                <a:latin typeface="Calibri"/>
              </a:rPr>
              <a:t>In-process latency, and the freedom to hand a tool an arbitrary Node object instead of a serialisable contract.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10</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11 / 15</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2400" b="1">
                <a:solidFill>
                  <a:srgbClr val="232F3E"/>
                </a:solidFill>
                <a:latin typeface="Calibri"/>
              </a:rPr>
              <a:t>Observability — hand-wired OTEL vs. AgentCore Observability</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What you can actually see when a turn goes wrong at two in the morning.</a:t>
            </a:r>
          </a:p>
        </p:txBody>
      </p:sp>
      <p:sp>
        <p:nvSpPr>
          <p:cNvPr id="10" name="Rounded Rectangle 9"/>
          <p:cNvSpPr/>
          <p:nvPr/>
        </p:nvSpPr>
        <p:spPr>
          <a:xfrm>
            <a:off x="9052560" y="1243584"/>
            <a:ext cx="2606040" cy="274320"/>
          </a:xfrm>
          <a:prstGeom prst="roundRect">
            <a:avLst>
              <a:gd name="adj" fmla="val 43333"/>
            </a:avLst>
          </a:prstGeom>
          <a:noFill/>
          <a:ln w="1270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1243584"/>
            <a:ext cx="2606040" cy="274320"/>
          </a:xfrm>
          <a:prstGeom prst="rect">
            <a:avLst/>
          </a:prstGeom>
          <a:noFill/>
        </p:spPr>
        <p:txBody>
          <a:bodyPr wrap="square" lIns="0" rIns="0" tIns="0" bIns="0" anchor="ctr">
            <a:spAutoFit/>
          </a:bodyPr>
          <a:lstStyle/>
          <a:p>
            <a:pPr algn="ctr"/>
            <a:r>
              <a:rPr sz="950" b="1">
                <a:solidFill>
                  <a:srgbClr val="FF9900"/>
                </a:solidFill>
                <a:latin typeface="Calibri"/>
              </a:rPr>
              <a:t>PLACEHOLDER · MESSAGES ONLY</a:t>
            </a:r>
          </a:p>
        </p:txBody>
      </p:sp>
      <p:sp>
        <p:nvSpPr>
          <p:cNvPr id="12" name="Rounded Rectangle 11"/>
          <p:cNvSpPr/>
          <p:nvPr/>
        </p:nvSpPr>
        <p:spPr>
          <a:xfrm>
            <a:off x="566928" y="184708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847088"/>
            <a:ext cx="310896" cy="274320"/>
          </a:xfrm>
          <a:prstGeom prst="rect">
            <a:avLst/>
          </a:prstGeom>
          <a:noFill/>
        </p:spPr>
        <p:txBody>
          <a:bodyPr wrap="square" lIns="0" rIns="0" tIns="0" bIns="0" anchor="ctr">
            <a:spAutoFit/>
          </a:bodyPr>
          <a:lstStyle/>
          <a:p>
            <a:pPr algn="ctr"/>
            <a:r>
              <a:rPr sz="1200" b="1">
                <a:solidFill>
                  <a:srgbClr val="FF9900"/>
                </a:solidFill>
                <a:latin typeface="Calibri"/>
              </a:rPr>
              <a:t>1</a:t>
            </a:r>
          </a:p>
        </p:txBody>
      </p:sp>
      <p:sp>
        <p:nvSpPr>
          <p:cNvPr id="14" name="TextBox 13"/>
          <p:cNvSpPr txBox="1"/>
          <p:nvPr/>
        </p:nvSpPr>
        <p:spPr>
          <a:xfrm>
            <a:off x="1005840" y="1828800"/>
            <a:ext cx="10625328" cy="768096"/>
          </a:xfrm>
          <a:prstGeom prst="rect">
            <a:avLst/>
          </a:prstGeom>
          <a:noFill/>
        </p:spPr>
        <p:txBody>
          <a:bodyPr wrap="square" lIns="0" rIns="0" tIns="0" bIns="0" anchor="t">
            <a:spAutoFit/>
          </a:bodyPr>
          <a:lstStyle/>
          <a:p>
            <a:pPr algn="l"/>
            <a:r>
              <a:rPr sz="1450" b="1">
                <a:solidFill>
                  <a:srgbClr val="232F3E"/>
                </a:solidFill>
                <a:latin typeface="Calibri"/>
              </a:rPr>
              <a:t>This is the one dimension the DIY side wins. </a:t>
            </a:r>
            <a:r>
              <a:rPr sz="1450" b="0">
                <a:solidFill>
                  <a:srgbClr val="16191F"/>
                </a:solidFill>
                <a:latin typeface="Calibri"/>
              </a:rPr>
              <a:t>Say it plainly — a comparison that goes 4–0 is a sales pitch, and this one does not.</a:t>
            </a:r>
          </a:p>
        </p:txBody>
      </p:sp>
      <p:sp>
        <p:nvSpPr>
          <p:cNvPr id="15" name="Rounded Rectangle 14"/>
          <p:cNvSpPr/>
          <p:nvPr/>
        </p:nvSpPr>
        <p:spPr>
          <a:xfrm>
            <a:off x="566928" y="267004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670048"/>
            <a:ext cx="310896" cy="274320"/>
          </a:xfrm>
          <a:prstGeom prst="rect">
            <a:avLst/>
          </a:prstGeom>
          <a:noFill/>
        </p:spPr>
        <p:txBody>
          <a:bodyPr wrap="square" lIns="0" rIns="0" tIns="0" bIns="0" anchor="ctr">
            <a:spAutoFit/>
          </a:bodyPr>
          <a:lstStyle/>
          <a:p>
            <a:pPr algn="ctr"/>
            <a:r>
              <a:rPr sz="1200" b="1">
                <a:solidFill>
                  <a:srgbClr val="FF9900"/>
                </a:solidFill>
                <a:latin typeface="Calibri"/>
              </a:rPr>
              <a:t>2</a:t>
            </a:r>
          </a:p>
        </p:txBody>
      </p:sp>
      <p:sp>
        <p:nvSpPr>
          <p:cNvPr id="17" name="TextBox 16"/>
          <p:cNvSpPr txBox="1"/>
          <p:nvPr/>
        </p:nvSpPr>
        <p:spPr>
          <a:xfrm>
            <a:off x="1005840" y="2651760"/>
            <a:ext cx="10625328" cy="768096"/>
          </a:xfrm>
          <a:prstGeom prst="rect">
            <a:avLst/>
          </a:prstGeom>
          <a:noFill/>
        </p:spPr>
        <p:txBody>
          <a:bodyPr wrap="square" lIns="0" rIns="0" tIns="0" bIns="0" anchor="t">
            <a:spAutoFit/>
          </a:bodyPr>
          <a:lstStyle/>
          <a:p>
            <a:pPr algn="l"/>
            <a:r>
              <a:rPr sz="1450" b="1">
                <a:solidFill>
                  <a:srgbClr val="232F3E"/>
                </a:solidFill>
                <a:latin typeface="Calibri"/>
              </a:rPr>
              <a:t>Hand-wired OTEL emits exactly the fields I debug with. </a:t>
            </a:r>
            <a:r>
              <a:rPr sz="1450" b="0">
                <a:solidFill>
                  <a:srgbClr val="16191F"/>
                </a:solidFill>
                <a:latin typeface="Calibri"/>
              </a:rPr>
              <a:t>Turn id, tool name, extraction latency, which reminder fired, which partner profile was in flight.</a:t>
            </a:r>
          </a:p>
        </p:txBody>
      </p:sp>
      <p:sp>
        <p:nvSpPr>
          <p:cNvPr id="18" name="Rounded Rectangle 17"/>
          <p:cNvSpPr/>
          <p:nvPr/>
        </p:nvSpPr>
        <p:spPr>
          <a:xfrm>
            <a:off x="566928" y="349300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493008"/>
            <a:ext cx="310896" cy="274320"/>
          </a:xfrm>
          <a:prstGeom prst="rect">
            <a:avLst/>
          </a:prstGeom>
          <a:noFill/>
        </p:spPr>
        <p:txBody>
          <a:bodyPr wrap="square" lIns="0" rIns="0" tIns="0" bIns="0" anchor="ctr">
            <a:spAutoFit/>
          </a:bodyPr>
          <a:lstStyle/>
          <a:p>
            <a:pPr algn="ctr"/>
            <a:r>
              <a:rPr sz="1200" b="1">
                <a:solidFill>
                  <a:srgbClr val="FF9900"/>
                </a:solidFill>
                <a:latin typeface="Calibri"/>
              </a:rPr>
              <a:t>3</a:t>
            </a:r>
          </a:p>
        </p:txBody>
      </p:sp>
      <p:sp>
        <p:nvSpPr>
          <p:cNvPr id="20" name="TextBox 19"/>
          <p:cNvSpPr txBox="1"/>
          <p:nvPr/>
        </p:nvSpPr>
        <p:spPr>
          <a:xfrm>
            <a:off x="1005840" y="3474720"/>
            <a:ext cx="10625328" cy="768096"/>
          </a:xfrm>
          <a:prstGeom prst="rect">
            <a:avLst/>
          </a:prstGeom>
          <a:noFill/>
        </p:spPr>
        <p:txBody>
          <a:bodyPr wrap="square" lIns="0" rIns="0" tIns="0" bIns="0" anchor="t">
            <a:spAutoFit/>
          </a:bodyPr>
          <a:lstStyle/>
          <a:p>
            <a:pPr algn="l"/>
            <a:r>
              <a:rPr sz="1450" b="1">
                <a:solidFill>
                  <a:srgbClr val="232F3E"/>
                </a:solidFill>
                <a:latin typeface="Calibri"/>
              </a:rPr>
              <a:t>AgentCore Observability gives traces for free — on its schema. </a:t>
            </a:r>
            <a:r>
              <a:rPr sz="1450" b="0">
                <a:solidFill>
                  <a:srgbClr val="16191F"/>
                </a:solidFill>
                <a:latin typeface="Calibri"/>
              </a:rPr>
              <a:t>Session-level traces arrive with no work at all, but the fields I actually reach for at 2am are not the ones it emits.</a:t>
            </a:r>
          </a:p>
        </p:txBody>
      </p:sp>
      <p:sp>
        <p:nvSpPr>
          <p:cNvPr id="21" name="Rounded Rectangle 20"/>
          <p:cNvSpPr/>
          <p:nvPr/>
        </p:nvSpPr>
        <p:spPr>
          <a:xfrm>
            <a:off x="566928" y="4315968"/>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315968"/>
            <a:ext cx="310896" cy="274320"/>
          </a:xfrm>
          <a:prstGeom prst="rect">
            <a:avLst/>
          </a:prstGeom>
          <a:noFill/>
        </p:spPr>
        <p:txBody>
          <a:bodyPr wrap="square" lIns="0" rIns="0" tIns="0" bIns="0" anchor="ctr">
            <a:spAutoFit/>
          </a:bodyPr>
          <a:lstStyle/>
          <a:p>
            <a:pPr algn="ctr"/>
            <a:r>
              <a:rPr sz="1200" b="1">
                <a:solidFill>
                  <a:srgbClr val="FF9900"/>
                </a:solidFill>
                <a:latin typeface="Calibri"/>
              </a:rPr>
              <a:t>4</a:t>
            </a:r>
          </a:p>
        </p:txBody>
      </p:sp>
      <p:sp>
        <p:nvSpPr>
          <p:cNvPr id="23" name="TextBox 22"/>
          <p:cNvSpPr txBox="1"/>
          <p:nvPr/>
        </p:nvSpPr>
        <p:spPr>
          <a:xfrm>
            <a:off x="1005840" y="4297680"/>
            <a:ext cx="10625328" cy="768096"/>
          </a:xfrm>
          <a:prstGeom prst="rect">
            <a:avLst/>
          </a:prstGeom>
          <a:noFill/>
        </p:spPr>
        <p:txBody>
          <a:bodyPr wrap="square" lIns="0" rIns="0" tIns="0" bIns="0" anchor="t">
            <a:spAutoFit/>
          </a:bodyPr>
          <a:lstStyle/>
          <a:p>
            <a:pPr algn="l"/>
            <a:r>
              <a:rPr sz="1450" b="1">
                <a:solidFill>
                  <a:srgbClr val="232F3E"/>
                </a:solidFill>
                <a:latin typeface="Calibri"/>
              </a:rPr>
              <a:t>The DIY cost here is real, not rhetorical. </a:t>
            </a:r>
            <a:r>
              <a:rPr sz="1450" b="0">
                <a:solidFill>
                  <a:srgbClr val="16191F"/>
                </a:solidFill>
                <a:latin typeface="Calibri"/>
              </a:rPr>
              <a:t>I wrote the span plumbing and now maintain it, and CloudWatch is another bill and another place to go looking.</a:t>
            </a:r>
          </a:p>
        </p:txBody>
      </p:sp>
      <p:sp>
        <p:nvSpPr>
          <p:cNvPr id="24" name="Rounded Rectangle 23"/>
          <p:cNvSpPr/>
          <p:nvPr/>
        </p:nvSpPr>
        <p:spPr>
          <a:xfrm>
            <a:off x="566928" y="5138927"/>
            <a:ext cx="310896" cy="274320"/>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5138927"/>
            <a:ext cx="310896" cy="274320"/>
          </a:xfrm>
          <a:prstGeom prst="rect">
            <a:avLst/>
          </a:prstGeom>
          <a:noFill/>
        </p:spPr>
        <p:txBody>
          <a:bodyPr wrap="square" lIns="0" rIns="0" tIns="0" bIns="0" anchor="ctr">
            <a:spAutoFit/>
          </a:bodyPr>
          <a:lstStyle/>
          <a:p>
            <a:pPr algn="ctr"/>
            <a:r>
              <a:rPr sz="1200" b="1">
                <a:solidFill>
                  <a:srgbClr val="FF9900"/>
                </a:solidFill>
                <a:latin typeface="Calibri"/>
              </a:rPr>
              <a:t>5</a:t>
            </a:r>
          </a:p>
        </p:txBody>
      </p:sp>
      <p:sp>
        <p:nvSpPr>
          <p:cNvPr id="26" name="TextBox 25"/>
          <p:cNvSpPr txBox="1"/>
          <p:nvPr/>
        </p:nvSpPr>
        <p:spPr>
          <a:xfrm>
            <a:off x="1005840" y="5120640"/>
            <a:ext cx="10625328" cy="768096"/>
          </a:xfrm>
          <a:prstGeom prst="rect">
            <a:avLst/>
          </a:prstGeom>
          <a:noFill/>
        </p:spPr>
        <p:txBody>
          <a:bodyPr wrap="square" lIns="0" rIns="0" tIns="0" bIns="0" anchor="t">
            <a:spAutoFit/>
          </a:bodyPr>
          <a:lstStyle/>
          <a:p>
            <a:pPr algn="l"/>
            <a:r>
              <a:rPr sz="1450" b="1">
                <a:solidFill>
                  <a:srgbClr val="232F3E"/>
                </a:solidFill>
                <a:latin typeface="Calibri"/>
              </a:rPr>
              <a:t>Where I actually landed. </a:t>
            </a:r>
            <a:r>
              <a:rPr sz="1450" b="0">
                <a:solidFill>
                  <a:srgbClr val="16191F"/>
                </a:solidFill>
                <a:latin typeface="Calibri"/>
              </a:rPr>
              <a:t>Take AgentCore’s traces as the floor, and keep hand-wired spans for the two or three fields that decide an incident.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ow I built it: the team. One human and six agents, each with its own prompt file and an explicit ownership boundary."/>
          <p:cNvPicPr>
            <a:picLocks noChangeAspect="1"/>
          </p:cNvPicPr>
          <p:nvPr/>
        </p:nvPicPr>
        <p:blipFill>
          <a:blip r:embed="rId2"/>
          <a:stretch>
            <a:fillRect/>
          </a:stretch>
        </p:blipFill>
        <p:spPr>
          <a:xfrm>
            <a:off x="0" y="0"/>
            <a:ext cx="12192000" cy="6858000"/>
          </a:xfrm>
          <a:prstGeom prst="rect">
            <a:avLst/>
          </a:prstGeom>
        </p:spPr>
      </p:pic>
      <p:sp>
        <p:nvSpPr>
          <p:cNvPr id="4" name="Oval 3"/>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11</a:t>
            </a:r>
          </a:p>
        </p:txBody>
      </p:sp>
      <p:sp>
        <p:nvSpPr>
          <p:cNvPr id="6" name="TextBox 5"/>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7" name="TextBox 6"/>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12 / 15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ow I built it: the work. Every node is a real pull request, in the order it was opened, joined to where it merged."/>
          <p:cNvPicPr>
            <a:picLocks noChangeAspect="1"/>
          </p:cNvPicPr>
          <p:nvPr/>
        </p:nvPicPr>
        <p:blipFill>
          <a:blip r:embed="rId2"/>
          <a:stretch>
            <a:fillRect/>
          </a:stretch>
        </p:blipFill>
        <p:spPr>
          <a:xfrm>
            <a:off x="0" y="0"/>
            <a:ext cx="12192000" cy="6858000"/>
          </a:xfrm>
          <a:prstGeom prst="rect">
            <a:avLst/>
          </a:prstGeom>
        </p:spPr>
      </p:pic>
      <p:sp>
        <p:nvSpPr>
          <p:cNvPr id="4" name="Oval 3"/>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12</a:t>
            </a:r>
          </a:p>
        </p:txBody>
      </p:sp>
      <p:sp>
        <p:nvSpPr>
          <p:cNvPr id="6" name="TextBox 5"/>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7" name="TextBox 6"/>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13 / 15</a:t>
            </a:r>
          </a:p>
        </p:txBody>
      </p:sp>
      <p:sp>
        <p:nvSpPr>
          <p:cNvPr id="8" name="Rectangle 7">
            <a:hlinkClick r:id="rId3"/>
          </p:cNvPr>
          <p:cNvSpPr/>
          <p:nvPr/>
        </p:nvSpPr>
        <p:spPr>
          <a:xfrm>
            <a:off x="1478280" y="1729740"/>
            <a:ext cx="9235440" cy="267462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a:hlinkClick r:id="rId3"/>
          </p:cNvPr>
          <p:cNvSpPr/>
          <p:nvPr/>
        </p:nvSpPr>
        <p:spPr>
          <a:xfrm>
            <a:off x="1363980" y="4617720"/>
            <a:ext cx="1706880" cy="23622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13</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14 / 15</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What I learned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Five things I would tell the next person building one of these — three about the agent, two about building it.</a:t>
            </a:r>
          </a:p>
        </p:txBody>
      </p:sp>
      <p:sp>
        <p:nvSpPr>
          <p:cNvPr id="10" name="Rounded Rectangle 9"/>
          <p:cNvSpPr/>
          <p:nvPr/>
        </p:nvSpPr>
        <p:spPr>
          <a:xfrm>
            <a:off x="566928" y="1700784"/>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700784"/>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700784"/>
            <a:ext cx="420624" cy="804672"/>
          </a:xfrm>
          <a:prstGeom prst="rect">
            <a:avLst/>
          </a:prstGeom>
          <a:noFill/>
        </p:spPr>
        <p:txBody>
          <a:bodyPr wrap="square" lIns="0" rIns="0" tIns="0" bIns="0" anchor="ctr">
            <a:spAutoFit/>
          </a:bodyPr>
          <a:lstStyle/>
          <a:p>
            <a:pPr algn="ctr"/>
            <a:r>
              <a:rPr sz="2000" b="1">
                <a:solidFill>
                  <a:srgbClr val="FF9900"/>
                </a:solidFill>
                <a:latin typeface="Calibri"/>
              </a:rPr>
              <a:t>1</a:t>
            </a:r>
          </a:p>
        </p:txBody>
      </p:sp>
      <p:sp>
        <p:nvSpPr>
          <p:cNvPr id="13" name="TextBox 12"/>
          <p:cNvSpPr txBox="1"/>
          <p:nvPr/>
        </p:nvSpPr>
        <p:spPr>
          <a:xfrm>
            <a:off x="1207008" y="1764792"/>
            <a:ext cx="10277856" cy="676656"/>
          </a:xfrm>
          <a:prstGeom prst="rect">
            <a:avLst/>
          </a:prstGeom>
          <a:noFill/>
        </p:spPr>
        <p:txBody>
          <a:bodyPr wrap="square" lIns="0" rIns="0" tIns="0" bIns="0" anchor="ctr">
            <a:spAutoFit/>
          </a:bodyPr>
          <a:lstStyle/>
          <a:p>
            <a:pPr algn="l"/>
            <a:r>
              <a:rPr sz="1250" b="1">
                <a:solidFill>
                  <a:srgbClr val="232F3E"/>
                </a:solidFill>
                <a:latin typeface="Calibri"/>
              </a:rPr>
              <a:t>An agent is a loop, not a chatbot.  </a:t>
            </a:r>
            <a:r>
              <a:rPr sz="1250" b="0">
                <a:solidFill>
                  <a:srgbClr val="16191F"/>
                </a:solidFill>
                <a:latin typeface="Calibri"/>
              </a:rPr>
              <a:t>The agentic part of Valentin isn’t Claude — it’s trigger → tools → propose → extract → re-schedule, and every pass rewrites the timeline that feeds the next one. EventBridge closes the loop, not the model.</a:t>
            </a:r>
          </a:p>
        </p:txBody>
      </p:sp>
      <p:sp>
        <p:nvSpPr>
          <p:cNvPr id="14" name="Rounded Rectangle 13"/>
          <p:cNvSpPr/>
          <p:nvPr/>
        </p:nvSpPr>
        <p:spPr>
          <a:xfrm>
            <a:off x="566928" y="2560320"/>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560320"/>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560320"/>
            <a:ext cx="420624" cy="804672"/>
          </a:xfrm>
          <a:prstGeom prst="rect">
            <a:avLst/>
          </a:prstGeom>
          <a:noFill/>
        </p:spPr>
        <p:txBody>
          <a:bodyPr wrap="square" lIns="0" rIns="0" tIns="0" bIns="0" anchor="ctr">
            <a:spAutoFit/>
          </a:bodyPr>
          <a:lstStyle/>
          <a:p>
            <a:pPr algn="ctr"/>
            <a:r>
              <a:rPr sz="2000" b="1">
                <a:solidFill>
                  <a:srgbClr val="FF9900"/>
                </a:solidFill>
                <a:latin typeface="Calibri"/>
              </a:rPr>
              <a:t>2</a:t>
            </a:r>
          </a:p>
        </p:txBody>
      </p:sp>
      <p:sp>
        <p:nvSpPr>
          <p:cNvPr id="17" name="TextBox 16"/>
          <p:cNvSpPr txBox="1"/>
          <p:nvPr/>
        </p:nvSpPr>
        <p:spPr>
          <a:xfrm>
            <a:off x="1207008" y="2624327"/>
            <a:ext cx="10277856" cy="676656"/>
          </a:xfrm>
          <a:prstGeom prst="rect">
            <a:avLst/>
          </a:prstGeom>
          <a:noFill/>
        </p:spPr>
        <p:txBody>
          <a:bodyPr wrap="square" lIns="0" rIns="0" tIns="0" bIns="0" anchor="ctr">
            <a:spAutoFit/>
          </a:bodyPr>
          <a:lstStyle/>
          <a:p>
            <a:pPr algn="l"/>
            <a:r>
              <a:rPr sz="1250" b="1">
                <a:solidFill>
                  <a:srgbClr val="232F3E"/>
                </a:solidFill>
                <a:latin typeface="Calibri"/>
              </a:rPr>
              <a:t>When you and the agent are both stuck, the next prompt is not the answer.  </a:t>
            </a:r>
            <a:r>
              <a:rPr sz="1250" b="0">
                <a:solidFill>
                  <a:srgbClr val="16191F"/>
                </a:solidFill>
                <a:latin typeface="Calibri"/>
              </a:rPr>
              <a:t>Stop and spend five minutes with pen and paper. Every long débâcle in this project ended the moment I stopped prompting and drew the thing.</a:t>
            </a:r>
          </a:p>
        </p:txBody>
      </p:sp>
      <p:sp>
        <p:nvSpPr>
          <p:cNvPr id="18" name="Rounded Rectangle 17"/>
          <p:cNvSpPr/>
          <p:nvPr/>
        </p:nvSpPr>
        <p:spPr>
          <a:xfrm>
            <a:off x="566928" y="3419856"/>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3419856"/>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3419856"/>
            <a:ext cx="420624" cy="804672"/>
          </a:xfrm>
          <a:prstGeom prst="rect">
            <a:avLst/>
          </a:prstGeom>
          <a:noFill/>
        </p:spPr>
        <p:txBody>
          <a:bodyPr wrap="square" lIns="0" rIns="0" tIns="0" bIns="0" anchor="ctr">
            <a:spAutoFit/>
          </a:bodyPr>
          <a:lstStyle/>
          <a:p>
            <a:pPr algn="ctr"/>
            <a:r>
              <a:rPr sz="2000" b="1">
                <a:solidFill>
                  <a:srgbClr val="FF9900"/>
                </a:solidFill>
                <a:latin typeface="Calibri"/>
              </a:rPr>
              <a:t>3</a:t>
            </a:r>
          </a:p>
        </p:txBody>
      </p:sp>
      <p:sp>
        <p:nvSpPr>
          <p:cNvPr id="21" name="TextBox 20"/>
          <p:cNvSpPr txBox="1"/>
          <p:nvPr/>
        </p:nvSpPr>
        <p:spPr>
          <a:xfrm>
            <a:off x="1207008" y="3483864"/>
            <a:ext cx="10277856" cy="676656"/>
          </a:xfrm>
          <a:prstGeom prst="rect">
            <a:avLst/>
          </a:prstGeom>
          <a:noFill/>
        </p:spPr>
        <p:txBody>
          <a:bodyPr wrap="square" lIns="0" rIns="0" tIns="0" bIns="0" anchor="ctr">
            <a:spAutoFit/>
          </a:bodyPr>
          <a:lstStyle/>
          <a:p>
            <a:pPr algn="l"/>
            <a:r>
              <a:rPr sz="1250" b="1">
                <a:solidFill>
                  <a:srgbClr val="232F3E"/>
                </a:solidFill>
                <a:latin typeface="Calibri"/>
              </a:rPr>
              <a:t>Most of the tokens went to the workflow, not the code.  </a:t>
            </a:r>
            <a:r>
              <a:rPr sz="1250" b="0">
                <a:solidFill>
                  <a:srgbClr val="16191F"/>
                </a:solidFill>
                <a:latin typeface="Calibri"/>
              </a:rPr>
              <a:t>31 of 56 PRs built the factory — specs, review loops, merge gates, regression tests for the automation itself. That is what made the other 25 safe to merge.</a:t>
            </a:r>
          </a:p>
        </p:txBody>
      </p:sp>
      <p:sp>
        <p:nvSpPr>
          <p:cNvPr id="22" name="Rounded Rectangle 21"/>
          <p:cNvSpPr/>
          <p:nvPr/>
        </p:nvSpPr>
        <p:spPr>
          <a:xfrm>
            <a:off x="566928" y="4279392"/>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4279392"/>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279392"/>
            <a:ext cx="420624" cy="804672"/>
          </a:xfrm>
          <a:prstGeom prst="rect">
            <a:avLst/>
          </a:prstGeom>
          <a:noFill/>
        </p:spPr>
        <p:txBody>
          <a:bodyPr wrap="square" lIns="0" rIns="0" tIns="0" bIns="0" anchor="ctr">
            <a:spAutoFit/>
          </a:bodyPr>
          <a:lstStyle/>
          <a:p>
            <a:pPr algn="ctr"/>
            <a:r>
              <a:rPr sz="2000" b="1">
                <a:solidFill>
                  <a:srgbClr val="FF9900"/>
                </a:solidFill>
                <a:latin typeface="Calibri"/>
              </a:rPr>
              <a:t>4</a:t>
            </a:r>
          </a:p>
        </p:txBody>
      </p:sp>
      <p:sp>
        <p:nvSpPr>
          <p:cNvPr id="25" name="TextBox 24"/>
          <p:cNvSpPr txBox="1"/>
          <p:nvPr/>
        </p:nvSpPr>
        <p:spPr>
          <a:xfrm>
            <a:off x="1207008" y="4343400"/>
            <a:ext cx="10277856" cy="676656"/>
          </a:xfrm>
          <a:prstGeom prst="rect">
            <a:avLst/>
          </a:prstGeom>
          <a:noFill/>
        </p:spPr>
        <p:txBody>
          <a:bodyPr wrap="square" lIns="0" rIns="0" tIns="0" bIns="0" anchor="ctr">
            <a:spAutoFit/>
          </a:bodyPr>
          <a:lstStyle/>
          <a:p>
            <a:pPr algn="l"/>
            <a:r>
              <a:rPr sz="1250" b="1">
                <a:solidFill>
                  <a:srgbClr val="232F3E"/>
                </a:solidFill>
                <a:latin typeface="Calibri"/>
              </a:rPr>
              <a:t>The strongest case for AgentCore isn’t the bill, it’s the blast radius.  </a:t>
            </a:r>
            <a:r>
              <a:rPr sz="1250" b="0">
                <a:solidFill>
                  <a:srgbClr val="16191F"/>
                </a:solidFill>
                <a:latin typeface="Calibri"/>
              </a:rPr>
              <a:t>In-process, one crashed tool takes down all 40 sessions and one shared IAM role means a prompt injection can touch everything. Behind Gateway each tool is its own Lambda with its own role — a failure or a hijack is contained to 1-of-40.</a:t>
            </a:r>
          </a:p>
        </p:txBody>
      </p:sp>
      <p:sp>
        <p:nvSpPr>
          <p:cNvPr id="26" name="Rounded Rectangle 25"/>
          <p:cNvSpPr/>
          <p:nvPr/>
        </p:nvSpPr>
        <p:spPr>
          <a:xfrm>
            <a:off x="566928" y="5138928"/>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138928"/>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5138928"/>
            <a:ext cx="420624" cy="804672"/>
          </a:xfrm>
          <a:prstGeom prst="rect">
            <a:avLst/>
          </a:prstGeom>
          <a:noFill/>
        </p:spPr>
        <p:txBody>
          <a:bodyPr wrap="square" lIns="0" rIns="0" tIns="0" bIns="0" anchor="ctr">
            <a:spAutoFit/>
          </a:bodyPr>
          <a:lstStyle/>
          <a:p>
            <a:pPr algn="ctr"/>
            <a:r>
              <a:rPr sz="2000" b="1">
                <a:solidFill>
                  <a:srgbClr val="FF9900"/>
                </a:solidFill>
                <a:latin typeface="Calibri"/>
              </a:rPr>
              <a:t>5</a:t>
            </a:r>
          </a:p>
        </p:txBody>
      </p:sp>
      <p:sp>
        <p:nvSpPr>
          <p:cNvPr id="29" name="TextBox 28"/>
          <p:cNvSpPr txBox="1"/>
          <p:nvPr/>
        </p:nvSpPr>
        <p:spPr>
          <a:xfrm>
            <a:off x="1207008" y="5202936"/>
            <a:ext cx="10277856" cy="676656"/>
          </a:xfrm>
          <a:prstGeom prst="rect">
            <a:avLst/>
          </a:prstGeom>
          <a:noFill/>
        </p:spPr>
        <p:txBody>
          <a:bodyPr wrap="square" lIns="0" rIns="0" tIns="0" bIns="0" anchor="ctr">
            <a:spAutoFit/>
          </a:bodyPr>
          <a:lstStyle/>
          <a:p>
            <a:pPr algn="l"/>
            <a:r>
              <a:rPr sz="1250" b="1">
                <a:solidFill>
                  <a:srgbClr val="232F3E"/>
                </a:solidFill>
                <a:latin typeface="Calibri"/>
              </a:rPr>
              <a:t>It’s easy to gate “the service is up,” hard to gate “the LLM works.”  </a:t>
            </a:r>
            <a:r>
              <a:rPr sz="1250" b="0">
                <a:solidFill>
                  <a:srgbClr val="16191F"/>
                </a:solidFill>
                <a:latin typeface="Calibri"/>
              </a:rPr>
              <a:t>A missing Bedrock permission returned a polite fallback with HTTP 200; a # in the actorId made Memory silently store nothing while chat kept chatting. The only gate that caught either was a live conversation asserting on what the agent remembered.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TotalTime>
  <Words>1354</Words>
  <Application>Microsoft Macintosh PowerPoint</Application>
  <PresentationFormat>Widescreen</PresentationFormat>
  <Paragraphs>221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Coral Steinberg</cp:lastModifiedBy>
  <cp:revision>2</cp:revision>
  <dcterms:created xsi:type="dcterms:W3CDTF">2013-01-27T09:14:16Z</dcterms:created>
  <dcterms:modified xsi:type="dcterms:W3CDTF">2026-09-06T10:23:39Z</dcterms:modified>
  <cp:category/>
</cp:coreProperties>
</file>