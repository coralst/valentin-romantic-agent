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59" r:id="rId5"/>
    <p:sldId id="280" r:id="rId6"/>
    <p:sldId id="281" r:id="rId24"/>
    <p:sldId id="282" r:id="rId25"/>
    <p:sldId id="272" r:id="rId8"/>
    <p:sldId id="283" r:id="rId26"/>
    <p:sldId id="271" r:id="rId11"/>
    <p:sldId id="284" r:id="rId27"/>
    <p:sldId id="285" r:id="rId28"/>
    <p:sldId id="286" r:id="rId29"/>
    <p:sldId id="276" r:id="rId15"/>
    <p:sldId id="277" r:id="rId16"/>
    <p:sldId id="278" r:id="rId17"/>
    <p:sldId id="267"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497"/>
    <p:restoredTop sz="94640"/>
  </p:normalViewPr>
  <p:slideViewPr>
    <p:cSldViewPr snapToGrid="0" snapToObjects="1">
      <p:cViewPr varScale="1">
        <p:scale>
          <a:sx n="93" d="100"/>
          <a:sy n="93" d="100"/>
        </p:scale>
        <p:origin x="248" y="60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8" Type="http://schemas.openxmlformats.org/officeDocument/2006/relationships/slide" Target="slides/slide7.xml"/><Relationship Id="rId11" Type="http://schemas.openxmlformats.org/officeDocument/2006/relationships/slide" Target="slides/slide10.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41706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[0:20 · cumulative 0:20 of 10:00]</a:t>
            </a:r>
          </a:p>
          <a:p/>
          <a:p>
            <a:r>
              <a:t>Valentin is an agent that helps me be a better partner. Ten minutes: what it does, why the loop is the interesting part, then the decision I actually came to present — build the agent platform myself on Fargate, or buy AgentCore.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[0:45 · cumulative 1:05 of 10:00]</a:t>
            </a:r>
          </a:p>
          <a:p/>
          <a:p>
            <a:r>
              <a:t>The problem is not that I forget her birthday. It is that being thoughtful is a background job: noticing an occasion is coming, remembering what she liked last time, and doing something about it before the day arrives. That is three different jobs, and a chat window only does the middle one.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 cumulative 2:10 of 10:00]</a:t>
            </a:r>
          </a:p>
          <a:p/>
          <a:p>
            <a:r>
              <a:t>This is the whole system in one picture, and it is the slide I would defend hardest. An event on the timeline triggers a planning pass — that is the arrow coming up from the calendar. The agent uses tools, proposes something, we talk, and it extracts what it learned about her. Then feedback after the event can set the next event, which is the arrow going back down to the timeline. Claude is one step in that ring. EventBridge is what closes it.</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[1:15 · cumulative 3:25 of 10:00]</a:t>
            </a:r>
          </a:p>
          <a:p/>
          <a:p>
            <a:r>
              <a:t>Short demo. Watch two things: it opens with an occasion I never typed, and by the end it has written something into her file that changes what it says next time.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100" name="Notes Placeholder"/>
          <p:cNvSpPr>
            <a:spLocks noGrp="1"/>
          </p:cNvSpPr>
          <p:nvPr>
            <p:ph type="body" idx="1"/>
          </p:nvPr>
        </p:nvSpPr>
        <p:spPr/>
        <p:txBody>
          <a:bodyPr/>
          <a:lstStyle/>
          <a:p>
            <a:r>
              <a:t>[0:25 · cumulative 7:25 of 10:00]</a:t>
            </a:r>
          </a:p>
          <a:p/>
          <a:p>
            <a:r>
              <a:t>Ownership and velocity — Memory plus Gateway. On engine A the extraction prompt is mine to maintain forever, and adding a tool is a deploy. On B, extraction is the service’s problem and the tool list is data. The give-up is real: I lose the extraction schema I designed.</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[0:20 · cumulative 5:35 of 10:00]</a:t>
            </a:r>
          </a:p>
          <a:p/>
          <a:p>
            <a:r>
              <a:t>The bill, itemised — every rate from a pricing page, every quantity counted out of this repo. The reply call to Bedrock is identical on both sides, so I excluded it from both.</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100" name="Notes Placeholder"/>
          <p:cNvSpPr>
            <a:spLocks noGrp="1"/>
          </p:cNvSpPr>
          <p:nvPr>
            <p:ph type="body" idx="1"/>
          </p:nvPr>
        </p:nvSpPr>
        <p:spPr/>
        <p:txBody>
          <a:bodyPr/>
          <a:lstStyle/>
          <a:p>
            <a:r>
              <a:t>[0:30 · cumulative 7:00 of 10:00]</a:t>
            </a:r>
          </a:p>
          <a:p/>
          <a:p>
            <a:r>
              <a:t>Security — same two components, different question: not what crashes, but what leaks. Engine A holds every user’s credentials in one heap behind one shared IAM role; an injection that pivots reaches everyone’s tokens. Behind Gateway, auth resolves per tool and a hijacked session reaches only its own.</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100" name="Notes Placeholder"/>
          <p:cNvSpPr>
            <a:spLocks noGrp="1"/>
          </p:cNvSpPr>
          <p:nvPr>
            <p:ph type="body" idx="1"/>
          </p:nvPr>
        </p:nvSpPr>
        <p:spPr/>
        <p:txBody>
          <a:bodyPr/>
          <a:lstStyle/>
          <a:p>
            <a:r>
              <a:t>[0:30 · cumulative 6:05 of 10:00]</a:t>
            </a:r>
          </a:p>
          <a:p/>
          <a:p>
            <a:r>
              <a:t>Resilience is Runtime plus Gateway. In-process, forty sessions share one Node process, one heap, one crash. A microVM per session and a Lambda per tool means a fault has nowhere to travel: one session lost, not forty.</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[0:25 · cumulative 6:30 of 10:00]</a:t>
            </a:r>
          </a:p>
          <a:p/>
          <a:p>
            <a:r>
              <a:t>That experiment, drawn to scale: the blast radius of one fault in each engine.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100" name="Notes Placeholder"/>
          <p:cNvSpPr>
            <a:spLocks noGrp="1"/>
          </p:cNvSpPr>
          <p:nvPr>
            <p:ph type="body" idx="1"/>
          </p:nvPr>
        </p:nvSpPr>
        <p:spPr/>
        <p:txBody>
          <a:bodyPr/>
          <a:lstStyle/>
          <a:p>
            <a:r>
              <a:t>[0:35 · cumulative 5:15 of 10:00]</a:t>
            </a:r>
          </a:p>
          <a:p/>
          <a:p>
            <a:r>
              <a:t>Cost first, every component in play. Engine A never scales to zero — eighteen dollars a month before anyone says a word, plus a second model call every turn to extract preferences. Engine B pays per second of real work. The honest part: its unit price is worse, two point two times dearer per vCPU-hour. It wins on granularity, not on rate.</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100" name="Notes Placeholder"/>
          <p:cNvSpPr>
            <a:spLocks noGrp="1"/>
          </p:cNvSpPr>
          <p:nvPr>
            <p:ph type="body" idx="1"/>
          </p:nvPr>
        </p:nvSpPr>
        <p:spPr/>
        <p:txBody>
          <a:bodyPr/>
          <a:lstStyle/>
          <a:p>
            <a:r>
              <a:t>[0:25 · cumulative 3:50 of 10:00]</a:t>
            </a:r>
          </a:p>
          <a:p/>
          <a:p>
            <a:r>
              <a:t>Now the real content. Same product, built twice: engine A is glue code I own on Fargate; engine B is the same model on AgentCore. Everything from here judges those two engines through six lenses.</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100" name="Notes Placeholder"/>
          <p:cNvSpPr>
            <a:spLocks noGrp="1"/>
          </p:cNvSpPr>
          <p:nvPr>
            <p:ph type="body" idx="1"/>
          </p:nvPr>
        </p:nvSpPr>
        <p:spPr/>
        <p:txBody>
          <a:bodyPr/>
          <a:lstStyle/>
          <a:p>
            <a:r>
              <a:t>[0:50 · cumulative 4:40 of 10:00]</a:t>
            </a:r>
          </a:p>
          <a:p/>
          <a:p>
            <a:r>
              <a:t>The whole section in one slide. Six lenses down the side; the four AgentCore components across the top, lit when they matter to that lens. Cost lights everything. Security is Runtime plus Gateway. Debuggability and latency go to the glue code — four-two, and the two it loses are why this is a comparison and not a sales pitch.</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[0:30 · cumulative 8:25 of 10:00]</a:t>
            </a:r>
          </a:p>
          <a:p/>
          <a:p>
            <a:r>
              <a:t>A word on how this got built, because it is the part people ask about. I wrote none of the application code. Six agents did, each with a prompt file and an explicit do-not-touch list — disjoint ownership is what stops five agents editing at once from being a merge-conflict generator.</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[0:25 · cumulative 8:50 of 10:00]</a:t>
            </a:r>
          </a:p>
          <a:p/>
          <a:p>
            <a:r>
              <a:t>Every node here is a real pull request, in the order it was opened, connected to where it merged. Fifty-seven of them. The link opens the interactive version if you want to read any review thread.</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[1:00 · cumulative 9:50 of 10:00]</a:t>
            </a:r>
          </a:p>
          <a:p/>
          <a:p>
            <a:r>
              <a:t>Five things I would tell the next person. An agent is a loop, not a chatbot. When you and the agent are both stuck, stop prompting and pick up a pen. Most of my tokens went to the workflow, not the code — and that is what made the code safe to merge. The strongest case for AgentCore is blast radius, not the bill. And it is easy to gate that the service is up, hard to gate that the model still works — a missing permission returned a polite fallback with a two hundred.</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[0:10 · cumulative 10:00 of 10:00]</a:t>
            </a:r>
          </a:p>
          <a:p/>
          <a:p>
            <a:r>
              <a:t>That is Valentin. Happy to go deeper on any of the five lenses, or on the agent workflow that built it.</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100" name="Notes Placeholder"/>
          <p:cNvSpPr>
            <a:spLocks noGrp="1"/>
          </p:cNvSpPr>
          <p:nvPr>
            <p:ph type="body" idx="1"/>
          </p:nvPr>
        </p:nvSpPr>
        <p:spPr/>
        <p:txBody>
          <a:bodyPr/>
          <a:lstStyle/>
          <a:p>
            <a:r>
              <a:t>[0:30 · cumulative 7:55 of 10:00]</a:t>
            </a:r>
          </a:p>
          <a:p/>
          <a:p>
            <a:r>
              <a:t>Debuggability the glue code wins, and I will not skip it. Hand-wired OTEL emits exactly the fields that decide an incident at two in the morning. AgentCore’s traces are free, but on its schema. Where I landed: its traces as the floor, my spans on top.</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9/6/26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9/6/26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9/6/26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9/6/26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hyperlink" Target="https://amazon-my.sharepoint.com/personal/coralst_amazon_com/Lists/Natural%20Intelligence%20Support%20Planning%20Workshop/AllItems.aspx?sortField=Order0&amp;isAscending=false&amp;viewid=082e8a62%2D439c%2D4e01%2Da1d9%2D6bd9a85907a3&amp;env=WebViewList"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0.png"/><Relationship Id="rId4" Type="http://schemas.openxmlformats.org/officeDocument/2006/relationships/hyperlink" Target="https://d26dwovftfq9oe.cloudfront.net/explore.html#work"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61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6126480"/>
            <a:ext cx="12191695" cy="731520"/>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685800"/>
            <a:ext cx="5486400" cy="365760"/>
          </a:xfrm>
          <a:prstGeom prst="rect">
            <a:avLst/>
          </a:prstGeom>
          <a:noFill/>
        </p:spPr>
        <p:txBody>
          <a:bodyPr wrap="square" lIns="0" tIns="0" rIns="0" bIns="0" anchor="t">
            <a:spAutoFit/>
          </a:bodyPr>
          <a:lstStyle/>
          <a:p>
            <a:pPr algn="l"/>
            <a:r>
              <a:rPr sz="1200" b="1">
                <a:solidFill>
                  <a:srgbClr val="FF9900"/>
                </a:solidFill>
                <a:latin typeface="Calibri"/>
              </a:rPr>
              <a:t>AWS ENTERPRISE SUPPORT · GenAI Core TFC</a:t>
            </a:r>
          </a:p>
        </p:txBody>
      </p:sp>
      <p:sp>
        <p:nvSpPr>
          <p:cNvPr id="5" name="TextBox 4"/>
          <p:cNvSpPr txBox="1"/>
          <p:nvPr/>
        </p:nvSpPr>
        <p:spPr>
          <a:xfrm>
            <a:off x="685800" y="2194560"/>
            <a:ext cx="10972800" cy="1371600"/>
          </a:xfrm>
          <a:prstGeom prst="rect">
            <a:avLst/>
          </a:prstGeom>
          <a:noFill/>
        </p:spPr>
        <p:txBody>
          <a:bodyPr wrap="square" lIns="0" tIns="0" rIns="0" bIns="0" anchor="t">
            <a:spAutoFit/>
          </a:bodyPr>
          <a:lstStyle/>
          <a:p>
            <a:pPr algn="l"/>
            <a:r>
              <a:rPr sz="7200" b="1">
                <a:solidFill>
                  <a:srgbClr val="FFFFFF"/>
                </a:solidFill>
                <a:latin typeface="Calibri"/>
              </a:rPr>
              <a:t>Valentin</a:t>
            </a:r>
          </a:p>
        </p:txBody>
      </p:sp>
      <p:sp>
        <p:nvSpPr>
          <p:cNvPr id="6" name="TextBox 5"/>
          <p:cNvSpPr txBox="1"/>
          <p:nvPr/>
        </p:nvSpPr>
        <p:spPr>
          <a:xfrm>
            <a:off x="685800" y="3383280"/>
            <a:ext cx="10972800" cy="731520"/>
          </a:xfrm>
          <a:prstGeom prst="rect">
            <a:avLst/>
          </a:prstGeom>
          <a:noFill/>
        </p:spPr>
        <p:txBody>
          <a:bodyPr wrap="square" lIns="0" tIns="0" rIns="0" bIns="0" anchor="t">
            <a:spAutoFit/>
          </a:bodyPr>
          <a:lstStyle/>
          <a:p>
            <a:pPr algn="l"/>
            <a:r>
              <a:rPr sz="2400" b="0">
                <a:solidFill>
                  <a:srgbClr val="FF9900"/>
                </a:solidFill>
                <a:latin typeface="Calibri"/>
              </a:rPr>
              <a:t>One product · Two agent platforms · Same model</a:t>
            </a:r>
          </a:p>
        </p:txBody>
      </p:sp>
      <p:sp>
        <p:nvSpPr>
          <p:cNvPr id="7" name="TextBox 6"/>
          <p:cNvSpPr txBox="1"/>
          <p:nvPr/>
        </p:nvSpPr>
        <p:spPr>
          <a:xfrm>
            <a:off x="685800" y="4754880"/>
            <a:ext cx="10972800" cy="457200"/>
          </a:xfrm>
          <a:prstGeom prst="rect">
            <a:avLst/>
          </a:prstGeom>
          <a:noFill/>
        </p:spPr>
        <p:txBody>
          <a:bodyPr wrap="square" lIns="0" tIns="0" rIns="0" bIns="0" anchor="t">
            <a:spAutoFit/>
          </a:bodyPr>
          <a:lstStyle/>
          <a:p>
            <a:pPr algn="l"/>
            <a:r>
              <a:rPr sz="1700" b="0" dirty="0">
                <a:solidFill>
                  <a:srgbClr val="879596"/>
                </a:solidFill>
                <a:latin typeface="Calibri"/>
              </a:rPr>
              <a:t>AgentCore vs Fargate + DynamoDB — a controlled A/B</a:t>
            </a:r>
          </a:p>
        </p:txBody>
      </p:sp>
      <p:sp>
        <p:nvSpPr>
          <p:cNvPr id="8" name="TextBox 7"/>
          <p:cNvSpPr txBox="1"/>
          <p:nvPr/>
        </p:nvSpPr>
        <p:spPr>
          <a:xfrm>
            <a:off x="685800" y="5440680"/>
            <a:ext cx="10972800" cy="365760"/>
          </a:xfrm>
          <a:prstGeom prst="rect">
            <a:avLst/>
          </a:prstGeom>
          <a:noFill/>
        </p:spPr>
        <p:txBody>
          <a:bodyPr wrap="square" lIns="0" tIns="0" rIns="0" bIns="0" anchor="t">
            <a:spAutoFit/>
          </a:bodyPr>
          <a:lstStyle/>
          <a:p>
            <a:pPr algn="l"/>
            <a:r>
              <a:rPr sz="1400" b="0">
                <a:solidFill>
                  <a:srgbClr val="FFFFFF"/>
                </a:solidFill>
                <a:latin typeface="Calibri"/>
              </a:rPr>
              <a:t>Coral Magen  ·  Technical Account Manager  ·  September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502920" y="365760"/>
            <a:ext cx="594360" cy="594360"/>
          </a:xfrm>
          <a:prstGeom prst="ellipse">
            <a:avLst/>
          </a:prstGeom>
          <a:solidFill>
            <a:srgbClr val="232F3E"/>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600" b="1">
                <a:solidFill>
                  <a:srgbClr val="FF9900"/>
                </a:solidFill>
                <a:latin typeface="Calibri"/>
              </a:rPr>
              <a:t>1</a:t>
            </a:r>
          </a:p>
        </p:txBody>
      </p:sp>
      <p:sp>
        <p:nvSpPr>
          <p:cNvPr id="4" name="TextBox 3"/>
          <p:cNvSpPr txBox="1"/>
          <p:nvPr/>
        </p:nvSpPr>
        <p:spPr>
          <a:xfrm>
            <a:off x="1280160" y="365760"/>
            <a:ext cx="10058400" cy="594360"/>
          </a:xfrm>
          <a:prstGeom prst="rect">
            <a:avLst/>
          </a:prstGeom>
          <a:noFill/>
        </p:spPr>
        <p:txBody>
          <a:bodyPr wrap="square" lIns="0" tIns="0" rIns="0" bIns="0" anchor="ctr">
            <a:spAutoFit/>
          </a:bodyPr>
          <a:lstStyle/>
          <a:p>
            <a:pPr algn="l"/>
            <a:r>
              <a:rPr sz="3000" b="1">
                <a:solidFill>
                  <a:srgbClr val="232F3E"/>
                </a:solidFill>
                <a:latin typeface="Calibri"/>
              </a:rPr>
              <a:t>The Business Problem and the Application</a:t>
            </a:r>
          </a:p>
        </p:txBody>
      </p:sp>
      <p:sp>
        <p:nvSpPr>
          <p:cNvPr id="5" name="Rectangle 4"/>
          <p:cNvSpPr/>
          <p:nvPr/>
        </p:nvSpPr>
        <p:spPr>
          <a:xfrm>
            <a:off x="502920" y="1051560"/>
            <a:ext cx="1371600" cy="35000"/>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02920" y="1234440"/>
            <a:ext cx="11155680" cy="411480"/>
          </a:xfrm>
          <a:prstGeom prst="rect">
            <a:avLst/>
          </a:prstGeom>
          <a:noFill/>
        </p:spPr>
        <p:txBody>
          <a:bodyPr wrap="square" lIns="0" tIns="0" rIns="0" bIns="0" anchor="t">
            <a:spAutoFit/>
          </a:bodyPr>
          <a:lstStyle/>
          <a:p>
            <a:pPr algn="l"/>
            <a:r>
              <a:rPr sz="1700" b="0">
                <a:solidFill>
                  <a:srgbClr val="545B64"/>
                </a:solidFill>
                <a:latin typeface="Calibri"/>
              </a:rPr>
              <a:t>Small nudges over time — from a partner who's paying attention when you can't.</a:t>
            </a:r>
          </a:p>
        </p:txBody>
      </p:sp>
      <p:sp>
        <p:nvSpPr>
          <p:cNvPr id="7" name="Rounded Rectangle 6"/>
          <p:cNvSpPr/>
          <p:nvPr/>
        </p:nvSpPr>
        <p:spPr>
          <a:xfrm>
            <a:off x="502920" y="1783080"/>
            <a:ext cx="5532120" cy="1645920"/>
          </a:xfrm>
          <a:prstGeom prst="roundRect">
            <a:avLst/>
          </a:prstGeom>
          <a:solidFill>
            <a:srgbClr val="F7F8FA"/>
          </a:solidFill>
          <a:ln w="9525">
            <a:solidFill>
              <a:srgbClr val="E4E7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502920" y="1783080"/>
            <a:ext cx="5532120" cy="137160"/>
          </a:xfrm>
          <a:prstGeom prst="round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22960" y="2057400"/>
            <a:ext cx="4983480" cy="411480"/>
          </a:xfrm>
          <a:prstGeom prst="rect">
            <a:avLst/>
          </a:prstGeom>
          <a:noFill/>
        </p:spPr>
        <p:txBody>
          <a:bodyPr wrap="square" lIns="0" tIns="0" rIns="0" bIns="0" anchor="t">
            <a:spAutoFit/>
          </a:bodyPr>
          <a:lstStyle/>
          <a:p>
            <a:pPr algn="l"/>
            <a:r>
              <a:rPr sz="1300" b="1">
                <a:solidFill>
                  <a:srgbClr val="C0392B"/>
                </a:solidFill>
                <a:latin typeface="Calibri"/>
              </a:rPr>
              <a:t>THE BUSINESS PROBLEM</a:t>
            </a:r>
          </a:p>
        </p:txBody>
      </p:sp>
      <p:sp>
        <p:nvSpPr>
          <p:cNvPr id="10" name="TextBox 9"/>
          <p:cNvSpPr txBox="1"/>
          <p:nvPr/>
        </p:nvSpPr>
        <p:spPr>
          <a:xfrm>
            <a:off x="822960" y="2560320"/>
            <a:ext cx="4983480" cy="777240"/>
          </a:xfrm>
          <a:prstGeom prst="rect">
            <a:avLst/>
          </a:prstGeom>
          <a:noFill/>
        </p:spPr>
        <p:txBody>
          <a:bodyPr wrap="square" lIns="0" tIns="0" rIns="0" bIns="0" anchor="t">
            <a:spAutoFit/>
          </a:bodyPr>
          <a:lstStyle/>
          <a:p>
            <a:pPr algn="l"/>
            <a:r>
              <a:rPr sz="1700" b="0">
                <a:solidFill>
                  <a:srgbClr val="16191F"/>
                </a:solidFill>
                <a:latin typeface="Calibri"/>
              </a:rPr>
              <a:t>We're busy. The little things that make our partner feel seen slip through the cracks — until we need them.</a:t>
            </a:r>
          </a:p>
        </p:txBody>
      </p:sp>
      <p:sp>
        <p:nvSpPr>
          <p:cNvPr id="11" name="Rounded Rectangle 10"/>
          <p:cNvSpPr/>
          <p:nvPr/>
        </p:nvSpPr>
        <p:spPr>
          <a:xfrm>
            <a:off x="6309360" y="1783080"/>
            <a:ext cx="5532120" cy="1645920"/>
          </a:xfrm>
          <a:prstGeom prst="roundRect">
            <a:avLst/>
          </a:prstGeom>
          <a:solidFill>
            <a:srgbClr val="F7F8FA"/>
          </a:solidFill>
          <a:ln w="9525">
            <a:solidFill>
              <a:srgbClr val="E4E7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6309360" y="1783080"/>
            <a:ext cx="5532120" cy="137160"/>
          </a:xfrm>
          <a:prstGeom prst="roundRect">
            <a:avLst/>
          </a:prstGeom>
          <a:solidFill>
            <a:srgbClr val="1E7C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629400" y="2057400"/>
            <a:ext cx="4983480" cy="411480"/>
          </a:xfrm>
          <a:prstGeom prst="rect">
            <a:avLst/>
          </a:prstGeom>
          <a:noFill/>
        </p:spPr>
        <p:txBody>
          <a:bodyPr wrap="square" lIns="0" tIns="0" rIns="0" bIns="0" anchor="t">
            <a:spAutoFit/>
          </a:bodyPr>
          <a:lstStyle/>
          <a:p>
            <a:pPr algn="l"/>
            <a:r>
              <a:rPr sz="1300" b="1">
                <a:solidFill>
                  <a:srgbClr val="1E7C3C"/>
                </a:solidFill>
                <a:latin typeface="Calibri"/>
              </a:rPr>
              <a:t>WHAT VALENTIN IS</a:t>
            </a:r>
          </a:p>
        </p:txBody>
      </p:sp>
      <p:sp>
        <p:nvSpPr>
          <p:cNvPr id="14" name="TextBox 13"/>
          <p:cNvSpPr txBox="1"/>
          <p:nvPr/>
        </p:nvSpPr>
        <p:spPr>
          <a:xfrm>
            <a:off x="6629400" y="2560320"/>
            <a:ext cx="4983480" cy="822960"/>
          </a:xfrm>
          <a:prstGeom prst="rect">
            <a:avLst/>
          </a:prstGeom>
          <a:noFill/>
        </p:spPr>
        <p:txBody>
          <a:bodyPr wrap="square" lIns="0" tIns="0" rIns="0" bIns="0" anchor="t">
            <a:spAutoFit/>
          </a:bodyPr>
          <a:lstStyle/>
          <a:p>
            <a:pPr algn="l"/>
            <a:r>
              <a:rPr sz="1700" b="0">
                <a:solidFill>
                  <a:srgbClr val="16191F"/>
                </a:solidFill>
                <a:latin typeface="Calibri"/>
              </a:rPr>
              <a:t>A personal AI assistant that listens, remembers per partner, and acts weeks early — with your final word.</a:t>
            </a:r>
          </a:p>
        </p:txBody>
      </p:sp>
      <p:sp>
        <p:nvSpPr>
          <p:cNvPr id="15" name="Rounded Rectangle 14"/>
          <p:cNvSpPr/>
          <p:nvPr/>
        </p:nvSpPr>
        <p:spPr>
          <a:xfrm>
            <a:off x="502920" y="3703320"/>
            <a:ext cx="2673019" cy="2377440"/>
          </a:xfrm>
          <a:prstGeom prst="roundRect">
            <a:avLst/>
          </a:prstGeom>
          <a:solidFill>
            <a:srgbClr val="F7F8FA"/>
          </a:solidFill>
          <a:ln w="9525">
            <a:solidFill>
              <a:srgbClr val="E4E7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502920" y="3703320"/>
            <a:ext cx="2673019" cy="137160"/>
          </a:xfrm>
          <a:prstGeom prst="round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731520" y="3977640"/>
            <a:ext cx="384048" cy="384048"/>
          </a:xfrm>
          <a:prstGeom prst="ellipse">
            <a:avLst/>
          </a:prstGeom>
          <a:solidFill>
            <a:srgbClr val="232F3E"/>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a:solidFill>
                  <a:srgbClr val="FF9900"/>
                </a:solidFill>
                <a:latin typeface="Calibri"/>
              </a:rPr>
              <a:t>1</a:t>
            </a:r>
          </a:p>
        </p:txBody>
      </p:sp>
      <p:pic>
        <p:nvPicPr>
          <p:cNvPr id="18" name="Picture 17" descr="bedrock.png"/>
          <p:cNvPicPr>
            <a:picLocks noChangeAspect="1"/>
          </p:cNvPicPr>
          <p:nvPr/>
        </p:nvPicPr>
        <p:blipFill>
          <a:blip r:embed="rId3"/>
          <a:stretch>
            <a:fillRect/>
          </a:stretch>
        </p:blipFill>
        <p:spPr>
          <a:xfrm>
            <a:off x="1085049" y="4390858"/>
            <a:ext cx="640080" cy="640080"/>
          </a:xfrm>
          <a:prstGeom prst="rect">
            <a:avLst/>
          </a:prstGeom>
        </p:spPr>
      </p:pic>
      <p:sp>
        <p:nvSpPr>
          <p:cNvPr id="19" name="TextBox 18"/>
          <p:cNvSpPr txBox="1"/>
          <p:nvPr/>
        </p:nvSpPr>
        <p:spPr>
          <a:xfrm>
            <a:off x="1806154" y="4450309"/>
            <a:ext cx="228600" cy="430887"/>
          </a:xfrm>
          <a:prstGeom prst="rect">
            <a:avLst/>
          </a:prstGeom>
          <a:noFill/>
        </p:spPr>
        <p:txBody>
          <a:bodyPr wrap="square" lIns="0" tIns="0" rIns="0" bIns="0" anchor="ctr">
            <a:spAutoFit/>
          </a:bodyPr>
          <a:lstStyle/>
          <a:p>
            <a:pPr algn="ctr"/>
            <a:r>
              <a:rPr lang="en-US" sz="2800" b="1" dirty="0">
                <a:solidFill>
                  <a:srgbClr val="FF9900"/>
                </a:solidFill>
                <a:latin typeface="Calibri"/>
              </a:rPr>
              <a:t>/</a:t>
            </a:r>
            <a:endParaRPr sz="2800" b="1" dirty="0">
              <a:solidFill>
                <a:srgbClr val="FF9900"/>
              </a:solidFill>
              <a:latin typeface="Calibri"/>
            </a:endParaRPr>
          </a:p>
        </p:txBody>
      </p:sp>
      <p:pic>
        <p:nvPicPr>
          <p:cNvPr id="20" name="Picture 19" descr="agentcore.png"/>
          <p:cNvPicPr>
            <a:picLocks noChangeAspect="1"/>
          </p:cNvPicPr>
          <p:nvPr/>
        </p:nvPicPr>
        <p:blipFill>
          <a:blip r:embed="rId4"/>
          <a:stretch>
            <a:fillRect/>
          </a:stretch>
        </p:blipFill>
        <p:spPr>
          <a:xfrm>
            <a:off x="2136609" y="4390858"/>
            <a:ext cx="640080" cy="640080"/>
          </a:xfrm>
          <a:prstGeom prst="rect">
            <a:avLst/>
          </a:prstGeom>
        </p:spPr>
      </p:pic>
      <p:sp>
        <p:nvSpPr>
          <p:cNvPr id="21" name="TextBox 20"/>
          <p:cNvSpPr txBox="1"/>
          <p:nvPr/>
        </p:nvSpPr>
        <p:spPr>
          <a:xfrm>
            <a:off x="685800" y="5120640"/>
            <a:ext cx="2307259" cy="411480"/>
          </a:xfrm>
          <a:prstGeom prst="rect">
            <a:avLst/>
          </a:prstGeom>
          <a:noFill/>
        </p:spPr>
        <p:txBody>
          <a:bodyPr wrap="square" lIns="0" tIns="0" rIns="0" bIns="0" anchor="t">
            <a:spAutoFit/>
          </a:bodyPr>
          <a:lstStyle/>
          <a:p>
            <a:pPr algn="ctr"/>
            <a:r>
              <a:rPr sz="1700" b="1">
                <a:solidFill>
                  <a:srgbClr val="232F3E"/>
                </a:solidFill>
                <a:latin typeface="Calibri"/>
              </a:rPr>
              <a:t>Chatbot</a:t>
            </a:r>
          </a:p>
        </p:txBody>
      </p:sp>
      <p:sp>
        <p:nvSpPr>
          <p:cNvPr id="22" name="TextBox 21"/>
          <p:cNvSpPr txBox="1"/>
          <p:nvPr/>
        </p:nvSpPr>
        <p:spPr>
          <a:xfrm>
            <a:off x="640080" y="5532120"/>
            <a:ext cx="2398699" cy="274320"/>
          </a:xfrm>
          <a:prstGeom prst="rect">
            <a:avLst/>
          </a:prstGeom>
          <a:noFill/>
        </p:spPr>
        <p:txBody>
          <a:bodyPr wrap="square" lIns="0" tIns="0" rIns="0" bIns="0" anchor="t">
            <a:spAutoFit/>
          </a:bodyPr>
          <a:lstStyle/>
          <a:p>
            <a:pPr algn="ctr"/>
            <a:r>
              <a:rPr sz="1000" b="1" dirty="0">
                <a:solidFill>
                  <a:srgbClr val="C07000"/>
                </a:solidFill>
                <a:latin typeface="Calibri"/>
              </a:rPr>
              <a:t>Amazon Bedrock  ·  AgentCore Runtime</a:t>
            </a:r>
          </a:p>
        </p:txBody>
      </p:sp>
      <p:sp>
        <p:nvSpPr>
          <p:cNvPr id="23" name="TextBox 22"/>
          <p:cNvSpPr txBox="1"/>
          <p:nvPr/>
        </p:nvSpPr>
        <p:spPr>
          <a:xfrm>
            <a:off x="685800" y="5760720"/>
            <a:ext cx="2307259" cy="320040"/>
          </a:xfrm>
          <a:prstGeom prst="rect">
            <a:avLst/>
          </a:prstGeom>
          <a:noFill/>
        </p:spPr>
        <p:txBody>
          <a:bodyPr wrap="square" lIns="0" tIns="0" rIns="0" bIns="0" anchor="t">
            <a:spAutoFit/>
          </a:bodyPr>
          <a:lstStyle/>
          <a:p>
            <a:pPr algn="ctr"/>
            <a:r>
              <a:rPr sz="1000" b="0">
                <a:solidFill>
                  <a:srgbClr val="545B64"/>
                </a:solidFill>
                <a:latin typeface="Calibri"/>
              </a:rPr>
              <a:t>Claude in context of the partner profile — same model, two delivery paths.</a:t>
            </a:r>
          </a:p>
        </p:txBody>
      </p:sp>
      <p:sp>
        <p:nvSpPr>
          <p:cNvPr id="24" name="Right Arrow 23"/>
          <p:cNvSpPr/>
          <p:nvPr/>
        </p:nvSpPr>
        <p:spPr>
          <a:xfrm>
            <a:off x="3185939" y="4800600"/>
            <a:ext cx="144592" cy="182880"/>
          </a:xfrm>
          <a:prstGeom prst="rightArrow">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3340531" y="3703320"/>
            <a:ext cx="2673019" cy="2377440"/>
          </a:xfrm>
          <a:prstGeom prst="roundRect">
            <a:avLst/>
          </a:prstGeom>
          <a:solidFill>
            <a:srgbClr val="F7F8FA"/>
          </a:solidFill>
          <a:ln w="9525">
            <a:solidFill>
              <a:srgbClr val="E4E7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ounded Rectangle 25"/>
          <p:cNvSpPr/>
          <p:nvPr/>
        </p:nvSpPr>
        <p:spPr>
          <a:xfrm>
            <a:off x="3340531" y="3703320"/>
            <a:ext cx="2673019" cy="137160"/>
          </a:xfrm>
          <a:prstGeom prst="round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3569131" y="3977640"/>
            <a:ext cx="384048" cy="384048"/>
          </a:xfrm>
          <a:prstGeom prst="ellipse">
            <a:avLst/>
          </a:prstGeom>
          <a:solidFill>
            <a:srgbClr val="232F3E"/>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a:solidFill>
                  <a:srgbClr val="FF9900"/>
                </a:solidFill>
                <a:latin typeface="Calibri"/>
              </a:rPr>
              <a:t>2</a:t>
            </a:r>
          </a:p>
        </p:txBody>
      </p:sp>
      <p:pic>
        <p:nvPicPr>
          <p:cNvPr id="28" name="Picture 27" descr="dynamodb.png"/>
          <p:cNvPicPr>
            <a:picLocks noChangeAspect="1"/>
          </p:cNvPicPr>
          <p:nvPr/>
        </p:nvPicPr>
        <p:blipFill>
          <a:blip r:embed="rId5"/>
          <a:stretch>
            <a:fillRect/>
          </a:stretch>
        </p:blipFill>
        <p:spPr>
          <a:xfrm>
            <a:off x="3922660" y="4390858"/>
            <a:ext cx="640080" cy="640080"/>
          </a:xfrm>
          <a:prstGeom prst="rect">
            <a:avLst/>
          </a:prstGeom>
        </p:spPr>
      </p:pic>
      <p:sp>
        <p:nvSpPr>
          <p:cNvPr id="29" name="TextBox 28"/>
          <p:cNvSpPr txBox="1"/>
          <p:nvPr/>
        </p:nvSpPr>
        <p:spPr>
          <a:xfrm>
            <a:off x="4643765" y="4450309"/>
            <a:ext cx="228600" cy="430887"/>
          </a:xfrm>
          <a:prstGeom prst="rect">
            <a:avLst/>
          </a:prstGeom>
          <a:noFill/>
        </p:spPr>
        <p:txBody>
          <a:bodyPr wrap="square" lIns="0" tIns="0" rIns="0" bIns="0" anchor="ctr">
            <a:spAutoFit/>
          </a:bodyPr>
          <a:lstStyle/>
          <a:p>
            <a:pPr algn="ctr"/>
            <a:r>
              <a:rPr lang="en-US" sz="2800" b="1" dirty="0">
                <a:solidFill>
                  <a:srgbClr val="FF9900"/>
                </a:solidFill>
                <a:latin typeface="Calibri"/>
              </a:rPr>
              <a:t>/</a:t>
            </a:r>
            <a:endParaRPr sz="2800" b="1" dirty="0">
              <a:solidFill>
                <a:srgbClr val="FF9900"/>
              </a:solidFill>
              <a:latin typeface="Calibri"/>
            </a:endParaRPr>
          </a:p>
        </p:txBody>
      </p:sp>
      <p:pic>
        <p:nvPicPr>
          <p:cNvPr id="30" name="Picture 29" descr="agentcore.png"/>
          <p:cNvPicPr>
            <a:picLocks noChangeAspect="1"/>
          </p:cNvPicPr>
          <p:nvPr/>
        </p:nvPicPr>
        <p:blipFill>
          <a:blip r:embed="rId4"/>
          <a:stretch>
            <a:fillRect/>
          </a:stretch>
        </p:blipFill>
        <p:spPr>
          <a:xfrm>
            <a:off x="4974220" y="4390858"/>
            <a:ext cx="640080" cy="640080"/>
          </a:xfrm>
          <a:prstGeom prst="rect">
            <a:avLst/>
          </a:prstGeom>
        </p:spPr>
      </p:pic>
      <p:sp>
        <p:nvSpPr>
          <p:cNvPr id="31" name="TextBox 30"/>
          <p:cNvSpPr txBox="1"/>
          <p:nvPr/>
        </p:nvSpPr>
        <p:spPr>
          <a:xfrm>
            <a:off x="3523411" y="5120640"/>
            <a:ext cx="2307259" cy="411480"/>
          </a:xfrm>
          <a:prstGeom prst="rect">
            <a:avLst/>
          </a:prstGeom>
          <a:noFill/>
        </p:spPr>
        <p:txBody>
          <a:bodyPr wrap="square" lIns="0" tIns="0" rIns="0" bIns="0" anchor="t">
            <a:spAutoFit/>
          </a:bodyPr>
          <a:lstStyle/>
          <a:p>
            <a:pPr algn="ctr"/>
            <a:r>
              <a:rPr sz="1700" b="1">
                <a:solidFill>
                  <a:srgbClr val="232F3E"/>
                </a:solidFill>
                <a:latin typeface="Calibri"/>
              </a:rPr>
              <a:t>Persistent Memory</a:t>
            </a:r>
          </a:p>
        </p:txBody>
      </p:sp>
      <p:sp>
        <p:nvSpPr>
          <p:cNvPr id="32" name="TextBox 31"/>
          <p:cNvSpPr txBox="1"/>
          <p:nvPr/>
        </p:nvSpPr>
        <p:spPr>
          <a:xfrm>
            <a:off x="3477691" y="5532120"/>
            <a:ext cx="2398699" cy="274320"/>
          </a:xfrm>
          <a:prstGeom prst="rect">
            <a:avLst/>
          </a:prstGeom>
          <a:noFill/>
        </p:spPr>
        <p:txBody>
          <a:bodyPr wrap="square" lIns="0" tIns="0" rIns="0" bIns="0" anchor="t">
            <a:spAutoFit/>
          </a:bodyPr>
          <a:lstStyle/>
          <a:p>
            <a:pPr algn="ctr"/>
            <a:r>
              <a:rPr sz="1000" b="1" dirty="0">
                <a:solidFill>
                  <a:srgbClr val="C07000"/>
                </a:solidFill>
                <a:latin typeface="Calibri"/>
              </a:rPr>
              <a:t>Amazon DynamoDB  ·  AgentCore Memory</a:t>
            </a:r>
          </a:p>
        </p:txBody>
      </p:sp>
      <p:sp>
        <p:nvSpPr>
          <p:cNvPr id="33" name="TextBox 32"/>
          <p:cNvSpPr txBox="1"/>
          <p:nvPr/>
        </p:nvSpPr>
        <p:spPr>
          <a:xfrm>
            <a:off x="3523411" y="5760720"/>
            <a:ext cx="2307259" cy="320040"/>
          </a:xfrm>
          <a:prstGeom prst="rect">
            <a:avLst/>
          </a:prstGeom>
          <a:noFill/>
        </p:spPr>
        <p:txBody>
          <a:bodyPr wrap="square" lIns="0" tIns="0" rIns="0" bIns="0" anchor="t">
            <a:spAutoFit/>
          </a:bodyPr>
          <a:lstStyle/>
          <a:p>
            <a:pPr algn="ctr"/>
            <a:r>
              <a:rPr sz="1000" b="0">
                <a:solidFill>
                  <a:srgbClr val="545B64"/>
                </a:solidFill>
                <a:latin typeface="Calibri"/>
              </a:rPr>
              <a:t>8 preference categories captured &amp; recalled across months.</a:t>
            </a:r>
          </a:p>
        </p:txBody>
      </p:sp>
      <p:sp>
        <p:nvSpPr>
          <p:cNvPr id="34" name="Right Arrow 33"/>
          <p:cNvSpPr/>
          <p:nvPr/>
        </p:nvSpPr>
        <p:spPr>
          <a:xfrm>
            <a:off x="6023551" y="4800600"/>
            <a:ext cx="144592" cy="182880"/>
          </a:xfrm>
          <a:prstGeom prst="rightArrow">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ounded Rectangle 34"/>
          <p:cNvSpPr/>
          <p:nvPr/>
        </p:nvSpPr>
        <p:spPr>
          <a:xfrm>
            <a:off x="6178143" y="3703320"/>
            <a:ext cx="2673019" cy="2377440"/>
          </a:xfrm>
          <a:prstGeom prst="roundRect">
            <a:avLst/>
          </a:prstGeom>
          <a:solidFill>
            <a:srgbClr val="F7F8FA"/>
          </a:solidFill>
          <a:ln w="9525">
            <a:solidFill>
              <a:srgbClr val="E4E7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ounded Rectangle 35"/>
          <p:cNvSpPr/>
          <p:nvPr/>
        </p:nvSpPr>
        <p:spPr>
          <a:xfrm>
            <a:off x="6178143" y="3703320"/>
            <a:ext cx="2673019" cy="137160"/>
          </a:xfrm>
          <a:prstGeom prst="round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Oval 36"/>
          <p:cNvSpPr/>
          <p:nvPr/>
        </p:nvSpPr>
        <p:spPr>
          <a:xfrm>
            <a:off x="6406743" y="3977640"/>
            <a:ext cx="384048" cy="384048"/>
          </a:xfrm>
          <a:prstGeom prst="ellipse">
            <a:avLst/>
          </a:prstGeom>
          <a:solidFill>
            <a:srgbClr val="232F3E"/>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a:solidFill>
                  <a:srgbClr val="FF9900"/>
                </a:solidFill>
                <a:latin typeface="Calibri"/>
              </a:rPr>
              <a:t>3</a:t>
            </a:r>
          </a:p>
        </p:txBody>
      </p:sp>
      <p:pic>
        <p:nvPicPr>
          <p:cNvPr id="38" name="Picture 37" descr="lambda.png"/>
          <p:cNvPicPr>
            <a:picLocks noChangeAspect="1"/>
          </p:cNvPicPr>
          <p:nvPr/>
        </p:nvPicPr>
        <p:blipFill>
          <a:blip r:embed="rId6"/>
          <a:stretch>
            <a:fillRect/>
          </a:stretch>
        </p:blipFill>
        <p:spPr>
          <a:xfrm>
            <a:off x="7011732" y="4023360"/>
            <a:ext cx="1005840" cy="1005840"/>
          </a:xfrm>
          <a:prstGeom prst="rect">
            <a:avLst/>
          </a:prstGeom>
        </p:spPr>
      </p:pic>
      <p:sp>
        <p:nvSpPr>
          <p:cNvPr id="39" name="TextBox 38"/>
          <p:cNvSpPr txBox="1"/>
          <p:nvPr/>
        </p:nvSpPr>
        <p:spPr>
          <a:xfrm>
            <a:off x="6361023" y="5120640"/>
            <a:ext cx="2307259" cy="411480"/>
          </a:xfrm>
          <a:prstGeom prst="rect">
            <a:avLst/>
          </a:prstGeom>
          <a:noFill/>
        </p:spPr>
        <p:txBody>
          <a:bodyPr wrap="square" lIns="0" tIns="0" rIns="0" bIns="0" anchor="t">
            <a:spAutoFit/>
          </a:bodyPr>
          <a:lstStyle/>
          <a:p>
            <a:pPr algn="ctr"/>
            <a:r>
              <a:rPr sz="1700" b="1">
                <a:solidFill>
                  <a:srgbClr val="232F3E"/>
                </a:solidFill>
                <a:latin typeface="Calibri"/>
              </a:rPr>
              <a:t>Tool Using</a:t>
            </a:r>
          </a:p>
        </p:txBody>
      </p:sp>
      <p:sp>
        <p:nvSpPr>
          <p:cNvPr id="40" name="TextBox 39"/>
          <p:cNvSpPr txBox="1"/>
          <p:nvPr/>
        </p:nvSpPr>
        <p:spPr>
          <a:xfrm>
            <a:off x="6315303" y="5532120"/>
            <a:ext cx="2398699" cy="274320"/>
          </a:xfrm>
          <a:prstGeom prst="rect">
            <a:avLst/>
          </a:prstGeom>
          <a:noFill/>
        </p:spPr>
        <p:txBody>
          <a:bodyPr wrap="square" lIns="0" tIns="0" rIns="0" bIns="0" anchor="t">
            <a:spAutoFit/>
          </a:bodyPr>
          <a:lstStyle/>
          <a:p>
            <a:pPr algn="ctr"/>
            <a:r>
              <a:rPr sz="1000" b="1">
                <a:solidFill>
                  <a:srgbClr val="C07000"/>
                </a:solidFill>
                <a:latin typeface="Calibri"/>
              </a:rPr>
              <a:t>AWS Lambda · MCP</a:t>
            </a:r>
          </a:p>
        </p:txBody>
      </p:sp>
      <p:sp>
        <p:nvSpPr>
          <p:cNvPr id="41" name="TextBox 40"/>
          <p:cNvSpPr txBox="1"/>
          <p:nvPr/>
        </p:nvSpPr>
        <p:spPr>
          <a:xfrm>
            <a:off x="6361023" y="5760720"/>
            <a:ext cx="2307259" cy="320040"/>
          </a:xfrm>
          <a:prstGeom prst="rect">
            <a:avLst/>
          </a:prstGeom>
          <a:noFill/>
        </p:spPr>
        <p:txBody>
          <a:bodyPr wrap="square" lIns="0" tIns="0" rIns="0" bIns="0" anchor="t">
            <a:spAutoFit/>
          </a:bodyPr>
          <a:lstStyle/>
          <a:p>
            <a:pPr algn="ctr"/>
            <a:r>
              <a:rPr sz="1000" b="0">
                <a:solidFill>
                  <a:srgbClr val="545B64"/>
                </a:solidFill>
                <a:latin typeface="Calibri"/>
              </a:rPr>
              <a:t>21 real tools: calendar, mail, restaurants, Spotify, Shabbat times.</a:t>
            </a:r>
          </a:p>
        </p:txBody>
      </p:sp>
      <p:sp>
        <p:nvSpPr>
          <p:cNvPr id="42" name="Right Arrow 41"/>
          <p:cNvSpPr/>
          <p:nvPr/>
        </p:nvSpPr>
        <p:spPr>
          <a:xfrm>
            <a:off x="8861163" y="4800600"/>
            <a:ext cx="144592" cy="182880"/>
          </a:xfrm>
          <a:prstGeom prst="rightArrow">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ounded Rectangle 42"/>
          <p:cNvSpPr/>
          <p:nvPr/>
        </p:nvSpPr>
        <p:spPr>
          <a:xfrm>
            <a:off x="9015755" y="3703320"/>
            <a:ext cx="2673019" cy="2377440"/>
          </a:xfrm>
          <a:prstGeom prst="roundRect">
            <a:avLst/>
          </a:prstGeom>
          <a:solidFill>
            <a:srgbClr val="F7F8FA"/>
          </a:solidFill>
          <a:ln w="9525">
            <a:solidFill>
              <a:srgbClr val="E4E7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Rounded Rectangle 43"/>
          <p:cNvSpPr/>
          <p:nvPr/>
        </p:nvSpPr>
        <p:spPr>
          <a:xfrm>
            <a:off x="9015755" y="3703320"/>
            <a:ext cx="2673019" cy="137160"/>
          </a:xfrm>
          <a:prstGeom prst="round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Oval 44"/>
          <p:cNvSpPr/>
          <p:nvPr/>
        </p:nvSpPr>
        <p:spPr>
          <a:xfrm>
            <a:off x="9244355" y="3977640"/>
            <a:ext cx="384048" cy="384048"/>
          </a:xfrm>
          <a:prstGeom prst="ellipse">
            <a:avLst/>
          </a:prstGeom>
          <a:solidFill>
            <a:srgbClr val="232F3E"/>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a:solidFill>
                  <a:srgbClr val="FF9900"/>
                </a:solidFill>
                <a:latin typeface="Calibri"/>
              </a:rPr>
              <a:t>4</a:t>
            </a:r>
          </a:p>
        </p:txBody>
      </p:sp>
      <p:pic>
        <p:nvPicPr>
          <p:cNvPr id="46" name="Picture 45" descr="eventbridge.png"/>
          <p:cNvPicPr>
            <a:picLocks noChangeAspect="1"/>
          </p:cNvPicPr>
          <p:nvPr/>
        </p:nvPicPr>
        <p:blipFill>
          <a:blip r:embed="rId7"/>
          <a:stretch>
            <a:fillRect/>
          </a:stretch>
        </p:blipFill>
        <p:spPr>
          <a:xfrm>
            <a:off x="9849344" y="4023360"/>
            <a:ext cx="1005840" cy="1005840"/>
          </a:xfrm>
          <a:prstGeom prst="rect">
            <a:avLst/>
          </a:prstGeom>
        </p:spPr>
      </p:pic>
      <p:sp>
        <p:nvSpPr>
          <p:cNvPr id="47" name="TextBox 46"/>
          <p:cNvSpPr txBox="1"/>
          <p:nvPr/>
        </p:nvSpPr>
        <p:spPr>
          <a:xfrm>
            <a:off x="9198635" y="5120640"/>
            <a:ext cx="2307259" cy="411480"/>
          </a:xfrm>
          <a:prstGeom prst="rect">
            <a:avLst/>
          </a:prstGeom>
          <a:noFill/>
        </p:spPr>
        <p:txBody>
          <a:bodyPr wrap="square" lIns="0" tIns="0" rIns="0" bIns="0" anchor="t">
            <a:spAutoFit/>
          </a:bodyPr>
          <a:lstStyle/>
          <a:p>
            <a:pPr algn="ctr"/>
            <a:r>
              <a:rPr sz="1700" b="1">
                <a:solidFill>
                  <a:srgbClr val="232F3E"/>
                </a:solidFill>
                <a:latin typeface="Calibri"/>
              </a:rPr>
              <a:t>Triggers &amp; Loop</a:t>
            </a:r>
          </a:p>
        </p:txBody>
      </p:sp>
      <p:sp>
        <p:nvSpPr>
          <p:cNvPr id="48" name="TextBox 47"/>
          <p:cNvSpPr txBox="1"/>
          <p:nvPr/>
        </p:nvSpPr>
        <p:spPr>
          <a:xfrm>
            <a:off x="9152915" y="5532120"/>
            <a:ext cx="2398699" cy="274320"/>
          </a:xfrm>
          <a:prstGeom prst="rect">
            <a:avLst/>
          </a:prstGeom>
          <a:noFill/>
        </p:spPr>
        <p:txBody>
          <a:bodyPr wrap="square" lIns="0" tIns="0" rIns="0" bIns="0" anchor="t">
            <a:spAutoFit/>
          </a:bodyPr>
          <a:lstStyle/>
          <a:p>
            <a:pPr algn="ctr"/>
            <a:r>
              <a:rPr sz="1000" b="1">
                <a:solidFill>
                  <a:srgbClr val="C07000"/>
                </a:solidFill>
                <a:latin typeface="Calibri"/>
              </a:rPr>
              <a:t>EventBridge Scheduler</a:t>
            </a:r>
          </a:p>
        </p:txBody>
      </p:sp>
      <p:sp>
        <p:nvSpPr>
          <p:cNvPr id="49" name="TextBox 48"/>
          <p:cNvSpPr txBox="1"/>
          <p:nvPr/>
        </p:nvSpPr>
        <p:spPr>
          <a:xfrm>
            <a:off x="9198635" y="5760720"/>
            <a:ext cx="2307259" cy="320040"/>
          </a:xfrm>
          <a:prstGeom prst="rect">
            <a:avLst/>
          </a:prstGeom>
          <a:noFill/>
        </p:spPr>
        <p:txBody>
          <a:bodyPr wrap="square" lIns="0" tIns="0" rIns="0" bIns="0" anchor="t">
            <a:spAutoFit/>
          </a:bodyPr>
          <a:lstStyle/>
          <a:p>
            <a:pPr algn="ctr"/>
            <a:r>
              <a:rPr sz="1000" b="0">
                <a:solidFill>
                  <a:srgbClr val="545B64"/>
                </a:solidFill>
                <a:latin typeface="Calibri"/>
              </a:rPr>
              <a:t>Reminders fire weeks later — no human, no model, deterministic.</a:t>
            </a:r>
          </a:p>
        </p:txBody>
      </p:sp>
      <p:sp>
        <p:nvSpPr>
          <p:cNvPr id="50" name="TextBox 49"/>
          <p:cNvSpPr txBox="1"/>
          <p:nvPr/>
        </p:nvSpPr>
        <p:spPr>
          <a:xfrm>
            <a:off x="502920" y="6446520"/>
            <a:ext cx="8229600" cy="320040"/>
          </a:xfrm>
          <a:prstGeom prst="rect">
            <a:avLst/>
          </a:prstGeom>
          <a:noFill/>
        </p:spPr>
        <p:txBody>
          <a:bodyPr wrap="square" lIns="0" tIns="0" rIns="0" bIns="0" anchor="t">
            <a:spAutoFit/>
          </a:bodyPr>
          <a:lstStyle/>
          <a:p>
            <a:pPr algn="l"/>
            <a:r>
              <a:rPr sz="1000" b="1">
                <a:solidFill>
                  <a:srgbClr val="545B64"/>
                </a:solidFill>
                <a:latin typeface="Calibri"/>
              </a:rPr>
              <a:t>VALENTIN   ·   GenAI TFC Capstone Deep-Dive</a:t>
            </a:r>
          </a:p>
        </p:txBody>
      </p:sp>
      <p:sp>
        <p:nvSpPr>
          <p:cNvPr id="51" name="TextBox 50"/>
          <p:cNvSpPr txBox="1"/>
          <p:nvPr/>
        </p:nvSpPr>
        <p:spPr>
          <a:xfrm>
            <a:off x="10332720" y="6446520"/>
            <a:ext cx="1371600" cy="320040"/>
          </a:xfrm>
          <a:prstGeom prst="rect">
            <a:avLst/>
          </a:prstGeom>
          <a:noFill/>
        </p:spPr>
        <p:txBody>
          <a:bodyPr wrap="square" lIns="0" tIns="0" rIns="0" bIns="0" anchor="t">
            <a:spAutoFit/>
          </a:bodyPr>
          <a:lstStyle/>
          <a:p>
            <a:pPr algn="r"/>
            <a:r>
              <a:rPr sz="1000" b="0">
                <a:solidFill>
                  <a:srgbClr val="545B64"/>
                </a:solidFill>
                <a:latin typeface="Calibri"/>
              </a:rPr>
              <a:t>2 / 17</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val 2"/>
          <p:cNvSpPr/>
          <p:nvPr/>
        </p:nvSpPr>
        <p:spPr>
          <a:xfrm>
            <a:off x="504825" y="361950"/>
            <a:ext cx="590550" cy="590550"/>
          </a:xfrm>
          <a:prstGeom prst="ellipse">
            <a:avLst/>
          </a:prstGeom>
          <a:solidFill>
            <a:srgbClr val="232F3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2000" b="1">
                <a:solidFill>
                  <a:srgbClr val="FF9900"/>
                </a:solidFill>
                <a:latin typeface="Calibri"/>
              </a:rPr>
              <a:t>2</a:t>
            </a:r>
          </a:p>
        </p:txBody>
      </p:sp>
      <p:sp>
        <p:nvSpPr>
          <p:cNvPr id="4" name="TextBox 3"/>
          <p:cNvSpPr txBox="1"/>
          <p:nvPr/>
        </p:nvSpPr>
        <p:spPr>
          <a:xfrm>
            <a:off x="1276350" y="400050"/>
            <a:ext cx="8572500" cy="450123"/>
          </a:xfrm>
          <a:prstGeom prst="rect">
            <a:avLst/>
          </a:prstGeom>
          <a:noFill/>
        </p:spPr>
        <p:txBody>
          <a:bodyPr wrap="square" lIns="0" tIns="0" rIns="0" bIns="0">
            <a:spAutoFit/>
          </a:bodyPr>
          <a:lstStyle/>
          <a:p>
            <a:pPr algn="l"/>
            <a:r>
              <a:rPr sz="2925" b="1" dirty="0">
                <a:solidFill>
                  <a:srgbClr val="232F3E"/>
                </a:solidFill>
                <a:latin typeface="Calibri"/>
              </a:rPr>
              <a:t>Valentin Workflow</a:t>
            </a:r>
            <a:r>
              <a:rPr lang="en-US" sz="2925" b="1" dirty="0">
                <a:solidFill>
                  <a:srgbClr val="232F3E"/>
                </a:solidFill>
                <a:latin typeface="Calibri"/>
              </a:rPr>
              <a:t> – what makes it agentic?</a:t>
            </a:r>
            <a:endParaRPr sz="2925" b="1" dirty="0">
              <a:solidFill>
                <a:srgbClr val="232F3E"/>
              </a:solidFill>
              <a:latin typeface="Calibri"/>
            </a:endParaRPr>
          </a:p>
        </p:txBody>
      </p:sp>
      <p:sp>
        <p:nvSpPr>
          <p:cNvPr id="5" name="Rectangle 4"/>
          <p:cNvSpPr/>
          <p:nvPr/>
        </p:nvSpPr>
        <p:spPr>
          <a:xfrm>
            <a:off x="504825" y="1047750"/>
            <a:ext cx="1371600" cy="38100"/>
          </a:xfrm>
          <a:prstGeom prst="rect">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a:p>
        </p:txBody>
      </p:sp>
      <p:sp>
        <p:nvSpPr>
          <p:cNvPr id="7" name="Oval 6"/>
          <p:cNvSpPr/>
          <p:nvPr/>
        </p:nvSpPr>
        <p:spPr>
          <a:xfrm>
            <a:off x="1597533" y="1666875"/>
            <a:ext cx="3662934" cy="3524250"/>
          </a:xfrm>
          <a:prstGeom prst="ellipse">
            <a:avLst/>
          </a:prstGeom>
          <a:noFill/>
          <a:ln w="133350">
            <a:solidFill>
              <a:srgbClr val="FFEFD6"/>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a:p>
        </p:txBody>
      </p:sp>
      <p:sp>
        <p:nvSpPr>
          <p:cNvPr id="17" name="Rounded Rectangle 16"/>
          <p:cNvSpPr/>
          <p:nvPr/>
        </p:nvSpPr>
        <p:spPr>
          <a:xfrm>
            <a:off x="2666999" y="4834419"/>
            <a:ext cx="1809750" cy="742950"/>
          </a:xfrm>
          <a:prstGeom prst="roundRect">
            <a:avLst>
              <a:gd name="adj" fmla="val 16000"/>
            </a:avLst>
          </a:prstGeom>
          <a:solidFill>
            <a:srgbClr val="FFFFFF"/>
          </a:solidFill>
          <a:ln w="13970">
            <a:solidFill>
              <a:srgbClr val="232F3E"/>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a:p>
        </p:txBody>
      </p:sp>
      <p:sp>
        <p:nvSpPr>
          <p:cNvPr id="18" name="TextBox 17"/>
          <p:cNvSpPr txBox="1"/>
          <p:nvPr/>
        </p:nvSpPr>
        <p:spPr>
          <a:xfrm>
            <a:off x="2781299" y="4929669"/>
            <a:ext cx="1581150" cy="492443"/>
          </a:xfrm>
          <a:prstGeom prst="rect">
            <a:avLst/>
          </a:prstGeom>
          <a:noFill/>
        </p:spPr>
        <p:txBody>
          <a:bodyPr wrap="square" lIns="0" tIns="0" rIns="0" bIns="0">
            <a:spAutoFit/>
          </a:bodyPr>
          <a:lstStyle/>
          <a:p>
            <a:pPr algn="ctr"/>
            <a:r>
              <a:rPr lang="en-US" sz="1600" b="1" dirty="0">
                <a:solidFill>
                  <a:srgbClr val="232F3E"/>
                </a:solidFill>
                <a:latin typeface="Calibri"/>
              </a:rPr>
              <a:t>Trigger and planning</a:t>
            </a:r>
            <a:endParaRPr sz="1600" b="1" dirty="0">
              <a:solidFill>
                <a:srgbClr val="232F3E"/>
              </a:solidFill>
              <a:latin typeface="Calibri"/>
            </a:endParaRPr>
          </a:p>
        </p:txBody>
      </p:sp>
      <p:sp>
        <p:nvSpPr>
          <p:cNvPr id="19" name="TextBox 18"/>
          <p:cNvSpPr txBox="1"/>
          <p:nvPr/>
        </p:nvSpPr>
        <p:spPr>
          <a:xfrm>
            <a:off x="2781299" y="5129694"/>
            <a:ext cx="1581150" cy="109645"/>
          </a:xfrm>
          <a:prstGeom prst="rect">
            <a:avLst/>
          </a:prstGeom>
          <a:noFill/>
        </p:spPr>
        <p:txBody>
          <a:bodyPr wrap="square" lIns="0" tIns="0" rIns="0" bIns="0">
            <a:spAutoFit/>
          </a:bodyPr>
          <a:lstStyle/>
          <a:p>
            <a:pPr algn="l">
              <a:lnSpc>
                <a:spcPct val="95000"/>
              </a:lnSpc>
            </a:pPr>
            <a:endParaRPr sz="750" b="0" dirty="0">
              <a:solidFill>
                <a:srgbClr val="545B64"/>
              </a:solidFill>
              <a:latin typeface="Calibri"/>
            </a:endParaRPr>
          </a:p>
        </p:txBody>
      </p:sp>
      <p:sp>
        <p:nvSpPr>
          <p:cNvPr id="20" name="Oval 19"/>
          <p:cNvSpPr/>
          <p:nvPr/>
        </p:nvSpPr>
        <p:spPr>
          <a:xfrm>
            <a:off x="2562224" y="4729644"/>
            <a:ext cx="209550" cy="209550"/>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800" b="1">
                <a:solidFill>
                  <a:srgbClr val="232F3E"/>
                </a:solidFill>
                <a:latin typeface="Calibri"/>
              </a:rPr>
              <a:t>1</a:t>
            </a:r>
          </a:p>
        </p:txBody>
      </p:sp>
      <p:sp>
        <p:nvSpPr>
          <p:cNvPr id="21" name="Rounded Rectangle 20"/>
          <p:cNvSpPr/>
          <p:nvPr/>
        </p:nvSpPr>
        <p:spPr>
          <a:xfrm>
            <a:off x="557212" y="3541130"/>
            <a:ext cx="1809750" cy="742950"/>
          </a:xfrm>
          <a:prstGeom prst="roundRect">
            <a:avLst>
              <a:gd name="adj" fmla="val 16000"/>
            </a:avLst>
          </a:prstGeom>
          <a:solidFill>
            <a:srgbClr val="FFFFFF"/>
          </a:solidFill>
          <a:ln w="13970">
            <a:solidFill>
              <a:srgbClr val="232F3E"/>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a:p>
        </p:txBody>
      </p:sp>
      <p:sp>
        <p:nvSpPr>
          <p:cNvPr id="22" name="TextBox 21"/>
          <p:cNvSpPr txBox="1"/>
          <p:nvPr/>
        </p:nvSpPr>
        <p:spPr>
          <a:xfrm>
            <a:off x="671512" y="3798426"/>
            <a:ext cx="1581150" cy="246221"/>
          </a:xfrm>
          <a:prstGeom prst="rect">
            <a:avLst/>
          </a:prstGeom>
          <a:noFill/>
        </p:spPr>
        <p:txBody>
          <a:bodyPr wrap="square" lIns="0" tIns="0" rIns="0" bIns="0">
            <a:spAutoFit/>
          </a:bodyPr>
          <a:lstStyle/>
          <a:p>
            <a:pPr algn="ctr"/>
            <a:r>
              <a:rPr sz="1600" b="1" dirty="0">
                <a:solidFill>
                  <a:srgbClr val="232F3E"/>
                </a:solidFill>
                <a:latin typeface="Calibri"/>
              </a:rPr>
              <a:t>Use tools</a:t>
            </a:r>
          </a:p>
        </p:txBody>
      </p:sp>
      <p:sp>
        <p:nvSpPr>
          <p:cNvPr id="23" name="TextBox 22"/>
          <p:cNvSpPr txBox="1"/>
          <p:nvPr/>
        </p:nvSpPr>
        <p:spPr>
          <a:xfrm>
            <a:off x="671512" y="3836405"/>
            <a:ext cx="1581150" cy="109645"/>
          </a:xfrm>
          <a:prstGeom prst="rect">
            <a:avLst/>
          </a:prstGeom>
          <a:noFill/>
        </p:spPr>
        <p:txBody>
          <a:bodyPr wrap="square" lIns="0" tIns="0" rIns="0" bIns="0">
            <a:spAutoFit/>
          </a:bodyPr>
          <a:lstStyle/>
          <a:p>
            <a:pPr algn="l">
              <a:lnSpc>
                <a:spcPct val="95000"/>
              </a:lnSpc>
            </a:pPr>
            <a:endParaRPr sz="750" b="0" dirty="0">
              <a:solidFill>
                <a:srgbClr val="545B64"/>
              </a:solidFill>
              <a:latin typeface="Calibri"/>
            </a:endParaRPr>
          </a:p>
        </p:txBody>
      </p:sp>
      <p:sp>
        <p:nvSpPr>
          <p:cNvPr id="24" name="Oval 23"/>
          <p:cNvSpPr/>
          <p:nvPr/>
        </p:nvSpPr>
        <p:spPr>
          <a:xfrm>
            <a:off x="452437" y="3436355"/>
            <a:ext cx="209550" cy="209550"/>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800" b="1">
                <a:solidFill>
                  <a:srgbClr val="232F3E"/>
                </a:solidFill>
                <a:latin typeface="Calibri"/>
              </a:rPr>
              <a:t>2</a:t>
            </a:r>
          </a:p>
        </p:txBody>
      </p:sp>
      <p:sp>
        <p:nvSpPr>
          <p:cNvPr id="25" name="Rounded Rectangle 24"/>
          <p:cNvSpPr/>
          <p:nvPr/>
        </p:nvSpPr>
        <p:spPr>
          <a:xfrm>
            <a:off x="1273985" y="1738063"/>
            <a:ext cx="1809750" cy="742950"/>
          </a:xfrm>
          <a:prstGeom prst="roundRect">
            <a:avLst>
              <a:gd name="adj" fmla="val 16000"/>
            </a:avLst>
          </a:prstGeom>
          <a:solidFill>
            <a:srgbClr val="FFFFFF"/>
          </a:solidFill>
          <a:ln w="13970">
            <a:solidFill>
              <a:srgbClr val="232F3E"/>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a:p>
        </p:txBody>
      </p:sp>
      <p:sp>
        <p:nvSpPr>
          <p:cNvPr id="26" name="TextBox 25"/>
          <p:cNvSpPr txBox="1"/>
          <p:nvPr/>
        </p:nvSpPr>
        <p:spPr>
          <a:xfrm>
            <a:off x="1388285" y="1995359"/>
            <a:ext cx="1581150" cy="246221"/>
          </a:xfrm>
          <a:prstGeom prst="rect">
            <a:avLst/>
          </a:prstGeom>
          <a:noFill/>
        </p:spPr>
        <p:txBody>
          <a:bodyPr wrap="square" lIns="0" tIns="0" rIns="0" bIns="0">
            <a:spAutoFit/>
          </a:bodyPr>
          <a:lstStyle/>
          <a:p>
            <a:pPr algn="ctr"/>
            <a:r>
              <a:rPr sz="1600" b="1" dirty="0">
                <a:solidFill>
                  <a:srgbClr val="232F3E"/>
                </a:solidFill>
                <a:latin typeface="Calibri"/>
              </a:rPr>
              <a:t>Propose</a:t>
            </a:r>
          </a:p>
        </p:txBody>
      </p:sp>
      <p:sp>
        <p:nvSpPr>
          <p:cNvPr id="27" name="TextBox 26"/>
          <p:cNvSpPr txBox="1"/>
          <p:nvPr/>
        </p:nvSpPr>
        <p:spPr>
          <a:xfrm>
            <a:off x="1388285" y="2033338"/>
            <a:ext cx="1581150" cy="109645"/>
          </a:xfrm>
          <a:prstGeom prst="rect">
            <a:avLst/>
          </a:prstGeom>
          <a:noFill/>
        </p:spPr>
        <p:txBody>
          <a:bodyPr wrap="square" lIns="0" tIns="0" rIns="0" bIns="0">
            <a:spAutoFit/>
          </a:bodyPr>
          <a:lstStyle/>
          <a:p>
            <a:pPr algn="l">
              <a:lnSpc>
                <a:spcPct val="95000"/>
              </a:lnSpc>
            </a:pPr>
            <a:endParaRPr sz="750" b="0" dirty="0">
              <a:solidFill>
                <a:srgbClr val="545B64"/>
              </a:solidFill>
              <a:latin typeface="Calibri"/>
            </a:endParaRPr>
          </a:p>
        </p:txBody>
      </p:sp>
      <p:sp>
        <p:nvSpPr>
          <p:cNvPr id="28" name="Oval 27"/>
          <p:cNvSpPr/>
          <p:nvPr/>
        </p:nvSpPr>
        <p:spPr>
          <a:xfrm>
            <a:off x="1169210" y="1633288"/>
            <a:ext cx="209550" cy="209550"/>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800" b="1">
                <a:solidFill>
                  <a:srgbClr val="232F3E"/>
                </a:solidFill>
                <a:latin typeface="Calibri"/>
              </a:rPr>
              <a:t>3</a:t>
            </a:r>
          </a:p>
        </p:txBody>
      </p:sp>
      <p:sp>
        <p:nvSpPr>
          <p:cNvPr id="29" name="Rounded Rectangle 28"/>
          <p:cNvSpPr/>
          <p:nvPr/>
        </p:nvSpPr>
        <p:spPr>
          <a:xfrm>
            <a:off x="3771900" y="1738063"/>
            <a:ext cx="1943100" cy="742950"/>
          </a:xfrm>
          <a:prstGeom prst="roundRect">
            <a:avLst>
              <a:gd name="adj" fmla="val 16000"/>
            </a:avLst>
          </a:prstGeom>
          <a:solidFill>
            <a:srgbClr val="FFFFFF"/>
          </a:solidFill>
          <a:ln w="13970">
            <a:solidFill>
              <a:srgbClr val="232F3E"/>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a:p>
        </p:txBody>
      </p:sp>
      <p:sp>
        <p:nvSpPr>
          <p:cNvPr id="30" name="TextBox 29"/>
          <p:cNvSpPr txBox="1"/>
          <p:nvPr/>
        </p:nvSpPr>
        <p:spPr>
          <a:xfrm>
            <a:off x="3693033" y="1833313"/>
            <a:ext cx="2100834" cy="492443"/>
          </a:xfrm>
          <a:prstGeom prst="rect">
            <a:avLst/>
          </a:prstGeom>
          <a:noFill/>
        </p:spPr>
        <p:txBody>
          <a:bodyPr wrap="square" lIns="0" tIns="0" rIns="0" bIns="0">
            <a:spAutoFit/>
          </a:bodyPr>
          <a:lstStyle/>
          <a:p>
            <a:pPr algn="ctr"/>
            <a:r>
              <a:rPr lang="en-US" sz="1600" b="1" dirty="0">
                <a:solidFill>
                  <a:srgbClr val="232F3E"/>
                </a:solidFill>
                <a:latin typeface="Calibri"/>
              </a:rPr>
              <a:t>Discussion and preference extraction</a:t>
            </a:r>
            <a:endParaRPr sz="1600" b="1" dirty="0">
              <a:solidFill>
                <a:srgbClr val="232F3E"/>
              </a:solidFill>
              <a:latin typeface="Calibri"/>
            </a:endParaRPr>
          </a:p>
        </p:txBody>
      </p:sp>
      <p:sp>
        <p:nvSpPr>
          <p:cNvPr id="32" name="Oval 31"/>
          <p:cNvSpPr/>
          <p:nvPr/>
        </p:nvSpPr>
        <p:spPr>
          <a:xfrm>
            <a:off x="3733800" y="1633288"/>
            <a:ext cx="209550" cy="209550"/>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800" b="1">
                <a:solidFill>
                  <a:srgbClr val="232F3E"/>
                </a:solidFill>
                <a:latin typeface="Calibri"/>
              </a:rPr>
              <a:t>4</a:t>
            </a:r>
          </a:p>
        </p:txBody>
      </p:sp>
      <p:sp>
        <p:nvSpPr>
          <p:cNvPr id="33" name="Rounded Rectangle 32"/>
          <p:cNvSpPr/>
          <p:nvPr/>
        </p:nvSpPr>
        <p:spPr>
          <a:xfrm>
            <a:off x="4514216" y="3541130"/>
            <a:ext cx="1809750" cy="742950"/>
          </a:xfrm>
          <a:prstGeom prst="roundRect">
            <a:avLst>
              <a:gd name="adj" fmla="val 16000"/>
            </a:avLst>
          </a:prstGeom>
          <a:solidFill>
            <a:srgbClr val="FFFFFF"/>
          </a:solidFill>
          <a:ln w="13970">
            <a:solidFill>
              <a:srgbClr val="232F3E"/>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a:p>
        </p:txBody>
      </p:sp>
      <p:sp>
        <p:nvSpPr>
          <p:cNvPr id="34" name="TextBox 33"/>
          <p:cNvSpPr txBox="1"/>
          <p:nvPr/>
        </p:nvSpPr>
        <p:spPr>
          <a:xfrm>
            <a:off x="4628516" y="3636380"/>
            <a:ext cx="1581150" cy="492443"/>
          </a:xfrm>
          <a:prstGeom prst="rect">
            <a:avLst/>
          </a:prstGeom>
          <a:noFill/>
        </p:spPr>
        <p:txBody>
          <a:bodyPr wrap="square" lIns="0" tIns="0" rIns="0" bIns="0">
            <a:spAutoFit/>
          </a:bodyPr>
          <a:lstStyle/>
          <a:p>
            <a:pPr algn="ctr"/>
            <a:r>
              <a:rPr lang="en-US" sz="1600" b="1" dirty="0">
                <a:solidFill>
                  <a:srgbClr val="232F3E"/>
                </a:solidFill>
                <a:latin typeface="Calibri"/>
              </a:rPr>
              <a:t>Feedback after the Event</a:t>
            </a:r>
            <a:endParaRPr sz="1600" b="1" dirty="0">
              <a:solidFill>
                <a:srgbClr val="232F3E"/>
              </a:solidFill>
              <a:latin typeface="Calibri"/>
            </a:endParaRPr>
          </a:p>
        </p:txBody>
      </p:sp>
      <p:sp>
        <p:nvSpPr>
          <p:cNvPr id="35" name="TextBox 34"/>
          <p:cNvSpPr txBox="1"/>
          <p:nvPr/>
        </p:nvSpPr>
        <p:spPr>
          <a:xfrm>
            <a:off x="4628516" y="3836405"/>
            <a:ext cx="1581150" cy="109645"/>
          </a:xfrm>
          <a:prstGeom prst="rect">
            <a:avLst/>
          </a:prstGeom>
          <a:noFill/>
        </p:spPr>
        <p:txBody>
          <a:bodyPr wrap="square" lIns="0" tIns="0" rIns="0" bIns="0">
            <a:spAutoFit/>
          </a:bodyPr>
          <a:lstStyle/>
          <a:p>
            <a:pPr algn="l">
              <a:lnSpc>
                <a:spcPct val="95000"/>
              </a:lnSpc>
            </a:pPr>
            <a:endParaRPr sz="750" b="0" dirty="0">
              <a:solidFill>
                <a:srgbClr val="545B64"/>
              </a:solidFill>
              <a:latin typeface="Calibri"/>
            </a:endParaRPr>
          </a:p>
        </p:txBody>
      </p:sp>
      <p:sp>
        <p:nvSpPr>
          <p:cNvPr id="36" name="Oval 35"/>
          <p:cNvSpPr/>
          <p:nvPr/>
        </p:nvSpPr>
        <p:spPr>
          <a:xfrm>
            <a:off x="4409441" y="3436355"/>
            <a:ext cx="209550" cy="209550"/>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800" b="1">
                <a:solidFill>
                  <a:srgbClr val="232F3E"/>
                </a:solidFill>
                <a:latin typeface="Calibri"/>
              </a:rPr>
              <a:t>5</a:t>
            </a:r>
          </a:p>
        </p:txBody>
      </p:sp>
      <p:sp>
        <p:nvSpPr>
          <p:cNvPr id="37" name="Oval 36"/>
          <p:cNvSpPr/>
          <p:nvPr/>
        </p:nvSpPr>
        <p:spPr>
          <a:xfrm>
            <a:off x="2714625" y="2714625"/>
            <a:ext cx="1428750" cy="1428750"/>
          </a:xfrm>
          <a:prstGeom prst="ellipse">
            <a:avLst/>
          </a:prstGeom>
          <a:solidFill>
            <a:srgbClr val="232F3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a:p>
        </p:txBody>
      </p:sp>
      <p:sp>
        <p:nvSpPr>
          <p:cNvPr id="38" name="TextBox 37"/>
          <p:cNvSpPr txBox="1"/>
          <p:nvPr/>
        </p:nvSpPr>
        <p:spPr>
          <a:xfrm>
            <a:off x="2714625" y="3162300"/>
            <a:ext cx="1428750" cy="133350"/>
          </a:xfrm>
          <a:prstGeom prst="rect">
            <a:avLst/>
          </a:prstGeom>
          <a:noFill/>
        </p:spPr>
        <p:txBody>
          <a:bodyPr wrap="square" lIns="0" tIns="0" rIns="0" bIns="0">
            <a:spAutoFit/>
          </a:bodyPr>
          <a:lstStyle/>
          <a:p>
            <a:pPr algn="ctr"/>
            <a:r>
              <a:rPr sz="787" b="1" spc="120">
                <a:solidFill>
                  <a:srgbClr val="FF9900"/>
                </a:solidFill>
                <a:latin typeface="Calibri"/>
              </a:rPr>
              <a:t>GOAL</a:t>
            </a:r>
          </a:p>
        </p:txBody>
      </p:sp>
      <p:sp>
        <p:nvSpPr>
          <p:cNvPr id="39" name="TextBox 38"/>
          <p:cNvSpPr txBox="1"/>
          <p:nvPr/>
        </p:nvSpPr>
        <p:spPr>
          <a:xfrm>
            <a:off x="2809875" y="3333750"/>
            <a:ext cx="1238250" cy="419100"/>
          </a:xfrm>
          <a:prstGeom prst="rect">
            <a:avLst/>
          </a:prstGeom>
          <a:noFill/>
        </p:spPr>
        <p:txBody>
          <a:bodyPr wrap="square" lIns="0" tIns="0" rIns="0" bIns="0">
            <a:spAutoFit/>
          </a:bodyPr>
          <a:lstStyle/>
          <a:p>
            <a:pPr algn="ctr">
              <a:lnSpc>
                <a:spcPct val="95000"/>
              </a:lnSpc>
            </a:pPr>
            <a:r>
              <a:rPr sz="1087" b="1">
                <a:solidFill>
                  <a:srgbClr val="FFFFFF"/>
                </a:solidFill>
                <a:latin typeface="Calibri"/>
              </a:rPr>
              <a:t>Make her feel seen</a:t>
            </a:r>
          </a:p>
        </p:txBody>
      </p:sp>
      <p:sp>
        <p:nvSpPr>
          <p:cNvPr id="40" name="Rounded Rectangle 39"/>
          <p:cNvSpPr/>
          <p:nvPr/>
        </p:nvSpPr>
        <p:spPr>
          <a:xfrm>
            <a:off x="6667500" y="2131189"/>
            <a:ext cx="5029200" cy="1676400"/>
          </a:xfrm>
          <a:prstGeom prst="roundRect">
            <a:avLst>
              <a:gd name="adj" fmla="val 7500"/>
            </a:avLst>
          </a:prstGeom>
          <a:solidFill>
            <a:srgbClr val="F7F8FA"/>
          </a:solidFill>
          <a:ln w="9525">
            <a:solidFill>
              <a:srgbClr val="E4E7EA"/>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a:p>
        </p:txBody>
      </p:sp>
      <p:sp>
        <p:nvSpPr>
          <p:cNvPr id="41" name="TextBox 40"/>
          <p:cNvSpPr txBox="1"/>
          <p:nvPr/>
        </p:nvSpPr>
        <p:spPr>
          <a:xfrm>
            <a:off x="6800088" y="2197423"/>
            <a:ext cx="4743450" cy="215444"/>
          </a:xfrm>
          <a:prstGeom prst="rect">
            <a:avLst/>
          </a:prstGeom>
          <a:noFill/>
        </p:spPr>
        <p:txBody>
          <a:bodyPr wrap="square" lIns="0" tIns="0" rIns="0" bIns="0">
            <a:spAutoFit/>
          </a:bodyPr>
          <a:lstStyle/>
          <a:p>
            <a:pPr algn="l"/>
            <a:r>
              <a:rPr sz="1400" b="1" spc="90" dirty="0">
                <a:solidFill>
                  <a:srgbClr val="C07000"/>
                </a:solidFill>
                <a:latin typeface="Calibri"/>
              </a:rPr>
              <a:t>TOOLS — THE LOOP’S HANDS</a:t>
            </a:r>
          </a:p>
        </p:txBody>
      </p:sp>
      <p:sp>
        <p:nvSpPr>
          <p:cNvPr id="42" name="Rounded Rectangle 41"/>
          <p:cNvSpPr/>
          <p:nvPr/>
        </p:nvSpPr>
        <p:spPr>
          <a:xfrm>
            <a:off x="6810375" y="2455039"/>
            <a:ext cx="918591" cy="200025"/>
          </a:xfrm>
          <a:prstGeom prst="roundRect">
            <a:avLst>
              <a:gd name="adj" fmla="val 50000"/>
            </a:avLst>
          </a:prstGeom>
          <a:solidFill>
            <a:srgbClr val="FFF7EC"/>
          </a:solidFill>
          <a:ln w="9525">
            <a:solidFill>
              <a:srgbClr val="FFD08A"/>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787">
                <a:solidFill>
                  <a:srgbClr val="C07000"/>
                </a:solidFill>
                <a:latin typeface="Consolas"/>
              </a:rPr>
              <a:t>check_shabbat</a:t>
            </a:r>
          </a:p>
        </p:txBody>
      </p:sp>
      <p:sp>
        <p:nvSpPr>
          <p:cNvPr id="43" name="Rounded Rectangle 42"/>
          <p:cNvSpPr/>
          <p:nvPr/>
        </p:nvSpPr>
        <p:spPr>
          <a:xfrm>
            <a:off x="7767066" y="2455039"/>
            <a:ext cx="1310640" cy="200025"/>
          </a:xfrm>
          <a:prstGeom prst="roundRect">
            <a:avLst>
              <a:gd name="adj" fmla="val 50000"/>
            </a:avLst>
          </a:prstGeom>
          <a:solidFill>
            <a:srgbClr val="FFFFFF"/>
          </a:solidFill>
          <a:ln w="9525">
            <a:solidFill>
              <a:srgbClr val="E4E7EA"/>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787">
                <a:solidFill>
                  <a:srgbClr val="232F3E"/>
                </a:solidFill>
                <a:latin typeface="Consolas"/>
              </a:rPr>
              <a:t>get_hebrew_occasions</a:t>
            </a:r>
          </a:p>
        </p:txBody>
      </p:sp>
      <p:sp>
        <p:nvSpPr>
          <p:cNvPr id="44" name="Rounded Rectangle 43"/>
          <p:cNvSpPr/>
          <p:nvPr/>
        </p:nvSpPr>
        <p:spPr>
          <a:xfrm>
            <a:off x="9115806" y="2455039"/>
            <a:ext cx="974598" cy="200025"/>
          </a:xfrm>
          <a:prstGeom prst="roundRect">
            <a:avLst>
              <a:gd name="adj" fmla="val 50000"/>
            </a:avLst>
          </a:prstGeom>
          <a:solidFill>
            <a:srgbClr val="FFFFFF"/>
          </a:solidFill>
          <a:ln w="9525">
            <a:solidFill>
              <a:srgbClr val="E4E7EA"/>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787">
                <a:solidFill>
                  <a:srgbClr val="232F3E"/>
                </a:solidFill>
                <a:latin typeface="Consolas"/>
              </a:rPr>
              <a:t>find_occasions</a:t>
            </a:r>
          </a:p>
        </p:txBody>
      </p:sp>
      <p:sp>
        <p:nvSpPr>
          <p:cNvPr id="45" name="Rounded Rectangle 44"/>
          <p:cNvSpPr/>
          <p:nvPr/>
        </p:nvSpPr>
        <p:spPr>
          <a:xfrm>
            <a:off x="10128504" y="2455039"/>
            <a:ext cx="1086612" cy="200025"/>
          </a:xfrm>
          <a:prstGeom prst="roundRect">
            <a:avLst>
              <a:gd name="adj" fmla="val 50000"/>
            </a:avLst>
          </a:prstGeom>
          <a:solidFill>
            <a:srgbClr val="FFF7EC"/>
          </a:solidFill>
          <a:ln w="9525">
            <a:solidFill>
              <a:srgbClr val="FFD08A"/>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787">
                <a:solidFill>
                  <a:srgbClr val="C07000"/>
                </a:solidFill>
                <a:latin typeface="Consolas"/>
              </a:rPr>
              <a:t>find_restaurants</a:t>
            </a:r>
          </a:p>
        </p:txBody>
      </p:sp>
      <p:sp>
        <p:nvSpPr>
          <p:cNvPr id="46" name="Rounded Rectangle 45"/>
          <p:cNvSpPr/>
          <p:nvPr/>
        </p:nvSpPr>
        <p:spPr>
          <a:xfrm>
            <a:off x="6810375" y="2678626"/>
            <a:ext cx="1198626" cy="200025"/>
          </a:xfrm>
          <a:prstGeom prst="roundRect">
            <a:avLst>
              <a:gd name="adj" fmla="val 50000"/>
            </a:avLst>
          </a:prstGeom>
          <a:solidFill>
            <a:srgbClr val="FFFFFF"/>
          </a:solidFill>
          <a:ln w="9525">
            <a:solidFill>
              <a:srgbClr val="E4E7EA"/>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787">
                <a:solidFill>
                  <a:srgbClr val="232F3E"/>
                </a:solidFill>
                <a:latin typeface="Consolas"/>
              </a:rPr>
              <a:t>check_availability</a:t>
            </a:r>
          </a:p>
        </p:txBody>
      </p:sp>
      <p:sp>
        <p:nvSpPr>
          <p:cNvPr id="47" name="Rounded Rectangle 46"/>
          <p:cNvSpPr/>
          <p:nvPr/>
        </p:nvSpPr>
        <p:spPr>
          <a:xfrm>
            <a:off x="8047101" y="2678626"/>
            <a:ext cx="1254633" cy="200025"/>
          </a:xfrm>
          <a:prstGeom prst="roundRect">
            <a:avLst>
              <a:gd name="adj" fmla="val 50000"/>
            </a:avLst>
          </a:prstGeom>
          <a:solidFill>
            <a:srgbClr val="FFFFFF"/>
          </a:solidFill>
          <a:ln w="9525">
            <a:solidFill>
              <a:srgbClr val="E4E7EA"/>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787">
                <a:solidFill>
                  <a:srgbClr val="232F3E"/>
                </a:solidFill>
                <a:latin typeface="Consolas"/>
              </a:rPr>
              <a:t>propose_reservation</a:t>
            </a:r>
          </a:p>
        </p:txBody>
      </p:sp>
      <p:sp>
        <p:nvSpPr>
          <p:cNvPr id="48" name="Rounded Rectangle 47"/>
          <p:cNvSpPr/>
          <p:nvPr/>
        </p:nvSpPr>
        <p:spPr>
          <a:xfrm>
            <a:off x="9339834" y="2678626"/>
            <a:ext cx="750570" cy="200025"/>
          </a:xfrm>
          <a:prstGeom prst="roundRect">
            <a:avLst>
              <a:gd name="adj" fmla="val 50000"/>
            </a:avLst>
          </a:prstGeom>
          <a:solidFill>
            <a:srgbClr val="FFFFFF"/>
          </a:solidFill>
          <a:ln w="9525">
            <a:solidFill>
              <a:srgbClr val="E4E7EA"/>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787">
                <a:solidFill>
                  <a:srgbClr val="232F3E"/>
                </a:solidFill>
                <a:latin typeface="Consolas"/>
              </a:rPr>
              <a:t>find_music</a:t>
            </a:r>
          </a:p>
        </p:txBody>
      </p:sp>
      <p:sp>
        <p:nvSpPr>
          <p:cNvPr id="49" name="Rounded Rectangle 48"/>
          <p:cNvSpPr/>
          <p:nvPr/>
        </p:nvSpPr>
        <p:spPr>
          <a:xfrm>
            <a:off x="10128504" y="2678626"/>
            <a:ext cx="1086612" cy="200025"/>
          </a:xfrm>
          <a:prstGeom prst="roundRect">
            <a:avLst>
              <a:gd name="adj" fmla="val 50000"/>
            </a:avLst>
          </a:prstGeom>
          <a:solidFill>
            <a:srgbClr val="FFFFFF"/>
          </a:solidFill>
          <a:ln w="9525">
            <a:solidFill>
              <a:srgbClr val="E4E7EA"/>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787">
                <a:solidFill>
                  <a:srgbClr val="232F3E"/>
                </a:solidFill>
                <a:latin typeface="Consolas"/>
              </a:rPr>
              <a:t>propose_playlist</a:t>
            </a:r>
          </a:p>
        </p:txBody>
      </p:sp>
      <p:sp>
        <p:nvSpPr>
          <p:cNvPr id="50" name="Rounded Rectangle 49"/>
          <p:cNvSpPr/>
          <p:nvPr/>
        </p:nvSpPr>
        <p:spPr>
          <a:xfrm>
            <a:off x="6810375" y="2902214"/>
            <a:ext cx="918591" cy="200025"/>
          </a:xfrm>
          <a:prstGeom prst="roundRect">
            <a:avLst>
              <a:gd name="adj" fmla="val 50000"/>
            </a:avLst>
          </a:prstGeom>
          <a:solidFill>
            <a:srgbClr val="FFFFFF"/>
          </a:solidFill>
          <a:ln w="9525">
            <a:solidFill>
              <a:srgbClr val="E4E7EA"/>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787">
                <a:solidFill>
                  <a:srgbClr val="232F3E"/>
                </a:solidFill>
                <a:latin typeface="Consolas"/>
              </a:rPr>
              <a:t>search_hotels</a:t>
            </a:r>
          </a:p>
        </p:txBody>
      </p:sp>
      <p:sp>
        <p:nvSpPr>
          <p:cNvPr id="51" name="Rounded Rectangle 50"/>
          <p:cNvSpPr/>
          <p:nvPr/>
        </p:nvSpPr>
        <p:spPr>
          <a:xfrm>
            <a:off x="7767066" y="2902214"/>
            <a:ext cx="1142619" cy="200025"/>
          </a:xfrm>
          <a:prstGeom prst="roundRect">
            <a:avLst>
              <a:gd name="adj" fmla="val 50000"/>
            </a:avLst>
          </a:prstGeom>
          <a:solidFill>
            <a:srgbClr val="FFFFFF"/>
          </a:solidFill>
          <a:ln w="9525">
            <a:solidFill>
              <a:srgbClr val="E4E7EA"/>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787">
                <a:solidFill>
                  <a:srgbClr val="232F3E"/>
                </a:solidFill>
                <a:latin typeface="Consolas"/>
              </a:rPr>
              <a:t>search_activities</a:t>
            </a:r>
          </a:p>
        </p:txBody>
      </p:sp>
      <p:sp>
        <p:nvSpPr>
          <p:cNvPr id="52" name="Rounded Rectangle 51"/>
          <p:cNvSpPr/>
          <p:nvPr/>
        </p:nvSpPr>
        <p:spPr>
          <a:xfrm>
            <a:off x="8947785" y="2902214"/>
            <a:ext cx="918591" cy="200025"/>
          </a:xfrm>
          <a:prstGeom prst="roundRect">
            <a:avLst>
              <a:gd name="adj" fmla="val 50000"/>
            </a:avLst>
          </a:prstGeom>
          <a:solidFill>
            <a:srgbClr val="FFFFFF"/>
          </a:solidFill>
          <a:ln w="9525">
            <a:solidFill>
              <a:srgbClr val="E4E7EA"/>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787">
                <a:solidFill>
                  <a:srgbClr val="232F3E"/>
                </a:solidFill>
                <a:latin typeface="Consolas"/>
              </a:rPr>
              <a:t>order_flowers</a:t>
            </a:r>
          </a:p>
        </p:txBody>
      </p:sp>
      <p:sp>
        <p:nvSpPr>
          <p:cNvPr id="53" name="Rounded Rectangle 52"/>
          <p:cNvSpPr/>
          <p:nvPr/>
        </p:nvSpPr>
        <p:spPr>
          <a:xfrm>
            <a:off x="9904476" y="2902214"/>
            <a:ext cx="918591" cy="200025"/>
          </a:xfrm>
          <a:prstGeom prst="roundRect">
            <a:avLst>
              <a:gd name="adj" fmla="val 50000"/>
            </a:avLst>
          </a:prstGeom>
          <a:solidFill>
            <a:srgbClr val="FFFFFF"/>
          </a:solidFill>
          <a:ln w="9525">
            <a:solidFill>
              <a:srgbClr val="E4E7EA"/>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787">
                <a:solidFill>
                  <a:srgbClr val="232F3E"/>
                </a:solidFill>
                <a:latin typeface="Consolas"/>
              </a:rPr>
              <a:t>propose_email</a:t>
            </a:r>
          </a:p>
        </p:txBody>
      </p:sp>
      <p:sp>
        <p:nvSpPr>
          <p:cNvPr id="54" name="Rounded Rectangle 53"/>
          <p:cNvSpPr/>
          <p:nvPr/>
        </p:nvSpPr>
        <p:spPr>
          <a:xfrm>
            <a:off x="6810375" y="3125801"/>
            <a:ext cx="1422654" cy="200025"/>
          </a:xfrm>
          <a:prstGeom prst="roundRect">
            <a:avLst>
              <a:gd name="adj" fmla="val 50000"/>
            </a:avLst>
          </a:prstGeom>
          <a:solidFill>
            <a:srgbClr val="FFFFFF"/>
          </a:solidFill>
          <a:ln w="9525">
            <a:solidFill>
              <a:srgbClr val="E4E7EA"/>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787">
                <a:solidFill>
                  <a:srgbClr val="232F3E"/>
                </a:solidFill>
                <a:latin typeface="Consolas"/>
              </a:rPr>
              <a:t>propose_whatsapp_nudge</a:t>
            </a:r>
          </a:p>
        </p:txBody>
      </p:sp>
      <p:sp>
        <p:nvSpPr>
          <p:cNvPr id="55" name="Rounded Rectangle 54"/>
          <p:cNvSpPr/>
          <p:nvPr/>
        </p:nvSpPr>
        <p:spPr>
          <a:xfrm>
            <a:off x="8271129" y="3125801"/>
            <a:ext cx="862584" cy="200025"/>
          </a:xfrm>
          <a:prstGeom prst="roundRect">
            <a:avLst>
              <a:gd name="adj" fmla="val 50000"/>
            </a:avLst>
          </a:prstGeom>
          <a:solidFill>
            <a:srgbClr val="FFF7EC"/>
          </a:solidFill>
          <a:ln w="9525">
            <a:solidFill>
              <a:srgbClr val="FFD08A"/>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787">
                <a:solidFill>
                  <a:srgbClr val="C07000"/>
                </a:solidFill>
                <a:latin typeface="Consolas"/>
              </a:rPr>
              <a:t>set_reminder</a:t>
            </a:r>
          </a:p>
        </p:txBody>
      </p:sp>
      <p:sp>
        <p:nvSpPr>
          <p:cNvPr id="56" name="Rounded Rectangle 55"/>
          <p:cNvSpPr/>
          <p:nvPr/>
        </p:nvSpPr>
        <p:spPr>
          <a:xfrm>
            <a:off x="9171813" y="3125801"/>
            <a:ext cx="1422654" cy="200025"/>
          </a:xfrm>
          <a:prstGeom prst="roundRect">
            <a:avLst>
              <a:gd name="adj" fmla="val 50000"/>
            </a:avLst>
          </a:prstGeom>
          <a:solidFill>
            <a:srgbClr val="FFFFFF"/>
          </a:solidFill>
          <a:ln w="9525">
            <a:solidFill>
              <a:srgbClr val="E4E7EA"/>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787">
                <a:solidFill>
                  <a:srgbClr val="232F3E"/>
                </a:solidFill>
                <a:latin typeface="Consolas"/>
              </a:rPr>
              <a:t>propose_calendar_event</a:t>
            </a:r>
          </a:p>
        </p:txBody>
      </p:sp>
      <p:sp>
        <p:nvSpPr>
          <p:cNvPr id="57" name="TextBox 56"/>
          <p:cNvSpPr txBox="1"/>
          <p:nvPr/>
        </p:nvSpPr>
        <p:spPr>
          <a:xfrm>
            <a:off x="6810375" y="3402026"/>
            <a:ext cx="4743450" cy="369332"/>
          </a:xfrm>
          <a:prstGeom prst="rect">
            <a:avLst/>
          </a:prstGeom>
          <a:noFill/>
        </p:spPr>
        <p:txBody>
          <a:bodyPr wrap="square" lIns="0" tIns="0" rIns="0" bIns="0">
            <a:spAutoFit/>
          </a:bodyPr>
          <a:lstStyle/>
          <a:p>
            <a:pPr algn="l"/>
            <a:r>
              <a:rPr sz="1200" b="0" dirty="0">
                <a:solidFill>
                  <a:srgbClr val="545B64"/>
                </a:solidFill>
                <a:latin typeface="Calibri"/>
              </a:rPr>
              <a:t>21 registered tools · 6 live integrations. Every write leaves as a proposal, never as a fact.</a:t>
            </a:r>
          </a:p>
        </p:txBody>
      </p:sp>
      <p:sp>
        <p:nvSpPr>
          <p:cNvPr id="58" name="Rounded Rectangle 57"/>
          <p:cNvSpPr/>
          <p:nvPr/>
        </p:nvSpPr>
        <p:spPr>
          <a:xfrm>
            <a:off x="6667500" y="4073807"/>
            <a:ext cx="2457450" cy="1390650"/>
          </a:xfrm>
          <a:prstGeom prst="roundRect">
            <a:avLst>
              <a:gd name="adj" fmla="val 8500"/>
            </a:avLst>
          </a:prstGeom>
          <a:solidFill>
            <a:srgbClr val="F7F8FA"/>
          </a:solidFill>
          <a:ln w="9525">
            <a:solidFill>
              <a:srgbClr val="E4E7EA"/>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a:p>
        </p:txBody>
      </p:sp>
      <p:sp>
        <p:nvSpPr>
          <p:cNvPr id="59" name="TextBox 58"/>
          <p:cNvSpPr txBox="1"/>
          <p:nvPr/>
        </p:nvSpPr>
        <p:spPr>
          <a:xfrm>
            <a:off x="6810375" y="4197632"/>
            <a:ext cx="2171700" cy="215444"/>
          </a:xfrm>
          <a:prstGeom prst="rect">
            <a:avLst/>
          </a:prstGeom>
          <a:noFill/>
        </p:spPr>
        <p:txBody>
          <a:bodyPr wrap="square" lIns="0" tIns="0" rIns="0" bIns="0">
            <a:spAutoFit/>
          </a:bodyPr>
          <a:lstStyle/>
          <a:p>
            <a:pPr algn="l"/>
            <a:r>
              <a:rPr sz="1400" b="1" spc="90" dirty="0">
                <a:solidFill>
                  <a:srgbClr val="C07000"/>
                </a:solidFill>
                <a:latin typeface="Calibri"/>
              </a:rPr>
              <a:t>MEMORY</a:t>
            </a:r>
          </a:p>
        </p:txBody>
      </p:sp>
      <p:sp>
        <p:nvSpPr>
          <p:cNvPr id="60" name="TextBox 59"/>
          <p:cNvSpPr txBox="1"/>
          <p:nvPr/>
        </p:nvSpPr>
        <p:spPr>
          <a:xfrm>
            <a:off x="6810375" y="4424907"/>
            <a:ext cx="2171700" cy="190500"/>
          </a:xfrm>
          <a:prstGeom prst="rect">
            <a:avLst/>
          </a:prstGeom>
          <a:noFill/>
        </p:spPr>
        <p:txBody>
          <a:bodyPr wrap="square" lIns="0" tIns="0" rIns="0" bIns="0">
            <a:spAutoFit/>
          </a:bodyPr>
          <a:lstStyle/>
          <a:p>
            <a:pPr algn="l"/>
            <a:r>
              <a:rPr sz="1050" b="1" dirty="0">
                <a:solidFill>
                  <a:srgbClr val="232F3E"/>
                </a:solidFill>
                <a:latin typeface="Calibri"/>
              </a:rPr>
              <a:t>Her file, rewritten every turn</a:t>
            </a:r>
          </a:p>
        </p:txBody>
      </p:sp>
      <p:sp>
        <p:nvSpPr>
          <p:cNvPr id="61" name="TextBox 60"/>
          <p:cNvSpPr txBox="1"/>
          <p:nvPr/>
        </p:nvSpPr>
        <p:spPr>
          <a:xfrm>
            <a:off x="6810375" y="4653507"/>
            <a:ext cx="2171700" cy="571500"/>
          </a:xfrm>
          <a:prstGeom prst="rect">
            <a:avLst/>
          </a:prstGeom>
          <a:noFill/>
        </p:spPr>
        <p:txBody>
          <a:bodyPr wrap="square" lIns="0" tIns="0" rIns="0" bIns="0">
            <a:spAutoFit/>
          </a:bodyPr>
          <a:lstStyle/>
          <a:p>
            <a:pPr algn="l">
              <a:lnSpc>
                <a:spcPct val="95000"/>
              </a:lnSpc>
            </a:pPr>
            <a:r>
              <a:rPr sz="825" b="0" dirty="0">
                <a:solidFill>
                  <a:srgbClr val="545B64"/>
                </a:solidFill>
                <a:latin typeface="Calibri"/>
              </a:rPr>
              <a:t>8 preference categories · past outings · pending reminders. DynamoDB / AgentCore Memory.</a:t>
            </a:r>
          </a:p>
        </p:txBody>
      </p:sp>
      <p:sp>
        <p:nvSpPr>
          <p:cNvPr id="62" name="Rounded Rectangle 61"/>
          <p:cNvSpPr/>
          <p:nvPr/>
        </p:nvSpPr>
        <p:spPr>
          <a:xfrm>
            <a:off x="9239250" y="4073807"/>
            <a:ext cx="2457450" cy="1390650"/>
          </a:xfrm>
          <a:prstGeom prst="roundRect">
            <a:avLst>
              <a:gd name="adj" fmla="val 8500"/>
            </a:avLst>
          </a:prstGeom>
          <a:solidFill>
            <a:srgbClr val="F7F8FA"/>
          </a:solidFill>
          <a:ln w="9525">
            <a:solidFill>
              <a:srgbClr val="E4E7EA"/>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a:p>
        </p:txBody>
      </p:sp>
      <p:sp>
        <p:nvSpPr>
          <p:cNvPr id="63" name="TextBox 62"/>
          <p:cNvSpPr txBox="1"/>
          <p:nvPr/>
        </p:nvSpPr>
        <p:spPr>
          <a:xfrm>
            <a:off x="9382125" y="4197632"/>
            <a:ext cx="2171700" cy="215444"/>
          </a:xfrm>
          <a:prstGeom prst="rect">
            <a:avLst/>
          </a:prstGeom>
          <a:noFill/>
        </p:spPr>
        <p:txBody>
          <a:bodyPr wrap="square" lIns="0" tIns="0" rIns="0" bIns="0">
            <a:spAutoFit/>
          </a:bodyPr>
          <a:lstStyle/>
          <a:p>
            <a:pPr algn="l"/>
            <a:r>
              <a:rPr sz="1400" b="1" spc="90" dirty="0">
                <a:solidFill>
                  <a:srgbClr val="C07000"/>
                </a:solidFill>
                <a:latin typeface="Calibri"/>
              </a:rPr>
              <a:t>LOOP</a:t>
            </a:r>
          </a:p>
        </p:txBody>
      </p:sp>
      <p:sp>
        <p:nvSpPr>
          <p:cNvPr id="64" name="TextBox 63"/>
          <p:cNvSpPr txBox="1"/>
          <p:nvPr/>
        </p:nvSpPr>
        <p:spPr>
          <a:xfrm>
            <a:off x="9382125" y="4424907"/>
            <a:ext cx="2171700" cy="190500"/>
          </a:xfrm>
          <a:prstGeom prst="rect">
            <a:avLst/>
          </a:prstGeom>
          <a:noFill/>
        </p:spPr>
        <p:txBody>
          <a:bodyPr wrap="square" lIns="0" tIns="0" rIns="0" bIns="0">
            <a:spAutoFit/>
          </a:bodyPr>
          <a:lstStyle/>
          <a:p>
            <a:pPr algn="l"/>
            <a:r>
              <a:rPr sz="1050" b="1">
                <a:solidFill>
                  <a:srgbClr val="232F3E"/>
                </a:solidFill>
                <a:latin typeface="Calibri"/>
              </a:rPr>
              <a:t>It never ends on a reply</a:t>
            </a:r>
          </a:p>
        </p:txBody>
      </p:sp>
      <p:sp>
        <p:nvSpPr>
          <p:cNvPr id="65" name="TextBox 64"/>
          <p:cNvSpPr txBox="1"/>
          <p:nvPr/>
        </p:nvSpPr>
        <p:spPr>
          <a:xfrm>
            <a:off x="9382125" y="4653507"/>
            <a:ext cx="2171700" cy="571500"/>
          </a:xfrm>
          <a:prstGeom prst="rect">
            <a:avLst/>
          </a:prstGeom>
          <a:noFill/>
        </p:spPr>
        <p:txBody>
          <a:bodyPr wrap="square" lIns="0" tIns="0" rIns="0" bIns="0">
            <a:spAutoFit/>
          </a:bodyPr>
          <a:lstStyle/>
          <a:p>
            <a:pPr algn="l">
              <a:lnSpc>
                <a:spcPct val="95000"/>
              </a:lnSpc>
            </a:pPr>
            <a:r>
              <a:rPr sz="825" b="0">
                <a:solidFill>
                  <a:srgbClr val="545B64"/>
                </a:solidFill>
                <a:latin typeface="Calibri"/>
              </a:rPr>
              <a:t>Each pass reorganises the timeline: new dates land, stale ones fall off, reminders re-scheduled.</a:t>
            </a:r>
          </a:p>
        </p:txBody>
      </p:sp>
      <p:grpSp>
        <p:nvGrpSpPr>
          <p:cNvPr id="95" name="Group 94">
            <a:extLst>
              <a:ext uri="{FF2B5EF4-FFF2-40B4-BE49-F238E27FC236}">
                <a16:creationId xmlns:a16="http://schemas.microsoft.com/office/drawing/2014/main" id="{A0D98818-BC03-63C2-8438-EA6EF23603A0}"/>
              </a:ext>
            </a:extLst>
          </p:cNvPr>
          <p:cNvGrpSpPr/>
          <p:nvPr/>
        </p:nvGrpSpPr>
        <p:grpSpPr>
          <a:xfrm>
            <a:off x="6667808" y="1269273"/>
            <a:ext cx="3703107" cy="282320"/>
            <a:chOff x="6667809" y="1269273"/>
            <a:chExt cx="2522220" cy="228600"/>
          </a:xfrm>
        </p:grpSpPr>
        <p:sp>
          <p:nvSpPr>
            <p:cNvPr id="66" name="Rounded Rectangle 65"/>
            <p:cNvSpPr/>
            <p:nvPr/>
          </p:nvSpPr>
          <p:spPr>
            <a:xfrm>
              <a:off x="6667809" y="1269273"/>
              <a:ext cx="521970" cy="228600"/>
            </a:xfrm>
            <a:prstGeom prst="roundRect">
              <a:avLst>
                <a:gd name="adj" fmla="val 50000"/>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400" b="1">
                  <a:solidFill>
                    <a:srgbClr val="232F3E"/>
                  </a:solidFill>
                  <a:latin typeface="Calibri"/>
                </a:rPr>
                <a:t>GOAL</a:t>
              </a:r>
            </a:p>
          </p:txBody>
        </p:sp>
        <p:sp>
          <p:nvSpPr>
            <p:cNvPr id="67" name="Rounded Rectangle 66"/>
            <p:cNvSpPr/>
            <p:nvPr/>
          </p:nvSpPr>
          <p:spPr>
            <a:xfrm>
              <a:off x="7265979" y="1269273"/>
              <a:ext cx="521970" cy="228600"/>
            </a:xfrm>
            <a:prstGeom prst="roundRect">
              <a:avLst>
                <a:gd name="adj" fmla="val 50000"/>
              </a:avLst>
            </a:prstGeom>
            <a:solidFill>
              <a:srgbClr val="232F3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400" b="1">
                  <a:solidFill>
                    <a:srgbClr val="FFFFFF"/>
                  </a:solidFill>
                  <a:latin typeface="Calibri"/>
                </a:rPr>
                <a:t>LOOP</a:t>
              </a:r>
            </a:p>
          </p:txBody>
        </p:sp>
        <p:sp>
          <p:nvSpPr>
            <p:cNvPr id="68" name="Rounded Rectangle 67"/>
            <p:cNvSpPr/>
            <p:nvPr/>
          </p:nvSpPr>
          <p:spPr>
            <a:xfrm>
              <a:off x="7864149" y="1269273"/>
              <a:ext cx="659130" cy="228600"/>
            </a:xfrm>
            <a:prstGeom prst="roundRect">
              <a:avLst>
                <a:gd name="adj" fmla="val 50000"/>
              </a:avLst>
            </a:prstGeom>
            <a:solidFill>
              <a:srgbClr val="232F3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400" b="1">
                  <a:solidFill>
                    <a:srgbClr val="FFFFFF"/>
                  </a:solidFill>
                  <a:latin typeface="Calibri"/>
                </a:rPr>
                <a:t>MEMORY</a:t>
              </a:r>
            </a:p>
          </p:txBody>
        </p:sp>
        <p:sp>
          <p:nvSpPr>
            <p:cNvPr id="69" name="Rounded Rectangle 68"/>
            <p:cNvSpPr/>
            <p:nvPr/>
          </p:nvSpPr>
          <p:spPr>
            <a:xfrm>
              <a:off x="8599479" y="1269273"/>
              <a:ext cx="590550" cy="228600"/>
            </a:xfrm>
            <a:prstGeom prst="roundRect">
              <a:avLst>
                <a:gd name="adj" fmla="val 50000"/>
              </a:avLst>
            </a:prstGeom>
            <a:solidFill>
              <a:srgbClr val="232F3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400" b="1">
                  <a:solidFill>
                    <a:srgbClr val="FFFFFF"/>
                  </a:solidFill>
                  <a:latin typeface="Calibri"/>
                </a:rPr>
                <a:t>TOOLS</a:t>
              </a:r>
            </a:p>
          </p:txBody>
        </p:sp>
      </p:grpSp>
      <p:sp>
        <p:nvSpPr>
          <p:cNvPr id="72" name="Rounded Rectangle 71"/>
          <p:cNvSpPr/>
          <p:nvPr/>
        </p:nvSpPr>
        <p:spPr>
          <a:xfrm>
            <a:off x="504825" y="5991827"/>
            <a:ext cx="11182350" cy="47625"/>
          </a:xfrm>
          <a:prstGeom prst="roundRect">
            <a:avLst>
              <a:gd name="adj" fmla="val 50000"/>
            </a:avLst>
          </a:prstGeom>
          <a:solidFill>
            <a:srgbClr val="232F3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a:p>
        </p:txBody>
      </p:sp>
      <p:sp>
        <p:nvSpPr>
          <p:cNvPr id="73" name="Oval 72"/>
          <p:cNvSpPr/>
          <p:nvPr/>
        </p:nvSpPr>
        <p:spPr>
          <a:xfrm>
            <a:off x="1323975" y="5915627"/>
            <a:ext cx="171450" cy="171450"/>
          </a:xfrm>
          <a:prstGeom prst="ellipse">
            <a:avLst/>
          </a:prstGeom>
          <a:solidFill>
            <a:srgbClr val="FFFFFF"/>
          </a:solidFill>
          <a:ln w="19050">
            <a:solidFill>
              <a:srgbClr val="232F3E"/>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a:p>
        </p:txBody>
      </p:sp>
      <p:sp>
        <p:nvSpPr>
          <p:cNvPr id="74" name="Oval 73"/>
          <p:cNvSpPr/>
          <p:nvPr/>
        </p:nvSpPr>
        <p:spPr>
          <a:xfrm>
            <a:off x="1362075" y="5953727"/>
            <a:ext cx="95250" cy="95250"/>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a:p>
        </p:txBody>
      </p:sp>
      <p:sp>
        <p:nvSpPr>
          <p:cNvPr id="75" name="TextBox 74"/>
          <p:cNvSpPr txBox="1"/>
          <p:nvPr/>
        </p:nvSpPr>
        <p:spPr>
          <a:xfrm>
            <a:off x="552450" y="6144227"/>
            <a:ext cx="1714500" cy="133350"/>
          </a:xfrm>
          <a:prstGeom prst="rect">
            <a:avLst/>
          </a:prstGeom>
          <a:noFill/>
        </p:spPr>
        <p:txBody>
          <a:bodyPr wrap="square" lIns="0" tIns="0" rIns="0" bIns="0">
            <a:spAutoFit/>
          </a:bodyPr>
          <a:lstStyle/>
          <a:p>
            <a:pPr algn="ctr"/>
            <a:r>
              <a:rPr sz="787" b="1" spc="60">
                <a:solidFill>
                  <a:srgbClr val="C07000"/>
                </a:solidFill>
                <a:latin typeface="Calibri"/>
              </a:rPr>
              <a:t>EVERY FRIDAY</a:t>
            </a:r>
          </a:p>
        </p:txBody>
      </p:sp>
      <p:sp>
        <p:nvSpPr>
          <p:cNvPr id="76" name="TextBox 75"/>
          <p:cNvSpPr txBox="1"/>
          <p:nvPr/>
        </p:nvSpPr>
        <p:spPr>
          <a:xfrm>
            <a:off x="552450" y="6277577"/>
            <a:ext cx="1714500" cy="171450"/>
          </a:xfrm>
          <a:prstGeom prst="rect">
            <a:avLst/>
          </a:prstGeom>
          <a:noFill/>
        </p:spPr>
        <p:txBody>
          <a:bodyPr wrap="square" lIns="0" tIns="0" rIns="0" bIns="0">
            <a:spAutoFit/>
          </a:bodyPr>
          <a:lstStyle/>
          <a:p>
            <a:pPr algn="ctr"/>
            <a:r>
              <a:rPr sz="937" b="1">
                <a:solidFill>
                  <a:srgbClr val="232F3E"/>
                </a:solidFill>
                <a:latin typeface="Calibri"/>
              </a:rPr>
              <a:t>Shabbat dinner</a:t>
            </a:r>
          </a:p>
        </p:txBody>
      </p:sp>
      <p:sp>
        <p:nvSpPr>
          <p:cNvPr id="77" name="Oval 76"/>
          <p:cNvSpPr/>
          <p:nvPr/>
        </p:nvSpPr>
        <p:spPr>
          <a:xfrm>
            <a:off x="3914775" y="5915627"/>
            <a:ext cx="171450" cy="171450"/>
          </a:xfrm>
          <a:prstGeom prst="ellipse">
            <a:avLst/>
          </a:prstGeom>
          <a:solidFill>
            <a:srgbClr val="FFFFFF"/>
          </a:solidFill>
          <a:ln w="19050">
            <a:solidFill>
              <a:srgbClr val="232F3E"/>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a:p>
        </p:txBody>
      </p:sp>
      <p:sp>
        <p:nvSpPr>
          <p:cNvPr id="78" name="Oval 77"/>
          <p:cNvSpPr/>
          <p:nvPr/>
        </p:nvSpPr>
        <p:spPr>
          <a:xfrm>
            <a:off x="3952875" y="5953727"/>
            <a:ext cx="95250" cy="95250"/>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a:p>
        </p:txBody>
      </p:sp>
      <p:sp>
        <p:nvSpPr>
          <p:cNvPr id="79" name="TextBox 78"/>
          <p:cNvSpPr txBox="1"/>
          <p:nvPr/>
        </p:nvSpPr>
        <p:spPr>
          <a:xfrm>
            <a:off x="3143250" y="6144227"/>
            <a:ext cx="1714500" cy="133350"/>
          </a:xfrm>
          <a:prstGeom prst="rect">
            <a:avLst/>
          </a:prstGeom>
          <a:noFill/>
        </p:spPr>
        <p:txBody>
          <a:bodyPr wrap="square" lIns="0" tIns="0" rIns="0" bIns="0">
            <a:spAutoFit/>
          </a:bodyPr>
          <a:lstStyle/>
          <a:p>
            <a:pPr algn="ctr"/>
            <a:r>
              <a:rPr sz="787" b="1" spc="60">
                <a:solidFill>
                  <a:srgbClr val="C07000"/>
                </a:solidFill>
                <a:latin typeface="Calibri"/>
              </a:rPr>
              <a:t>3 NOV</a:t>
            </a:r>
          </a:p>
        </p:txBody>
      </p:sp>
      <p:sp>
        <p:nvSpPr>
          <p:cNvPr id="80" name="TextBox 79"/>
          <p:cNvSpPr txBox="1"/>
          <p:nvPr/>
        </p:nvSpPr>
        <p:spPr>
          <a:xfrm>
            <a:off x="3143250" y="6277577"/>
            <a:ext cx="1714500" cy="171450"/>
          </a:xfrm>
          <a:prstGeom prst="rect">
            <a:avLst/>
          </a:prstGeom>
          <a:noFill/>
        </p:spPr>
        <p:txBody>
          <a:bodyPr wrap="square" lIns="0" tIns="0" rIns="0" bIns="0">
            <a:spAutoFit/>
          </a:bodyPr>
          <a:lstStyle/>
          <a:p>
            <a:pPr algn="ctr"/>
            <a:r>
              <a:rPr sz="937" b="1">
                <a:solidFill>
                  <a:srgbClr val="232F3E"/>
                </a:solidFill>
                <a:latin typeface="Calibri"/>
              </a:rPr>
              <a:t>Anniversary</a:t>
            </a:r>
          </a:p>
        </p:txBody>
      </p:sp>
      <p:sp>
        <p:nvSpPr>
          <p:cNvPr id="81" name="Oval 80"/>
          <p:cNvSpPr/>
          <p:nvPr/>
        </p:nvSpPr>
        <p:spPr>
          <a:xfrm>
            <a:off x="6486525" y="5915627"/>
            <a:ext cx="171450" cy="171450"/>
          </a:xfrm>
          <a:prstGeom prst="ellipse">
            <a:avLst/>
          </a:prstGeom>
          <a:solidFill>
            <a:srgbClr val="FFFFFF"/>
          </a:solidFill>
          <a:ln w="19050">
            <a:solidFill>
              <a:srgbClr val="232F3E"/>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a:p>
        </p:txBody>
      </p:sp>
      <p:sp>
        <p:nvSpPr>
          <p:cNvPr id="82" name="Oval 81"/>
          <p:cNvSpPr/>
          <p:nvPr/>
        </p:nvSpPr>
        <p:spPr>
          <a:xfrm>
            <a:off x="6524625" y="5953727"/>
            <a:ext cx="95250" cy="95250"/>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a:p>
        </p:txBody>
      </p:sp>
      <p:sp>
        <p:nvSpPr>
          <p:cNvPr id="83" name="TextBox 82"/>
          <p:cNvSpPr txBox="1"/>
          <p:nvPr/>
        </p:nvSpPr>
        <p:spPr>
          <a:xfrm>
            <a:off x="5715000" y="6144227"/>
            <a:ext cx="1714500" cy="133350"/>
          </a:xfrm>
          <a:prstGeom prst="rect">
            <a:avLst/>
          </a:prstGeom>
          <a:noFill/>
        </p:spPr>
        <p:txBody>
          <a:bodyPr wrap="square" lIns="0" tIns="0" rIns="0" bIns="0">
            <a:spAutoFit/>
          </a:bodyPr>
          <a:lstStyle/>
          <a:p>
            <a:pPr algn="ctr"/>
            <a:r>
              <a:rPr sz="787" b="1" spc="60">
                <a:solidFill>
                  <a:srgbClr val="C07000"/>
                </a:solidFill>
                <a:latin typeface="Calibri"/>
              </a:rPr>
              <a:t>14 FEB</a:t>
            </a:r>
          </a:p>
        </p:txBody>
      </p:sp>
      <p:sp>
        <p:nvSpPr>
          <p:cNvPr id="84" name="TextBox 83"/>
          <p:cNvSpPr txBox="1"/>
          <p:nvPr/>
        </p:nvSpPr>
        <p:spPr>
          <a:xfrm>
            <a:off x="5715000" y="6277577"/>
            <a:ext cx="1714500" cy="171450"/>
          </a:xfrm>
          <a:prstGeom prst="rect">
            <a:avLst/>
          </a:prstGeom>
          <a:noFill/>
        </p:spPr>
        <p:txBody>
          <a:bodyPr wrap="square" lIns="0" tIns="0" rIns="0" bIns="0">
            <a:spAutoFit/>
          </a:bodyPr>
          <a:lstStyle/>
          <a:p>
            <a:pPr algn="ctr"/>
            <a:r>
              <a:rPr sz="937" b="1">
                <a:solidFill>
                  <a:srgbClr val="232F3E"/>
                </a:solidFill>
                <a:latin typeface="Calibri"/>
              </a:rPr>
              <a:t>Her birthday</a:t>
            </a:r>
          </a:p>
        </p:txBody>
      </p:sp>
      <p:sp>
        <p:nvSpPr>
          <p:cNvPr id="85" name="Oval 84"/>
          <p:cNvSpPr/>
          <p:nvPr/>
        </p:nvSpPr>
        <p:spPr>
          <a:xfrm>
            <a:off x="8943975" y="5915627"/>
            <a:ext cx="171450" cy="171450"/>
          </a:xfrm>
          <a:prstGeom prst="ellipse">
            <a:avLst/>
          </a:prstGeom>
          <a:solidFill>
            <a:srgbClr val="FFFFFF"/>
          </a:solidFill>
          <a:ln w="19050">
            <a:solidFill>
              <a:srgbClr val="232F3E"/>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a:p>
        </p:txBody>
      </p:sp>
      <p:sp>
        <p:nvSpPr>
          <p:cNvPr id="86" name="Oval 85"/>
          <p:cNvSpPr/>
          <p:nvPr/>
        </p:nvSpPr>
        <p:spPr>
          <a:xfrm>
            <a:off x="8982075" y="5953727"/>
            <a:ext cx="95250" cy="95250"/>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a:p>
        </p:txBody>
      </p:sp>
      <p:sp>
        <p:nvSpPr>
          <p:cNvPr id="87" name="TextBox 86"/>
          <p:cNvSpPr txBox="1"/>
          <p:nvPr/>
        </p:nvSpPr>
        <p:spPr>
          <a:xfrm>
            <a:off x="8172450" y="6144227"/>
            <a:ext cx="1714500" cy="133350"/>
          </a:xfrm>
          <a:prstGeom prst="rect">
            <a:avLst/>
          </a:prstGeom>
          <a:noFill/>
        </p:spPr>
        <p:txBody>
          <a:bodyPr wrap="square" lIns="0" tIns="0" rIns="0" bIns="0">
            <a:spAutoFit/>
          </a:bodyPr>
          <a:lstStyle/>
          <a:p>
            <a:pPr algn="ctr"/>
            <a:r>
              <a:rPr sz="787" b="1" spc="60">
                <a:solidFill>
                  <a:srgbClr val="C07000"/>
                </a:solidFill>
                <a:latin typeface="Calibri"/>
              </a:rPr>
              <a:t>21 MAR</a:t>
            </a:r>
          </a:p>
        </p:txBody>
      </p:sp>
      <p:sp>
        <p:nvSpPr>
          <p:cNvPr id="88" name="TextBox 87"/>
          <p:cNvSpPr txBox="1"/>
          <p:nvPr/>
        </p:nvSpPr>
        <p:spPr>
          <a:xfrm>
            <a:off x="8172450" y="6277577"/>
            <a:ext cx="1714500" cy="171450"/>
          </a:xfrm>
          <a:prstGeom prst="rect">
            <a:avLst/>
          </a:prstGeom>
          <a:noFill/>
        </p:spPr>
        <p:txBody>
          <a:bodyPr wrap="square" lIns="0" tIns="0" rIns="0" bIns="0">
            <a:spAutoFit/>
          </a:bodyPr>
          <a:lstStyle/>
          <a:p>
            <a:pPr algn="ctr"/>
            <a:r>
              <a:rPr sz="937" b="1">
                <a:solidFill>
                  <a:srgbClr val="232F3E"/>
                </a:solidFill>
                <a:latin typeface="Calibri"/>
              </a:rPr>
              <a:t>Bat mitzvah</a:t>
            </a:r>
          </a:p>
        </p:txBody>
      </p:sp>
      <p:sp>
        <p:nvSpPr>
          <p:cNvPr id="89" name="Oval 88"/>
          <p:cNvSpPr/>
          <p:nvPr/>
        </p:nvSpPr>
        <p:spPr>
          <a:xfrm>
            <a:off x="11182350" y="5915627"/>
            <a:ext cx="171450" cy="171450"/>
          </a:xfrm>
          <a:prstGeom prst="ellipse">
            <a:avLst/>
          </a:prstGeom>
          <a:solidFill>
            <a:srgbClr val="FFFFFF"/>
          </a:solidFill>
          <a:ln w="19050">
            <a:solidFill>
              <a:srgbClr val="232F3E"/>
            </a:solid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a:p>
        </p:txBody>
      </p:sp>
      <p:sp>
        <p:nvSpPr>
          <p:cNvPr id="90" name="Oval 89"/>
          <p:cNvSpPr/>
          <p:nvPr/>
        </p:nvSpPr>
        <p:spPr>
          <a:xfrm>
            <a:off x="11220450" y="5953727"/>
            <a:ext cx="95250" cy="95250"/>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endParaRPr/>
          </a:p>
        </p:txBody>
      </p:sp>
      <p:sp>
        <p:nvSpPr>
          <p:cNvPr id="91" name="TextBox 90"/>
          <p:cNvSpPr txBox="1"/>
          <p:nvPr/>
        </p:nvSpPr>
        <p:spPr>
          <a:xfrm>
            <a:off x="10410825" y="6144227"/>
            <a:ext cx="1714500" cy="133350"/>
          </a:xfrm>
          <a:prstGeom prst="rect">
            <a:avLst/>
          </a:prstGeom>
          <a:noFill/>
        </p:spPr>
        <p:txBody>
          <a:bodyPr wrap="square" lIns="0" tIns="0" rIns="0" bIns="0">
            <a:spAutoFit/>
          </a:bodyPr>
          <a:lstStyle/>
          <a:p>
            <a:pPr algn="ctr"/>
            <a:r>
              <a:rPr sz="787" b="1" spc="60">
                <a:solidFill>
                  <a:srgbClr val="C07000"/>
                </a:solidFill>
                <a:latin typeface="Calibri"/>
              </a:rPr>
              <a:t>JUNE</a:t>
            </a:r>
          </a:p>
        </p:txBody>
      </p:sp>
      <p:sp>
        <p:nvSpPr>
          <p:cNvPr id="92" name="TextBox 91"/>
          <p:cNvSpPr txBox="1"/>
          <p:nvPr/>
        </p:nvSpPr>
        <p:spPr>
          <a:xfrm>
            <a:off x="10410825" y="6277577"/>
            <a:ext cx="1714500" cy="171450"/>
          </a:xfrm>
          <a:prstGeom prst="rect">
            <a:avLst/>
          </a:prstGeom>
          <a:noFill/>
        </p:spPr>
        <p:txBody>
          <a:bodyPr wrap="square" lIns="0" tIns="0" rIns="0" bIns="0">
            <a:spAutoFit/>
          </a:bodyPr>
          <a:lstStyle/>
          <a:p>
            <a:pPr algn="ctr"/>
            <a:r>
              <a:rPr sz="937" b="1">
                <a:solidFill>
                  <a:srgbClr val="232F3E"/>
                </a:solidFill>
                <a:latin typeface="Calibri"/>
              </a:rPr>
              <a:t>Anniversary trip</a:t>
            </a:r>
          </a:p>
        </p:txBody>
      </p:sp>
      <p:sp>
        <p:nvSpPr>
          <p:cNvPr id="93" name="TextBox 92"/>
          <p:cNvSpPr txBox="1"/>
          <p:nvPr/>
        </p:nvSpPr>
        <p:spPr>
          <a:xfrm>
            <a:off x="504825" y="6534150"/>
            <a:ext cx="5715000" cy="152400"/>
          </a:xfrm>
          <a:prstGeom prst="rect">
            <a:avLst/>
          </a:prstGeom>
          <a:noFill/>
        </p:spPr>
        <p:txBody>
          <a:bodyPr wrap="square" lIns="0" tIns="0" rIns="0" bIns="0">
            <a:spAutoFit/>
          </a:bodyPr>
          <a:lstStyle/>
          <a:p>
            <a:pPr algn="l"/>
            <a:r>
              <a:rPr sz="900" b="1" dirty="0">
                <a:solidFill>
                  <a:srgbClr val="545B64"/>
                </a:solidFill>
                <a:latin typeface="Calibri"/>
              </a:rPr>
              <a:t>VALENTIN   ·   GenAI TFC Capstone Deep-Dive</a:t>
            </a:r>
          </a:p>
        </p:txBody>
      </p:sp>
      <p:sp>
        <p:nvSpPr>
          <p:cNvPr id="94" name="TextBox 93"/>
          <p:cNvSpPr txBox="1"/>
          <p:nvPr/>
        </p:nvSpPr>
        <p:spPr>
          <a:xfrm>
            <a:off x="10258425" y="6534150"/>
            <a:ext cx="1428750" cy="152400"/>
          </a:xfrm>
          <a:prstGeom prst="rect">
            <a:avLst/>
          </a:prstGeom>
          <a:noFill/>
        </p:spPr>
        <p:txBody>
          <a:bodyPr wrap="square" lIns="0" tIns="0" rIns="0" bIns="0">
            <a:spAutoFit/>
          </a:bodyPr>
          <a:lstStyle/>
          <a:p>
            <a:pPr algn="r"/>
            <a:r>
              <a:rPr sz="900" b="0">
                <a:solidFill>
                  <a:srgbClr val="545B64"/>
                </a:solidFill>
                <a:latin typeface="Calibri"/>
              </a:rPr>
              <a:t>3 / 17</a:t>
            </a:r>
          </a:p>
        </p:txBody>
      </p:sp>
      <p:sp>
        <p:nvSpPr>
          <p:cNvPr id="1078" name="Arc 1078"/>
          <p:cNvSpPr/>
          <p:nvPr/>
        </p:nvSpPr>
        <p:spPr>
          <a:xfrm>
            <a:off x="1600200" y="1664208"/>
            <a:ext cx="3666744" cy="3520440"/>
          </a:xfrm>
          <a:prstGeom prst="arc">
            <a:avLst>
              <a:gd name="adj1" fmla="val 6600000"/>
              <a:gd name="adj2" fmla="val 8880000"/>
            </a:avLst>
          </a:prstGeom>
          <a:noFill/>
          <a:ln w="38100" cap="rnd">
            <a:solidFill>
              <a:srgbClr val="FF9900"/>
            </a:solidFill>
            <a:tailEnd type="triangle" w="med" len="med"/>
          </a:ln>
        </p:spPr>
        <p:txBody>
          <a:bodyPr/>
          <a:lstStyle/>
          <a:p>
            <a:endParaRPr/>
          </a:p>
        </p:txBody>
      </p:sp>
      <p:sp>
        <p:nvSpPr>
          <p:cNvPr id="1079" name="Arc 1079"/>
          <p:cNvSpPr/>
          <p:nvPr/>
        </p:nvSpPr>
        <p:spPr>
          <a:xfrm>
            <a:off x="1600200" y="1664208"/>
            <a:ext cx="3666744" cy="3520440"/>
          </a:xfrm>
          <a:prstGeom prst="arc">
            <a:avLst>
              <a:gd name="adj1" fmla="val 11100000"/>
              <a:gd name="adj2" fmla="val 12600000"/>
            </a:avLst>
          </a:prstGeom>
          <a:noFill/>
          <a:ln w="38100" cap="rnd">
            <a:solidFill>
              <a:srgbClr val="FF9900"/>
            </a:solidFill>
            <a:tailEnd type="triangle" w="med" len="med"/>
          </a:ln>
        </p:spPr>
        <p:txBody>
          <a:bodyPr/>
          <a:lstStyle/>
          <a:p>
            <a:endParaRPr/>
          </a:p>
        </p:txBody>
      </p:sp>
      <p:sp>
        <p:nvSpPr>
          <p:cNvPr id="1080" name="Arc 1080"/>
          <p:cNvSpPr/>
          <p:nvPr/>
        </p:nvSpPr>
        <p:spPr>
          <a:xfrm>
            <a:off x="1600200" y="1664208"/>
            <a:ext cx="3666744" cy="3520440"/>
          </a:xfrm>
          <a:prstGeom prst="arc">
            <a:avLst>
              <a:gd name="adj1" fmla="val 14760000"/>
              <a:gd name="adj2" fmla="val 17760000"/>
            </a:avLst>
          </a:prstGeom>
          <a:noFill/>
          <a:ln w="38100" cap="rnd">
            <a:solidFill>
              <a:srgbClr val="FF9900"/>
            </a:solidFill>
            <a:tailEnd type="triangle" w="med" len="med"/>
          </a:ln>
        </p:spPr>
        <p:txBody>
          <a:bodyPr/>
          <a:lstStyle/>
          <a:p>
            <a:endParaRPr/>
          </a:p>
        </p:txBody>
      </p:sp>
      <p:sp>
        <p:nvSpPr>
          <p:cNvPr id="1081" name="Arc 1081"/>
          <p:cNvSpPr/>
          <p:nvPr/>
        </p:nvSpPr>
        <p:spPr>
          <a:xfrm>
            <a:off x="1600200" y="1664208"/>
            <a:ext cx="3666744" cy="3520440"/>
          </a:xfrm>
          <a:prstGeom prst="arc">
            <a:avLst>
              <a:gd name="adj1" fmla="val 19980000"/>
              <a:gd name="adj2" fmla="val 21300000"/>
            </a:avLst>
          </a:prstGeom>
          <a:noFill/>
          <a:ln w="38100" cap="rnd">
            <a:solidFill>
              <a:srgbClr val="FF9900"/>
            </a:solidFill>
            <a:tailEnd type="triangle" w="med" len="med"/>
          </a:ln>
        </p:spPr>
        <p:txBody>
          <a:bodyPr/>
          <a:lstStyle/>
          <a:p>
            <a:endParaRPr/>
          </a:p>
        </p:txBody>
      </p:sp>
      <p:sp>
        <p:nvSpPr>
          <p:cNvPr id="1082" name="Arc 1082"/>
          <p:cNvSpPr/>
          <p:nvPr/>
        </p:nvSpPr>
        <p:spPr>
          <a:xfrm>
            <a:off x="1600200" y="1664208"/>
            <a:ext cx="3666744" cy="3520440"/>
          </a:xfrm>
          <a:prstGeom prst="arc">
            <a:avLst>
              <a:gd name="adj1" fmla="val 1920000"/>
              <a:gd name="adj2" fmla="val 4320000"/>
            </a:avLst>
          </a:prstGeom>
          <a:noFill/>
          <a:ln w="38100" cap="rnd">
            <a:solidFill>
              <a:srgbClr val="FF9900"/>
            </a:solidFill>
            <a:tailEnd type="triangle" w="med" len="med"/>
          </a:ln>
        </p:spPr>
        <p:txBody>
          <a:bodyPr/>
          <a:lstStyle/>
          <a:p>
            <a:endParaRPr/>
          </a:p>
        </p:txBody>
      </p:sp>
      <p:cxnSp>
        <p:nvCxnSpPr>
          <p:cNvPr id="1083" name="Connector 1082"/>
          <p:cNvCxnSpPr/>
          <p:nvPr/>
        </p:nvCxnSpPr>
        <p:spPr>
          <a:xfrm flipV="1">
            <a:off x="4000500" y="5632703"/>
            <a:ext cx="0" cy="256033"/>
          </a:xfrm>
          <a:prstGeom prst="line">
            <a:avLst/>
          </a:prstGeom>
          <a:ln w="38100">
            <a:solidFill>
              <a:srgbClr val="FF99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84" name="Connector 1083"/>
          <p:cNvCxnSpPr/>
          <p:nvPr/>
        </p:nvCxnSpPr>
        <p:spPr>
          <a:xfrm>
            <a:off x="6327648" y="3913632"/>
            <a:ext cx="242316" cy="0"/>
          </a:xfrm>
          <a:prstGeom prst="line">
            <a:avLst/>
          </a:prstGeom>
          <a:ln w="38100">
            <a:solidFill>
              <a:srgbClr val="FF9900"/>
            </a:solidFill>
          </a:ln>
        </p:spPr>
        <p:style>
          <a:lnRef idx="2">
            <a:schemeClr val="accent1"/>
          </a:lnRef>
          <a:fillRef idx="0">
            <a:schemeClr val="accent1"/>
          </a:fillRef>
          <a:effectRef idx="1">
            <a:schemeClr val="accent1"/>
          </a:effectRef>
          <a:fontRef idx="minor">
            <a:schemeClr val="tx1"/>
          </a:fontRef>
        </p:style>
      </p:cxnSp>
      <p:cxnSp>
        <p:nvCxnSpPr>
          <p:cNvPr id="1085" name="Connector 1084"/>
          <p:cNvCxnSpPr/>
          <p:nvPr/>
        </p:nvCxnSpPr>
        <p:spPr>
          <a:xfrm>
            <a:off x="6569964" y="3913632"/>
            <a:ext cx="0" cy="1956816"/>
          </a:xfrm>
          <a:prstGeom prst="line">
            <a:avLst/>
          </a:prstGeom>
          <a:ln w="38100">
            <a:solidFill>
              <a:srgbClr val="FF99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86" name="TextBox 1085"/>
          <p:cNvSpPr txBox="1"/>
          <p:nvPr/>
        </p:nvSpPr>
        <p:spPr>
          <a:xfrm>
            <a:off x="4663440" y="4956048"/>
            <a:ext cx="1737360" cy="219456"/>
          </a:xfrm>
          <a:prstGeom prst="rect">
            <a:avLst/>
          </a:prstGeom>
          <a:noFill/>
        </p:spPr>
        <p:txBody>
          <a:bodyPr wrap="square" lIns="0" tIns="0" rIns="0" bIns="0" anchor="ctr">
            <a:spAutoFit/>
          </a:bodyPr>
          <a:lstStyle/>
          <a:p>
            <a:pPr algn="r"/>
            <a:r>
              <a:rPr sz="900" b="1">
                <a:solidFill>
                  <a:srgbClr val="FF9900"/>
                </a:solidFill>
                <a:latin typeface="Calibri"/>
              </a:rPr>
              <a:t>sets a new event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502920" y="365760"/>
            <a:ext cx="594360" cy="594360"/>
          </a:xfrm>
          <a:prstGeom prst="ellipse">
            <a:avLst/>
          </a:prstGeom>
          <a:solidFill>
            <a:srgbClr val="232F3E"/>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600" b="1">
                <a:solidFill>
                  <a:srgbClr val="FF9900"/>
                </a:solidFill>
                <a:latin typeface="Calibri"/>
              </a:rPr>
              <a:t>3</a:t>
            </a:r>
          </a:p>
        </p:txBody>
      </p:sp>
      <p:sp>
        <p:nvSpPr>
          <p:cNvPr id="4" name="TextBox 3"/>
          <p:cNvSpPr txBox="1"/>
          <p:nvPr/>
        </p:nvSpPr>
        <p:spPr>
          <a:xfrm>
            <a:off x="1280160" y="365760"/>
            <a:ext cx="10058400" cy="594360"/>
          </a:xfrm>
          <a:prstGeom prst="rect">
            <a:avLst/>
          </a:prstGeom>
          <a:noFill/>
        </p:spPr>
        <p:txBody>
          <a:bodyPr wrap="square" lIns="0" tIns="0" rIns="0" bIns="0" anchor="ctr">
            <a:spAutoFit/>
          </a:bodyPr>
          <a:lstStyle/>
          <a:p>
            <a:pPr algn="l"/>
            <a:r>
              <a:rPr sz="3000" b="1">
                <a:solidFill>
                  <a:srgbClr val="232F3E"/>
                </a:solidFill>
                <a:latin typeface="Calibri"/>
              </a:rPr>
              <a:t>Demo</a:t>
            </a:r>
          </a:p>
        </p:txBody>
      </p:sp>
      <p:sp>
        <p:nvSpPr>
          <p:cNvPr id="5" name="Rectangle 4"/>
          <p:cNvSpPr/>
          <p:nvPr/>
        </p:nvSpPr>
        <p:spPr>
          <a:xfrm>
            <a:off x="502920" y="1051560"/>
            <a:ext cx="1371600" cy="35000"/>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02920" y="1828800"/>
            <a:ext cx="11155680" cy="548640"/>
          </a:xfrm>
          <a:prstGeom prst="rect">
            <a:avLst/>
          </a:prstGeom>
          <a:noFill/>
        </p:spPr>
        <p:txBody>
          <a:bodyPr wrap="square" lIns="0" tIns="0" rIns="0" bIns="0" anchor="t">
            <a:spAutoFit/>
          </a:bodyPr>
          <a:lstStyle/>
          <a:p>
            <a:pPr algn="ctr"/>
            <a:r>
              <a:rPr sz="1800" b="0">
                <a:solidFill>
                  <a:srgbClr val="545B64"/>
                </a:solidFill>
                <a:latin typeface="Calibri"/>
              </a:rPr>
              <a:t>Live product · deployed on AWS · 6 real integrations</a:t>
            </a:r>
          </a:p>
        </p:txBody>
      </p:sp>
      <p:sp>
        <p:nvSpPr>
          <p:cNvPr id="7" name="Rounded Rectangle 6">
            <a:hlinkClick r:id="rId3"/>
          </p:cNvPr>
          <p:cNvSpPr/>
          <p:nvPr/>
        </p:nvSpPr>
        <p:spPr>
          <a:xfrm>
            <a:off x="2209647" y="2926080"/>
            <a:ext cx="7772400" cy="1828800"/>
          </a:xfrm>
          <a:prstGeom prst="round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209647" y="3246120"/>
            <a:ext cx="7772400" cy="365760"/>
          </a:xfrm>
          <a:prstGeom prst="rect">
            <a:avLst/>
          </a:prstGeom>
          <a:noFill/>
        </p:spPr>
        <p:txBody>
          <a:bodyPr wrap="square" lIns="0" tIns="0" rIns="0" bIns="0" anchor="t">
            <a:spAutoFit/>
          </a:bodyPr>
          <a:lstStyle/>
          <a:p>
            <a:pPr algn="ctr"/>
            <a:r>
              <a:rPr sz="1300" b="1">
                <a:solidFill>
                  <a:srgbClr val="232F3E"/>
                </a:solidFill>
                <a:latin typeface="Calibri"/>
              </a:rPr>
              <a:t>OPEN THE DEMO</a:t>
            </a:r>
          </a:p>
        </p:txBody>
      </p:sp>
      <p:sp>
        <p:nvSpPr>
          <p:cNvPr id="9" name="TextBox 8"/>
          <p:cNvSpPr txBox="1"/>
          <p:nvPr/>
        </p:nvSpPr>
        <p:spPr>
          <a:xfrm>
            <a:off x="2483967" y="3657600"/>
            <a:ext cx="7223760" cy="594360"/>
          </a:xfrm>
          <a:prstGeom prst="rect">
            <a:avLst/>
          </a:prstGeom>
          <a:noFill/>
        </p:spPr>
        <p:txBody>
          <a:bodyPr wrap="square" lIns="0" rIns="0" anchor="ctr">
            <a:spAutoFit/>
          </a:bodyPr>
          <a:lstStyle/>
          <a:p>
            <a:pPr algn="ctr"/>
            <a:r>
              <a:rPr sz="2600" b="1">
                <a:solidFill>
                  <a:srgbClr val="232F3E"/>
                </a:solidFill>
                <a:latin typeface="Calibri"/>
                <a:hlinkClick r:id="rId3"/>
              </a:rPr>
              <a:t>Valentin — Live Demo  ↗</a:t>
            </a:r>
          </a:p>
        </p:txBody>
      </p:sp>
      <p:sp>
        <p:nvSpPr>
          <p:cNvPr id="10" name="TextBox 9"/>
          <p:cNvSpPr txBox="1"/>
          <p:nvPr/>
        </p:nvSpPr>
        <p:spPr>
          <a:xfrm>
            <a:off x="2209647" y="4297680"/>
            <a:ext cx="7772400" cy="365760"/>
          </a:xfrm>
          <a:prstGeom prst="rect">
            <a:avLst/>
          </a:prstGeom>
          <a:noFill/>
        </p:spPr>
        <p:txBody>
          <a:bodyPr wrap="square" lIns="0" tIns="0" rIns="0" bIns="0" anchor="t">
            <a:spAutoFit/>
          </a:bodyPr>
          <a:lstStyle/>
          <a:p>
            <a:pPr algn="ctr"/>
            <a:r>
              <a:rPr sz="1200" b="0">
                <a:solidFill>
                  <a:srgbClr val="232F3E"/>
                </a:solidFill>
                <a:latin typeface="Calibri"/>
              </a:rPr>
              <a:t>The four beats: extract · remember · decide · act</a:t>
            </a:r>
          </a:p>
        </p:txBody>
      </p:sp>
      <p:sp>
        <p:nvSpPr>
          <p:cNvPr id="11" name="TextBox 10"/>
          <p:cNvSpPr txBox="1"/>
          <p:nvPr/>
        </p:nvSpPr>
        <p:spPr>
          <a:xfrm>
            <a:off x="502920" y="6446520"/>
            <a:ext cx="8229600" cy="320040"/>
          </a:xfrm>
          <a:prstGeom prst="rect">
            <a:avLst/>
          </a:prstGeom>
          <a:noFill/>
        </p:spPr>
        <p:txBody>
          <a:bodyPr wrap="square" lIns="0" tIns="0" rIns="0" bIns="0" anchor="t">
            <a:spAutoFit/>
          </a:bodyPr>
          <a:lstStyle/>
          <a:p>
            <a:pPr algn="l"/>
            <a:r>
              <a:rPr sz="1000" b="1">
                <a:solidFill>
                  <a:srgbClr val="545B64"/>
                </a:solidFill>
                <a:latin typeface="Calibri"/>
              </a:rPr>
              <a:t>VALENTIN   ·   GenAI TFC Capstone Deep-Dive</a:t>
            </a:r>
          </a:p>
        </p:txBody>
      </p:sp>
      <p:sp>
        <p:nvSpPr>
          <p:cNvPr id="12" name="TextBox 11"/>
          <p:cNvSpPr txBox="1"/>
          <p:nvPr/>
        </p:nvSpPr>
        <p:spPr>
          <a:xfrm>
            <a:off x="10332720" y="6446520"/>
            <a:ext cx="1371600" cy="320040"/>
          </a:xfrm>
          <a:prstGeom prst="rect">
            <a:avLst/>
          </a:prstGeom>
          <a:noFill/>
        </p:spPr>
        <p:txBody>
          <a:bodyPr wrap="square" lIns="0" tIns="0" rIns="0" bIns="0" anchor="t">
            <a:spAutoFit/>
          </a:bodyPr>
          <a:lstStyle/>
          <a:p>
            <a:pPr algn="r"/>
            <a:r>
              <a:rPr sz="1000" b="0">
                <a:solidFill>
                  <a:srgbClr val="545B64"/>
                </a:solidFill>
                <a:latin typeface="Calibri"/>
              </a:rPr>
              <a:t>4 / 17</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diagram-two-engines-lr.png">
            <a:extLst>
              <a:ext uri="{FF2B5EF4-FFF2-40B4-BE49-F238E27FC236}">
                <a16:creationId xmlns:a16="http://schemas.microsoft.com/office/drawing/2014/main" id="{D035CF84-1FF1-2E55-E53B-30B56F9E1DF1}"/>
              </a:ext>
            </a:extLst>
          </p:cNvPr>
          <p:cNvPicPr>
            <a:picLocks noChangeAspect="1"/>
          </p:cNvPicPr>
          <p:nvPr/>
        </p:nvPicPr>
        <p:blipFill>
          <a:blip r:embed="rId2"/>
          <a:stretch>
            <a:fillRect/>
          </a:stretch>
        </p:blipFill>
        <p:spPr>
          <a:xfrm>
            <a:off x="20320" y="1839520"/>
            <a:ext cx="12191695" cy="4208100"/>
          </a:xfrm>
          <a:prstGeom prst="rect">
            <a:avLst/>
          </a:prstGeom>
        </p:spPr>
      </p:pic>
      <p:sp>
        <p:nvSpPr>
          <p:cNvPr id="5" name="Oval 4">
            <a:extLst>
              <a:ext uri="{FF2B5EF4-FFF2-40B4-BE49-F238E27FC236}">
                <a16:creationId xmlns:a16="http://schemas.microsoft.com/office/drawing/2014/main" id="{FB8C9FB7-A2FF-782A-D490-C1538A5BAB64}"/>
              </a:ext>
            </a:extLst>
          </p:cNvPr>
          <p:cNvSpPr/>
          <p:nvPr/>
        </p:nvSpPr>
        <p:spPr>
          <a:xfrm>
            <a:off x="502920" y="365760"/>
            <a:ext cx="594360" cy="594360"/>
          </a:xfrm>
          <a:prstGeom prst="ellipse">
            <a:avLst/>
          </a:prstGeom>
          <a:solidFill>
            <a:srgbClr val="232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a:extLst>
              <a:ext uri="{FF2B5EF4-FFF2-40B4-BE49-F238E27FC236}">
                <a16:creationId xmlns:a16="http://schemas.microsoft.com/office/drawing/2014/main" id="{F72D50C0-9D66-26EE-1205-FC111A25DF37}"/>
              </a:ext>
            </a:extLst>
          </p:cNvPr>
          <p:cNvSpPr txBox="1"/>
          <p:nvPr/>
        </p:nvSpPr>
        <p:spPr>
          <a:xfrm>
            <a:off x="502920" y="365760"/>
            <a:ext cx="594360" cy="594360"/>
          </a:xfrm>
          <a:prstGeom prst="rect">
            <a:avLst/>
          </a:prstGeom>
          <a:noFill/>
        </p:spPr>
        <p:txBody>
          <a:bodyPr wrap="square" lIns="0" tIns="0" rIns="0" bIns="0" anchor="ctr">
            <a:spAutoFit/>
          </a:bodyPr>
          <a:lstStyle/>
          <a:p>
            <a:pPr algn="ctr"/>
            <a:r>
              <a:rPr sz="2600" b="1">
                <a:solidFill>
                  <a:srgbClr val="FF9900"/>
                </a:solidFill>
                <a:latin typeface="Calibri"/>
              </a:rPr>
              <a:t>4</a:t>
            </a:r>
          </a:p>
        </p:txBody>
      </p:sp>
      <p:sp>
        <p:nvSpPr>
          <p:cNvPr id="7" name="TextBox 6">
            <a:extLst>
              <a:ext uri="{FF2B5EF4-FFF2-40B4-BE49-F238E27FC236}">
                <a16:creationId xmlns:a16="http://schemas.microsoft.com/office/drawing/2014/main" id="{E9C4E456-3B3E-C842-4CEC-16C9CB606914}"/>
              </a:ext>
            </a:extLst>
          </p:cNvPr>
          <p:cNvSpPr txBox="1"/>
          <p:nvPr/>
        </p:nvSpPr>
        <p:spPr>
          <a:xfrm>
            <a:off x="1280160" y="478274"/>
            <a:ext cx="10058400" cy="369332"/>
          </a:xfrm>
          <a:prstGeom prst="rect">
            <a:avLst/>
          </a:prstGeom>
          <a:noFill/>
        </p:spPr>
        <p:txBody>
          <a:bodyPr wrap="square" lIns="0" tIns="0" rIns="0" bIns="0" anchor="ctr">
            <a:spAutoFit/>
          </a:bodyPr>
          <a:lstStyle/>
          <a:p>
            <a:pPr algn="l"/>
            <a:r>
              <a:rPr sz="2400" b="1" dirty="0">
                <a:solidFill>
                  <a:srgbClr val="232F3E"/>
                </a:solidFill>
                <a:latin typeface="Calibri"/>
              </a:rPr>
              <a:t>Architecture</a:t>
            </a:r>
          </a:p>
        </p:txBody>
      </p:sp>
      <p:sp>
        <p:nvSpPr>
          <p:cNvPr id="8" name="Rectangle 7">
            <a:extLst>
              <a:ext uri="{FF2B5EF4-FFF2-40B4-BE49-F238E27FC236}">
                <a16:creationId xmlns:a16="http://schemas.microsoft.com/office/drawing/2014/main" id="{C6F24A49-16D2-FFEA-53A1-A5952FDE03C1}"/>
              </a:ext>
            </a:extLst>
          </p:cNvPr>
          <p:cNvSpPr/>
          <p:nvPr/>
        </p:nvSpPr>
        <p:spPr>
          <a:xfrm>
            <a:off x="502920" y="1051560"/>
            <a:ext cx="1371600" cy="36576"/>
          </a:xfrm>
          <a:prstGeom prst="rect">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332720" y="6446520"/>
            <a:ext cx="1371600" cy="320040"/>
          </a:xfrm>
          <a:prstGeom prst="rect">
            <a:avLst/>
          </a:prstGeom>
          <a:noFill/>
        </p:spPr>
        <p:txBody>
          <a:bodyPr wrap="square" lIns="0" rIns="0" tIns="0" bIns="0" anchor="ctr">
            <a:spAutoFit/>
          </a:bodyPr>
          <a:lstStyle/>
          <a:p>
            <a:pPr algn="r"/>
            <a:r>
              <a:rPr sz="1000" b="0">
                <a:solidFill>
                  <a:srgbClr val="545B64"/>
                </a:solidFill>
                <a:latin typeface="Calibri"/>
              </a:rPr>
              <a:t>5 / 17</a:t>
            </a:r>
          </a:p>
        </p:txBody>
      </p:sp>
    </p:spTree>
    <p:extLst>
      <p:ext uri="{BB962C8B-B14F-4D97-AF65-F5344CB8AC3E}">
        <p14:creationId xmlns:p14="http://schemas.microsoft.com/office/powerpoint/2010/main" val="36521008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Deep-dive: AgentCore Runtime — cost. Two bills split into what is fixed and what grows with usage."/>
          <p:cNvPicPr>
            <a:picLocks noChangeAspect="1"/>
          </p:cNvPicPr>
          <p:nvPr/>
        </p:nvPicPr>
        <p:blipFill>
          <a:blip r:embed="rId3"/>
          <a:srcRect t="33535"/>
          <a:stretch>
            <a:fillRect/>
          </a:stretch>
        </p:blipFill>
        <p:spPr>
          <a:xfrm>
            <a:off x="0" y="2299854"/>
            <a:ext cx="12192000" cy="4558145"/>
          </a:xfrm>
          <a:prstGeom prst="rect">
            <a:avLst/>
          </a:prstGeom>
        </p:spPr>
      </p:pic>
      <p:sp>
        <p:nvSpPr>
          <p:cNvPr id="4" name="Oval 3"/>
          <p:cNvSpPr/>
          <p:nvPr/>
        </p:nvSpPr>
        <p:spPr>
          <a:xfrm>
            <a:off x="502920" y="365760"/>
            <a:ext cx="594360" cy="594360"/>
          </a:xfrm>
          <a:prstGeom prst="ellipse">
            <a:avLst/>
          </a:prstGeom>
          <a:solidFill>
            <a:srgbClr val="232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365760"/>
            <a:ext cx="594360" cy="594360"/>
          </a:xfrm>
          <a:prstGeom prst="rect">
            <a:avLst/>
          </a:prstGeom>
          <a:noFill/>
        </p:spPr>
        <p:txBody>
          <a:bodyPr wrap="square" lIns="0" tIns="0" rIns="0" bIns="0" anchor="ctr">
            <a:spAutoFit/>
          </a:bodyPr>
          <a:lstStyle/>
          <a:p>
            <a:pPr algn="ctr"/>
            <a:r>
              <a:rPr sz="2600" b="1">
                <a:solidFill>
                  <a:srgbClr val="FF9900"/>
                </a:solidFill>
                <a:latin typeface="Calibri"/>
              </a:rPr>
              <a:t>7</a:t>
            </a:r>
          </a:p>
        </p:txBody>
      </p:sp>
      <p:sp>
        <p:nvSpPr>
          <p:cNvPr id="6" name="TextBox 5"/>
          <p:cNvSpPr txBox="1"/>
          <p:nvPr/>
        </p:nvSpPr>
        <p:spPr>
          <a:xfrm>
            <a:off x="502920" y="6446520"/>
            <a:ext cx="8229600" cy="320040"/>
          </a:xfrm>
          <a:prstGeom prst="rect">
            <a:avLst/>
          </a:prstGeom>
          <a:noFill/>
        </p:spPr>
        <p:txBody>
          <a:bodyPr wrap="square" lIns="0" tIns="0" rIns="0" bIns="0" anchor="ctr">
            <a:spAutoFit/>
          </a:bodyPr>
          <a:lstStyle/>
          <a:p>
            <a:pPr algn="l"/>
            <a:r>
              <a:rPr sz="1000" b="1">
                <a:solidFill>
                  <a:srgbClr val="545B64"/>
                </a:solidFill>
                <a:latin typeface="Calibri"/>
              </a:rPr>
              <a:t>VALENTIN   ·   GenAI TFC Capstone Deep-Dive</a:t>
            </a:r>
          </a:p>
        </p:txBody>
      </p:sp>
      <p:sp>
        <p:nvSpPr>
          <p:cNvPr id="7" name="TextBox 6"/>
          <p:cNvSpPr txBox="1"/>
          <p:nvPr/>
        </p:nvSpPr>
        <p:spPr>
          <a:xfrm>
            <a:off x="10332720" y="6446520"/>
            <a:ext cx="1371600" cy="320040"/>
          </a:xfrm>
          <a:prstGeom prst="rect">
            <a:avLst/>
          </a:prstGeom>
          <a:noFill/>
        </p:spPr>
        <p:txBody>
          <a:bodyPr wrap="square" lIns="0" tIns="0" rIns="0" bIns="0" anchor="ctr">
            <a:spAutoFit/>
          </a:bodyPr>
          <a:lstStyle/>
          <a:p>
            <a:pPr algn="r"/>
            <a:r>
              <a:rPr sz="1000" b="0">
                <a:solidFill>
                  <a:srgbClr val="545B64"/>
                </a:solidFill>
                <a:latin typeface="Calibri"/>
              </a:rPr>
              <a:t>8 / 17</a:t>
            </a:r>
          </a:p>
        </p:txBody>
      </p:sp>
      <p:sp>
        <p:nvSpPr>
          <p:cNvPr id="9" name="TextBox 8">
            <a:extLst>
              <a:ext uri="{FF2B5EF4-FFF2-40B4-BE49-F238E27FC236}">
                <a16:creationId xmlns:a16="http://schemas.microsoft.com/office/drawing/2014/main" id="{BEBE1A9C-9247-6911-23F1-5FF33C61AEE8}"/>
              </a:ext>
            </a:extLst>
          </p:cNvPr>
          <p:cNvSpPr txBox="1"/>
          <p:nvPr/>
        </p:nvSpPr>
        <p:spPr>
          <a:xfrm>
            <a:off x="1280160" y="478274"/>
            <a:ext cx="10058400" cy="369332"/>
          </a:xfrm>
          <a:prstGeom prst="rect">
            <a:avLst/>
          </a:prstGeom>
          <a:noFill/>
        </p:spPr>
        <p:txBody>
          <a:bodyPr wrap="square" lIns="0" tIns="0" rIns="0" bIns="0" anchor="ctr">
            <a:spAutoFit/>
          </a:bodyPr>
          <a:lstStyle/>
          <a:p>
            <a:pPr algn="l"/>
            <a:r>
              <a:rPr lang="en-US" sz="2400" b="1" dirty="0">
                <a:solidFill>
                  <a:srgbClr val="232F3E"/>
                </a:solidFill>
                <a:highlight>
                  <a:srgbClr val="FFFF00"/>
                </a:highlight>
                <a:latin typeface="Calibri"/>
              </a:rPr>
              <a:t>Cost — the bill, itemised</a:t>
            </a:r>
            <a:r>
              <a:rPr sz="2400" b="1" dirty="0">
                <a:solidFill>
                  <a:srgbClr val="232F3E"/>
                </a:solidFill>
                <a:highlight>
                  <a:srgbClr val="FFFF00"/>
                </a:highlight>
                <a:latin typeface="Calibri"/>
              </a:rPr>
              <a:t/>
            </a:r>
            <a:r>
              <a:rPr lang="en-US" sz="2400" b="1" dirty="0">
                <a:solidFill>
                  <a:srgbClr val="232F3E"/>
                </a:solidFill>
                <a:highlight>
                  <a:srgbClr val="FFFF00"/>
                </a:highlight>
                <a:latin typeface="Calibri"/>
              </a:rPr>
              <a:t/>
            </a:r>
            <a:endParaRPr sz="2400" b="1" dirty="0">
              <a:solidFill>
                <a:srgbClr val="232F3E"/>
              </a:solidFill>
              <a:highlight>
                <a:srgbClr val="FFFF00"/>
              </a:highlight>
              <a:latin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232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Deep-dive: AgentCore Runtime — reliability and security. Blast radius of an in-process tool registry versus one microVM and one IAM role per session."/>
          <p:cNvPicPr>
            <a:picLocks noChangeAspect="1"/>
          </p:cNvPicPr>
          <p:nvPr/>
        </p:nvPicPr>
        <p:blipFill>
          <a:blip r:embed="rId3"/>
          <a:stretch>
            <a:fillRect/>
          </a:stretch>
        </p:blipFill>
        <p:spPr>
          <a:xfrm>
            <a:off x="-31" y="0"/>
            <a:ext cx="12192000" cy="6858000"/>
          </a:xfrm>
          <a:prstGeom prst="rect">
            <a:avLst/>
          </a:prstGeom>
        </p:spPr>
      </p:pic>
      <p:sp>
        <p:nvSpPr>
          <p:cNvPr id="4" name="Oval 3"/>
          <p:cNvSpPr/>
          <p:nvPr/>
        </p:nvSpPr>
        <p:spPr>
          <a:xfrm>
            <a:off x="502920" y="365760"/>
            <a:ext cx="594360" cy="594360"/>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365760"/>
            <a:ext cx="594360" cy="594360"/>
          </a:xfrm>
          <a:prstGeom prst="rect">
            <a:avLst/>
          </a:prstGeom>
          <a:noFill/>
        </p:spPr>
        <p:txBody>
          <a:bodyPr wrap="square" lIns="0" tIns="0" rIns="0" bIns="0" anchor="ctr">
            <a:spAutoFit/>
          </a:bodyPr>
          <a:lstStyle/>
          <a:p>
            <a:pPr algn="ctr"/>
            <a:r>
              <a:rPr sz="2600" b="1">
                <a:solidFill>
                  <a:srgbClr val="232F3E"/>
                </a:solidFill>
                <a:latin typeface="Calibri"/>
              </a:rPr>
              <a:t>9</a:t>
            </a:r>
          </a:p>
        </p:txBody>
      </p:sp>
      <p:sp>
        <p:nvSpPr>
          <p:cNvPr id="6" name="TextBox 5"/>
          <p:cNvSpPr txBox="1"/>
          <p:nvPr/>
        </p:nvSpPr>
        <p:spPr>
          <a:xfrm>
            <a:off x="502920" y="6446520"/>
            <a:ext cx="8229600" cy="320040"/>
          </a:xfrm>
          <a:prstGeom prst="rect">
            <a:avLst/>
          </a:prstGeom>
          <a:noFill/>
        </p:spPr>
        <p:txBody>
          <a:bodyPr wrap="square" lIns="0" tIns="0" rIns="0" bIns="0" anchor="ctr">
            <a:spAutoFit/>
          </a:bodyPr>
          <a:lstStyle/>
          <a:p>
            <a:pPr algn="l"/>
            <a:r>
              <a:rPr sz="1000" b="1">
                <a:solidFill>
                  <a:srgbClr val="A6B0BA"/>
                </a:solidFill>
                <a:latin typeface="Calibri"/>
              </a:rPr>
              <a:t>VALENTIN   ·   GenAI TFC Capstone Deep-Dive</a:t>
            </a:r>
          </a:p>
        </p:txBody>
      </p:sp>
      <p:sp>
        <p:nvSpPr>
          <p:cNvPr id="7" name="TextBox 6"/>
          <p:cNvSpPr txBox="1"/>
          <p:nvPr/>
        </p:nvSpPr>
        <p:spPr>
          <a:xfrm>
            <a:off x="10332720" y="6446520"/>
            <a:ext cx="1371600" cy="320040"/>
          </a:xfrm>
          <a:prstGeom prst="rect">
            <a:avLst/>
          </a:prstGeom>
          <a:noFill/>
        </p:spPr>
        <p:txBody>
          <a:bodyPr wrap="square" lIns="0" tIns="0" rIns="0" bIns="0" anchor="ctr">
            <a:spAutoFit/>
          </a:bodyPr>
          <a:lstStyle/>
          <a:p>
            <a:pPr algn="r"/>
            <a:r>
              <a:rPr sz="1000" b="0">
                <a:solidFill>
                  <a:srgbClr val="A6B0BA"/>
                </a:solidFill>
                <a:latin typeface="Calibri"/>
              </a:rPr>
              <a:t>10 / 17</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How I built it: the team. One human and six agents, each with its own prompt file and an explicit ownership boundary."/>
          <p:cNvPicPr>
            <a:picLocks noChangeAspect="1"/>
          </p:cNvPicPr>
          <p:nvPr/>
        </p:nvPicPr>
        <p:blipFill>
          <a:blip r:embed="rId3"/>
          <a:srcRect t="21808"/>
          <a:stretch>
            <a:fillRect/>
          </a:stretch>
        </p:blipFill>
        <p:spPr>
          <a:xfrm>
            <a:off x="-31" y="1171598"/>
            <a:ext cx="12192000" cy="5362410"/>
          </a:xfrm>
          <a:prstGeom prst="rect">
            <a:avLst/>
          </a:prstGeom>
        </p:spPr>
      </p:pic>
      <p:sp>
        <p:nvSpPr>
          <p:cNvPr id="4" name="Oval 3"/>
          <p:cNvSpPr/>
          <p:nvPr/>
        </p:nvSpPr>
        <p:spPr>
          <a:xfrm>
            <a:off x="502920" y="365760"/>
            <a:ext cx="594360" cy="594360"/>
          </a:xfrm>
          <a:prstGeom prst="ellipse">
            <a:avLst/>
          </a:prstGeom>
          <a:solidFill>
            <a:srgbClr val="232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365760"/>
            <a:ext cx="594360" cy="594360"/>
          </a:xfrm>
          <a:prstGeom prst="rect">
            <a:avLst/>
          </a:prstGeom>
          <a:noFill/>
        </p:spPr>
        <p:txBody>
          <a:bodyPr wrap="square" lIns="0" tIns="0" rIns="0" bIns="0" anchor="ctr">
            <a:spAutoFit/>
          </a:bodyPr>
          <a:lstStyle/>
          <a:p>
            <a:pPr algn="ctr"/>
            <a:r>
              <a:rPr sz="2600" b="1">
                <a:solidFill>
                  <a:srgbClr val="FF9900"/>
                </a:solidFill>
                <a:latin typeface="Calibri"/>
              </a:rPr>
              <a:t>13</a:t>
            </a:r>
          </a:p>
        </p:txBody>
      </p:sp>
      <p:sp>
        <p:nvSpPr>
          <p:cNvPr id="6" name="TextBox 5"/>
          <p:cNvSpPr txBox="1"/>
          <p:nvPr/>
        </p:nvSpPr>
        <p:spPr>
          <a:xfrm>
            <a:off x="502920" y="6446520"/>
            <a:ext cx="8229600" cy="320040"/>
          </a:xfrm>
          <a:prstGeom prst="rect">
            <a:avLst/>
          </a:prstGeom>
          <a:noFill/>
        </p:spPr>
        <p:txBody>
          <a:bodyPr wrap="square" lIns="0" tIns="0" rIns="0" bIns="0" anchor="ctr">
            <a:spAutoFit/>
          </a:bodyPr>
          <a:lstStyle/>
          <a:p>
            <a:pPr algn="l"/>
            <a:r>
              <a:rPr sz="1000" b="1">
                <a:solidFill>
                  <a:srgbClr val="545B64"/>
                </a:solidFill>
                <a:latin typeface="Calibri"/>
              </a:rPr>
              <a:t>VALENTIN   ·   GenAI TFC Capstone Deep-Dive</a:t>
            </a:r>
          </a:p>
        </p:txBody>
      </p:sp>
      <p:sp>
        <p:nvSpPr>
          <p:cNvPr id="7" name="TextBox 6"/>
          <p:cNvSpPr txBox="1"/>
          <p:nvPr/>
        </p:nvSpPr>
        <p:spPr>
          <a:xfrm>
            <a:off x="10332720" y="6446520"/>
            <a:ext cx="1371600" cy="320040"/>
          </a:xfrm>
          <a:prstGeom prst="rect">
            <a:avLst/>
          </a:prstGeom>
          <a:noFill/>
        </p:spPr>
        <p:txBody>
          <a:bodyPr wrap="square" lIns="0" tIns="0" rIns="0" bIns="0" anchor="ctr">
            <a:spAutoFit/>
          </a:bodyPr>
          <a:lstStyle/>
          <a:p>
            <a:pPr algn="r"/>
            <a:r>
              <a:rPr sz="1000" b="0">
                <a:solidFill>
                  <a:srgbClr val="545B64"/>
                </a:solidFill>
                <a:latin typeface="Calibri"/>
              </a:rPr>
              <a:t>14 / 17</a:t>
            </a:r>
          </a:p>
        </p:txBody>
      </p:sp>
      <p:sp>
        <p:nvSpPr>
          <p:cNvPr id="8" name="TextBox 7">
            <a:extLst>
              <a:ext uri="{FF2B5EF4-FFF2-40B4-BE49-F238E27FC236}">
                <a16:creationId xmlns:a16="http://schemas.microsoft.com/office/drawing/2014/main" id="{9A11471F-6ED4-9273-DBA2-2E6E55847DAE}"/>
              </a:ext>
            </a:extLst>
          </p:cNvPr>
          <p:cNvSpPr txBox="1"/>
          <p:nvPr/>
        </p:nvSpPr>
        <p:spPr>
          <a:xfrm>
            <a:off x="1280160" y="478274"/>
            <a:ext cx="10058400" cy="369332"/>
          </a:xfrm>
          <a:prstGeom prst="rect">
            <a:avLst/>
          </a:prstGeom>
          <a:noFill/>
        </p:spPr>
        <p:txBody>
          <a:bodyPr wrap="square" lIns="0" tIns="0" rIns="0" bIns="0" anchor="ctr">
            <a:spAutoFit/>
          </a:bodyPr>
          <a:lstStyle/>
          <a:p>
            <a:pPr algn="l"/>
            <a:r>
              <a:rPr lang="en-US" sz="2400" b="1" dirty="0">
                <a:solidFill>
                  <a:srgbClr val="232F3E"/>
                </a:solidFill>
                <a:latin typeface="Calibri"/>
              </a:rPr>
              <a:t>Who Built Valentin?</a:t>
            </a:r>
            <a:endParaRPr sz="2400" b="1" dirty="0">
              <a:solidFill>
                <a:srgbClr val="232F3E"/>
              </a:solidFill>
              <a:latin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How I built it: the work. Every node is a real pull request, in the order it was opened, joined to where it merged."/>
          <p:cNvPicPr>
            <a:picLocks noChangeAspect="1"/>
          </p:cNvPicPr>
          <p:nvPr/>
        </p:nvPicPr>
        <p:blipFill>
          <a:blip r:embed="rId3"/>
          <a:srcRect l="8999" t="22829" r="8751" b="13434"/>
          <a:stretch>
            <a:fillRect/>
          </a:stretch>
        </p:blipFill>
        <p:spPr>
          <a:xfrm>
            <a:off x="153769" y="1204315"/>
            <a:ext cx="11816558" cy="5150765"/>
          </a:xfrm>
          <a:prstGeom prst="rect">
            <a:avLst/>
          </a:prstGeom>
        </p:spPr>
      </p:pic>
      <p:sp>
        <p:nvSpPr>
          <p:cNvPr id="4" name="Oval 3"/>
          <p:cNvSpPr/>
          <p:nvPr/>
        </p:nvSpPr>
        <p:spPr>
          <a:xfrm>
            <a:off x="502920" y="365760"/>
            <a:ext cx="594360" cy="594360"/>
          </a:xfrm>
          <a:prstGeom prst="ellipse">
            <a:avLst/>
          </a:prstGeom>
          <a:solidFill>
            <a:srgbClr val="232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365760"/>
            <a:ext cx="594360" cy="594360"/>
          </a:xfrm>
          <a:prstGeom prst="rect">
            <a:avLst/>
          </a:prstGeom>
          <a:noFill/>
        </p:spPr>
        <p:txBody>
          <a:bodyPr wrap="square" lIns="0" tIns="0" rIns="0" bIns="0" anchor="ctr">
            <a:spAutoFit/>
          </a:bodyPr>
          <a:lstStyle/>
          <a:p>
            <a:pPr algn="ctr"/>
            <a:r>
              <a:rPr sz="2600" b="1">
                <a:solidFill>
                  <a:srgbClr val="FF9900"/>
                </a:solidFill>
                <a:latin typeface="Calibri"/>
              </a:rPr>
              <a:t>14</a:t>
            </a:r>
          </a:p>
        </p:txBody>
      </p:sp>
      <p:sp>
        <p:nvSpPr>
          <p:cNvPr id="6" name="TextBox 5"/>
          <p:cNvSpPr txBox="1"/>
          <p:nvPr/>
        </p:nvSpPr>
        <p:spPr>
          <a:xfrm>
            <a:off x="502920" y="6446520"/>
            <a:ext cx="8229600" cy="320040"/>
          </a:xfrm>
          <a:prstGeom prst="rect">
            <a:avLst/>
          </a:prstGeom>
          <a:noFill/>
        </p:spPr>
        <p:txBody>
          <a:bodyPr wrap="square" lIns="0" tIns="0" rIns="0" bIns="0" anchor="ctr">
            <a:spAutoFit/>
          </a:bodyPr>
          <a:lstStyle/>
          <a:p>
            <a:pPr algn="l"/>
            <a:r>
              <a:rPr sz="1000" b="1">
                <a:solidFill>
                  <a:srgbClr val="545B64"/>
                </a:solidFill>
                <a:latin typeface="Calibri"/>
              </a:rPr>
              <a:t>VALENTIN   ·   GenAI TFC Capstone Deep-Dive</a:t>
            </a:r>
          </a:p>
        </p:txBody>
      </p:sp>
      <p:sp>
        <p:nvSpPr>
          <p:cNvPr id="7" name="TextBox 6"/>
          <p:cNvSpPr txBox="1"/>
          <p:nvPr/>
        </p:nvSpPr>
        <p:spPr>
          <a:xfrm>
            <a:off x="10332720" y="6446520"/>
            <a:ext cx="1371600" cy="320040"/>
          </a:xfrm>
          <a:prstGeom prst="rect">
            <a:avLst/>
          </a:prstGeom>
          <a:noFill/>
        </p:spPr>
        <p:txBody>
          <a:bodyPr wrap="square" lIns="0" tIns="0" rIns="0" bIns="0" anchor="ctr">
            <a:spAutoFit/>
          </a:bodyPr>
          <a:lstStyle/>
          <a:p>
            <a:pPr algn="r"/>
            <a:r>
              <a:rPr sz="1000" b="0">
                <a:solidFill>
                  <a:srgbClr val="545B64"/>
                </a:solidFill>
                <a:latin typeface="Calibri"/>
              </a:rPr>
              <a:t>15 / 17</a:t>
            </a:r>
          </a:p>
        </p:txBody>
      </p:sp>
      <p:sp>
        <p:nvSpPr>
          <p:cNvPr id="9" name="Rectangle 8">
            <a:hlinkClick r:id="rId4"/>
          </p:cNvPr>
          <p:cNvSpPr/>
          <p:nvPr/>
        </p:nvSpPr>
        <p:spPr>
          <a:xfrm>
            <a:off x="1363980" y="4617720"/>
            <a:ext cx="1706880" cy="236220"/>
          </a:xfrm>
          <a:prstGeom prst="rect">
            <a:avLst/>
          </a:prstGeom>
          <a:solidFill>
            <a:srgbClr val="FFFFFF">
              <a:alpha val="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a:extLst>
              <a:ext uri="{FF2B5EF4-FFF2-40B4-BE49-F238E27FC236}">
                <a16:creationId xmlns:a16="http://schemas.microsoft.com/office/drawing/2014/main" id="{B6B9D365-56E4-DCC6-9C31-87B2560C50D3}"/>
              </a:ext>
            </a:extLst>
          </p:cNvPr>
          <p:cNvSpPr txBox="1"/>
          <p:nvPr/>
        </p:nvSpPr>
        <p:spPr>
          <a:xfrm>
            <a:off x="1280160" y="478274"/>
            <a:ext cx="10058400" cy="369332"/>
          </a:xfrm>
          <a:prstGeom prst="rect">
            <a:avLst/>
          </a:prstGeom>
          <a:noFill/>
        </p:spPr>
        <p:txBody>
          <a:bodyPr wrap="square" lIns="0" tIns="0" rIns="0" bIns="0" anchor="ctr">
            <a:spAutoFit/>
          </a:bodyPr>
          <a:lstStyle/>
          <a:p>
            <a:pPr algn="l"/>
            <a:r>
              <a:rPr lang="en-US" sz="2400" b="1" dirty="0">
                <a:solidFill>
                  <a:srgbClr val="232F3E"/>
                </a:solidFill>
                <a:latin typeface="Calibri"/>
              </a:rPr>
              <a:t>How they Built it?</a:t>
            </a:r>
            <a:endParaRPr sz="2400" b="1" dirty="0">
              <a:solidFill>
                <a:srgbClr val="232F3E"/>
              </a:solidFill>
              <a:latin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502920" y="365760"/>
            <a:ext cx="594360" cy="594360"/>
          </a:xfrm>
          <a:prstGeom prst="ellipse">
            <a:avLst/>
          </a:prstGeom>
          <a:solidFill>
            <a:srgbClr val="232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02920" y="365760"/>
            <a:ext cx="594360" cy="594360"/>
          </a:xfrm>
          <a:prstGeom prst="rect">
            <a:avLst/>
          </a:prstGeom>
          <a:noFill/>
        </p:spPr>
        <p:txBody>
          <a:bodyPr wrap="square" lIns="0" tIns="0" rIns="0" bIns="0" anchor="ctr">
            <a:spAutoFit/>
          </a:bodyPr>
          <a:lstStyle/>
          <a:p>
            <a:pPr algn="ctr"/>
            <a:r>
              <a:rPr sz="2600" b="1">
                <a:solidFill>
                  <a:srgbClr val="FF9900"/>
                </a:solidFill>
                <a:latin typeface="Calibri"/>
              </a:rPr>
              <a:t>15</a:t>
            </a:r>
          </a:p>
        </p:txBody>
      </p:sp>
      <p:sp>
        <p:nvSpPr>
          <p:cNvPr id="5" name="TextBox 4"/>
          <p:cNvSpPr txBox="1"/>
          <p:nvPr/>
        </p:nvSpPr>
        <p:spPr>
          <a:xfrm>
            <a:off x="502920" y="6446520"/>
            <a:ext cx="8229600" cy="320040"/>
          </a:xfrm>
          <a:prstGeom prst="rect">
            <a:avLst/>
          </a:prstGeom>
          <a:noFill/>
        </p:spPr>
        <p:txBody>
          <a:bodyPr wrap="square" lIns="0" tIns="0" rIns="0" bIns="0" anchor="ctr">
            <a:spAutoFit/>
          </a:bodyPr>
          <a:lstStyle/>
          <a:p>
            <a:pPr algn="l"/>
            <a:r>
              <a:rPr sz="1000" b="1">
                <a:solidFill>
                  <a:srgbClr val="545B64"/>
                </a:solidFill>
                <a:latin typeface="Calibri"/>
              </a:rPr>
              <a:t>VALENTIN   ·   GenAI TFC Capstone Deep-Dive</a:t>
            </a:r>
          </a:p>
        </p:txBody>
      </p:sp>
      <p:sp>
        <p:nvSpPr>
          <p:cNvPr id="6" name="TextBox 5"/>
          <p:cNvSpPr txBox="1"/>
          <p:nvPr/>
        </p:nvSpPr>
        <p:spPr>
          <a:xfrm>
            <a:off x="10332720" y="6446520"/>
            <a:ext cx="1371600" cy="320040"/>
          </a:xfrm>
          <a:prstGeom prst="rect">
            <a:avLst/>
          </a:prstGeom>
          <a:noFill/>
        </p:spPr>
        <p:txBody>
          <a:bodyPr wrap="square" lIns="0" tIns="0" rIns="0" bIns="0" anchor="ctr">
            <a:spAutoFit/>
          </a:bodyPr>
          <a:lstStyle/>
          <a:p>
            <a:pPr algn="r"/>
            <a:r>
              <a:rPr sz="1000" b="0">
                <a:solidFill>
                  <a:srgbClr val="545B64"/>
                </a:solidFill>
                <a:latin typeface="Calibri"/>
              </a:rPr>
              <a:t>16 / 17</a:t>
            </a:r>
          </a:p>
        </p:txBody>
      </p:sp>
      <p:sp>
        <p:nvSpPr>
          <p:cNvPr id="7" name="TextBox 6"/>
          <p:cNvSpPr txBox="1"/>
          <p:nvPr/>
        </p:nvSpPr>
        <p:spPr>
          <a:xfrm>
            <a:off x="1280160" y="365760"/>
            <a:ext cx="10058400" cy="594360"/>
          </a:xfrm>
          <a:prstGeom prst="rect">
            <a:avLst/>
          </a:prstGeom>
          <a:noFill/>
        </p:spPr>
        <p:txBody>
          <a:bodyPr wrap="square" lIns="0" tIns="0" rIns="0" bIns="0" anchor="ctr">
            <a:spAutoFit/>
          </a:bodyPr>
          <a:lstStyle/>
          <a:p>
            <a:pPr algn="l"/>
            <a:r>
              <a:rPr sz="3000" b="1">
                <a:solidFill>
                  <a:srgbClr val="232F3E"/>
                </a:solidFill>
                <a:latin typeface="Calibri"/>
              </a:rPr>
              <a:t>What I learned</a:t>
            </a:r>
          </a:p>
        </p:txBody>
      </p:sp>
      <p:sp>
        <p:nvSpPr>
          <p:cNvPr id="8" name="Rectangle 7"/>
          <p:cNvSpPr/>
          <p:nvPr/>
        </p:nvSpPr>
        <p:spPr>
          <a:xfrm>
            <a:off x="502920" y="1051560"/>
            <a:ext cx="1371600" cy="36576"/>
          </a:xfrm>
          <a:prstGeom prst="rect">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02920" y="1280160"/>
            <a:ext cx="11155680" cy="384048"/>
          </a:xfrm>
          <a:prstGeom prst="rect">
            <a:avLst/>
          </a:prstGeom>
          <a:noFill/>
        </p:spPr>
        <p:txBody>
          <a:bodyPr wrap="square" lIns="0" tIns="0" rIns="0" bIns="0" anchor="t">
            <a:spAutoFit/>
          </a:bodyPr>
          <a:lstStyle/>
          <a:p>
            <a:pPr algn="l"/>
            <a:r>
              <a:rPr sz="1400" b="0">
                <a:solidFill>
                  <a:srgbClr val="545B64"/>
                </a:solidFill>
                <a:latin typeface="Calibri"/>
              </a:rPr>
              <a:t>Five things I would tell the next person building one of these — three about the agent, two about building it.</a:t>
            </a:r>
          </a:p>
        </p:txBody>
      </p:sp>
      <p:sp>
        <p:nvSpPr>
          <p:cNvPr id="10" name="Rounded Rectangle 9"/>
          <p:cNvSpPr/>
          <p:nvPr/>
        </p:nvSpPr>
        <p:spPr>
          <a:xfrm>
            <a:off x="566928" y="1700784"/>
            <a:ext cx="11064240" cy="804672"/>
          </a:xfrm>
          <a:prstGeom prst="roundRect">
            <a:avLst>
              <a:gd name="adj" fmla="val 6818"/>
            </a:avLst>
          </a:prstGeom>
          <a:solidFill>
            <a:srgbClr val="F7F8FA"/>
          </a:solidFill>
          <a:ln w="12700">
            <a:solidFill>
              <a:srgbClr val="E4E7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566928" y="1700784"/>
            <a:ext cx="64008" cy="804672"/>
          </a:xfrm>
          <a:prstGeom prst="rect">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13232" y="1700784"/>
            <a:ext cx="420624" cy="804672"/>
          </a:xfrm>
          <a:prstGeom prst="rect">
            <a:avLst/>
          </a:prstGeom>
          <a:noFill/>
        </p:spPr>
        <p:txBody>
          <a:bodyPr wrap="square" lIns="0" tIns="0" rIns="0" bIns="0" anchor="ctr">
            <a:spAutoFit/>
          </a:bodyPr>
          <a:lstStyle/>
          <a:p>
            <a:pPr algn="ctr"/>
            <a:r>
              <a:rPr sz="2000" b="1">
                <a:solidFill>
                  <a:srgbClr val="FF9900"/>
                </a:solidFill>
                <a:latin typeface="Calibri"/>
              </a:rPr>
              <a:t>1</a:t>
            </a:r>
          </a:p>
        </p:txBody>
      </p:sp>
      <p:sp>
        <p:nvSpPr>
          <p:cNvPr id="13" name="TextBox 12"/>
          <p:cNvSpPr txBox="1"/>
          <p:nvPr/>
        </p:nvSpPr>
        <p:spPr>
          <a:xfrm>
            <a:off x="1207008" y="1764792"/>
            <a:ext cx="10277856" cy="676656"/>
          </a:xfrm>
          <a:prstGeom prst="rect">
            <a:avLst/>
          </a:prstGeom>
          <a:noFill/>
        </p:spPr>
        <p:txBody>
          <a:bodyPr wrap="square" lIns="0" tIns="0" rIns="0" bIns="0" anchor="ctr">
            <a:spAutoFit/>
          </a:bodyPr>
          <a:lstStyle/>
          <a:p>
            <a:pPr algn="l"/>
            <a:r>
              <a:rPr sz="1250" b="1">
                <a:solidFill>
                  <a:srgbClr val="232F3E"/>
                </a:solidFill>
                <a:latin typeface="Calibri"/>
              </a:rPr>
              <a:t>An agent is a loop, not a chatbot.  </a:t>
            </a:r>
            <a:r>
              <a:rPr sz="1250" b="0">
                <a:solidFill>
                  <a:srgbClr val="16191F"/>
                </a:solidFill>
                <a:latin typeface="Calibri"/>
              </a:rPr>
              <a:t>The agentic part of Valentin isn’t Claude — it’s trigger → tools → propose → extract → re-schedule, and every pass rewrites the timeline that feeds the next one. EventBridge closes the loop, not the model.</a:t>
            </a:r>
          </a:p>
        </p:txBody>
      </p:sp>
      <p:sp>
        <p:nvSpPr>
          <p:cNvPr id="14" name="Rounded Rectangle 13"/>
          <p:cNvSpPr/>
          <p:nvPr/>
        </p:nvSpPr>
        <p:spPr>
          <a:xfrm>
            <a:off x="566928" y="2560320"/>
            <a:ext cx="11064240" cy="804672"/>
          </a:xfrm>
          <a:prstGeom prst="roundRect">
            <a:avLst>
              <a:gd name="adj" fmla="val 6818"/>
            </a:avLst>
          </a:prstGeom>
          <a:solidFill>
            <a:srgbClr val="F7F8FA"/>
          </a:solidFill>
          <a:ln w="12700">
            <a:solidFill>
              <a:srgbClr val="E4E7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566928" y="2560320"/>
            <a:ext cx="64008" cy="804672"/>
          </a:xfrm>
          <a:prstGeom prst="rect">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13232" y="2560320"/>
            <a:ext cx="420624" cy="804672"/>
          </a:xfrm>
          <a:prstGeom prst="rect">
            <a:avLst/>
          </a:prstGeom>
          <a:noFill/>
        </p:spPr>
        <p:txBody>
          <a:bodyPr wrap="square" lIns="0" tIns="0" rIns="0" bIns="0" anchor="ctr">
            <a:spAutoFit/>
          </a:bodyPr>
          <a:lstStyle/>
          <a:p>
            <a:pPr algn="ctr"/>
            <a:r>
              <a:rPr sz="2000" b="1">
                <a:solidFill>
                  <a:srgbClr val="FF9900"/>
                </a:solidFill>
                <a:latin typeface="Calibri"/>
              </a:rPr>
              <a:t>2</a:t>
            </a:r>
          </a:p>
        </p:txBody>
      </p:sp>
      <p:sp>
        <p:nvSpPr>
          <p:cNvPr id="17" name="TextBox 16"/>
          <p:cNvSpPr txBox="1"/>
          <p:nvPr/>
        </p:nvSpPr>
        <p:spPr>
          <a:xfrm>
            <a:off x="1207008" y="2624327"/>
            <a:ext cx="10277856" cy="676656"/>
          </a:xfrm>
          <a:prstGeom prst="rect">
            <a:avLst/>
          </a:prstGeom>
          <a:noFill/>
        </p:spPr>
        <p:txBody>
          <a:bodyPr wrap="square" lIns="0" tIns="0" rIns="0" bIns="0" anchor="ctr">
            <a:spAutoFit/>
          </a:bodyPr>
          <a:lstStyle/>
          <a:p>
            <a:pPr algn="l"/>
            <a:r>
              <a:rPr sz="1250" b="1">
                <a:solidFill>
                  <a:srgbClr val="232F3E"/>
                </a:solidFill>
                <a:latin typeface="Calibri"/>
              </a:rPr>
              <a:t>When you and the agent are both stuck, the next prompt is not the answer.  </a:t>
            </a:r>
            <a:r>
              <a:rPr sz="1250" b="0">
                <a:solidFill>
                  <a:srgbClr val="16191F"/>
                </a:solidFill>
                <a:latin typeface="Calibri"/>
              </a:rPr>
              <a:t>Stop and spend five minutes with pen and paper. Every long débâcle in this project ended the moment I stopped prompting and drew the thing.</a:t>
            </a:r>
          </a:p>
        </p:txBody>
      </p:sp>
      <p:sp>
        <p:nvSpPr>
          <p:cNvPr id="18" name="Rounded Rectangle 17"/>
          <p:cNvSpPr/>
          <p:nvPr/>
        </p:nvSpPr>
        <p:spPr>
          <a:xfrm>
            <a:off x="566928" y="3419856"/>
            <a:ext cx="11064240" cy="804672"/>
          </a:xfrm>
          <a:prstGeom prst="roundRect">
            <a:avLst>
              <a:gd name="adj" fmla="val 6818"/>
            </a:avLst>
          </a:prstGeom>
          <a:solidFill>
            <a:srgbClr val="F7F8FA"/>
          </a:solidFill>
          <a:ln w="12700">
            <a:solidFill>
              <a:srgbClr val="E4E7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928" y="3419856"/>
            <a:ext cx="64008" cy="804672"/>
          </a:xfrm>
          <a:prstGeom prst="rect">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13232" y="3419856"/>
            <a:ext cx="420624" cy="804672"/>
          </a:xfrm>
          <a:prstGeom prst="rect">
            <a:avLst/>
          </a:prstGeom>
          <a:noFill/>
        </p:spPr>
        <p:txBody>
          <a:bodyPr wrap="square" lIns="0" tIns="0" rIns="0" bIns="0" anchor="ctr">
            <a:spAutoFit/>
          </a:bodyPr>
          <a:lstStyle/>
          <a:p>
            <a:pPr algn="ctr"/>
            <a:r>
              <a:rPr sz="2000" b="1">
                <a:solidFill>
                  <a:srgbClr val="FF9900"/>
                </a:solidFill>
                <a:latin typeface="Calibri"/>
              </a:rPr>
              <a:t>3</a:t>
            </a:r>
          </a:p>
        </p:txBody>
      </p:sp>
      <p:sp>
        <p:nvSpPr>
          <p:cNvPr id="21" name="TextBox 20"/>
          <p:cNvSpPr txBox="1"/>
          <p:nvPr/>
        </p:nvSpPr>
        <p:spPr>
          <a:xfrm>
            <a:off x="1207008" y="3483864"/>
            <a:ext cx="10277856" cy="676656"/>
          </a:xfrm>
          <a:prstGeom prst="rect">
            <a:avLst/>
          </a:prstGeom>
          <a:noFill/>
        </p:spPr>
        <p:txBody>
          <a:bodyPr wrap="square" lIns="0" tIns="0" rIns="0" bIns="0" anchor="ctr">
            <a:spAutoFit/>
          </a:bodyPr>
          <a:lstStyle/>
          <a:p>
            <a:pPr algn="l"/>
            <a:r>
              <a:rPr sz="1250" b="1">
                <a:solidFill>
                  <a:srgbClr val="232F3E"/>
                </a:solidFill>
                <a:latin typeface="Calibri"/>
              </a:rPr>
              <a:t>Most of the tokens went to the workflow, not the code.  </a:t>
            </a:r>
            <a:r>
              <a:rPr sz="1250" b="0">
                <a:solidFill>
                  <a:srgbClr val="16191F"/>
                </a:solidFill>
                <a:latin typeface="Calibri"/>
              </a:rPr>
              <a:t>31 of 56 PRs built the factory — specs, review loops, merge gates, regression tests for the automation itself. That is what made the other 25 safe to merge.</a:t>
            </a:r>
          </a:p>
        </p:txBody>
      </p:sp>
      <p:sp>
        <p:nvSpPr>
          <p:cNvPr id="22" name="Rounded Rectangle 21"/>
          <p:cNvSpPr/>
          <p:nvPr/>
        </p:nvSpPr>
        <p:spPr>
          <a:xfrm>
            <a:off x="566928" y="4279392"/>
            <a:ext cx="11064240" cy="804672"/>
          </a:xfrm>
          <a:prstGeom prst="roundRect">
            <a:avLst>
              <a:gd name="adj" fmla="val 6818"/>
            </a:avLst>
          </a:prstGeom>
          <a:solidFill>
            <a:srgbClr val="F7F8FA"/>
          </a:solidFill>
          <a:ln w="12700">
            <a:solidFill>
              <a:srgbClr val="E4E7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ectangle 22"/>
          <p:cNvSpPr/>
          <p:nvPr/>
        </p:nvSpPr>
        <p:spPr>
          <a:xfrm>
            <a:off x="566928" y="4279392"/>
            <a:ext cx="64008" cy="804672"/>
          </a:xfrm>
          <a:prstGeom prst="rect">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713232" y="4279392"/>
            <a:ext cx="420624" cy="804672"/>
          </a:xfrm>
          <a:prstGeom prst="rect">
            <a:avLst/>
          </a:prstGeom>
          <a:noFill/>
        </p:spPr>
        <p:txBody>
          <a:bodyPr wrap="square" lIns="0" tIns="0" rIns="0" bIns="0" anchor="ctr">
            <a:spAutoFit/>
          </a:bodyPr>
          <a:lstStyle/>
          <a:p>
            <a:pPr algn="ctr"/>
            <a:r>
              <a:rPr sz="2000" b="1">
                <a:solidFill>
                  <a:srgbClr val="FF9900"/>
                </a:solidFill>
                <a:latin typeface="Calibri"/>
              </a:rPr>
              <a:t>4</a:t>
            </a:r>
          </a:p>
        </p:txBody>
      </p:sp>
      <p:sp>
        <p:nvSpPr>
          <p:cNvPr id="25" name="TextBox 24"/>
          <p:cNvSpPr txBox="1"/>
          <p:nvPr/>
        </p:nvSpPr>
        <p:spPr>
          <a:xfrm>
            <a:off x="1207008" y="4343400"/>
            <a:ext cx="10277856" cy="676656"/>
          </a:xfrm>
          <a:prstGeom prst="rect">
            <a:avLst/>
          </a:prstGeom>
          <a:noFill/>
        </p:spPr>
        <p:txBody>
          <a:bodyPr wrap="square" lIns="0" tIns="0" rIns="0" bIns="0" anchor="ctr">
            <a:spAutoFit/>
          </a:bodyPr>
          <a:lstStyle/>
          <a:p>
            <a:pPr algn="l"/>
            <a:r>
              <a:rPr sz="1250" b="1">
                <a:solidFill>
                  <a:srgbClr val="232F3E"/>
                </a:solidFill>
                <a:latin typeface="Calibri"/>
              </a:rPr>
              <a:t>The strongest case for AgentCore isn’t the bill, it’s the blast radius.  </a:t>
            </a:r>
            <a:r>
              <a:rPr sz="1250" b="0">
                <a:solidFill>
                  <a:srgbClr val="16191F"/>
                </a:solidFill>
                <a:latin typeface="Calibri"/>
              </a:rPr>
              <a:t>In-process, one crashed tool takes down all 40 sessions and one shared IAM role means a prompt injection can touch everything. Behind Gateway each tool is its own Lambda with its own role — a failure or a hijack is contained to 1-of-40.</a:t>
            </a:r>
          </a:p>
        </p:txBody>
      </p:sp>
      <p:sp>
        <p:nvSpPr>
          <p:cNvPr id="26" name="Rounded Rectangle 25"/>
          <p:cNvSpPr/>
          <p:nvPr/>
        </p:nvSpPr>
        <p:spPr>
          <a:xfrm>
            <a:off x="566928" y="5138928"/>
            <a:ext cx="11064240" cy="804672"/>
          </a:xfrm>
          <a:prstGeom prst="roundRect">
            <a:avLst>
              <a:gd name="adj" fmla="val 6818"/>
            </a:avLst>
          </a:prstGeom>
          <a:solidFill>
            <a:srgbClr val="F7F8FA"/>
          </a:solidFill>
          <a:ln w="12700">
            <a:solidFill>
              <a:srgbClr val="E4E7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566928" y="5138928"/>
            <a:ext cx="64008" cy="804672"/>
          </a:xfrm>
          <a:prstGeom prst="rect">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713232" y="5138928"/>
            <a:ext cx="420624" cy="804672"/>
          </a:xfrm>
          <a:prstGeom prst="rect">
            <a:avLst/>
          </a:prstGeom>
          <a:noFill/>
        </p:spPr>
        <p:txBody>
          <a:bodyPr wrap="square" lIns="0" tIns="0" rIns="0" bIns="0" anchor="ctr">
            <a:spAutoFit/>
          </a:bodyPr>
          <a:lstStyle/>
          <a:p>
            <a:pPr algn="ctr"/>
            <a:r>
              <a:rPr sz="2000" b="1">
                <a:solidFill>
                  <a:srgbClr val="FF9900"/>
                </a:solidFill>
                <a:latin typeface="Calibri"/>
              </a:rPr>
              <a:t>5</a:t>
            </a:r>
          </a:p>
        </p:txBody>
      </p:sp>
      <p:sp>
        <p:nvSpPr>
          <p:cNvPr id="29" name="TextBox 28"/>
          <p:cNvSpPr txBox="1"/>
          <p:nvPr/>
        </p:nvSpPr>
        <p:spPr>
          <a:xfrm>
            <a:off x="1207008" y="5202936"/>
            <a:ext cx="10277856" cy="676656"/>
          </a:xfrm>
          <a:prstGeom prst="rect">
            <a:avLst/>
          </a:prstGeom>
          <a:noFill/>
        </p:spPr>
        <p:txBody>
          <a:bodyPr wrap="square" lIns="0" tIns="0" rIns="0" bIns="0" anchor="ctr">
            <a:spAutoFit/>
          </a:bodyPr>
          <a:lstStyle/>
          <a:p>
            <a:pPr algn="l"/>
            <a:r>
              <a:rPr sz="1250" b="1">
                <a:solidFill>
                  <a:srgbClr val="232F3E"/>
                </a:solidFill>
                <a:latin typeface="Calibri"/>
              </a:rPr>
              <a:t>It’s easy to gate “the service is up,” hard to gate “the LLM works.”  </a:t>
            </a:r>
            <a:r>
              <a:rPr sz="1250" b="0">
                <a:solidFill>
                  <a:srgbClr val="16191F"/>
                </a:solidFill>
                <a:latin typeface="Calibri"/>
              </a:rPr>
              <a:t>A missing Bedrock permission returned a polite fallback with HTTP 200; a # in the actorId made Memory silently store nothing while chat kept chatting. The only gate that caught either was a live conversation asserting on what the agent remembered.</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61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6126480"/>
            <a:ext cx="12191695" cy="731520"/>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2194560"/>
            <a:ext cx="11247120" cy="1463040"/>
          </a:xfrm>
          <a:prstGeom prst="rect">
            <a:avLst/>
          </a:prstGeom>
          <a:noFill/>
        </p:spPr>
        <p:txBody>
          <a:bodyPr wrap="square" lIns="0" tIns="0" rIns="0" bIns="0" anchor="t">
            <a:spAutoFit/>
          </a:bodyPr>
          <a:lstStyle/>
          <a:p>
            <a:pPr algn="ctr"/>
            <a:r>
              <a:rPr sz="10000" b="1">
                <a:solidFill>
                  <a:srgbClr val="FFFFFF"/>
                </a:solidFill>
                <a:latin typeface="Calibri"/>
              </a:rPr>
              <a:t>Thank you.</a:t>
            </a:r>
          </a:p>
        </p:txBody>
      </p:sp>
      <p:sp>
        <p:nvSpPr>
          <p:cNvPr id="5" name="TextBox 4"/>
          <p:cNvSpPr txBox="1"/>
          <p:nvPr/>
        </p:nvSpPr>
        <p:spPr>
          <a:xfrm>
            <a:off x="457200" y="3931920"/>
            <a:ext cx="11247120" cy="457200"/>
          </a:xfrm>
          <a:prstGeom prst="rect">
            <a:avLst/>
          </a:prstGeom>
          <a:noFill/>
        </p:spPr>
        <p:txBody>
          <a:bodyPr wrap="square" lIns="0" tIns="0" rIns="0" bIns="0" anchor="t">
            <a:spAutoFit/>
          </a:bodyPr>
          <a:lstStyle/>
          <a:p>
            <a:pPr algn="ctr"/>
            <a:r>
              <a:rPr sz="2400" b="0">
                <a:solidFill>
                  <a:srgbClr val="FF9900"/>
                </a:solidFill>
                <a:latin typeface="Calibri"/>
              </a:rPr>
              <a:t>Questions?</a:t>
            </a:r>
          </a:p>
        </p:txBody>
      </p:sp>
      <p:sp>
        <p:nvSpPr>
          <p:cNvPr id="6" name="Rectangle 5"/>
          <p:cNvSpPr/>
          <p:nvPr/>
        </p:nvSpPr>
        <p:spPr>
          <a:xfrm>
            <a:off x="5120640" y="4892040"/>
            <a:ext cx="1920240" cy="45720"/>
          </a:xfrm>
          <a:prstGeom prst="rect">
            <a:avLst/>
          </a:prstGeom>
          <a:solidFill>
            <a:srgbClr val="FF99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7200" y="5029200"/>
            <a:ext cx="11247120" cy="457200"/>
          </a:xfrm>
          <a:prstGeom prst="rect">
            <a:avLst/>
          </a:prstGeom>
          <a:noFill/>
        </p:spPr>
        <p:txBody>
          <a:bodyPr wrap="square" lIns="0" tIns="0" rIns="0" bIns="0" anchor="t">
            <a:spAutoFit/>
          </a:bodyPr>
          <a:lstStyle/>
          <a:p>
            <a:pPr algn="ctr"/>
            <a:r>
              <a:rPr sz="2200" b="1">
                <a:solidFill>
                  <a:srgbClr val="FFFFFF"/>
                </a:solidFill>
                <a:latin typeface="Calibri"/>
              </a:rPr>
              <a:t>Coral Magen</a:t>
            </a:r>
          </a:p>
        </p:txBody>
      </p:sp>
      <p:sp>
        <p:nvSpPr>
          <p:cNvPr id="8" name="TextBox 7"/>
          <p:cNvSpPr txBox="1"/>
          <p:nvPr/>
        </p:nvSpPr>
        <p:spPr>
          <a:xfrm>
            <a:off x="457200" y="5532120"/>
            <a:ext cx="11247120" cy="365760"/>
          </a:xfrm>
          <a:prstGeom prst="rect">
            <a:avLst/>
          </a:prstGeom>
          <a:noFill/>
        </p:spPr>
        <p:txBody>
          <a:bodyPr wrap="square" lIns="0" tIns="0" rIns="0" bIns="0" anchor="t">
            <a:spAutoFit/>
          </a:bodyPr>
          <a:lstStyle/>
          <a:p>
            <a:pPr algn="ctr"/>
            <a:r>
              <a:rPr sz="1400" b="0">
                <a:solidFill>
                  <a:srgbClr val="879596"/>
                </a:solidFill>
                <a:latin typeface="Calibri"/>
              </a:rPr>
              <a:t>Technical Account Manager   ·   coralst@amazon.com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02920" y="365760"/>
            <a:ext cx="594360" cy="594360"/>
          </a:xfrm>
          <a:prstGeom prst="ellipse">
            <a:avLst/>
          </a:prstGeom>
          <a:solidFill>
            <a:srgbClr val="232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65760"/>
            <a:ext cx="594360" cy="594360"/>
          </a:xfrm>
          <a:prstGeom prst="rect">
            <a:avLst/>
          </a:prstGeom>
          <a:noFill/>
        </p:spPr>
        <p:txBody>
          <a:bodyPr wrap="square" lIns="0" rIns="0" tIns="0" bIns="0" anchor="ctr">
            <a:spAutoFit/>
          </a:bodyPr>
          <a:lstStyle/>
          <a:p>
            <a:pPr algn="ctr"/>
            <a:r>
              <a:rPr sz="2600" b="1">
                <a:solidFill>
                  <a:srgbClr val="FF9900"/>
                </a:solidFill>
                <a:latin typeface="Calibri"/>
              </a:rPr>
              <a:t>5</a:t>
            </a:r>
          </a:p>
        </p:txBody>
      </p:sp>
      <p:sp>
        <p:nvSpPr>
          <p:cNvPr id="5" name="TextBox 4"/>
          <p:cNvSpPr txBox="1"/>
          <p:nvPr/>
        </p:nvSpPr>
        <p:spPr>
          <a:xfrm>
            <a:off x="502920" y="6446520"/>
            <a:ext cx="8229600" cy="320040"/>
          </a:xfrm>
          <a:prstGeom prst="rect">
            <a:avLst/>
          </a:prstGeom>
          <a:noFill/>
        </p:spPr>
        <p:txBody>
          <a:bodyPr wrap="square" lIns="0" rIns="0" tIns="0" bIns="0" anchor="ctr">
            <a:spAutoFit/>
          </a:bodyPr>
          <a:lstStyle/>
          <a:p>
            <a:pPr algn="l"/>
            <a:r>
              <a:rPr sz="1000" b="1">
                <a:solidFill>
                  <a:srgbClr val="545B64"/>
                </a:solidFill>
                <a:latin typeface="Calibri"/>
              </a:rPr>
              <a:t>VALENTIN   ·   GenAI TFC Capstone Deep-Dive</a:t>
            </a:r>
          </a:p>
        </p:txBody>
      </p:sp>
      <p:sp>
        <p:nvSpPr>
          <p:cNvPr id="6" name="TextBox 5"/>
          <p:cNvSpPr txBox="1"/>
          <p:nvPr/>
        </p:nvSpPr>
        <p:spPr>
          <a:xfrm>
            <a:off x="10332720" y="6446520"/>
            <a:ext cx="1371600" cy="320040"/>
          </a:xfrm>
          <a:prstGeom prst="rect">
            <a:avLst/>
          </a:prstGeom>
          <a:noFill/>
        </p:spPr>
        <p:txBody>
          <a:bodyPr wrap="square" lIns="0" rIns="0" tIns="0" bIns="0" anchor="ctr">
            <a:spAutoFit/>
          </a:bodyPr>
          <a:lstStyle/>
          <a:p>
            <a:pPr algn="r"/>
            <a:r>
              <a:rPr sz="1000" b="0">
                <a:solidFill>
                  <a:srgbClr val="545B64"/>
                </a:solidFill>
                <a:latin typeface="Calibri"/>
              </a:rPr>
              <a:t>6 / 17</a:t>
            </a:r>
          </a:p>
        </p:txBody>
      </p:sp>
      <p:sp>
        <p:nvSpPr>
          <p:cNvPr id="7" name="TextBox 6"/>
          <p:cNvSpPr txBox="1"/>
          <p:nvPr/>
        </p:nvSpPr>
        <p:spPr>
          <a:xfrm>
            <a:off x="1280160" y="365760"/>
            <a:ext cx="10058400" cy="594360"/>
          </a:xfrm>
          <a:prstGeom prst="rect">
            <a:avLst/>
          </a:prstGeom>
          <a:noFill/>
        </p:spPr>
        <p:txBody>
          <a:bodyPr wrap="square" lIns="0" rIns="0" tIns="0" bIns="0" anchor="ctr">
            <a:spAutoFit/>
          </a:bodyPr>
          <a:lstStyle/>
          <a:p>
            <a:pPr algn="l"/>
            <a:r>
              <a:rPr sz="3000" b="1">
                <a:solidFill>
                  <a:srgbClr val="232F3E"/>
                </a:solidFill>
                <a:latin typeface="Calibri"/>
              </a:rPr>
              <a:t>Two engines, six lenses</a:t>
            </a:r>
          </a:p>
        </p:txBody>
      </p:sp>
      <p:sp>
        <p:nvSpPr>
          <p:cNvPr id="8" name="Rectangle 7"/>
          <p:cNvSpPr/>
          <p:nvPr/>
        </p:nvSpPr>
        <p:spPr>
          <a:xfrm>
            <a:off x="502920" y="1051560"/>
            <a:ext cx="1371600" cy="36576"/>
          </a:xfrm>
          <a:prstGeom prst="rect">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280160"/>
            <a:ext cx="11155680" cy="384048"/>
          </a:xfrm>
          <a:prstGeom prst="rect">
            <a:avLst/>
          </a:prstGeom>
          <a:noFill/>
        </p:spPr>
        <p:txBody>
          <a:bodyPr wrap="square" lIns="0" rIns="0" tIns="0" bIns="0" anchor="t">
            <a:spAutoFit/>
          </a:bodyPr>
          <a:lstStyle/>
          <a:p>
            <a:pPr algn="l"/>
            <a:r>
              <a:rPr sz="1400" b="0">
                <a:solidFill>
                  <a:srgbClr val="545B64"/>
                </a:solidFill>
                <a:latin typeface="Calibri"/>
              </a:rPr>
              <a:t>Each lens toggles on the components that decide it. One upside, one trade-off, one winner per row.</a:t>
            </a:r>
          </a:p>
        </p:txBody>
      </p:sp>
      <p:sp>
        <p:nvSpPr>
          <p:cNvPr id="10" name="Rounded Rectangle 9"/>
          <p:cNvSpPr/>
          <p:nvPr/>
        </p:nvSpPr>
        <p:spPr>
          <a:xfrm>
            <a:off x="566928" y="1700784"/>
            <a:ext cx="11064240" cy="365760"/>
          </a:xfrm>
          <a:prstGeom prst="roundRect">
            <a:avLst>
              <a:gd name="adj" fmla="val 15000"/>
            </a:avLst>
          </a:prstGeom>
          <a:solidFill>
            <a:srgbClr val="232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1700784"/>
            <a:ext cx="1517904" cy="365760"/>
          </a:xfrm>
          <a:prstGeom prst="rect">
            <a:avLst/>
          </a:prstGeom>
          <a:noFill/>
        </p:spPr>
        <p:txBody>
          <a:bodyPr wrap="square" lIns="0" rIns="0" tIns="0" bIns="0" anchor="ctr">
            <a:spAutoFit/>
          </a:bodyPr>
          <a:lstStyle/>
          <a:p>
            <a:pPr algn="l"/>
            <a:r>
              <a:rPr sz="1000" b="1">
                <a:solidFill>
                  <a:srgbClr val="FF9900"/>
                </a:solidFill>
                <a:latin typeface="Calibri"/>
              </a:rPr>
              <a:t>THE LENS</a:t>
            </a:r>
          </a:p>
        </p:txBody>
      </p:sp>
      <p:sp>
        <p:nvSpPr>
          <p:cNvPr id="12" name="TextBox 11"/>
          <p:cNvSpPr txBox="1"/>
          <p:nvPr/>
        </p:nvSpPr>
        <p:spPr>
          <a:xfrm>
            <a:off x="4352544" y="1700784"/>
            <a:ext cx="3419856" cy="365760"/>
          </a:xfrm>
          <a:prstGeom prst="rect">
            <a:avLst/>
          </a:prstGeom>
          <a:noFill/>
        </p:spPr>
        <p:txBody>
          <a:bodyPr wrap="square" lIns="0" rIns="0" tIns="0" bIns="0" anchor="ctr">
            <a:spAutoFit/>
          </a:bodyPr>
          <a:lstStyle/>
          <a:p>
            <a:pPr algn="l"/>
            <a:r>
              <a:rPr sz="1000" b="1">
                <a:solidFill>
                  <a:srgbClr val="FFFFFF"/>
                </a:solidFill>
                <a:latin typeface="Calibri"/>
              </a:rPr>
              <a:t>THE UPSIDE</a:t>
            </a:r>
          </a:p>
        </p:txBody>
      </p:sp>
      <p:sp>
        <p:nvSpPr>
          <p:cNvPr id="13" name="TextBox 12"/>
          <p:cNvSpPr txBox="1"/>
          <p:nvPr/>
        </p:nvSpPr>
        <p:spPr>
          <a:xfrm>
            <a:off x="8046719" y="1700784"/>
            <a:ext cx="2432303" cy="365760"/>
          </a:xfrm>
          <a:prstGeom prst="rect">
            <a:avLst/>
          </a:prstGeom>
          <a:noFill/>
        </p:spPr>
        <p:txBody>
          <a:bodyPr wrap="square" lIns="0" rIns="0" tIns="0" bIns="0" anchor="ctr">
            <a:spAutoFit/>
          </a:bodyPr>
          <a:lstStyle/>
          <a:p>
            <a:pPr algn="l"/>
            <a:r>
              <a:rPr sz="1000" b="1">
                <a:solidFill>
                  <a:srgbClr val="FFFFFF"/>
                </a:solidFill>
                <a:latin typeface="Calibri"/>
              </a:rPr>
              <a:t>THE TRADE-OFF</a:t>
            </a:r>
          </a:p>
        </p:txBody>
      </p:sp>
      <p:sp>
        <p:nvSpPr>
          <p:cNvPr id="14" name="TextBox 13"/>
          <p:cNvSpPr txBox="1"/>
          <p:nvPr/>
        </p:nvSpPr>
        <p:spPr>
          <a:xfrm>
            <a:off x="10753344" y="1700784"/>
            <a:ext cx="786384" cy="365760"/>
          </a:xfrm>
          <a:prstGeom prst="rect">
            <a:avLst/>
          </a:prstGeom>
          <a:noFill/>
        </p:spPr>
        <p:txBody>
          <a:bodyPr wrap="square" lIns="0" rIns="0" tIns="0" bIns="0" anchor="ctr">
            <a:spAutoFit/>
          </a:bodyPr>
          <a:lstStyle/>
          <a:p>
            <a:pPr algn="l"/>
            <a:r>
              <a:rPr sz="1000" b="1">
                <a:solidFill>
                  <a:srgbClr val="FFFFFF"/>
                </a:solidFill>
                <a:latin typeface="Calibri"/>
              </a:rPr>
              <a:t>WINNER</a:t>
            </a:r>
          </a:p>
        </p:txBody>
      </p:sp>
      <p:sp>
        <p:nvSpPr>
          <p:cNvPr id="15" name="TextBox 14"/>
          <p:cNvSpPr txBox="1"/>
          <p:nvPr/>
        </p:nvSpPr>
        <p:spPr>
          <a:xfrm>
            <a:off x="2267712" y="1700784"/>
            <a:ext cx="475488" cy="365760"/>
          </a:xfrm>
          <a:prstGeom prst="rect">
            <a:avLst/>
          </a:prstGeom>
          <a:noFill/>
        </p:spPr>
        <p:txBody>
          <a:bodyPr wrap="square" lIns="0" rIns="0" tIns="0" bIns="0" anchor="ctr">
            <a:spAutoFit/>
          </a:bodyPr>
          <a:lstStyle/>
          <a:p>
            <a:pPr algn="ctr"/>
            <a:r>
              <a:rPr sz="800" b="1">
                <a:solidFill>
                  <a:srgbClr val="FFFFFF"/>
                </a:solidFill>
                <a:latin typeface="Calibri"/>
              </a:rPr>
              <a:t>RUN</a:t>
            </a:r>
          </a:p>
        </p:txBody>
      </p:sp>
      <p:sp>
        <p:nvSpPr>
          <p:cNvPr id="16" name="TextBox 15"/>
          <p:cNvSpPr txBox="1"/>
          <p:nvPr/>
        </p:nvSpPr>
        <p:spPr>
          <a:xfrm>
            <a:off x="2743200" y="1700784"/>
            <a:ext cx="475488" cy="365760"/>
          </a:xfrm>
          <a:prstGeom prst="rect">
            <a:avLst/>
          </a:prstGeom>
          <a:noFill/>
        </p:spPr>
        <p:txBody>
          <a:bodyPr wrap="square" lIns="0" rIns="0" tIns="0" bIns="0" anchor="ctr">
            <a:spAutoFit/>
          </a:bodyPr>
          <a:lstStyle/>
          <a:p>
            <a:pPr algn="ctr"/>
            <a:r>
              <a:rPr sz="800" b="1">
                <a:solidFill>
                  <a:srgbClr val="FFFFFF"/>
                </a:solidFill>
                <a:latin typeface="Calibri"/>
              </a:rPr>
              <a:t>MEM</a:t>
            </a:r>
          </a:p>
        </p:txBody>
      </p:sp>
      <p:sp>
        <p:nvSpPr>
          <p:cNvPr id="17" name="TextBox 16"/>
          <p:cNvSpPr txBox="1"/>
          <p:nvPr/>
        </p:nvSpPr>
        <p:spPr>
          <a:xfrm>
            <a:off x="3218688" y="1700784"/>
            <a:ext cx="475488" cy="365760"/>
          </a:xfrm>
          <a:prstGeom prst="rect">
            <a:avLst/>
          </a:prstGeom>
          <a:noFill/>
        </p:spPr>
        <p:txBody>
          <a:bodyPr wrap="square" lIns="0" rIns="0" tIns="0" bIns="0" anchor="ctr">
            <a:spAutoFit/>
          </a:bodyPr>
          <a:lstStyle/>
          <a:p>
            <a:pPr algn="ctr"/>
            <a:r>
              <a:rPr sz="800" b="1">
                <a:solidFill>
                  <a:srgbClr val="FFFFFF"/>
                </a:solidFill>
                <a:latin typeface="Calibri"/>
              </a:rPr>
              <a:t>GTW</a:t>
            </a:r>
          </a:p>
        </p:txBody>
      </p:sp>
      <p:sp>
        <p:nvSpPr>
          <p:cNvPr id="18" name="TextBox 17"/>
          <p:cNvSpPr txBox="1"/>
          <p:nvPr/>
        </p:nvSpPr>
        <p:spPr>
          <a:xfrm>
            <a:off x="3694176" y="1700784"/>
            <a:ext cx="475488" cy="365760"/>
          </a:xfrm>
          <a:prstGeom prst="rect">
            <a:avLst/>
          </a:prstGeom>
          <a:noFill/>
        </p:spPr>
        <p:txBody>
          <a:bodyPr wrap="square" lIns="0" rIns="0" tIns="0" bIns="0" anchor="ctr">
            <a:spAutoFit/>
          </a:bodyPr>
          <a:lstStyle/>
          <a:p>
            <a:pPr algn="ctr"/>
            <a:r>
              <a:rPr sz="800" b="1">
                <a:solidFill>
                  <a:srgbClr val="FFFFFF"/>
                </a:solidFill>
                <a:latin typeface="Calibri"/>
              </a:rPr>
              <a:t>OBS</a:t>
            </a:r>
          </a:p>
        </p:txBody>
      </p:sp>
      <p:sp>
        <p:nvSpPr>
          <p:cNvPr id="19" name="Rectangle 18"/>
          <p:cNvSpPr/>
          <p:nvPr/>
        </p:nvSpPr>
        <p:spPr>
          <a:xfrm>
            <a:off x="566928" y="2121408"/>
            <a:ext cx="11064240" cy="640080"/>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66928" y="2752344"/>
            <a:ext cx="11064240" cy="9144"/>
          </a:xfrm>
          <a:prstGeom prst="rect">
            <a:avLst/>
          </a:prstGeom>
          <a:solidFill>
            <a:srgbClr val="E4E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2121408"/>
            <a:ext cx="1517904" cy="640080"/>
          </a:xfrm>
          <a:prstGeom prst="rect">
            <a:avLst/>
          </a:prstGeom>
          <a:noFill/>
        </p:spPr>
        <p:txBody>
          <a:bodyPr wrap="square" lIns="0" rIns="0" tIns="0" bIns="0" anchor="ctr">
            <a:spAutoFit/>
          </a:bodyPr>
          <a:lstStyle/>
          <a:p>
            <a:pPr algn="l"/>
            <a:r>
              <a:rPr sz="1250" b="1">
                <a:solidFill>
                  <a:srgbClr val="232F3E"/>
                </a:solidFill>
                <a:latin typeface="Calibri"/>
              </a:rPr>
              <a:t>Cost</a:t>
            </a:r>
          </a:p>
        </p:txBody>
      </p:sp>
      <p:sp>
        <p:nvSpPr>
          <p:cNvPr id="22" name="Oval 21"/>
          <p:cNvSpPr/>
          <p:nvPr/>
        </p:nvSpPr>
        <p:spPr>
          <a:xfrm>
            <a:off x="2427732" y="2363724"/>
            <a:ext cx="155448" cy="155448"/>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903220" y="2363724"/>
            <a:ext cx="155448" cy="155448"/>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3378708" y="2363724"/>
            <a:ext cx="155448" cy="155448"/>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3854196" y="2363724"/>
            <a:ext cx="155448" cy="155448"/>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352544" y="2194560"/>
            <a:ext cx="3419856" cy="493775"/>
          </a:xfrm>
          <a:prstGeom prst="rect">
            <a:avLst/>
          </a:prstGeom>
          <a:noFill/>
        </p:spPr>
        <p:txBody>
          <a:bodyPr wrap="square" lIns="0" rIns="0" tIns="0" bIns="0" anchor="ctr">
            <a:spAutoFit/>
          </a:bodyPr>
          <a:lstStyle/>
          <a:p>
            <a:pPr algn="l"/>
            <a:r>
              <a:rPr sz="1000" b="0">
                <a:solidFill>
                  <a:srgbClr val="16191F"/>
                </a:solidFill>
                <a:latin typeface="Calibri"/>
              </a:rPr>
              <a:t>The $18/mo idle floor disappears — pay per second of real agent work.</a:t>
            </a:r>
          </a:p>
        </p:txBody>
      </p:sp>
      <p:sp>
        <p:nvSpPr>
          <p:cNvPr id="27" name="TextBox 26"/>
          <p:cNvSpPr txBox="1"/>
          <p:nvPr/>
        </p:nvSpPr>
        <p:spPr>
          <a:xfrm>
            <a:off x="8046719" y="2194560"/>
            <a:ext cx="2432303" cy="493775"/>
          </a:xfrm>
          <a:prstGeom prst="rect">
            <a:avLst/>
          </a:prstGeom>
          <a:noFill/>
        </p:spPr>
        <p:txBody>
          <a:bodyPr wrap="square" lIns="0" rIns="0" tIns="0" bIns="0" anchor="ctr">
            <a:spAutoFit/>
          </a:bodyPr>
          <a:lstStyle/>
          <a:p>
            <a:pPr algn="l"/>
            <a:r>
              <a:rPr sz="1000" b="0">
                <a:solidFill>
                  <a:srgbClr val="16191F"/>
                </a:solidFill>
                <a:latin typeface="Calibri"/>
              </a:rPr>
              <a:t>Unit price is 2.20× dearer per vCPU-hour; it wins on granularity, not rate.</a:t>
            </a:r>
          </a:p>
        </p:txBody>
      </p:sp>
      <p:sp>
        <p:nvSpPr>
          <p:cNvPr id="28" name="Rounded Rectangle 27"/>
          <p:cNvSpPr/>
          <p:nvPr/>
        </p:nvSpPr>
        <p:spPr>
          <a:xfrm>
            <a:off x="10661904" y="2331720"/>
            <a:ext cx="969264" cy="219456"/>
          </a:xfrm>
          <a:prstGeom prst="roundRect">
            <a:avLst>
              <a:gd name="adj" fmla="val 50000"/>
            </a:avLst>
          </a:prstGeom>
          <a:solidFill>
            <a:srgbClr val="1E7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661904" y="2331720"/>
            <a:ext cx="969264" cy="219456"/>
          </a:xfrm>
          <a:prstGeom prst="rect">
            <a:avLst/>
          </a:prstGeom>
          <a:noFill/>
        </p:spPr>
        <p:txBody>
          <a:bodyPr wrap="square" lIns="0" rIns="0" tIns="0" bIns="0" anchor="ctr">
            <a:spAutoFit/>
          </a:bodyPr>
          <a:lstStyle/>
          <a:p>
            <a:pPr algn="ctr"/>
            <a:r>
              <a:rPr sz="800" b="1">
                <a:solidFill>
                  <a:srgbClr val="FFFFFF"/>
                </a:solidFill>
                <a:latin typeface="Calibri"/>
              </a:rPr>
              <a:t>AGENTCORE</a:t>
            </a:r>
          </a:p>
        </p:txBody>
      </p:sp>
      <p:sp>
        <p:nvSpPr>
          <p:cNvPr id="30" name="Rectangle 29"/>
          <p:cNvSpPr/>
          <p:nvPr/>
        </p:nvSpPr>
        <p:spPr>
          <a:xfrm>
            <a:off x="566928" y="3392424"/>
            <a:ext cx="11064240" cy="9144"/>
          </a:xfrm>
          <a:prstGeom prst="rect">
            <a:avLst/>
          </a:prstGeom>
          <a:solidFill>
            <a:srgbClr val="E4E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 y="2761487"/>
            <a:ext cx="1517904" cy="640080"/>
          </a:xfrm>
          <a:prstGeom prst="rect">
            <a:avLst/>
          </a:prstGeom>
          <a:noFill/>
        </p:spPr>
        <p:txBody>
          <a:bodyPr wrap="square" lIns="0" rIns="0" tIns="0" bIns="0" anchor="ctr">
            <a:spAutoFit/>
          </a:bodyPr>
          <a:lstStyle/>
          <a:p>
            <a:pPr algn="l"/>
            <a:r>
              <a:rPr sz="1250" b="1">
                <a:solidFill>
                  <a:srgbClr val="232F3E"/>
                </a:solidFill>
                <a:latin typeface="Calibri"/>
              </a:rPr>
              <a:t>Resilience</a:t>
            </a:r>
          </a:p>
        </p:txBody>
      </p:sp>
      <p:sp>
        <p:nvSpPr>
          <p:cNvPr id="32" name="Oval 31"/>
          <p:cNvSpPr/>
          <p:nvPr/>
        </p:nvSpPr>
        <p:spPr>
          <a:xfrm>
            <a:off x="2427732" y="3003803"/>
            <a:ext cx="155448" cy="155448"/>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2926079" y="3026663"/>
            <a:ext cx="109728" cy="109728"/>
          </a:xfrm>
          <a:prstGeom prst="ellipse">
            <a:avLst/>
          </a:prstGeom>
          <a:noFill/>
          <a:ln w="12700">
            <a:solidFill>
              <a:srgbClr val="E4E7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3378708" y="3003803"/>
            <a:ext cx="155448" cy="155448"/>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3877056" y="3026663"/>
            <a:ext cx="109728" cy="109728"/>
          </a:xfrm>
          <a:prstGeom prst="ellipse">
            <a:avLst/>
          </a:prstGeom>
          <a:noFill/>
          <a:ln w="12700">
            <a:solidFill>
              <a:srgbClr val="E4E7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352544" y="2834639"/>
            <a:ext cx="3419856" cy="493775"/>
          </a:xfrm>
          <a:prstGeom prst="rect">
            <a:avLst/>
          </a:prstGeom>
          <a:noFill/>
        </p:spPr>
        <p:txBody>
          <a:bodyPr wrap="square" lIns="0" rIns="0" tIns="0" bIns="0" anchor="ctr">
            <a:spAutoFit/>
          </a:bodyPr>
          <a:lstStyle/>
          <a:p>
            <a:pPr algn="l"/>
            <a:r>
              <a:rPr sz="1000" b="0">
                <a:solidFill>
                  <a:srgbClr val="16191F"/>
                </a:solidFill>
                <a:latin typeface="Calibri"/>
              </a:rPr>
              <a:t>A microVM per session and a Lambda per tool: one fault loses 1 session, not 40.</a:t>
            </a:r>
          </a:p>
        </p:txBody>
      </p:sp>
      <p:sp>
        <p:nvSpPr>
          <p:cNvPr id="37" name="TextBox 36"/>
          <p:cNvSpPr txBox="1"/>
          <p:nvPr/>
        </p:nvSpPr>
        <p:spPr>
          <a:xfrm>
            <a:off x="8046719" y="2834639"/>
            <a:ext cx="2432303" cy="493775"/>
          </a:xfrm>
          <a:prstGeom prst="rect">
            <a:avLst/>
          </a:prstGeom>
          <a:noFill/>
        </p:spPr>
        <p:txBody>
          <a:bodyPr wrap="square" lIns="0" rIns="0" tIns="0" bIns="0" anchor="ctr">
            <a:spAutoFit/>
          </a:bodyPr>
          <a:lstStyle/>
          <a:p>
            <a:pPr algn="l"/>
            <a:r>
              <a:rPr sz="1000" b="0">
                <a:solidFill>
                  <a:srgbClr val="16191F"/>
                </a:solidFill>
                <a:latin typeface="Calibri"/>
              </a:rPr>
              <a:t>The container stops being yours — no sidecars, no in-process cache.</a:t>
            </a:r>
          </a:p>
        </p:txBody>
      </p:sp>
      <p:sp>
        <p:nvSpPr>
          <p:cNvPr id="38" name="Rounded Rectangle 37"/>
          <p:cNvSpPr/>
          <p:nvPr/>
        </p:nvSpPr>
        <p:spPr>
          <a:xfrm>
            <a:off x="10661904" y="2971799"/>
            <a:ext cx="969264" cy="219456"/>
          </a:xfrm>
          <a:prstGeom prst="roundRect">
            <a:avLst>
              <a:gd name="adj" fmla="val 50000"/>
            </a:avLst>
          </a:prstGeom>
          <a:solidFill>
            <a:srgbClr val="1E7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661904" y="2971799"/>
            <a:ext cx="969264" cy="219456"/>
          </a:xfrm>
          <a:prstGeom prst="rect">
            <a:avLst/>
          </a:prstGeom>
          <a:noFill/>
        </p:spPr>
        <p:txBody>
          <a:bodyPr wrap="square" lIns="0" rIns="0" tIns="0" bIns="0" anchor="ctr">
            <a:spAutoFit/>
          </a:bodyPr>
          <a:lstStyle/>
          <a:p>
            <a:pPr algn="ctr"/>
            <a:r>
              <a:rPr sz="800" b="1">
                <a:solidFill>
                  <a:srgbClr val="FFFFFF"/>
                </a:solidFill>
                <a:latin typeface="Calibri"/>
              </a:rPr>
              <a:t>AGENTCORE</a:t>
            </a:r>
          </a:p>
        </p:txBody>
      </p:sp>
      <p:sp>
        <p:nvSpPr>
          <p:cNvPr id="40" name="Rectangle 39"/>
          <p:cNvSpPr/>
          <p:nvPr/>
        </p:nvSpPr>
        <p:spPr>
          <a:xfrm>
            <a:off x="566928" y="3401568"/>
            <a:ext cx="11064240" cy="640080"/>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66928" y="4032504"/>
            <a:ext cx="11064240" cy="9144"/>
          </a:xfrm>
          <a:prstGeom prst="rect">
            <a:avLst/>
          </a:prstGeom>
          <a:solidFill>
            <a:srgbClr val="E4E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58368" y="3401568"/>
            <a:ext cx="1517904" cy="640080"/>
          </a:xfrm>
          <a:prstGeom prst="rect">
            <a:avLst/>
          </a:prstGeom>
          <a:noFill/>
        </p:spPr>
        <p:txBody>
          <a:bodyPr wrap="square" lIns="0" rIns="0" tIns="0" bIns="0" anchor="ctr">
            <a:spAutoFit/>
          </a:bodyPr>
          <a:lstStyle/>
          <a:p>
            <a:pPr algn="l"/>
            <a:r>
              <a:rPr sz="1250" b="1">
                <a:solidFill>
                  <a:srgbClr val="232F3E"/>
                </a:solidFill>
                <a:latin typeface="Calibri"/>
              </a:rPr>
              <a:t>Security</a:t>
            </a:r>
          </a:p>
        </p:txBody>
      </p:sp>
      <p:sp>
        <p:nvSpPr>
          <p:cNvPr id="43" name="Oval 42"/>
          <p:cNvSpPr/>
          <p:nvPr/>
        </p:nvSpPr>
        <p:spPr>
          <a:xfrm>
            <a:off x="2427732" y="3643883"/>
            <a:ext cx="155448" cy="155448"/>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2926079" y="3666744"/>
            <a:ext cx="109728" cy="109728"/>
          </a:xfrm>
          <a:prstGeom prst="ellipse">
            <a:avLst/>
          </a:prstGeom>
          <a:noFill/>
          <a:ln w="12700">
            <a:solidFill>
              <a:srgbClr val="E4E7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3378708" y="3643883"/>
            <a:ext cx="155448" cy="155448"/>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3877056" y="3666744"/>
            <a:ext cx="109728" cy="109728"/>
          </a:xfrm>
          <a:prstGeom prst="ellipse">
            <a:avLst/>
          </a:prstGeom>
          <a:noFill/>
          <a:ln w="12700">
            <a:solidFill>
              <a:srgbClr val="E4E7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352544" y="3474720"/>
            <a:ext cx="3419856" cy="493775"/>
          </a:xfrm>
          <a:prstGeom prst="rect">
            <a:avLst/>
          </a:prstGeom>
          <a:noFill/>
        </p:spPr>
        <p:txBody>
          <a:bodyPr wrap="square" lIns="0" rIns="0" tIns="0" bIns="0" anchor="ctr">
            <a:spAutoFit/>
          </a:bodyPr>
          <a:lstStyle/>
          <a:p>
            <a:pPr algn="l"/>
            <a:r>
              <a:rPr sz="1000" b="0">
                <a:solidFill>
                  <a:srgbClr val="16191F"/>
                </a:solidFill>
                <a:latin typeface="Calibri"/>
              </a:rPr>
              <a:t>Auth resolves per tool; a hijacked session reaches only its own tokens.</a:t>
            </a:r>
          </a:p>
        </p:txBody>
      </p:sp>
      <p:sp>
        <p:nvSpPr>
          <p:cNvPr id="48" name="TextBox 47"/>
          <p:cNvSpPr txBox="1"/>
          <p:nvPr/>
        </p:nvSpPr>
        <p:spPr>
          <a:xfrm>
            <a:off x="8046719" y="3474720"/>
            <a:ext cx="2432303" cy="493775"/>
          </a:xfrm>
          <a:prstGeom prst="rect">
            <a:avLst/>
          </a:prstGeom>
          <a:noFill/>
        </p:spPr>
        <p:txBody>
          <a:bodyPr wrap="square" lIns="0" rIns="0" tIns="0" bIns="0" anchor="ctr">
            <a:spAutoFit/>
          </a:bodyPr>
          <a:lstStyle/>
          <a:p>
            <a:pPr algn="l"/>
            <a:r>
              <a:rPr sz="1000" b="0">
                <a:solidFill>
                  <a:srgbClr val="16191F"/>
                </a:solidFill>
                <a:latin typeface="Calibri"/>
              </a:rPr>
              <a:t>The isolation boundary is managed — you trust it, you cannot inspect it.</a:t>
            </a:r>
          </a:p>
        </p:txBody>
      </p:sp>
      <p:sp>
        <p:nvSpPr>
          <p:cNvPr id="49" name="Rounded Rectangle 48"/>
          <p:cNvSpPr/>
          <p:nvPr/>
        </p:nvSpPr>
        <p:spPr>
          <a:xfrm>
            <a:off x="10661904" y="3611879"/>
            <a:ext cx="969264" cy="219456"/>
          </a:xfrm>
          <a:prstGeom prst="roundRect">
            <a:avLst>
              <a:gd name="adj" fmla="val 50000"/>
            </a:avLst>
          </a:prstGeom>
          <a:solidFill>
            <a:srgbClr val="1E7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661904" y="3611879"/>
            <a:ext cx="969264" cy="219456"/>
          </a:xfrm>
          <a:prstGeom prst="rect">
            <a:avLst/>
          </a:prstGeom>
          <a:noFill/>
        </p:spPr>
        <p:txBody>
          <a:bodyPr wrap="square" lIns="0" rIns="0" tIns="0" bIns="0" anchor="ctr">
            <a:spAutoFit/>
          </a:bodyPr>
          <a:lstStyle/>
          <a:p>
            <a:pPr algn="ctr"/>
            <a:r>
              <a:rPr sz="800" b="1">
                <a:solidFill>
                  <a:srgbClr val="FFFFFF"/>
                </a:solidFill>
                <a:latin typeface="Calibri"/>
              </a:rPr>
              <a:t>AGENTCORE</a:t>
            </a:r>
          </a:p>
        </p:txBody>
      </p:sp>
      <p:sp>
        <p:nvSpPr>
          <p:cNvPr id="51" name="Rectangle 50"/>
          <p:cNvSpPr/>
          <p:nvPr/>
        </p:nvSpPr>
        <p:spPr>
          <a:xfrm>
            <a:off x="566928" y="4672584"/>
            <a:ext cx="11064240" cy="9144"/>
          </a:xfrm>
          <a:prstGeom prst="rect">
            <a:avLst/>
          </a:prstGeom>
          <a:solidFill>
            <a:srgbClr val="E4E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58368" y="4041648"/>
            <a:ext cx="1517904" cy="640080"/>
          </a:xfrm>
          <a:prstGeom prst="rect">
            <a:avLst/>
          </a:prstGeom>
          <a:noFill/>
        </p:spPr>
        <p:txBody>
          <a:bodyPr wrap="square" lIns="0" rIns="0" tIns="0" bIns="0" anchor="ctr">
            <a:spAutoFit/>
          </a:bodyPr>
          <a:lstStyle/>
          <a:p>
            <a:pPr algn="l"/>
            <a:r>
              <a:rPr sz="1250" b="1">
                <a:solidFill>
                  <a:srgbClr val="232F3E"/>
                </a:solidFill>
                <a:latin typeface="Calibri"/>
              </a:rPr>
              <a:t>Ownership &amp; velocity</a:t>
            </a:r>
          </a:p>
        </p:txBody>
      </p:sp>
      <p:sp>
        <p:nvSpPr>
          <p:cNvPr id="53" name="Oval 52"/>
          <p:cNvSpPr/>
          <p:nvPr/>
        </p:nvSpPr>
        <p:spPr>
          <a:xfrm>
            <a:off x="2450592" y="4306824"/>
            <a:ext cx="109728" cy="109728"/>
          </a:xfrm>
          <a:prstGeom prst="ellipse">
            <a:avLst/>
          </a:prstGeom>
          <a:noFill/>
          <a:ln w="12700">
            <a:solidFill>
              <a:srgbClr val="E4E7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2903220" y="4283964"/>
            <a:ext cx="155448" cy="155448"/>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3378708" y="4283964"/>
            <a:ext cx="155448" cy="155448"/>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3877056" y="4306824"/>
            <a:ext cx="109728" cy="109728"/>
          </a:xfrm>
          <a:prstGeom prst="ellipse">
            <a:avLst/>
          </a:prstGeom>
          <a:noFill/>
          <a:ln w="12700">
            <a:solidFill>
              <a:srgbClr val="E4E7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352544" y="4114800"/>
            <a:ext cx="3419856" cy="493775"/>
          </a:xfrm>
          <a:prstGeom prst="rect">
            <a:avLst/>
          </a:prstGeom>
          <a:noFill/>
        </p:spPr>
        <p:txBody>
          <a:bodyPr wrap="square" lIns="0" rIns="0" tIns="0" bIns="0" anchor="ctr">
            <a:spAutoFit/>
          </a:bodyPr>
          <a:lstStyle/>
          <a:p>
            <a:pPr algn="l"/>
            <a:r>
              <a:rPr sz="1000" b="0">
                <a:solidFill>
                  <a:srgbClr val="16191F"/>
                </a:solidFill>
                <a:latin typeface="Calibri"/>
              </a:rPr>
              <a:t>Extraction becomes the service’s prompt; adding a tool stops being a deploy.</a:t>
            </a:r>
          </a:p>
        </p:txBody>
      </p:sp>
      <p:sp>
        <p:nvSpPr>
          <p:cNvPr id="58" name="TextBox 57"/>
          <p:cNvSpPr txBox="1"/>
          <p:nvPr/>
        </p:nvSpPr>
        <p:spPr>
          <a:xfrm>
            <a:off x="8046719" y="4114800"/>
            <a:ext cx="2432303" cy="493775"/>
          </a:xfrm>
          <a:prstGeom prst="rect">
            <a:avLst/>
          </a:prstGeom>
          <a:noFill/>
        </p:spPr>
        <p:txBody>
          <a:bodyPr wrap="square" lIns="0" rIns="0" tIns="0" bIns="0" anchor="ctr">
            <a:spAutoFit/>
          </a:bodyPr>
          <a:lstStyle/>
          <a:p>
            <a:pPr algn="l"/>
            <a:r>
              <a:rPr sz="1000" b="0">
                <a:solidFill>
                  <a:srgbClr val="16191F"/>
                </a:solidFill>
                <a:latin typeface="Calibri"/>
              </a:rPr>
              <a:t>You lose the extraction schema you designed — and the fields only it had.</a:t>
            </a:r>
          </a:p>
        </p:txBody>
      </p:sp>
      <p:sp>
        <p:nvSpPr>
          <p:cNvPr id="59" name="Rounded Rectangle 58"/>
          <p:cNvSpPr/>
          <p:nvPr/>
        </p:nvSpPr>
        <p:spPr>
          <a:xfrm>
            <a:off x="10661904" y="4251959"/>
            <a:ext cx="969264" cy="219456"/>
          </a:xfrm>
          <a:prstGeom prst="roundRect">
            <a:avLst>
              <a:gd name="adj" fmla="val 50000"/>
            </a:avLst>
          </a:prstGeom>
          <a:solidFill>
            <a:srgbClr val="1E7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10661904" y="4251959"/>
            <a:ext cx="969264" cy="219456"/>
          </a:xfrm>
          <a:prstGeom prst="rect">
            <a:avLst/>
          </a:prstGeom>
          <a:noFill/>
        </p:spPr>
        <p:txBody>
          <a:bodyPr wrap="square" lIns="0" rIns="0" tIns="0" bIns="0" anchor="ctr">
            <a:spAutoFit/>
          </a:bodyPr>
          <a:lstStyle/>
          <a:p>
            <a:pPr algn="ctr"/>
            <a:r>
              <a:rPr sz="800" b="1">
                <a:solidFill>
                  <a:srgbClr val="FFFFFF"/>
                </a:solidFill>
                <a:latin typeface="Calibri"/>
              </a:rPr>
              <a:t>AGENTCORE</a:t>
            </a:r>
          </a:p>
        </p:txBody>
      </p:sp>
      <p:sp>
        <p:nvSpPr>
          <p:cNvPr id="61" name="Rectangle 60"/>
          <p:cNvSpPr/>
          <p:nvPr/>
        </p:nvSpPr>
        <p:spPr>
          <a:xfrm>
            <a:off x="566928" y="4681727"/>
            <a:ext cx="11064240" cy="640080"/>
          </a:xfrm>
          <a:prstGeom prst="rect">
            <a:avLst/>
          </a:prstGeom>
          <a:solidFill>
            <a:srgbClr val="F7F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566928" y="5312664"/>
            <a:ext cx="11064240" cy="9144"/>
          </a:xfrm>
          <a:prstGeom prst="rect">
            <a:avLst/>
          </a:prstGeom>
          <a:solidFill>
            <a:srgbClr val="E4E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58368" y="4681727"/>
            <a:ext cx="1517904" cy="640080"/>
          </a:xfrm>
          <a:prstGeom prst="rect">
            <a:avLst/>
          </a:prstGeom>
          <a:noFill/>
        </p:spPr>
        <p:txBody>
          <a:bodyPr wrap="square" lIns="0" rIns="0" tIns="0" bIns="0" anchor="ctr">
            <a:spAutoFit/>
          </a:bodyPr>
          <a:lstStyle/>
          <a:p>
            <a:pPr algn="l"/>
            <a:r>
              <a:rPr sz="1250" b="1">
                <a:solidFill>
                  <a:srgbClr val="232F3E"/>
                </a:solidFill>
                <a:latin typeface="Calibri"/>
              </a:rPr>
              <a:t>Debuggability</a:t>
            </a:r>
          </a:p>
        </p:txBody>
      </p:sp>
      <p:sp>
        <p:nvSpPr>
          <p:cNvPr id="64" name="Oval 63"/>
          <p:cNvSpPr/>
          <p:nvPr/>
        </p:nvSpPr>
        <p:spPr>
          <a:xfrm>
            <a:off x="2450592" y="4946903"/>
            <a:ext cx="109728" cy="109728"/>
          </a:xfrm>
          <a:prstGeom prst="ellipse">
            <a:avLst/>
          </a:prstGeom>
          <a:noFill/>
          <a:ln w="12700">
            <a:solidFill>
              <a:srgbClr val="E4E7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2926079" y="4946903"/>
            <a:ext cx="109728" cy="109728"/>
          </a:xfrm>
          <a:prstGeom prst="ellipse">
            <a:avLst/>
          </a:prstGeom>
          <a:noFill/>
          <a:ln w="12700">
            <a:solidFill>
              <a:srgbClr val="E4E7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3401568" y="4946903"/>
            <a:ext cx="109728" cy="109728"/>
          </a:xfrm>
          <a:prstGeom prst="ellipse">
            <a:avLst/>
          </a:prstGeom>
          <a:noFill/>
          <a:ln w="12700">
            <a:solidFill>
              <a:srgbClr val="E4E7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3854196" y="4924043"/>
            <a:ext cx="155448" cy="155448"/>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4352544" y="4754879"/>
            <a:ext cx="3419856" cy="493775"/>
          </a:xfrm>
          <a:prstGeom prst="rect">
            <a:avLst/>
          </a:prstGeom>
          <a:noFill/>
        </p:spPr>
        <p:txBody>
          <a:bodyPr wrap="square" lIns="0" rIns="0" tIns="0" bIns="0" anchor="ctr">
            <a:spAutoFit/>
          </a:bodyPr>
          <a:lstStyle/>
          <a:p>
            <a:pPr algn="l"/>
            <a:r>
              <a:rPr sz="1000" b="0">
                <a:solidFill>
                  <a:srgbClr val="16191F"/>
                </a:solidFill>
                <a:latin typeface="Calibri"/>
              </a:rPr>
              <a:t>Hand-wired OTEL emits exactly the fields that decide an incident at 2am.</a:t>
            </a:r>
          </a:p>
        </p:txBody>
      </p:sp>
      <p:sp>
        <p:nvSpPr>
          <p:cNvPr id="69" name="TextBox 68"/>
          <p:cNvSpPr txBox="1"/>
          <p:nvPr/>
        </p:nvSpPr>
        <p:spPr>
          <a:xfrm>
            <a:off x="8046719" y="4754879"/>
            <a:ext cx="2432303" cy="493775"/>
          </a:xfrm>
          <a:prstGeom prst="rect">
            <a:avLst/>
          </a:prstGeom>
          <a:noFill/>
        </p:spPr>
        <p:txBody>
          <a:bodyPr wrap="square" lIns="0" rIns="0" tIns="0" bIns="0" anchor="ctr">
            <a:spAutoFit/>
          </a:bodyPr>
          <a:lstStyle/>
          <a:p>
            <a:pPr algn="l"/>
            <a:r>
              <a:rPr sz="1000" b="0">
                <a:solidFill>
                  <a:srgbClr val="16191F"/>
                </a:solidFill>
                <a:latin typeface="Calibri"/>
              </a:rPr>
              <a:t>You write and maintain the span plumbing, plus a CloudWatch bill.</a:t>
            </a:r>
          </a:p>
        </p:txBody>
      </p:sp>
      <p:sp>
        <p:nvSpPr>
          <p:cNvPr id="70" name="Rounded Rectangle 69"/>
          <p:cNvSpPr/>
          <p:nvPr/>
        </p:nvSpPr>
        <p:spPr>
          <a:xfrm>
            <a:off x="10661904" y="4892039"/>
            <a:ext cx="969264" cy="219456"/>
          </a:xfrm>
          <a:prstGeom prst="roundRect">
            <a:avLst>
              <a:gd name="adj" fmla="val 50000"/>
            </a:avLst>
          </a:prstGeom>
          <a:solidFill>
            <a:srgbClr val="232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10661904" y="4892039"/>
            <a:ext cx="969264" cy="219456"/>
          </a:xfrm>
          <a:prstGeom prst="rect">
            <a:avLst/>
          </a:prstGeom>
          <a:noFill/>
        </p:spPr>
        <p:txBody>
          <a:bodyPr wrap="square" lIns="0" rIns="0" tIns="0" bIns="0" anchor="ctr">
            <a:spAutoFit/>
          </a:bodyPr>
          <a:lstStyle/>
          <a:p>
            <a:pPr algn="ctr"/>
            <a:r>
              <a:rPr sz="800" b="1">
                <a:solidFill>
                  <a:srgbClr val="FFFFFF"/>
                </a:solidFill>
                <a:latin typeface="Calibri"/>
              </a:rPr>
              <a:t>GLUE CODE</a:t>
            </a:r>
          </a:p>
        </p:txBody>
      </p:sp>
      <p:sp>
        <p:nvSpPr>
          <p:cNvPr id="72" name="Rectangle 71"/>
          <p:cNvSpPr/>
          <p:nvPr/>
        </p:nvSpPr>
        <p:spPr>
          <a:xfrm>
            <a:off x="566928" y="5952744"/>
            <a:ext cx="11064240" cy="9144"/>
          </a:xfrm>
          <a:prstGeom prst="rect">
            <a:avLst/>
          </a:prstGeom>
          <a:solidFill>
            <a:srgbClr val="E4E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658368" y="5321808"/>
            <a:ext cx="1517904" cy="640080"/>
          </a:xfrm>
          <a:prstGeom prst="rect">
            <a:avLst/>
          </a:prstGeom>
          <a:noFill/>
        </p:spPr>
        <p:txBody>
          <a:bodyPr wrap="square" lIns="0" rIns="0" tIns="0" bIns="0" anchor="ctr">
            <a:spAutoFit/>
          </a:bodyPr>
          <a:lstStyle/>
          <a:p>
            <a:pPr algn="l"/>
            <a:r>
              <a:rPr sz="1250" b="1">
                <a:solidFill>
                  <a:srgbClr val="232F3E"/>
                </a:solidFill>
                <a:latin typeface="Calibri"/>
              </a:rPr>
              <a:t>Latency</a:t>
            </a:r>
          </a:p>
        </p:txBody>
      </p:sp>
      <p:sp>
        <p:nvSpPr>
          <p:cNvPr id="74" name="Oval 73"/>
          <p:cNvSpPr/>
          <p:nvPr/>
        </p:nvSpPr>
        <p:spPr>
          <a:xfrm>
            <a:off x="2427732" y="5564124"/>
            <a:ext cx="155448" cy="155448"/>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2926079" y="5586984"/>
            <a:ext cx="109728" cy="109728"/>
          </a:xfrm>
          <a:prstGeom prst="ellipse">
            <a:avLst/>
          </a:prstGeom>
          <a:noFill/>
          <a:ln w="12700">
            <a:solidFill>
              <a:srgbClr val="E4E7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3378708" y="5564124"/>
            <a:ext cx="155448" cy="155448"/>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3877056" y="5586984"/>
            <a:ext cx="109728" cy="109728"/>
          </a:xfrm>
          <a:prstGeom prst="ellipse">
            <a:avLst/>
          </a:prstGeom>
          <a:noFill/>
          <a:ln w="12700">
            <a:solidFill>
              <a:srgbClr val="E4E7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4352544" y="5394960"/>
            <a:ext cx="3419856" cy="493775"/>
          </a:xfrm>
          <a:prstGeom prst="rect">
            <a:avLst/>
          </a:prstGeom>
          <a:noFill/>
        </p:spPr>
        <p:txBody>
          <a:bodyPr wrap="square" lIns="0" rIns="0" tIns="0" bIns="0" anchor="ctr">
            <a:spAutoFit/>
          </a:bodyPr>
          <a:lstStyle/>
          <a:p>
            <a:pPr algn="l"/>
            <a:r>
              <a:rPr sz="1000" b="0">
                <a:solidFill>
                  <a:srgbClr val="16191F"/>
                </a:solidFill>
                <a:latin typeface="Calibri"/>
              </a:rPr>
              <a:t>In-process tools on a warm task — a turn never waits on a hop.</a:t>
            </a:r>
          </a:p>
        </p:txBody>
      </p:sp>
      <p:sp>
        <p:nvSpPr>
          <p:cNvPr id="79" name="TextBox 78"/>
          <p:cNvSpPr txBox="1"/>
          <p:nvPr/>
        </p:nvSpPr>
        <p:spPr>
          <a:xfrm>
            <a:off x="8046719" y="5394960"/>
            <a:ext cx="2432303" cy="493775"/>
          </a:xfrm>
          <a:prstGeom prst="rect">
            <a:avLst/>
          </a:prstGeom>
          <a:noFill/>
        </p:spPr>
        <p:txBody>
          <a:bodyPr wrap="square" lIns="0" rIns="0" tIns="0" bIns="0" anchor="ctr">
            <a:spAutoFit/>
          </a:bodyPr>
          <a:lstStyle/>
          <a:p>
            <a:pPr algn="l"/>
            <a:r>
              <a:rPr sz="1000" b="0">
                <a:solidFill>
                  <a:srgbClr val="16191F"/>
                </a:solidFill>
                <a:latin typeface="Calibri"/>
              </a:rPr>
              <a:t>Engine B cold-starts an idle session and pays a Gateway hop per tool call.</a:t>
            </a:r>
          </a:p>
        </p:txBody>
      </p:sp>
      <p:sp>
        <p:nvSpPr>
          <p:cNvPr id="80" name="Rounded Rectangle 79"/>
          <p:cNvSpPr/>
          <p:nvPr/>
        </p:nvSpPr>
        <p:spPr>
          <a:xfrm>
            <a:off x="10661904" y="5532120"/>
            <a:ext cx="969264" cy="219456"/>
          </a:xfrm>
          <a:prstGeom prst="roundRect">
            <a:avLst>
              <a:gd name="adj" fmla="val 50000"/>
            </a:avLst>
          </a:prstGeom>
          <a:solidFill>
            <a:srgbClr val="232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0661904" y="5532120"/>
            <a:ext cx="969264" cy="219456"/>
          </a:xfrm>
          <a:prstGeom prst="rect">
            <a:avLst/>
          </a:prstGeom>
          <a:noFill/>
        </p:spPr>
        <p:txBody>
          <a:bodyPr wrap="square" lIns="0" rIns="0" tIns="0" bIns="0" anchor="ctr">
            <a:spAutoFit/>
          </a:bodyPr>
          <a:lstStyle/>
          <a:p>
            <a:pPr algn="ctr"/>
            <a:r>
              <a:rPr sz="800" b="1">
                <a:solidFill>
                  <a:srgbClr val="FFFFFF"/>
                </a:solidFill>
                <a:latin typeface="Calibri"/>
              </a:rPr>
              <a:t>GLUE CODE</a:t>
            </a:r>
          </a:p>
        </p:txBody>
      </p:sp>
      <p:sp>
        <p:nvSpPr>
          <p:cNvPr id="82" name="Rounded Rectangle 81"/>
          <p:cNvSpPr/>
          <p:nvPr/>
        </p:nvSpPr>
        <p:spPr>
          <a:xfrm>
            <a:off x="566928" y="6016752"/>
            <a:ext cx="11064240" cy="384048"/>
          </a:xfrm>
          <a:prstGeom prst="roundRect">
            <a:avLst>
              <a:gd name="adj" fmla="val 23809"/>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749808" y="6016752"/>
            <a:ext cx="10698480" cy="384048"/>
          </a:xfrm>
          <a:prstGeom prst="rect">
            <a:avLst/>
          </a:prstGeom>
          <a:noFill/>
        </p:spPr>
        <p:txBody>
          <a:bodyPr wrap="square" lIns="0" rIns="0" tIns="0" bIns="0" anchor="ctr">
            <a:spAutoFit/>
          </a:bodyPr>
          <a:lstStyle/>
          <a:p>
            <a:pPr algn="l"/>
            <a:r>
              <a:rPr sz="1150" b="1">
                <a:solidFill>
                  <a:srgbClr val="232F3E"/>
                </a:solidFill>
                <a:latin typeface="Calibri"/>
              </a:rPr>
              <a:t>4–2 to AgentCore — and the two it loses are the honest half. Latency stays on this slide: it does not change the decision.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02920" y="365760"/>
            <a:ext cx="594360" cy="594360"/>
          </a:xfrm>
          <a:prstGeom prst="ellipse">
            <a:avLst/>
          </a:prstGeom>
          <a:solidFill>
            <a:srgbClr val="232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65760"/>
            <a:ext cx="594360" cy="594360"/>
          </a:xfrm>
          <a:prstGeom prst="rect">
            <a:avLst/>
          </a:prstGeom>
          <a:noFill/>
        </p:spPr>
        <p:txBody>
          <a:bodyPr wrap="square" lIns="0" rIns="0" tIns="0" bIns="0" anchor="ctr">
            <a:spAutoFit/>
          </a:bodyPr>
          <a:lstStyle/>
          <a:p>
            <a:pPr algn="ctr"/>
            <a:r>
              <a:rPr sz="2600" b="1">
                <a:solidFill>
                  <a:srgbClr val="FF9900"/>
                </a:solidFill>
                <a:latin typeface="Calibri"/>
              </a:rPr>
              <a:t>6</a:t>
            </a:r>
          </a:p>
        </p:txBody>
      </p:sp>
      <p:sp>
        <p:nvSpPr>
          <p:cNvPr id="5" name="TextBox 4"/>
          <p:cNvSpPr txBox="1"/>
          <p:nvPr/>
        </p:nvSpPr>
        <p:spPr>
          <a:xfrm>
            <a:off x="502920" y="6446520"/>
            <a:ext cx="8229600" cy="320040"/>
          </a:xfrm>
          <a:prstGeom prst="rect">
            <a:avLst/>
          </a:prstGeom>
          <a:noFill/>
        </p:spPr>
        <p:txBody>
          <a:bodyPr wrap="square" lIns="0" rIns="0" tIns="0" bIns="0" anchor="ctr">
            <a:spAutoFit/>
          </a:bodyPr>
          <a:lstStyle/>
          <a:p>
            <a:pPr algn="l"/>
            <a:r>
              <a:rPr sz="1000" b="1">
                <a:solidFill>
                  <a:srgbClr val="545B64"/>
                </a:solidFill>
                <a:latin typeface="Calibri"/>
              </a:rPr>
              <a:t>VALENTIN   ·   GenAI TFC Capstone Deep-Dive</a:t>
            </a:r>
          </a:p>
        </p:txBody>
      </p:sp>
      <p:sp>
        <p:nvSpPr>
          <p:cNvPr id="6" name="TextBox 5"/>
          <p:cNvSpPr txBox="1"/>
          <p:nvPr/>
        </p:nvSpPr>
        <p:spPr>
          <a:xfrm>
            <a:off x="10332720" y="6446520"/>
            <a:ext cx="1371600" cy="320040"/>
          </a:xfrm>
          <a:prstGeom prst="rect">
            <a:avLst/>
          </a:prstGeom>
          <a:noFill/>
        </p:spPr>
        <p:txBody>
          <a:bodyPr wrap="square" lIns="0" rIns="0" tIns="0" bIns="0" anchor="ctr">
            <a:spAutoFit/>
          </a:bodyPr>
          <a:lstStyle/>
          <a:p>
            <a:pPr algn="r"/>
            <a:r>
              <a:rPr sz="1000" b="0">
                <a:solidFill>
                  <a:srgbClr val="545B64"/>
                </a:solidFill>
                <a:latin typeface="Calibri"/>
              </a:rPr>
              <a:t>7 / 17</a:t>
            </a:r>
          </a:p>
        </p:txBody>
      </p:sp>
      <p:sp>
        <p:nvSpPr>
          <p:cNvPr id="7" name="TextBox 6"/>
          <p:cNvSpPr txBox="1"/>
          <p:nvPr/>
        </p:nvSpPr>
        <p:spPr>
          <a:xfrm>
            <a:off x="1280160" y="365760"/>
            <a:ext cx="10058400" cy="594360"/>
          </a:xfrm>
          <a:prstGeom prst="rect">
            <a:avLst/>
          </a:prstGeom>
          <a:noFill/>
        </p:spPr>
        <p:txBody>
          <a:bodyPr wrap="square" lIns="0" rIns="0" tIns="0" bIns="0" anchor="ctr">
            <a:spAutoFit/>
          </a:bodyPr>
          <a:lstStyle/>
          <a:p>
            <a:pPr algn="l"/>
            <a:r>
              <a:rPr sz="3000" b="1">
                <a:solidFill>
                  <a:srgbClr val="232F3E"/>
                </a:solidFill>
                <a:latin typeface="Calibri"/>
              </a:rPr>
              <a:t>Cost — every component on the bill</a:t>
            </a:r>
          </a:p>
        </p:txBody>
      </p:sp>
      <p:sp>
        <p:nvSpPr>
          <p:cNvPr id="8" name="Rectangle 7"/>
          <p:cNvSpPr/>
          <p:nvPr/>
        </p:nvSpPr>
        <p:spPr>
          <a:xfrm>
            <a:off x="502920" y="1051560"/>
            <a:ext cx="1371600" cy="36576"/>
          </a:xfrm>
          <a:prstGeom prst="rect">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280160"/>
            <a:ext cx="11155680" cy="384048"/>
          </a:xfrm>
          <a:prstGeom prst="rect">
            <a:avLst/>
          </a:prstGeom>
          <a:noFill/>
        </p:spPr>
        <p:txBody>
          <a:bodyPr wrap="square" lIns="0" rIns="0" tIns="0" bIns="0" anchor="t">
            <a:spAutoFit/>
          </a:bodyPr>
          <a:lstStyle/>
          <a:p>
            <a:pPr algn="l"/>
            <a:r>
              <a:rPr sz="1400" b="0">
                <a:solidFill>
                  <a:srgbClr val="545B64"/>
                </a:solidFill>
                <a:latin typeface="Calibri"/>
              </a:rPr>
              <a:t>What each engine costs at one user, before the identical Bedrock reply call.</a:t>
            </a:r>
          </a:p>
        </p:txBody>
      </p:sp>
      <p:sp>
        <p:nvSpPr>
          <p:cNvPr id="10" name="Rounded Rectangle 9"/>
          <p:cNvSpPr/>
          <p:nvPr/>
        </p:nvSpPr>
        <p:spPr>
          <a:xfrm>
            <a:off x="566928" y="1755648"/>
            <a:ext cx="2670048" cy="384048"/>
          </a:xfrm>
          <a:prstGeom prst="roundRect">
            <a:avLst>
              <a:gd name="adj" fmla="val 50000"/>
            </a:avLst>
          </a:prstGeom>
          <a:solidFill>
            <a:srgbClr val="232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68096" y="1897379"/>
            <a:ext cx="100584" cy="100584"/>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9264" y="1755648"/>
            <a:ext cx="2157984" cy="384048"/>
          </a:xfrm>
          <a:prstGeom prst="rect">
            <a:avLst/>
          </a:prstGeom>
          <a:noFill/>
        </p:spPr>
        <p:txBody>
          <a:bodyPr wrap="square" lIns="0" rIns="0" tIns="0" bIns="0" anchor="ctr">
            <a:spAutoFit/>
          </a:bodyPr>
          <a:lstStyle/>
          <a:p>
            <a:pPr algn="l"/>
            <a:r>
              <a:rPr sz="1150" b="1">
                <a:solidFill>
                  <a:srgbClr val="FFFFFF"/>
                </a:solidFill>
                <a:latin typeface="Calibri"/>
              </a:rPr>
              <a:t>AgentCore Runtime</a:t>
            </a:r>
          </a:p>
        </p:txBody>
      </p:sp>
      <p:sp>
        <p:nvSpPr>
          <p:cNvPr id="13" name="Rounded Rectangle 12"/>
          <p:cNvSpPr/>
          <p:nvPr/>
        </p:nvSpPr>
        <p:spPr>
          <a:xfrm>
            <a:off x="3364992" y="1755648"/>
            <a:ext cx="2670048" cy="384048"/>
          </a:xfrm>
          <a:prstGeom prst="roundRect">
            <a:avLst>
              <a:gd name="adj" fmla="val 50000"/>
            </a:avLst>
          </a:prstGeom>
          <a:solidFill>
            <a:srgbClr val="232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566160" y="1897379"/>
            <a:ext cx="100584" cy="100584"/>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767328" y="1755648"/>
            <a:ext cx="2157984" cy="384048"/>
          </a:xfrm>
          <a:prstGeom prst="rect">
            <a:avLst/>
          </a:prstGeom>
          <a:noFill/>
        </p:spPr>
        <p:txBody>
          <a:bodyPr wrap="square" lIns="0" rIns="0" tIns="0" bIns="0" anchor="ctr">
            <a:spAutoFit/>
          </a:bodyPr>
          <a:lstStyle/>
          <a:p>
            <a:pPr algn="l"/>
            <a:r>
              <a:rPr sz="1150" b="1">
                <a:solidFill>
                  <a:srgbClr val="FFFFFF"/>
                </a:solidFill>
                <a:latin typeface="Calibri"/>
              </a:rPr>
              <a:t>AgentCore Memory</a:t>
            </a:r>
          </a:p>
        </p:txBody>
      </p:sp>
      <p:sp>
        <p:nvSpPr>
          <p:cNvPr id="16" name="Rounded Rectangle 15"/>
          <p:cNvSpPr/>
          <p:nvPr/>
        </p:nvSpPr>
        <p:spPr>
          <a:xfrm>
            <a:off x="6163056" y="1755648"/>
            <a:ext cx="2670048" cy="384048"/>
          </a:xfrm>
          <a:prstGeom prst="roundRect">
            <a:avLst>
              <a:gd name="adj" fmla="val 50000"/>
            </a:avLst>
          </a:prstGeom>
          <a:solidFill>
            <a:srgbClr val="232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364224" y="1897379"/>
            <a:ext cx="100584" cy="100584"/>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65392" y="1755648"/>
            <a:ext cx="2157984" cy="384048"/>
          </a:xfrm>
          <a:prstGeom prst="rect">
            <a:avLst/>
          </a:prstGeom>
          <a:noFill/>
        </p:spPr>
        <p:txBody>
          <a:bodyPr wrap="square" lIns="0" rIns="0" tIns="0" bIns="0" anchor="ctr">
            <a:spAutoFit/>
          </a:bodyPr>
          <a:lstStyle/>
          <a:p>
            <a:pPr algn="l"/>
            <a:r>
              <a:rPr sz="1150" b="1">
                <a:solidFill>
                  <a:srgbClr val="FFFFFF"/>
                </a:solidFill>
                <a:latin typeface="Calibri"/>
              </a:rPr>
              <a:t>AgentCore Gateway</a:t>
            </a:r>
          </a:p>
        </p:txBody>
      </p:sp>
      <p:sp>
        <p:nvSpPr>
          <p:cNvPr id="19" name="Rounded Rectangle 18"/>
          <p:cNvSpPr/>
          <p:nvPr/>
        </p:nvSpPr>
        <p:spPr>
          <a:xfrm>
            <a:off x="8961119" y="1755648"/>
            <a:ext cx="2670048" cy="384048"/>
          </a:xfrm>
          <a:prstGeom prst="roundRect">
            <a:avLst>
              <a:gd name="adj" fmla="val 50000"/>
            </a:avLst>
          </a:prstGeom>
          <a:solidFill>
            <a:srgbClr val="232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9162288" y="1897379"/>
            <a:ext cx="100584" cy="100584"/>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363455" y="1755648"/>
            <a:ext cx="2157984" cy="384048"/>
          </a:xfrm>
          <a:prstGeom prst="rect">
            <a:avLst/>
          </a:prstGeom>
          <a:noFill/>
        </p:spPr>
        <p:txBody>
          <a:bodyPr wrap="square" lIns="0" rIns="0" tIns="0" bIns="0" anchor="ctr">
            <a:spAutoFit/>
          </a:bodyPr>
          <a:lstStyle/>
          <a:p>
            <a:pPr algn="l"/>
            <a:r>
              <a:rPr sz="1150" b="1">
                <a:solidFill>
                  <a:srgbClr val="FFFFFF"/>
                </a:solidFill>
                <a:latin typeface="Calibri"/>
              </a:rPr>
              <a:t>AgentCore Observability</a:t>
            </a:r>
          </a:p>
        </p:txBody>
      </p:sp>
      <p:sp>
        <p:nvSpPr>
          <p:cNvPr id="22" name="Rounded Rectangle 21"/>
          <p:cNvSpPr/>
          <p:nvPr/>
        </p:nvSpPr>
        <p:spPr>
          <a:xfrm>
            <a:off x="566928" y="2395728"/>
            <a:ext cx="5394960" cy="3017520"/>
          </a:xfrm>
          <a:prstGeom prst="roundRect">
            <a:avLst>
              <a:gd name="adj" fmla="val 1818"/>
            </a:avLst>
          </a:prstGeom>
          <a:solidFill>
            <a:srgbClr val="F7F8FA"/>
          </a:solidFill>
          <a:ln w="12700">
            <a:solidFill>
              <a:srgbClr val="E4E7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66928" y="2395728"/>
            <a:ext cx="5394960" cy="420624"/>
          </a:xfrm>
          <a:prstGeom prst="rect">
            <a:avLst/>
          </a:prstGeom>
          <a:solidFill>
            <a:srgbClr val="545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8096" y="2395728"/>
            <a:ext cx="4992624" cy="420624"/>
          </a:xfrm>
          <a:prstGeom prst="rect">
            <a:avLst/>
          </a:prstGeom>
          <a:noFill/>
        </p:spPr>
        <p:txBody>
          <a:bodyPr wrap="square" lIns="0" rIns="0" tIns="0" bIns="0" anchor="ctr">
            <a:spAutoFit/>
          </a:bodyPr>
          <a:lstStyle/>
          <a:p>
            <a:pPr algn="l"/>
            <a:r>
              <a:rPr sz="1150" b="1">
                <a:solidFill>
                  <a:srgbClr val="FFFFFF"/>
                </a:solidFill>
                <a:latin typeface="Calibri"/>
              </a:rPr>
              <a:t>ENGINE A · GLUE CODE</a:t>
            </a:r>
          </a:p>
        </p:txBody>
      </p:sp>
      <p:sp>
        <p:nvSpPr>
          <p:cNvPr id="25" name="TextBox 24"/>
          <p:cNvSpPr txBox="1"/>
          <p:nvPr/>
        </p:nvSpPr>
        <p:spPr>
          <a:xfrm>
            <a:off x="768096" y="3017520"/>
            <a:ext cx="4992624" cy="310896"/>
          </a:xfrm>
          <a:prstGeom prst="rect">
            <a:avLst/>
          </a:prstGeom>
          <a:noFill/>
        </p:spPr>
        <p:txBody>
          <a:bodyPr wrap="square" lIns="0" rIns="0" tIns="0" bIns="0" anchor="t">
            <a:spAutoFit/>
          </a:bodyPr>
          <a:lstStyle/>
          <a:p>
            <a:pPr algn="l"/>
            <a:r>
              <a:rPr sz="1300" b="1">
                <a:solidFill>
                  <a:srgbClr val="232F3E"/>
                </a:solidFill>
                <a:latin typeface="Calibri"/>
              </a:rPr>
              <a:t>$18.02 a month before the first turn.</a:t>
            </a:r>
          </a:p>
        </p:txBody>
      </p:sp>
      <p:sp>
        <p:nvSpPr>
          <p:cNvPr id="26" name="TextBox 25"/>
          <p:cNvSpPr txBox="1"/>
          <p:nvPr/>
        </p:nvSpPr>
        <p:spPr>
          <a:xfrm>
            <a:off x="768096" y="3346704"/>
            <a:ext cx="4992624" cy="786384"/>
          </a:xfrm>
          <a:prstGeom prst="rect">
            <a:avLst/>
          </a:prstGeom>
          <a:noFill/>
        </p:spPr>
        <p:txBody>
          <a:bodyPr wrap="square" lIns="0" rIns="0" tIns="0" bIns="0" anchor="t">
            <a:spAutoFit/>
          </a:bodyPr>
          <a:lstStyle/>
          <a:p>
            <a:pPr algn="l"/>
            <a:r>
              <a:rPr sz="1150" b="0">
                <a:solidFill>
                  <a:srgbClr val="16191F"/>
                </a:solidFill>
                <a:latin typeface="Calibri"/>
              </a:rPr>
              <a:t>One Fargate task, 0.5 vCPU, billed 730 h whether anyone talks to Valentin or not.</a:t>
            </a:r>
          </a:p>
        </p:txBody>
      </p:sp>
      <p:sp>
        <p:nvSpPr>
          <p:cNvPr id="27" name="TextBox 26"/>
          <p:cNvSpPr txBox="1"/>
          <p:nvPr/>
        </p:nvSpPr>
        <p:spPr>
          <a:xfrm>
            <a:off x="768096" y="4224528"/>
            <a:ext cx="4992624" cy="310896"/>
          </a:xfrm>
          <a:prstGeom prst="rect">
            <a:avLst/>
          </a:prstGeom>
          <a:noFill/>
        </p:spPr>
        <p:txBody>
          <a:bodyPr wrap="square" lIns="0" rIns="0" tIns="0" bIns="0" anchor="t">
            <a:spAutoFit/>
          </a:bodyPr>
          <a:lstStyle/>
          <a:p>
            <a:pPr algn="l"/>
            <a:r>
              <a:rPr sz="1300" b="1">
                <a:solidFill>
                  <a:srgbClr val="232F3E"/>
                </a:solidFill>
                <a:latin typeface="Calibri"/>
              </a:rPr>
              <a:t>Plus a second model call every turn.</a:t>
            </a:r>
          </a:p>
        </p:txBody>
      </p:sp>
      <p:sp>
        <p:nvSpPr>
          <p:cNvPr id="28" name="TextBox 27"/>
          <p:cNvSpPr txBox="1"/>
          <p:nvPr/>
        </p:nvSpPr>
        <p:spPr>
          <a:xfrm>
            <a:off x="768096" y="4553712"/>
            <a:ext cx="4992624" cy="786384"/>
          </a:xfrm>
          <a:prstGeom prst="rect">
            <a:avLst/>
          </a:prstGeom>
          <a:noFill/>
        </p:spPr>
        <p:txBody>
          <a:bodyPr wrap="square" lIns="0" rIns="0" tIns="0" bIns="0" anchor="t">
            <a:spAutoFit/>
          </a:bodyPr>
          <a:lstStyle/>
          <a:p>
            <a:pPr algn="l"/>
            <a:r>
              <a:rPr sz="1150" b="0">
                <a:solidFill>
                  <a:srgbClr val="16191F"/>
                </a:solidFill>
                <a:latin typeface="Calibri"/>
              </a:rPr>
              <a:t>Preference extraction is its own Bedrock invocation — $1.385 per user per month.</a:t>
            </a:r>
          </a:p>
        </p:txBody>
      </p:sp>
      <p:sp>
        <p:nvSpPr>
          <p:cNvPr id="29" name="Rounded Rectangle 28"/>
          <p:cNvSpPr/>
          <p:nvPr/>
        </p:nvSpPr>
        <p:spPr>
          <a:xfrm>
            <a:off x="6236208" y="2395728"/>
            <a:ext cx="5394960" cy="3017520"/>
          </a:xfrm>
          <a:prstGeom prst="roundRect">
            <a:avLst>
              <a:gd name="adj" fmla="val 1818"/>
            </a:avLst>
          </a:prstGeom>
          <a:solidFill>
            <a:srgbClr val="F7F8FA"/>
          </a:solidFill>
          <a:ln w="12700">
            <a:solidFill>
              <a:srgbClr val="E4E7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236208" y="2395728"/>
            <a:ext cx="5394960" cy="420624"/>
          </a:xfrm>
          <a:prstGeom prst="rect">
            <a:avLst/>
          </a:prstGeom>
          <a:solidFill>
            <a:srgbClr val="232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37376" y="2395728"/>
            <a:ext cx="4992624" cy="420624"/>
          </a:xfrm>
          <a:prstGeom prst="rect">
            <a:avLst/>
          </a:prstGeom>
          <a:noFill/>
        </p:spPr>
        <p:txBody>
          <a:bodyPr wrap="square" lIns="0" rIns="0" tIns="0" bIns="0" anchor="ctr">
            <a:spAutoFit/>
          </a:bodyPr>
          <a:lstStyle/>
          <a:p>
            <a:pPr algn="l"/>
            <a:r>
              <a:rPr sz="1150" b="1">
                <a:solidFill>
                  <a:srgbClr val="FFFFFF"/>
                </a:solidFill>
                <a:latin typeface="Calibri"/>
              </a:rPr>
              <a:t>ENGINE B · AGENTCORE</a:t>
            </a:r>
          </a:p>
        </p:txBody>
      </p:sp>
      <p:sp>
        <p:nvSpPr>
          <p:cNvPr id="32" name="TextBox 31"/>
          <p:cNvSpPr txBox="1"/>
          <p:nvPr/>
        </p:nvSpPr>
        <p:spPr>
          <a:xfrm>
            <a:off x="6437376" y="3017520"/>
            <a:ext cx="4992624" cy="310896"/>
          </a:xfrm>
          <a:prstGeom prst="rect">
            <a:avLst/>
          </a:prstGeom>
          <a:noFill/>
        </p:spPr>
        <p:txBody>
          <a:bodyPr wrap="square" lIns="0" rIns="0" tIns="0" bIns="0" anchor="t">
            <a:spAutoFit/>
          </a:bodyPr>
          <a:lstStyle/>
          <a:p>
            <a:pPr algn="l"/>
            <a:r>
              <a:rPr sz="1300" b="1">
                <a:solidFill>
                  <a:srgbClr val="232F3E"/>
                </a:solidFill>
                <a:latin typeface="Calibri"/>
              </a:rPr>
              <a:t>$0.10 a month, all of it usage.</a:t>
            </a:r>
          </a:p>
        </p:txBody>
      </p:sp>
      <p:sp>
        <p:nvSpPr>
          <p:cNvPr id="33" name="TextBox 32"/>
          <p:cNvSpPr txBox="1"/>
          <p:nvPr/>
        </p:nvSpPr>
        <p:spPr>
          <a:xfrm>
            <a:off x="6437376" y="3346704"/>
            <a:ext cx="4992624" cy="786384"/>
          </a:xfrm>
          <a:prstGeom prst="rect">
            <a:avLst/>
          </a:prstGeom>
          <a:noFill/>
        </p:spPr>
        <p:txBody>
          <a:bodyPr wrap="square" lIns="0" rIns="0" tIns="0" bIns="0" anchor="t">
            <a:spAutoFit/>
          </a:bodyPr>
          <a:lstStyle/>
          <a:p>
            <a:pPr algn="l"/>
            <a:r>
              <a:rPr sz="1150" b="0">
                <a:solidFill>
                  <a:srgbClr val="16191F"/>
                </a:solidFill>
                <a:latin typeface="Calibri"/>
              </a:rPr>
              <a:t>Compute $0.0047 + Memory $0.098 + Gateway $0.0006. The idle floor disappears entirely.</a:t>
            </a:r>
          </a:p>
        </p:txBody>
      </p:sp>
      <p:sp>
        <p:nvSpPr>
          <p:cNvPr id="34" name="TextBox 33"/>
          <p:cNvSpPr txBox="1"/>
          <p:nvPr/>
        </p:nvSpPr>
        <p:spPr>
          <a:xfrm>
            <a:off x="6437376" y="4224528"/>
            <a:ext cx="4992624" cy="310896"/>
          </a:xfrm>
          <a:prstGeom prst="rect">
            <a:avLst/>
          </a:prstGeom>
          <a:noFill/>
        </p:spPr>
        <p:txBody>
          <a:bodyPr wrap="square" lIns="0" rIns="0" tIns="0" bIns="0" anchor="t">
            <a:spAutoFit/>
          </a:bodyPr>
          <a:lstStyle/>
          <a:p>
            <a:pPr algn="l"/>
            <a:r>
              <a:rPr sz="1300" b="1">
                <a:solidFill>
                  <a:srgbClr val="232F3E"/>
                </a:solidFill>
                <a:latin typeface="Calibri"/>
              </a:rPr>
              <a:t>The honest part: unit price is worse.</a:t>
            </a:r>
          </a:p>
        </p:txBody>
      </p:sp>
      <p:sp>
        <p:nvSpPr>
          <p:cNvPr id="35" name="TextBox 34"/>
          <p:cNvSpPr txBox="1"/>
          <p:nvPr/>
        </p:nvSpPr>
        <p:spPr>
          <a:xfrm>
            <a:off x="6437376" y="4553712"/>
            <a:ext cx="4992624" cy="786384"/>
          </a:xfrm>
          <a:prstGeom prst="rect">
            <a:avLst/>
          </a:prstGeom>
          <a:noFill/>
        </p:spPr>
        <p:txBody>
          <a:bodyPr wrap="square" lIns="0" rIns="0" tIns="0" bIns="0" anchor="t">
            <a:spAutoFit/>
          </a:bodyPr>
          <a:lstStyle/>
          <a:p>
            <a:pPr algn="l"/>
            <a:r>
              <a:rPr sz="1150" b="0">
                <a:solidFill>
                  <a:srgbClr val="16191F"/>
                </a:solidFill>
                <a:latin typeface="Calibri"/>
              </a:rPr>
              <a:t>Runtime is 2.20× dearer per vCPU-hour. It wins on billing granularity, and only on that.</a:t>
            </a:r>
          </a:p>
        </p:txBody>
      </p:sp>
      <p:sp>
        <p:nvSpPr>
          <p:cNvPr id="36" name="Rounded Rectangle 35"/>
          <p:cNvSpPr/>
          <p:nvPr/>
        </p:nvSpPr>
        <p:spPr>
          <a:xfrm>
            <a:off x="566928" y="5614416"/>
            <a:ext cx="11064240" cy="566928"/>
          </a:xfrm>
          <a:prstGeom prst="roundRect">
            <a:avLst>
              <a:gd name="adj" fmla="val 16129"/>
            </a:avLst>
          </a:prstGeom>
          <a:solidFill>
            <a:srgbClr val="FFEF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04672" y="5614416"/>
            <a:ext cx="2103120" cy="566928"/>
          </a:xfrm>
          <a:prstGeom prst="rect">
            <a:avLst/>
          </a:prstGeom>
          <a:noFill/>
        </p:spPr>
        <p:txBody>
          <a:bodyPr wrap="square" lIns="0" rIns="0" tIns="0" bIns="0" anchor="ctr">
            <a:spAutoFit/>
          </a:bodyPr>
          <a:lstStyle/>
          <a:p>
            <a:pPr algn="l"/>
            <a:r>
              <a:rPr sz="2400" b="1">
                <a:solidFill>
                  <a:srgbClr val="FF9900"/>
                </a:solidFill>
                <a:latin typeface="Calibri"/>
              </a:rPr>
              <a:t>14×</a:t>
            </a:r>
          </a:p>
        </p:txBody>
      </p:sp>
      <p:sp>
        <p:nvSpPr>
          <p:cNvPr id="38" name="Rounded Rectangle 37"/>
          <p:cNvSpPr/>
          <p:nvPr/>
        </p:nvSpPr>
        <p:spPr>
          <a:xfrm>
            <a:off x="9966960" y="5769864"/>
            <a:ext cx="1426464" cy="256032"/>
          </a:xfrm>
          <a:prstGeom prst="roundRect">
            <a:avLst>
              <a:gd name="adj" fmla="val 46428"/>
            </a:avLst>
          </a:prstGeom>
          <a:solidFill>
            <a:srgbClr val="1E7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966960" y="5769864"/>
            <a:ext cx="1426464" cy="256032"/>
          </a:xfrm>
          <a:prstGeom prst="rect">
            <a:avLst/>
          </a:prstGeom>
          <a:noFill/>
        </p:spPr>
        <p:txBody>
          <a:bodyPr wrap="square" lIns="0" rIns="0" tIns="0" bIns="0" anchor="ctr">
            <a:spAutoFit/>
          </a:bodyPr>
          <a:lstStyle/>
          <a:p>
            <a:pPr algn="ctr"/>
            <a:r>
              <a:rPr sz="900" b="1">
                <a:solidFill>
                  <a:srgbClr val="FFFFFF"/>
                </a:solidFill>
                <a:latin typeface="Calibri"/>
              </a:rPr>
              <a:t>AGENTCORE</a:t>
            </a:r>
          </a:p>
        </p:txBody>
      </p:sp>
      <p:sp>
        <p:nvSpPr>
          <p:cNvPr id="40" name="TextBox 39"/>
          <p:cNvSpPr txBox="1"/>
          <p:nvPr/>
        </p:nvSpPr>
        <p:spPr>
          <a:xfrm>
            <a:off x="3017520" y="5687568"/>
            <a:ext cx="6766560" cy="237744"/>
          </a:xfrm>
          <a:prstGeom prst="rect">
            <a:avLst/>
          </a:prstGeom>
          <a:noFill/>
        </p:spPr>
        <p:txBody>
          <a:bodyPr wrap="square" lIns="0" rIns="0" tIns="0" bIns="0" anchor="ctr">
            <a:spAutoFit/>
          </a:bodyPr>
          <a:lstStyle/>
          <a:p>
            <a:pPr algn="l"/>
            <a:r>
              <a:rPr sz="1200" b="1">
                <a:solidFill>
                  <a:srgbClr val="232F3E"/>
                </a:solidFill>
                <a:latin typeface="Calibri"/>
              </a:rPr>
              <a:t>cheaper per user, per month — the bill is itemised on the next slide</a:t>
            </a:r>
          </a:p>
        </p:txBody>
      </p:sp>
      <p:sp>
        <p:nvSpPr>
          <p:cNvPr id="41" name="TextBox 40"/>
          <p:cNvSpPr txBox="1"/>
          <p:nvPr/>
        </p:nvSpPr>
        <p:spPr>
          <a:xfrm>
            <a:off x="3017520" y="5925312"/>
            <a:ext cx="6766560" cy="219456"/>
          </a:xfrm>
          <a:prstGeom prst="rect">
            <a:avLst/>
          </a:prstGeom>
          <a:noFill/>
        </p:spPr>
        <p:txBody>
          <a:bodyPr wrap="square" lIns="0" rIns="0" tIns="0" bIns="0" anchor="ctr">
            <a:spAutoFit/>
          </a:bodyPr>
          <a:lstStyle/>
          <a:p>
            <a:pPr algn="l"/>
            <a:r>
              <a:rPr sz="950" b="1">
                <a:solidFill>
                  <a:srgbClr val="545B64"/>
                </a:solidFill>
                <a:latin typeface="Calibri"/>
              </a:rPr>
              <a:t>Give up:  </a:t>
            </a:r>
            <a:r>
              <a:rPr sz="950" b="0">
                <a:solidFill>
                  <a:srgbClr val="545B64"/>
                </a:solidFill>
                <a:latin typeface="Calibri"/>
              </a:rPr>
              <a:t>if Memory retrievals meter per record, not per call, this reverses — confirm before quoting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02920" y="365760"/>
            <a:ext cx="594360" cy="594360"/>
          </a:xfrm>
          <a:prstGeom prst="ellipse">
            <a:avLst/>
          </a:prstGeom>
          <a:solidFill>
            <a:srgbClr val="232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65760"/>
            <a:ext cx="594360" cy="594360"/>
          </a:xfrm>
          <a:prstGeom prst="rect">
            <a:avLst/>
          </a:prstGeom>
          <a:noFill/>
        </p:spPr>
        <p:txBody>
          <a:bodyPr wrap="square" lIns="0" rIns="0" tIns="0" bIns="0" anchor="ctr">
            <a:spAutoFit/>
          </a:bodyPr>
          <a:lstStyle/>
          <a:p>
            <a:pPr algn="ctr"/>
            <a:r>
              <a:rPr sz="2600" b="1">
                <a:solidFill>
                  <a:srgbClr val="FF9900"/>
                </a:solidFill>
                <a:latin typeface="Calibri"/>
              </a:rPr>
              <a:t>8</a:t>
            </a:r>
          </a:p>
        </p:txBody>
      </p:sp>
      <p:sp>
        <p:nvSpPr>
          <p:cNvPr id="5" name="TextBox 4"/>
          <p:cNvSpPr txBox="1"/>
          <p:nvPr/>
        </p:nvSpPr>
        <p:spPr>
          <a:xfrm>
            <a:off x="502920" y="6446520"/>
            <a:ext cx="8229600" cy="320040"/>
          </a:xfrm>
          <a:prstGeom prst="rect">
            <a:avLst/>
          </a:prstGeom>
          <a:noFill/>
        </p:spPr>
        <p:txBody>
          <a:bodyPr wrap="square" lIns="0" rIns="0" tIns="0" bIns="0" anchor="ctr">
            <a:spAutoFit/>
          </a:bodyPr>
          <a:lstStyle/>
          <a:p>
            <a:pPr algn="l"/>
            <a:r>
              <a:rPr sz="1000" b="1">
                <a:solidFill>
                  <a:srgbClr val="545B64"/>
                </a:solidFill>
                <a:latin typeface="Calibri"/>
              </a:rPr>
              <a:t>VALENTIN   ·   GenAI TFC Capstone Deep-Dive</a:t>
            </a:r>
          </a:p>
        </p:txBody>
      </p:sp>
      <p:sp>
        <p:nvSpPr>
          <p:cNvPr id="6" name="TextBox 5"/>
          <p:cNvSpPr txBox="1"/>
          <p:nvPr/>
        </p:nvSpPr>
        <p:spPr>
          <a:xfrm>
            <a:off x="10332720" y="6446520"/>
            <a:ext cx="1371600" cy="320040"/>
          </a:xfrm>
          <a:prstGeom prst="rect">
            <a:avLst/>
          </a:prstGeom>
          <a:noFill/>
        </p:spPr>
        <p:txBody>
          <a:bodyPr wrap="square" lIns="0" rIns="0" tIns="0" bIns="0" anchor="ctr">
            <a:spAutoFit/>
          </a:bodyPr>
          <a:lstStyle/>
          <a:p>
            <a:pPr algn="r"/>
            <a:r>
              <a:rPr sz="1000" b="0">
                <a:solidFill>
                  <a:srgbClr val="545B64"/>
                </a:solidFill>
                <a:latin typeface="Calibri"/>
              </a:rPr>
              <a:t>9 / 17</a:t>
            </a:r>
          </a:p>
        </p:txBody>
      </p:sp>
      <p:sp>
        <p:nvSpPr>
          <p:cNvPr id="7" name="TextBox 6"/>
          <p:cNvSpPr txBox="1"/>
          <p:nvPr/>
        </p:nvSpPr>
        <p:spPr>
          <a:xfrm>
            <a:off x="1280160" y="365760"/>
            <a:ext cx="10058400" cy="594360"/>
          </a:xfrm>
          <a:prstGeom prst="rect">
            <a:avLst/>
          </a:prstGeom>
          <a:noFill/>
        </p:spPr>
        <p:txBody>
          <a:bodyPr wrap="square" lIns="0" rIns="0" tIns="0" bIns="0" anchor="ctr">
            <a:spAutoFit/>
          </a:bodyPr>
          <a:lstStyle/>
          <a:p>
            <a:pPr algn="l"/>
            <a:r>
              <a:rPr sz="3000" b="1">
                <a:solidFill>
                  <a:srgbClr val="232F3E"/>
                </a:solidFill>
                <a:latin typeface="Calibri"/>
              </a:rPr>
              <a:t>Resilience — what one fault takes down</a:t>
            </a:r>
          </a:p>
        </p:txBody>
      </p:sp>
      <p:sp>
        <p:nvSpPr>
          <p:cNvPr id="8" name="Rectangle 7"/>
          <p:cNvSpPr/>
          <p:nvPr/>
        </p:nvSpPr>
        <p:spPr>
          <a:xfrm>
            <a:off x="502920" y="1051560"/>
            <a:ext cx="1371600" cy="36576"/>
          </a:xfrm>
          <a:prstGeom prst="rect">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280160"/>
            <a:ext cx="11155680" cy="384048"/>
          </a:xfrm>
          <a:prstGeom prst="rect">
            <a:avLst/>
          </a:prstGeom>
          <a:noFill/>
        </p:spPr>
        <p:txBody>
          <a:bodyPr wrap="square" lIns="0" rIns="0" tIns="0" bIns="0" anchor="t">
            <a:spAutoFit/>
          </a:bodyPr>
          <a:lstStyle/>
          <a:p>
            <a:pPr algn="l"/>
            <a:r>
              <a:rPr sz="1400" b="0">
                <a:solidFill>
                  <a:srgbClr val="545B64"/>
                </a:solidFill>
                <a:latin typeface="Calibri"/>
              </a:rPr>
              <a:t>The blast radius of a crash, in each engine.</a:t>
            </a:r>
          </a:p>
        </p:txBody>
      </p:sp>
      <p:sp>
        <p:nvSpPr>
          <p:cNvPr id="10" name="Rounded Rectangle 9"/>
          <p:cNvSpPr/>
          <p:nvPr/>
        </p:nvSpPr>
        <p:spPr>
          <a:xfrm>
            <a:off x="566928" y="1755648"/>
            <a:ext cx="2670048" cy="384048"/>
          </a:xfrm>
          <a:prstGeom prst="roundRect">
            <a:avLst>
              <a:gd name="adj" fmla="val 50000"/>
            </a:avLst>
          </a:prstGeom>
          <a:solidFill>
            <a:srgbClr val="232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68096" y="1897379"/>
            <a:ext cx="100584" cy="100584"/>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9264" y="1755648"/>
            <a:ext cx="2157984" cy="384048"/>
          </a:xfrm>
          <a:prstGeom prst="rect">
            <a:avLst/>
          </a:prstGeom>
          <a:noFill/>
        </p:spPr>
        <p:txBody>
          <a:bodyPr wrap="square" lIns="0" rIns="0" tIns="0" bIns="0" anchor="ctr">
            <a:spAutoFit/>
          </a:bodyPr>
          <a:lstStyle/>
          <a:p>
            <a:pPr algn="l"/>
            <a:r>
              <a:rPr sz="1150" b="1">
                <a:solidFill>
                  <a:srgbClr val="FFFFFF"/>
                </a:solidFill>
                <a:latin typeface="Calibri"/>
              </a:rPr>
              <a:t>AgentCore Runtime</a:t>
            </a:r>
          </a:p>
        </p:txBody>
      </p:sp>
      <p:sp>
        <p:nvSpPr>
          <p:cNvPr id="13" name="Rounded Rectangle 12"/>
          <p:cNvSpPr/>
          <p:nvPr/>
        </p:nvSpPr>
        <p:spPr>
          <a:xfrm>
            <a:off x="3364992" y="1755648"/>
            <a:ext cx="2670048" cy="384048"/>
          </a:xfrm>
          <a:prstGeom prst="roundRect">
            <a:avLst>
              <a:gd name="adj" fmla="val 50000"/>
            </a:avLst>
          </a:prstGeom>
          <a:noFill/>
          <a:ln w="12700">
            <a:solidFill>
              <a:srgbClr val="E4E7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67328" y="1755648"/>
            <a:ext cx="2157984" cy="384048"/>
          </a:xfrm>
          <a:prstGeom prst="rect">
            <a:avLst/>
          </a:prstGeom>
          <a:noFill/>
        </p:spPr>
        <p:txBody>
          <a:bodyPr wrap="square" lIns="0" rIns="0" tIns="0" bIns="0" anchor="ctr">
            <a:spAutoFit/>
          </a:bodyPr>
          <a:lstStyle/>
          <a:p>
            <a:pPr algn="l"/>
            <a:r>
              <a:rPr sz="1150" b="0">
                <a:solidFill>
                  <a:srgbClr val="A6B0BA"/>
                </a:solidFill>
                <a:latin typeface="Calibri"/>
              </a:rPr>
              <a:t>AgentCore Memory</a:t>
            </a:r>
          </a:p>
        </p:txBody>
      </p:sp>
      <p:sp>
        <p:nvSpPr>
          <p:cNvPr id="15" name="Rounded Rectangle 14"/>
          <p:cNvSpPr/>
          <p:nvPr/>
        </p:nvSpPr>
        <p:spPr>
          <a:xfrm>
            <a:off x="6163056" y="1755648"/>
            <a:ext cx="2670048" cy="384048"/>
          </a:xfrm>
          <a:prstGeom prst="roundRect">
            <a:avLst>
              <a:gd name="adj" fmla="val 50000"/>
            </a:avLst>
          </a:prstGeom>
          <a:solidFill>
            <a:srgbClr val="232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364224" y="1897379"/>
            <a:ext cx="100584" cy="100584"/>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65392" y="1755648"/>
            <a:ext cx="2157984" cy="384048"/>
          </a:xfrm>
          <a:prstGeom prst="rect">
            <a:avLst/>
          </a:prstGeom>
          <a:noFill/>
        </p:spPr>
        <p:txBody>
          <a:bodyPr wrap="square" lIns="0" rIns="0" tIns="0" bIns="0" anchor="ctr">
            <a:spAutoFit/>
          </a:bodyPr>
          <a:lstStyle/>
          <a:p>
            <a:pPr algn="l"/>
            <a:r>
              <a:rPr sz="1150" b="1">
                <a:solidFill>
                  <a:srgbClr val="FFFFFF"/>
                </a:solidFill>
                <a:latin typeface="Calibri"/>
              </a:rPr>
              <a:t>AgentCore Gateway</a:t>
            </a:r>
          </a:p>
        </p:txBody>
      </p:sp>
      <p:sp>
        <p:nvSpPr>
          <p:cNvPr id="18" name="Rounded Rectangle 17"/>
          <p:cNvSpPr/>
          <p:nvPr/>
        </p:nvSpPr>
        <p:spPr>
          <a:xfrm>
            <a:off x="8961119" y="1755648"/>
            <a:ext cx="2670048" cy="384048"/>
          </a:xfrm>
          <a:prstGeom prst="roundRect">
            <a:avLst>
              <a:gd name="adj" fmla="val 50000"/>
            </a:avLst>
          </a:prstGeom>
          <a:noFill/>
          <a:ln w="12700">
            <a:solidFill>
              <a:srgbClr val="E4E7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63455" y="1755648"/>
            <a:ext cx="2157984" cy="384048"/>
          </a:xfrm>
          <a:prstGeom prst="rect">
            <a:avLst/>
          </a:prstGeom>
          <a:noFill/>
        </p:spPr>
        <p:txBody>
          <a:bodyPr wrap="square" lIns="0" rIns="0" tIns="0" bIns="0" anchor="ctr">
            <a:spAutoFit/>
          </a:bodyPr>
          <a:lstStyle/>
          <a:p>
            <a:pPr algn="l"/>
            <a:r>
              <a:rPr sz="1150" b="0">
                <a:solidFill>
                  <a:srgbClr val="A6B0BA"/>
                </a:solidFill>
                <a:latin typeface="Calibri"/>
              </a:rPr>
              <a:t>AgentCore Observability</a:t>
            </a:r>
          </a:p>
        </p:txBody>
      </p:sp>
      <p:sp>
        <p:nvSpPr>
          <p:cNvPr id="20" name="Rounded Rectangle 19"/>
          <p:cNvSpPr/>
          <p:nvPr/>
        </p:nvSpPr>
        <p:spPr>
          <a:xfrm>
            <a:off x="566928" y="2395728"/>
            <a:ext cx="5394960" cy="3017520"/>
          </a:xfrm>
          <a:prstGeom prst="roundRect">
            <a:avLst>
              <a:gd name="adj" fmla="val 1818"/>
            </a:avLst>
          </a:prstGeom>
          <a:solidFill>
            <a:srgbClr val="F7F8FA"/>
          </a:solidFill>
          <a:ln w="12700">
            <a:solidFill>
              <a:srgbClr val="E4E7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66928" y="2395728"/>
            <a:ext cx="5394960" cy="420624"/>
          </a:xfrm>
          <a:prstGeom prst="rect">
            <a:avLst/>
          </a:prstGeom>
          <a:solidFill>
            <a:srgbClr val="545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68096" y="2395728"/>
            <a:ext cx="4992624" cy="420624"/>
          </a:xfrm>
          <a:prstGeom prst="rect">
            <a:avLst/>
          </a:prstGeom>
          <a:noFill/>
        </p:spPr>
        <p:txBody>
          <a:bodyPr wrap="square" lIns="0" rIns="0" tIns="0" bIns="0" anchor="ctr">
            <a:spAutoFit/>
          </a:bodyPr>
          <a:lstStyle/>
          <a:p>
            <a:pPr algn="l"/>
            <a:r>
              <a:rPr sz="1150" b="1">
                <a:solidFill>
                  <a:srgbClr val="FFFFFF"/>
                </a:solidFill>
                <a:latin typeface="Calibri"/>
              </a:rPr>
              <a:t>ENGINE A · GLUE CODE</a:t>
            </a:r>
          </a:p>
        </p:txBody>
      </p:sp>
      <p:sp>
        <p:nvSpPr>
          <p:cNvPr id="23" name="TextBox 22"/>
          <p:cNvSpPr txBox="1"/>
          <p:nvPr/>
        </p:nvSpPr>
        <p:spPr>
          <a:xfrm>
            <a:off x="768096" y="3017520"/>
            <a:ext cx="4992624" cy="310896"/>
          </a:xfrm>
          <a:prstGeom prst="rect">
            <a:avLst/>
          </a:prstGeom>
          <a:noFill/>
        </p:spPr>
        <p:txBody>
          <a:bodyPr wrap="square" lIns="0" rIns="0" tIns="0" bIns="0" anchor="t">
            <a:spAutoFit/>
          </a:bodyPr>
          <a:lstStyle/>
          <a:p>
            <a:pPr algn="l"/>
            <a:r>
              <a:rPr sz="1300" b="1">
                <a:solidFill>
                  <a:srgbClr val="232F3E"/>
                </a:solidFill>
                <a:latin typeface="Calibri"/>
              </a:rPr>
              <a:t>Forty sessions, one Node process.</a:t>
            </a:r>
          </a:p>
        </p:txBody>
      </p:sp>
      <p:sp>
        <p:nvSpPr>
          <p:cNvPr id="24" name="TextBox 23"/>
          <p:cNvSpPr txBox="1"/>
          <p:nvPr/>
        </p:nvSpPr>
        <p:spPr>
          <a:xfrm>
            <a:off x="768096" y="3346704"/>
            <a:ext cx="4992624" cy="786384"/>
          </a:xfrm>
          <a:prstGeom prst="rect">
            <a:avLst/>
          </a:prstGeom>
          <a:noFill/>
        </p:spPr>
        <p:txBody>
          <a:bodyPr wrap="square" lIns="0" rIns="0" tIns="0" bIns="0" anchor="t">
            <a:spAutoFit/>
          </a:bodyPr>
          <a:lstStyle/>
          <a:p>
            <a:pPr algn="l"/>
            <a:r>
              <a:rPr sz="1150" b="0">
                <a:solidFill>
                  <a:srgbClr val="16191F"/>
                </a:solidFill>
                <a:latin typeface="Calibri"/>
              </a:rPr>
              <a:t>One heap, one event loop, one crash — a fault anywhere travels everywhere.</a:t>
            </a:r>
          </a:p>
        </p:txBody>
      </p:sp>
      <p:sp>
        <p:nvSpPr>
          <p:cNvPr id="25" name="TextBox 24"/>
          <p:cNvSpPr txBox="1"/>
          <p:nvPr/>
        </p:nvSpPr>
        <p:spPr>
          <a:xfrm>
            <a:off x="768096" y="4224528"/>
            <a:ext cx="4992624" cy="310896"/>
          </a:xfrm>
          <a:prstGeom prst="rect">
            <a:avLst/>
          </a:prstGeom>
          <a:noFill/>
        </p:spPr>
        <p:txBody>
          <a:bodyPr wrap="square" lIns="0" rIns="0" tIns="0" bIns="0" anchor="t">
            <a:spAutoFit/>
          </a:bodyPr>
          <a:lstStyle/>
          <a:p>
            <a:pPr algn="l"/>
            <a:r>
              <a:rPr sz="1300" b="1">
                <a:solidFill>
                  <a:srgbClr val="232F3E"/>
                </a:solidFill>
                <a:latin typeface="Calibri"/>
              </a:rPr>
              <a:t>Tools crash in-process too.</a:t>
            </a:r>
          </a:p>
        </p:txBody>
      </p:sp>
      <p:sp>
        <p:nvSpPr>
          <p:cNvPr id="26" name="TextBox 25"/>
          <p:cNvSpPr txBox="1"/>
          <p:nvPr/>
        </p:nvSpPr>
        <p:spPr>
          <a:xfrm>
            <a:off x="768096" y="4553712"/>
            <a:ext cx="4992624" cy="786384"/>
          </a:xfrm>
          <a:prstGeom prst="rect">
            <a:avLst/>
          </a:prstGeom>
          <a:noFill/>
        </p:spPr>
        <p:txBody>
          <a:bodyPr wrap="square" lIns="0" rIns="0" tIns="0" bIns="0" anchor="t">
            <a:spAutoFit/>
          </a:bodyPr>
          <a:lstStyle/>
          <a:p>
            <a:pPr algn="l"/>
            <a:r>
              <a:rPr sz="1150" b="0">
                <a:solidFill>
                  <a:srgbClr val="16191F"/>
                </a:solidFill>
                <a:latin typeface="Calibri"/>
              </a:rPr>
              <a:t>A misbehaving integration takes the whole agent with it, mid-conversation.</a:t>
            </a:r>
          </a:p>
        </p:txBody>
      </p:sp>
      <p:sp>
        <p:nvSpPr>
          <p:cNvPr id="27" name="Rounded Rectangle 26"/>
          <p:cNvSpPr/>
          <p:nvPr/>
        </p:nvSpPr>
        <p:spPr>
          <a:xfrm>
            <a:off x="6236208" y="2395728"/>
            <a:ext cx="5394960" cy="3017520"/>
          </a:xfrm>
          <a:prstGeom prst="roundRect">
            <a:avLst>
              <a:gd name="adj" fmla="val 1818"/>
            </a:avLst>
          </a:prstGeom>
          <a:solidFill>
            <a:srgbClr val="F7F8FA"/>
          </a:solidFill>
          <a:ln w="12700">
            <a:solidFill>
              <a:srgbClr val="E4E7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36208" y="2395728"/>
            <a:ext cx="5394960" cy="420624"/>
          </a:xfrm>
          <a:prstGeom prst="rect">
            <a:avLst/>
          </a:prstGeom>
          <a:solidFill>
            <a:srgbClr val="232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37376" y="2395728"/>
            <a:ext cx="4992624" cy="420624"/>
          </a:xfrm>
          <a:prstGeom prst="rect">
            <a:avLst/>
          </a:prstGeom>
          <a:noFill/>
        </p:spPr>
        <p:txBody>
          <a:bodyPr wrap="square" lIns="0" rIns="0" tIns="0" bIns="0" anchor="ctr">
            <a:spAutoFit/>
          </a:bodyPr>
          <a:lstStyle/>
          <a:p>
            <a:pPr algn="l"/>
            <a:r>
              <a:rPr sz="1150" b="1">
                <a:solidFill>
                  <a:srgbClr val="FFFFFF"/>
                </a:solidFill>
                <a:latin typeface="Calibri"/>
              </a:rPr>
              <a:t>ENGINE B · AGENTCORE</a:t>
            </a:r>
          </a:p>
        </p:txBody>
      </p:sp>
      <p:sp>
        <p:nvSpPr>
          <p:cNvPr id="30" name="TextBox 29"/>
          <p:cNvSpPr txBox="1"/>
          <p:nvPr/>
        </p:nvSpPr>
        <p:spPr>
          <a:xfrm>
            <a:off x="6437376" y="3017520"/>
            <a:ext cx="4992624" cy="310896"/>
          </a:xfrm>
          <a:prstGeom prst="rect">
            <a:avLst/>
          </a:prstGeom>
          <a:noFill/>
        </p:spPr>
        <p:txBody>
          <a:bodyPr wrap="square" lIns="0" rIns="0" tIns="0" bIns="0" anchor="t">
            <a:spAutoFit/>
          </a:bodyPr>
          <a:lstStyle/>
          <a:p>
            <a:pPr algn="l"/>
            <a:r>
              <a:rPr sz="1300" b="1">
                <a:solidFill>
                  <a:srgbClr val="232F3E"/>
                </a:solidFill>
                <a:latin typeface="Calibri"/>
              </a:rPr>
              <a:t>One microVM per session.</a:t>
            </a:r>
          </a:p>
        </p:txBody>
      </p:sp>
      <p:sp>
        <p:nvSpPr>
          <p:cNvPr id="31" name="TextBox 30"/>
          <p:cNvSpPr txBox="1"/>
          <p:nvPr/>
        </p:nvSpPr>
        <p:spPr>
          <a:xfrm>
            <a:off x="6437376" y="3346704"/>
            <a:ext cx="4992624" cy="786384"/>
          </a:xfrm>
          <a:prstGeom prst="rect">
            <a:avLst/>
          </a:prstGeom>
          <a:noFill/>
        </p:spPr>
        <p:txBody>
          <a:bodyPr wrap="square" lIns="0" rIns="0" tIns="0" bIns="0" anchor="t">
            <a:spAutoFit/>
          </a:bodyPr>
          <a:lstStyle/>
          <a:p>
            <a:pPr algn="l"/>
            <a:r>
              <a:rPr sz="1150" b="0">
                <a:solidFill>
                  <a:srgbClr val="16191F"/>
                </a:solidFill>
                <a:latin typeface="Calibri"/>
              </a:rPr>
              <a:t>A process-level fault has nowhere to travel; thirty-nine conversations never notice.</a:t>
            </a:r>
          </a:p>
        </p:txBody>
      </p:sp>
      <p:sp>
        <p:nvSpPr>
          <p:cNvPr id="32" name="TextBox 31"/>
          <p:cNvSpPr txBox="1"/>
          <p:nvPr/>
        </p:nvSpPr>
        <p:spPr>
          <a:xfrm>
            <a:off x="6437376" y="4224528"/>
            <a:ext cx="4992624" cy="310896"/>
          </a:xfrm>
          <a:prstGeom prst="rect">
            <a:avLst/>
          </a:prstGeom>
          <a:noFill/>
        </p:spPr>
        <p:txBody>
          <a:bodyPr wrap="square" lIns="0" rIns="0" tIns="0" bIns="0" anchor="t">
            <a:spAutoFit/>
          </a:bodyPr>
          <a:lstStyle/>
          <a:p>
            <a:pPr algn="l"/>
            <a:r>
              <a:rPr sz="1300" b="1">
                <a:solidFill>
                  <a:srgbClr val="232F3E"/>
                </a:solidFill>
                <a:latin typeface="Calibri"/>
              </a:rPr>
              <a:t>One Lambda per tool behind Gateway.</a:t>
            </a:r>
          </a:p>
        </p:txBody>
      </p:sp>
      <p:sp>
        <p:nvSpPr>
          <p:cNvPr id="33" name="TextBox 32"/>
          <p:cNvSpPr txBox="1"/>
          <p:nvPr/>
        </p:nvSpPr>
        <p:spPr>
          <a:xfrm>
            <a:off x="6437376" y="4553712"/>
            <a:ext cx="4992624" cy="786384"/>
          </a:xfrm>
          <a:prstGeom prst="rect">
            <a:avLst/>
          </a:prstGeom>
          <a:noFill/>
        </p:spPr>
        <p:txBody>
          <a:bodyPr wrap="square" lIns="0" rIns="0" tIns="0" bIns="0" anchor="t">
            <a:spAutoFit/>
          </a:bodyPr>
          <a:lstStyle/>
          <a:p>
            <a:pPr algn="l"/>
            <a:r>
              <a:rPr sz="1150" b="0">
                <a:solidFill>
                  <a:srgbClr val="16191F"/>
                </a:solidFill>
                <a:latin typeface="Calibri"/>
              </a:rPr>
              <a:t>A crashed tool is a failed call, not a dead agent.</a:t>
            </a:r>
          </a:p>
        </p:txBody>
      </p:sp>
      <p:sp>
        <p:nvSpPr>
          <p:cNvPr id="34" name="Rounded Rectangle 33"/>
          <p:cNvSpPr/>
          <p:nvPr/>
        </p:nvSpPr>
        <p:spPr>
          <a:xfrm>
            <a:off x="566928" y="5614416"/>
            <a:ext cx="11064240" cy="566928"/>
          </a:xfrm>
          <a:prstGeom prst="roundRect">
            <a:avLst>
              <a:gd name="adj" fmla="val 16129"/>
            </a:avLst>
          </a:prstGeom>
          <a:solidFill>
            <a:srgbClr val="FFEF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04672" y="5614416"/>
            <a:ext cx="2103120" cy="566928"/>
          </a:xfrm>
          <a:prstGeom prst="rect">
            <a:avLst/>
          </a:prstGeom>
          <a:noFill/>
        </p:spPr>
        <p:txBody>
          <a:bodyPr wrap="square" lIns="0" rIns="0" tIns="0" bIns="0" anchor="ctr">
            <a:spAutoFit/>
          </a:bodyPr>
          <a:lstStyle/>
          <a:p>
            <a:pPr algn="l"/>
            <a:r>
              <a:rPr sz="2400" b="1">
                <a:solidFill>
                  <a:srgbClr val="FF9900"/>
                </a:solidFill>
                <a:latin typeface="Calibri"/>
              </a:rPr>
              <a:t>40 → 1</a:t>
            </a:r>
          </a:p>
        </p:txBody>
      </p:sp>
      <p:sp>
        <p:nvSpPr>
          <p:cNvPr id="36" name="Rounded Rectangle 35"/>
          <p:cNvSpPr/>
          <p:nvPr/>
        </p:nvSpPr>
        <p:spPr>
          <a:xfrm>
            <a:off x="9966960" y="5769864"/>
            <a:ext cx="1426464" cy="256032"/>
          </a:xfrm>
          <a:prstGeom prst="roundRect">
            <a:avLst>
              <a:gd name="adj" fmla="val 46428"/>
            </a:avLst>
          </a:prstGeom>
          <a:solidFill>
            <a:srgbClr val="1E7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966960" y="5769864"/>
            <a:ext cx="1426464" cy="256032"/>
          </a:xfrm>
          <a:prstGeom prst="rect">
            <a:avLst/>
          </a:prstGeom>
          <a:noFill/>
        </p:spPr>
        <p:txBody>
          <a:bodyPr wrap="square" lIns="0" rIns="0" tIns="0" bIns="0" anchor="ctr">
            <a:spAutoFit/>
          </a:bodyPr>
          <a:lstStyle/>
          <a:p>
            <a:pPr algn="ctr"/>
            <a:r>
              <a:rPr sz="900" b="1">
                <a:solidFill>
                  <a:srgbClr val="FFFFFF"/>
                </a:solidFill>
                <a:latin typeface="Calibri"/>
              </a:rPr>
              <a:t>AGENTCORE</a:t>
            </a:r>
          </a:p>
        </p:txBody>
      </p:sp>
      <p:sp>
        <p:nvSpPr>
          <p:cNvPr id="38" name="TextBox 37"/>
          <p:cNvSpPr txBox="1"/>
          <p:nvPr/>
        </p:nvSpPr>
        <p:spPr>
          <a:xfrm>
            <a:off x="3017520" y="5687568"/>
            <a:ext cx="6766560" cy="237744"/>
          </a:xfrm>
          <a:prstGeom prst="rect">
            <a:avLst/>
          </a:prstGeom>
          <a:noFill/>
        </p:spPr>
        <p:txBody>
          <a:bodyPr wrap="square" lIns="0" rIns="0" tIns="0" bIns="0" anchor="ctr">
            <a:spAutoFit/>
          </a:bodyPr>
          <a:lstStyle/>
          <a:p>
            <a:pPr algn="l"/>
            <a:r>
              <a:rPr sz="1200" b="1">
                <a:solidFill>
                  <a:srgbClr val="232F3E"/>
                </a:solidFill>
                <a:latin typeface="Calibri"/>
              </a:rPr>
              <a:t>sessions lost to one process fault — measured, next slide</a:t>
            </a:r>
          </a:p>
        </p:txBody>
      </p:sp>
      <p:sp>
        <p:nvSpPr>
          <p:cNvPr id="39" name="TextBox 38"/>
          <p:cNvSpPr txBox="1"/>
          <p:nvPr/>
        </p:nvSpPr>
        <p:spPr>
          <a:xfrm>
            <a:off x="3017520" y="5925312"/>
            <a:ext cx="6766560" cy="219456"/>
          </a:xfrm>
          <a:prstGeom prst="rect">
            <a:avLst/>
          </a:prstGeom>
          <a:noFill/>
        </p:spPr>
        <p:txBody>
          <a:bodyPr wrap="square" lIns="0" rIns="0" tIns="0" bIns="0" anchor="ctr">
            <a:spAutoFit/>
          </a:bodyPr>
          <a:lstStyle/>
          <a:p>
            <a:pPr algn="l"/>
            <a:r>
              <a:rPr sz="950" b="1">
                <a:solidFill>
                  <a:srgbClr val="545B64"/>
                </a:solidFill>
                <a:latin typeface="Calibri"/>
              </a:rPr>
              <a:t>Give up:  </a:t>
            </a:r>
            <a:r>
              <a:rPr sz="950" b="0">
                <a:solidFill>
                  <a:srgbClr val="545B64"/>
                </a:solidFill>
                <a:latin typeface="Calibri"/>
              </a:rPr>
              <a:t>container control: no sidecars, no long-lived in-process cache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02920" y="365760"/>
            <a:ext cx="594360" cy="594360"/>
          </a:xfrm>
          <a:prstGeom prst="ellipse">
            <a:avLst/>
          </a:prstGeom>
          <a:solidFill>
            <a:srgbClr val="232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65760"/>
            <a:ext cx="594360" cy="594360"/>
          </a:xfrm>
          <a:prstGeom prst="rect">
            <a:avLst/>
          </a:prstGeom>
          <a:noFill/>
        </p:spPr>
        <p:txBody>
          <a:bodyPr wrap="square" lIns="0" rIns="0" tIns="0" bIns="0" anchor="ctr">
            <a:spAutoFit/>
          </a:bodyPr>
          <a:lstStyle/>
          <a:p>
            <a:pPr algn="ctr"/>
            <a:r>
              <a:rPr sz="2600" b="1">
                <a:solidFill>
                  <a:srgbClr val="FF9900"/>
                </a:solidFill>
                <a:latin typeface="Calibri"/>
              </a:rPr>
              <a:t>10</a:t>
            </a:r>
          </a:p>
        </p:txBody>
      </p:sp>
      <p:sp>
        <p:nvSpPr>
          <p:cNvPr id="5" name="TextBox 4"/>
          <p:cNvSpPr txBox="1"/>
          <p:nvPr/>
        </p:nvSpPr>
        <p:spPr>
          <a:xfrm>
            <a:off x="502920" y="6446520"/>
            <a:ext cx="8229600" cy="320040"/>
          </a:xfrm>
          <a:prstGeom prst="rect">
            <a:avLst/>
          </a:prstGeom>
          <a:noFill/>
        </p:spPr>
        <p:txBody>
          <a:bodyPr wrap="square" lIns="0" rIns="0" tIns="0" bIns="0" anchor="ctr">
            <a:spAutoFit/>
          </a:bodyPr>
          <a:lstStyle/>
          <a:p>
            <a:pPr algn="l"/>
            <a:r>
              <a:rPr sz="1000" b="1">
                <a:solidFill>
                  <a:srgbClr val="545B64"/>
                </a:solidFill>
                <a:latin typeface="Calibri"/>
              </a:rPr>
              <a:t>VALENTIN   ·   GenAI TFC Capstone Deep-Dive</a:t>
            </a:r>
          </a:p>
        </p:txBody>
      </p:sp>
      <p:sp>
        <p:nvSpPr>
          <p:cNvPr id="6" name="TextBox 5"/>
          <p:cNvSpPr txBox="1"/>
          <p:nvPr/>
        </p:nvSpPr>
        <p:spPr>
          <a:xfrm>
            <a:off x="10332720" y="6446520"/>
            <a:ext cx="1371600" cy="320040"/>
          </a:xfrm>
          <a:prstGeom prst="rect">
            <a:avLst/>
          </a:prstGeom>
          <a:noFill/>
        </p:spPr>
        <p:txBody>
          <a:bodyPr wrap="square" lIns="0" rIns="0" tIns="0" bIns="0" anchor="ctr">
            <a:spAutoFit/>
          </a:bodyPr>
          <a:lstStyle/>
          <a:p>
            <a:pPr algn="r"/>
            <a:r>
              <a:rPr sz="1000" b="0">
                <a:solidFill>
                  <a:srgbClr val="545B64"/>
                </a:solidFill>
                <a:latin typeface="Calibri"/>
              </a:rPr>
              <a:t>11 / 17</a:t>
            </a:r>
          </a:p>
        </p:txBody>
      </p:sp>
      <p:sp>
        <p:nvSpPr>
          <p:cNvPr id="7" name="TextBox 6"/>
          <p:cNvSpPr txBox="1"/>
          <p:nvPr/>
        </p:nvSpPr>
        <p:spPr>
          <a:xfrm>
            <a:off x="1280160" y="365760"/>
            <a:ext cx="10058400" cy="594360"/>
          </a:xfrm>
          <a:prstGeom prst="rect">
            <a:avLst/>
          </a:prstGeom>
          <a:noFill/>
        </p:spPr>
        <p:txBody>
          <a:bodyPr wrap="square" lIns="0" rIns="0" tIns="0" bIns="0" anchor="ctr">
            <a:spAutoFit/>
          </a:bodyPr>
          <a:lstStyle/>
          <a:p>
            <a:pPr algn="l"/>
            <a:r>
              <a:rPr sz="3000" b="1">
                <a:solidFill>
                  <a:srgbClr val="232F3E"/>
                </a:solidFill>
                <a:latin typeface="Calibri"/>
              </a:rPr>
              <a:t>Security — what one breach reaches</a:t>
            </a:r>
          </a:p>
        </p:txBody>
      </p:sp>
      <p:sp>
        <p:nvSpPr>
          <p:cNvPr id="8" name="Rectangle 7"/>
          <p:cNvSpPr/>
          <p:nvPr/>
        </p:nvSpPr>
        <p:spPr>
          <a:xfrm>
            <a:off x="502920" y="1051560"/>
            <a:ext cx="1371600" cy="36576"/>
          </a:xfrm>
          <a:prstGeom prst="rect">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280160"/>
            <a:ext cx="11155680" cy="384048"/>
          </a:xfrm>
          <a:prstGeom prst="rect">
            <a:avLst/>
          </a:prstGeom>
          <a:noFill/>
        </p:spPr>
        <p:txBody>
          <a:bodyPr wrap="square" lIns="0" rIns="0" tIns="0" bIns="0" anchor="t">
            <a:spAutoFit/>
          </a:bodyPr>
          <a:lstStyle/>
          <a:p>
            <a:pPr algn="l"/>
            <a:r>
              <a:rPr sz="1400" b="0">
                <a:solidFill>
                  <a:srgbClr val="545B64"/>
                </a:solidFill>
                <a:latin typeface="Calibri"/>
              </a:rPr>
              <a:t>Same two components as resilience; the question is what leaks, not what crashes.</a:t>
            </a:r>
          </a:p>
        </p:txBody>
      </p:sp>
      <p:sp>
        <p:nvSpPr>
          <p:cNvPr id="10" name="Rounded Rectangle 9"/>
          <p:cNvSpPr/>
          <p:nvPr/>
        </p:nvSpPr>
        <p:spPr>
          <a:xfrm>
            <a:off x="566928" y="1755648"/>
            <a:ext cx="2670048" cy="384048"/>
          </a:xfrm>
          <a:prstGeom prst="roundRect">
            <a:avLst>
              <a:gd name="adj" fmla="val 50000"/>
            </a:avLst>
          </a:prstGeom>
          <a:solidFill>
            <a:srgbClr val="232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68096" y="1897379"/>
            <a:ext cx="100584" cy="100584"/>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9264" y="1755648"/>
            <a:ext cx="2157984" cy="384048"/>
          </a:xfrm>
          <a:prstGeom prst="rect">
            <a:avLst/>
          </a:prstGeom>
          <a:noFill/>
        </p:spPr>
        <p:txBody>
          <a:bodyPr wrap="square" lIns="0" rIns="0" tIns="0" bIns="0" anchor="ctr">
            <a:spAutoFit/>
          </a:bodyPr>
          <a:lstStyle/>
          <a:p>
            <a:pPr algn="l"/>
            <a:r>
              <a:rPr sz="1150" b="1">
                <a:solidFill>
                  <a:srgbClr val="FFFFFF"/>
                </a:solidFill>
                <a:latin typeface="Calibri"/>
              </a:rPr>
              <a:t>AgentCore Runtime</a:t>
            </a:r>
          </a:p>
        </p:txBody>
      </p:sp>
      <p:sp>
        <p:nvSpPr>
          <p:cNvPr id="13" name="Rounded Rectangle 12"/>
          <p:cNvSpPr/>
          <p:nvPr/>
        </p:nvSpPr>
        <p:spPr>
          <a:xfrm>
            <a:off x="3364992" y="1755648"/>
            <a:ext cx="2670048" cy="384048"/>
          </a:xfrm>
          <a:prstGeom prst="roundRect">
            <a:avLst>
              <a:gd name="adj" fmla="val 50000"/>
            </a:avLst>
          </a:prstGeom>
          <a:noFill/>
          <a:ln w="12700">
            <a:solidFill>
              <a:srgbClr val="E4E7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67328" y="1755648"/>
            <a:ext cx="2157984" cy="384048"/>
          </a:xfrm>
          <a:prstGeom prst="rect">
            <a:avLst/>
          </a:prstGeom>
          <a:noFill/>
        </p:spPr>
        <p:txBody>
          <a:bodyPr wrap="square" lIns="0" rIns="0" tIns="0" bIns="0" anchor="ctr">
            <a:spAutoFit/>
          </a:bodyPr>
          <a:lstStyle/>
          <a:p>
            <a:pPr algn="l"/>
            <a:r>
              <a:rPr sz="1150" b="0">
                <a:solidFill>
                  <a:srgbClr val="A6B0BA"/>
                </a:solidFill>
                <a:latin typeface="Calibri"/>
              </a:rPr>
              <a:t>AgentCore Memory</a:t>
            </a:r>
          </a:p>
        </p:txBody>
      </p:sp>
      <p:sp>
        <p:nvSpPr>
          <p:cNvPr id="15" name="Rounded Rectangle 14"/>
          <p:cNvSpPr/>
          <p:nvPr/>
        </p:nvSpPr>
        <p:spPr>
          <a:xfrm>
            <a:off x="6163056" y="1755648"/>
            <a:ext cx="2670048" cy="384048"/>
          </a:xfrm>
          <a:prstGeom prst="roundRect">
            <a:avLst>
              <a:gd name="adj" fmla="val 50000"/>
            </a:avLst>
          </a:prstGeom>
          <a:solidFill>
            <a:srgbClr val="232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364224" y="1897379"/>
            <a:ext cx="100584" cy="100584"/>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65392" y="1755648"/>
            <a:ext cx="2157984" cy="384048"/>
          </a:xfrm>
          <a:prstGeom prst="rect">
            <a:avLst/>
          </a:prstGeom>
          <a:noFill/>
        </p:spPr>
        <p:txBody>
          <a:bodyPr wrap="square" lIns="0" rIns="0" tIns="0" bIns="0" anchor="ctr">
            <a:spAutoFit/>
          </a:bodyPr>
          <a:lstStyle/>
          <a:p>
            <a:pPr algn="l"/>
            <a:r>
              <a:rPr sz="1150" b="1">
                <a:solidFill>
                  <a:srgbClr val="FFFFFF"/>
                </a:solidFill>
                <a:latin typeface="Calibri"/>
              </a:rPr>
              <a:t>AgentCore Gateway</a:t>
            </a:r>
          </a:p>
        </p:txBody>
      </p:sp>
      <p:sp>
        <p:nvSpPr>
          <p:cNvPr id="18" name="Rounded Rectangle 17"/>
          <p:cNvSpPr/>
          <p:nvPr/>
        </p:nvSpPr>
        <p:spPr>
          <a:xfrm>
            <a:off x="8961119" y="1755648"/>
            <a:ext cx="2670048" cy="384048"/>
          </a:xfrm>
          <a:prstGeom prst="roundRect">
            <a:avLst>
              <a:gd name="adj" fmla="val 50000"/>
            </a:avLst>
          </a:prstGeom>
          <a:noFill/>
          <a:ln w="12700">
            <a:solidFill>
              <a:srgbClr val="E4E7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63455" y="1755648"/>
            <a:ext cx="2157984" cy="384048"/>
          </a:xfrm>
          <a:prstGeom prst="rect">
            <a:avLst/>
          </a:prstGeom>
          <a:noFill/>
        </p:spPr>
        <p:txBody>
          <a:bodyPr wrap="square" lIns="0" rIns="0" tIns="0" bIns="0" anchor="ctr">
            <a:spAutoFit/>
          </a:bodyPr>
          <a:lstStyle/>
          <a:p>
            <a:pPr algn="l"/>
            <a:r>
              <a:rPr sz="1150" b="0">
                <a:solidFill>
                  <a:srgbClr val="A6B0BA"/>
                </a:solidFill>
                <a:latin typeface="Calibri"/>
              </a:rPr>
              <a:t>AgentCore Observability</a:t>
            </a:r>
          </a:p>
        </p:txBody>
      </p:sp>
      <p:sp>
        <p:nvSpPr>
          <p:cNvPr id="20" name="Rounded Rectangle 19"/>
          <p:cNvSpPr/>
          <p:nvPr/>
        </p:nvSpPr>
        <p:spPr>
          <a:xfrm>
            <a:off x="566928" y="2395728"/>
            <a:ext cx="5394960" cy="3017520"/>
          </a:xfrm>
          <a:prstGeom prst="roundRect">
            <a:avLst>
              <a:gd name="adj" fmla="val 1818"/>
            </a:avLst>
          </a:prstGeom>
          <a:solidFill>
            <a:srgbClr val="F7F8FA"/>
          </a:solidFill>
          <a:ln w="12700">
            <a:solidFill>
              <a:srgbClr val="E4E7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66928" y="2395728"/>
            <a:ext cx="5394960" cy="420624"/>
          </a:xfrm>
          <a:prstGeom prst="rect">
            <a:avLst/>
          </a:prstGeom>
          <a:solidFill>
            <a:srgbClr val="545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68096" y="2395728"/>
            <a:ext cx="4992624" cy="420624"/>
          </a:xfrm>
          <a:prstGeom prst="rect">
            <a:avLst/>
          </a:prstGeom>
          <a:noFill/>
        </p:spPr>
        <p:txBody>
          <a:bodyPr wrap="square" lIns="0" rIns="0" tIns="0" bIns="0" anchor="ctr">
            <a:spAutoFit/>
          </a:bodyPr>
          <a:lstStyle/>
          <a:p>
            <a:pPr algn="l"/>
            <a:r>
              <a:rPr sz="1150" b="1">
                <a:solidFill>
                  <a:srgbClr val="FFFFFF"/>
                </a:solidFill>
                <a:latin typeface="Calibri"/>
              </a:rPr>
              <a:t>ENGINE A · GLUE CODE</a:t>
            </a:r>
          </a:p>
        </p:txBody>
      </p:sp>
      <p:sp>
        <p:nvSpPr>
          <p:cNvPr id="23" name="TextBox 22"/>
          <p:cNvSpPr txBox="1"/>
          <p:nvPr/>
        </p:nvSpPr>
        <p:spPr>
          <a:xfrm>
            <a:off x="768096" y="3017520"/>
            <a:ext cx="4992624" cy="310896"/>
          </a:xfrm>
          <a:prstGeom prst="rect">
            <a:avLst/>
          </a:prstGeom>
          <a:noFill/>
        </p:spPr>
        <p:txBody>
          <a:bodyPr wrap="square" lIns="0" rIns="0" tIns="0" bIns="0" anchor="t">
            <a:spAutoFit/>
          </a:bodyPr>
          <a:lstStyle/>
          <a:p>
            <a:pPr algn="l"/>
            <a:r>
              <a:rPr sz="1300" b="1">
                <a:solidFill>
                  <a:srgbClr val="232F3E"/>
                </a:solidFill>
                <a:latin typeface="Calibri"/>
              </a:rPr>
              <a:t>Every credential in one heap.</a:t>
            </a:r>
          </a:p>
        </p:txBody>
      </p:sp>
      <p:sp>
        <p:nvSpPr>
          <p:cNvPr id="24" name="TextBox 23"/>
          <p:cNvSpPr txBox="1"/>
          <p:nvPr/>
        </p:nvSpPr>
        <p:spPr>
          <a:xfrm>
            <a:off x="768096" y="3346704"/>
            <a:ext cx="4992624" cy="786384"/>
          </a:xfrm>
          <a:prstGeom prst="rect">
            <a:avLst/>
          </a:prstGeom>
          <a:noFill/>
        </p:spPr>
        <p:txBody>
          <a:bodyPr wrap="square" lIns="0" rIns="0" tIns="0" bIns="0" anchor="t">
            <a:spAutoFit/>
          </a:bodyPr>
          <a:lstStyle/>
          <a:p>
            <a:pPr algn="l"/>
            <a:r>
              <a:rPr sz="1150" b="0">
                <a:solidFill>
                  <a:srgbClr val="16191F"/>
                </a:solidFill>
                <a:latin typeface="Calibri"/>
              </a:rPr>
              <a:t>A process-wide registry holds every user’s tokens next to every live session.</a:t>
            </a:r>
          </a:p>
        </p:txBody>
      </p:sp>
      <p:sp>
        <p:nvSpPr>
          <p:cNvPr id="25" name="TextBox 24"/>
          <p:cNvSpPr txBox="1"/>
          <p:nvPr/>
        </p:nvSpPr>
        <p:spPr>
          <a:xfrm>
            <a:off x="768096" y="4224528"/>
            <a:ext cx="4992624" cy="310896"/>
          </a:xfrm>
          <a:prstGeom prst="rect">
            <a:avLst/>
          </a:prstGeom>
          <a:noFill/>
        </p:spPr>
        <p:txBody>
          <a:bodyPr wrap="square" lIns="0" rIns="0" tIns="0" bIns="0" anchor="t">
            <a:spAutoFit/>
          </a:bodyPr>
          <a:lstStyle/>
          <a:p>
            <a:pPr algn="l"/>
            <a:r>
              <a:rPr sz="1300" b="1">
                <a:solidFill>
                  <a:srgbClr val="232F3E"/>
                </a:solidFill>
                <a:latin typeface="Calibri"/>
              </a:rPr>
              <a:t>One shared IAM role.</a:t>
            </a:r>
          </a:p>
        </p:txBody>
      </p:sp>
      <p:sp>
        <p:nvSpPr>
          <p:cNvPr id="26" name="TextBox 25"/>
          <p:cNvSpPr txBox="1"/>
          <p:nvPr/>
        </p:nvSpPr>
        <p:spPr>
          <a:xfrm>
            <a:off x="768096" y="4553712"/>
            <a:ext cx="4992624" cy="786384"/>
          </a:xfrm>
          <a:prstGeom prst="rect">
            <a:avLst/>
          </a:prstGeom>
          <a:noFill/>
        </p:spPr>
        <p:txBody>
          <a:bodyPr wrap="square" lIns="0" rIns="0" tIns="0" bIns="0" anchor="t">
            <a:spAutoFit/>
          </a:bodyPr>
          <a:lstStyle/>
          <a:p>
            <a:pPr algn="l"/>
            <a:r>
              <a:rPr sz="1150" b="0">
                <a:solidFill>
                  <a:srgbClr val="16191F"/>
                </a:solidFill>
                <a:latin typeface="Calibri"/>
              </a:rPr>
              <a:t>An injection that pivots to the registry reaches the shared Bedrock client and everyone’s tokens.</a:t>
            </a:r>
          </a:p>
        </p:txBody>
      </p:sp>
      <p:sp>
        <p:nvSpPr>
          <p:cNvPr id="27" name="Rounded Rectangle 26"/>
          <p:cNvSpPr/>
          <p:nvPr/>
        </p:nvSpPr>
        <p:spPr>
          <a:xfrm>
            <a:off x="6236208" y="2395728"/>
            <a:ext cx="5394960" cy="3017520"/>
          </a:xfrm>
          <a:prstGeom prst="roundRect">
            <a:avLst>
              <a:gd name="adj" fmla="val 1818"/>
            </a:avLst>
          </a:prstGeom>
          <a:solidFill>
            <a:srgbClr val="F7F8FA"/>
          </a:solidFill>
          <a:ln w="12700">
            <a:solidFill>
              <a:srgbClr val="E4E7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36208" y="2395728"/>
            <a:ext cx="5394960" cy="420624"/>
          </a:xfrm>
          <a:prstGeom prst="rect">
            <a:avLst/>
          </a:prstGeom>
          <a:solidFill>
            <a:srgbClr val="232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37376" y="2395728"/>
            <a:ext cx="4992624" cy="420624"/>
          </a:xfrm>
          <a:prstGeom prst="rect">
            <a:avLst/>
          </a:prstGeom>
          <a:noFill/>
        </p:spPr>
        <p:txBody>
          <a:bodyPr wrap="square" lIns="0" rIns="0" tIns="0" bIns="0" anchor="ctr">
            <a:spAutoFit/>
          </a:bodyPr>
          <a:lstStyle/>
          <a:p>
            <a:pPr algn="l"/>
            <a:r>
              <a:rPr sz="1150" b="1">
                <a:solidFill>
                  <a:srgbClr val="FFFFFF"/>
                </a:solidFill>
                <a:latin typeface="Calibri"/>
              </a:rPr>
              <a:t>ENGINE B · AGENTCORE</a:t>
            </a:r>
          </a:p>
        </p:txBody>
      </p:sp>
      <p:sp>
        <p:nvSpPr>
          <p:cNvPr id="30" name="TextBox 29"/>
          <p:cNvSpPr txBox="1"/>
          <p:nvPr/>
        </p:nvSpPr>
        <p:spPr>
          <a:xfrm>
            <a:off x="6437376" y="3017520"/>
            <a:ext cx="4992624" cy="310896"/>
          </a:xfrm>
          <a:prstGeom prst="rect">
            <a:avLst/>
          </a:prstGeom>
          <a:noFill/>
        </p:spPr>
        <p:txBody>
          <a:bodyPr wrap="square" lIns="0" rIns="0" tIns="0" bIns="0" anchor="t">
            <a:spAutoFit/>
          </a:bodyPr>
          <a:lstStyle/>
          <a:p>
            <a:pPr algn="l"/>
            <a:r>
              <a:rPr sz="1300" b="1">
                <a:solidFill>
                  <a:srgbClr val="232F3E"/>
                </a:solidFill>
                <a:latin typeface="Calibri"/>
              </a:rPr>
              <a:t>Auth resolves per tool.</a:t>
            </a:r>
          </a:p>
        </p:txBody>
      </p:sp>
      <p:sp>
        <p:nvSpPr>
          <p:cNvPr id="31" name="TextBox 30"/>
          <p:cNvSpPr txBox="1"/>
          <p:nvPr/>
        </p:nvSpPr>
        <p:spPr>
          <a:xfrm>
            <a:off x="6437376" y="3346704"/>
            <a:ext cx="4992624" cy="786384"/>
          </a:xfrm>
          <a:prstGeom prst="rect">
            <a:avLst/>
          </a:prstGeom>
          <a:noFill/>
        </p:spPr>
        <p:txBody>
          <a:bodyPr wrap="square" lIns="0" rIns="0" tIns="0" bIns="0" anchor="t">
            <a:spAutoFit/>
          </a:bodyPr>
          <a:lstStyle/>
          <a:p>
            <a:pPr algn="l"/>
            <a:r>
              <a:rPr sz="1150" b="0">
                <a:solidFill>
                  <a:srgbClr val="16191F"/>
                </a:solidFill>
                <a:latin typeface="Calibri"/>
              </a:rPr>
              <a:t>Each tool is its own Lambda with its own role; credentials never share a heap with sessions.</a:t>
            </a:r>
          </a:p>
        </p:txBody>
      </p:sp>
      <p:sp>
        <p:nvSpPr>
          <p:cNvPr id="32" name="TextBox 31"/>
          <p:cNvSpPr txBox="1"/>
          <p:nvPr/>
        </p:nvSpPr>
        <p:spPr>
          <a:xfrm>
            <a:off x="6437376" y="4224528"/>
            <a:ext cx="4992624" cy="310896"/>
          </a:xfrm>
          <a:prstGeom prst="rect">
            <a:avLst/>
          </a:prstGeom>
          <a:noFill/>
        </p:spPr>
        <p:txBody>
          <a:bodyPr wrap="square" lIns="0" rIns="0" tIns="0" bIns="0" anchor="t">
            <a:spAutoFit/>
          </a:bodyPr>
          <a:lstStyle/>
          <a:p>
            <a:pPr algn="l"/>
            <a:r>
              <a:rPr sz="1300" b="1">
                <a:solidFill>
                  <a:srgbClr val="232F3E"/>
                </a:solidFill>
                <a:latin typeface="Calibri"/>
              </a:rPr>
              <a:t>Isolation is the boundary, twice.</a:t>
            </a:r>
          </a:p>
        </p:txBody>
      </p:sp>
      <p:sp>
        <p:nvSpPr>
          <p:cNvPr id="33" name="TextBox 32"/>
          <p:cNvSpPr txBox="1"/>
          <p:nvPr/>
        </p:nvSpPr>
        <p:spPr>
          <a:xfrm>
            <a:off x="6437376" y="4553712"/>
            <a:ext cx="4992624" cy="786384"/>
          </a:xfrm>
          <a:prstGeom prst="rect">
            <a:avLst/>
          </a:prstGeom>
          <a:noFill/>
        </p:spPr>
        <p:txBody>
          <a:bodyPr wrap="square" lIns="0" rIns="0" tIns="0" bIns="0" anchor="t">
            <a:spAutoFit/>
          </a:bodyPr>
          <a:lstStyle/>
          <a:p>
            <a:pPr algn="l"/>
            <a:r>
              <a:rPr sz="1150" b="0">
                <a:solidFill>
                  <a:srgbClr val="16191F"/>
                </a:solidFill>
                <a:latin typeface="Calibri"/>
              </a:rPr>
              <a:t>A hijacked session is walled into its own microVM — it reaches its own tokens and nothing else.</a:t>
            </a:r>
          </a:p>
        </p:txBody>
      </p:sp>
      <p:sp>
        <p:nvSpPr>
          <p:cNvPr id="34" name="Rounded Rectangle 33"/>
          <p:cNvSpPr/>
          <p:nvPr/>
        </p:nvSpPr>
        <p:spPr>
          <a:xfrm>
            <a:off x="566928" y="5614416"/>
            <a:ext cx="11064240" cy="566928"/>
          </a:xfrm>
          <a:prstGeom prst="roundRect">
            <a:avLst>
              <a:gd name="adj" fmla="val 16129"/>
            </a:avLst>
          </a:prstGeom>
          <a:solidFill>
            <a:srgbClr val="FFEF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04672" y="5614416"/>
            <a:ext cx="2103120" cy="566928"/>
          </a:xfrm>
          <a:prstGeom prst="rect">
            <a:avLst/>
          </a:prstGeom>
          <a:noFill/>
        </p:spPr>
        <p:txBody>
          <a:bodyPr wrap="square" lIns="0" rIns="0" tIns="0" bIns="0" anchor="ctr">
            <a:spAutoFit/>
          </a:bodyPr>
          <a:lstStyle/>
          <a:p>
            <a:pPr algn="l"/>
            <a:r>
              <a:rPr sz="2400" b="1">
                <a:solidFill>
                  <a:srgbClr val="FF9900"/>
                </a:solidFill>
                <a:latin typeface="Calibri"/>
              </a:rPr>
              <a:t>all → one</a:t>
            </a:r>
          </a:p>
        </p:txBody>
      </p:sp>
      <p:sp>
        <p:nvSpPr>
          <p:cNvPr id="36" name="Rounded Rectangle 35"/>
          <p:cNvSpPr/>
          <p:nvPr/>
        </p:nvSpPr>
        <p:spPr>
          <a:xfrm>
            <a:off x="9966960" y="5769864"/>
            <a:ext cx="1426464" cy="256032"/>
          </a:xfrm>
          <a:prstGeom prst="roundRect">
            <a:avLst>
              <a:gd name="adj" fmla="val 46428"/>
            </a:avLst>
          </a:prstGeom>
          <a:solidFill>
            <a:srgbClr val="1E7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966960" y="5769864"/>
            <a:ext cx="1426464" cy="256032"/>
          </a:xfrm>
          <a:prstGeom prst="rect">
            <a:avLst/>
          </a:prstGeom>
          <a:noFill/>
        </p:spPr>
        <p:txBody>
          <a:bodyPr wrap="square" lIns="0" rIns="0" tIns="0" bIns="0" anchor="ctr">
            <a:spAutoFit/>
          </a:bodyPr>
          <a:lstStyle/>
          <a:p>
            <a:pPr algn="ctr"/>
            <a:r>
              <a:rPr sz="900" b="1">
                <a:solidFill>
                  <a:srgbClr val="FFFFFF"/>
                </a:solidFill>
                <a:latin typeface="Calibri"/>
              </a:rPr>
              <a:t>AGENTCORE</a:t>
            </a:r>
          </a:p>
        </p:txBody>
      </p:sp>
      <p:sp>
        <p:nvSpPr>
          <p:cNvPr id="38" name="TextBox 37"/>
          <p:cNvSpPr txBox="1"/>
          <p:nvPr/>
        </p:nvSpPr>
        <p:spPr>
          <a:xfrm>
            <a:off x="3017520" y="5687568"/>
            <a:ext cx="6766560" cy="237744"/>
          </a:xfrm>
          <a:prstGeom prst="rect">
            <a:avLst/>
          </a:prstGeom>
          <a:noFill/>
        </p:spPr>
        <p:txBody>
          <a:bodyPr wrap="square" lIns="0" rIns="0" tIns="0" bIns="0" anchor="ctr">
            <a:spAutoFit/>
          </a:bodyPr>
          <a:lstStyle/>
          <a:p>
            <a:pPr algn="l"/>
            <a:r>
              <a:rPr sz="1200" b="1">
                <a:solidFill>
                  <a:srgbClr val="232F3E"/>
                </a:solidFill>
                <a:latin typeface="Calibri"/>
              </a:rPr>
              <a:t>users’ tokens reachable from a single compromised session</a:t>
            </a:r>
          </a:p>
        </p:txBody>
      </p:sp>
      <p:sp>
        <p:nvSpPr>
          <p:cNvPr id="39" name="TextBox 38"/>
          <p:cNvSpPr txBox="1"/>
          <p:nvPr/>
        </p:nvSpPr>
        <p:spPr>
          <a:xfrm>
            <a:off x="3017520" y="5925312"/>
            <a:ext cx="6766560" cy="219456"/>
          </a:xfrm>
          <a:prstGeom prst="rect">
            <a:avLst/>
          </a:prstGeom>
          <a:noFill/>
        </p:spPr>
        <p:txBody>
          <a:bodyPr wrap="square" lIns="0" rIns="0" tIns="0" bIns="0" anchor="ctr">
            <a:spAutoFit/>
          </a:bodyPr>
          <a:lstStyle/>
          <a:p>
            <a:pPr algn="l"/>
            <a:r>
              <a:rPr sz="950" b="1">
                <a:solidFill>
                  <a:srgbClr val="545B64"/>
                </a:solidFill>
                <a:latin typeface="Calibri"/>
              </a:rPr>
              <a:t>Give up:  </a:t>
            </a:r>
            <a:r>
              <a:rPr sz="950" b="0">
                <a:solidFill>
                  <a:srgbClr val="545B64"/>
                </a:solidFill>
                <a:latin typeface="Calibri"/>
              </a:rPr>
              <a:t>the boundary is managed — you trust it rather than inspect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02920" y="365760"/>
            <a:ext cx="594360" cy="594360"/>
          </a:xfrm>
          <a:prstGeom prst="ellipse">
            <a:avLst/>
          </a:prstGeom>
          <a:solidFill>
            <a:srgbClr val="232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65760"/>
            <a:ext cx="594360" cy="594360"/>
          </a:xfrm>
          <a:prstGeom prst="rect">
            <a:avLst/>
          </a:prstGeom>
          <a:noFill/>
        </p:spPr>
        <p:txBody>
          <a:bodyPr wrap="square" lIns="0" rIns="0" tIns="0" bIns="0" anchor="ctr">
            <a:spAutoFit/>
          </a:bodyPr>
          <a:lstStyle/>
          <a:p>
            <a:pPr algn="ctr"/>
            <a:r>
              <a:rPr sz="2600" b="1">
                <a:solidFill>
                  <a:srgbClr val="FF9900"/>
                </a:solidFill>
                <a:latin typeface="Calibri"/>
              </a:rPr>
              <a:t>11</a:t>
            </a:r>
          </a:p>
        </p:txBody>
      </p:sp>
      <p:sp>
        <p:nvSpPr>
          <p:cNvPr id="5" name="TextBox 4"/>
          <p:cNvSpPr txBox="1"/>
          <p:nvPr/>
        </p:nvSpPr>
        <p:spPr>
          <a:xfrm>
            <a:off x="502920" y="6446520"/>
            <a:ext cx="8229600" cy="320040"/>
          </a:xfrm>
          <a:prstGeom prst="rect">
            <a:avLst/>
          </a:prstGeom>
          <a:noFill/>
        </p:spPr>
        <p:txBody>
          <a:bodyPr wrap="square" lIns="0" rIns="0" tIns="0" bIns="0" anchor="ctr">
            <a:spAutoFit/>
          </a:bodyPr>
          <a:lstStyle/>
          <a:p>
            <a:pPr algn="l"/>
            <a:r>
              <a:rPr sz="1000" b="1">
                <a:solidFill>
                  <a:srgbClr val="545B64"/>
                </a:solidFill>
                <a:latin typeface="Calibri"/>
              </a:rPr>
              <a:t>VALENTIN   ·   GenAI TFC Capstone Deep-Dive</a:t>
            </a:r>
          </a:p>
        </p:txBody>
      </p:sp>
      <p:sp>
        <p:nvSpPr>
          <p:cNvPr id="6" name="TextBox 5"/>
          <p:cNvSpPr txBox="1"/>
          <p:nvPr/>
        </p:nvSpPr>
        <p:spPr>
          <a:xfrm>
            <a:off x="10332720" y="6446520"/>
            <a:ext cx="1371600" cy="320040"/>
          </a:xfrm>
          <a:prstGeom prst="rect">
            <a:avLst/>
          </a:prstGeom>
          <a:noFill/>
        </p:spPr>
        <p:txBody>
          <a:bodyPr wrap="square" lIns="0" rIns="0" tIns="0" bIns="0" anchor="ctr">
            <a:spAutoFit/>
          </a:bodyPr>
          <a:lstStyle/>
          <a:p>
            <a:pPr algn="r"/>
            <a:r>
              <a:rPr sz="1000" b="0">
                <a:solidFill>
                  <a:srgbClr val="545B64"/>
                </a:solidFill>
                <a:latin typeface="Calibri"/>
              </a:rPr>
              <a:t>12 / 17</a:t>
            </a:r>
          </a:p>
        </p:txBody>
      </p:sp>
      <p:sp>
        <p:nvSpPr>
          <p:cNvPr id="7" name="TextBox 6"/>
          <p:cNvSpPr txBox="1"/>
          <p:nvPr/>
        </p:nvSpPr>
        <p:spPr>
          <a:xfrm>
            <a:off x="1280160" y="365760"/>
            <a:ext cx="10058400" cy="594360"/>
          </a:xfrm>
          <a:prstGeom prst="rect">
            <a:avLst/>
          </a:prstGeom>
          <a:noFill/>
        </p:spPr>
        <p:txBody>
          <a:bodyPr wrap="square" lIns="0" rIns="0" tIns="0" bIns="0" anchor="ctr">
            <a:spAutoFit/>
          </a:bodyPr>
          <a:lstStyle/>
          <a:p>
            <a:pPr algn="l"/>
            <a:r>
              <a:rPr sz="2400" b="1">
                <a:solidFill>
                  <a:srgbClr val="232F3E"/>
                </a:solidFill>
                <a:latin typeface="Calibri"/>
              </a:rPr>
              <a:t>Ownership &amp; velocity — what you maintain forever</a:t>
            </a:r>
          </a:p>
        </p:txBody>
      </p:sp>
      <p:sp>
        <p:nvSpPr>
          <p:cNvPr id="8" name="Rectangle 7"/>
          <p:cNvSpPr/>
          <p:nvPr/>
        </p:nvSpPr>
        <p:spPr>
          <a:xfrm>
            <a:off x="502920" y="1051560"/>
            <a:ext cx="1371600" cy="36576"/>
          </a:xfrm>
          <a:prstGeom prst="rect">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280160"/>
            <a:ext cx="11155680" cy="384048"/>
          </a:xfrm>
          <a:prstGeom prst="rect">
            <a:avLst/>
          </a:prstGeom>
          <a:noFill/>
        </p:spPr>
        <p:txBody>
          <a:bodyPr wrap="square" lIns="0" rIns="0" tIns="0" bIns="0" anchor="t">
            <a:spAutoFit/>
          </a:bodyPr>
          <a:lstStyle/>
          <a:p>
            <a:pPr algn="l"/>
            <a:r>
              <a:rPr sz="1400" b="0">
                <a:solidFill>
                  <a:srgbClr val="545B64"/>
                </a:solidFill>
                <a:latin typeface="Calibri"/>
              </a:rPr>
              <a:t>The code you keep owning after launch, and how fast the agent can grow.</a:t>
            </a:r>
          </a:p>
        </p:txBody>
      </p:sp>
      <p:sp>
        <p:nvSpPr>
          <p:cNvPr id="10" name="Rounded Rectangle 9"/>
          <p:cNvSpPr/>
          <p:nvPr/>
        </p:nvSpPr>
        <p:spPr>
          <a:xfrm>
            <a:off x="566928" y="1755648"/>
            <a:ext cx="2670048" cy="384048"/>
          </a:xfrm>
          <a:prstGeom prst="roundRect">
            <a:avLst>
              <a:gd name="adj" fmla="val 50000"/>
            </a:avLst>
          </a:prstGeom>
          <a:noFill/>
          <a:ln w="12700">
            <a:solidFill>
              <a:srgbClr val="E4E7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9264" y="1755648"/>
            <a:ext cx="2157984" cy="384048"/>
          </a:xfrm>
          <a:prstGeom prst="rect">
            <a:avLst/>
          </a:prstGeom>
          <a:noFill/>
        </p:spPr>
        <p:txBody>
          <a:bodyPr wrap="square" lIns="0" rIns="0" tIns="0" bIns="0" anchor="ctr">
            <a:spAutoFit/>
          </a:bodyPr>
          <a:lstStyle/>
          <a:p>
            <a:pPr algn="l"/>
            <a:r>
              <a:rPr sz="1150" b="0">
                <a:solidFill>
                  <a:srgbClr val="A6B0BA"/>
                </a:solidFill>
                <a:latin typeface="Calibri"/>
              </a:rPr>
              <a:t>AgentCore Runtime</a:t>
            </a:r>
          </a:p>
        </p:txBody>
      </p:sp>
      <p:sp>
        <p:nvSpPr>
          <p:cNvPr id="12" name="Rounded Rectangle 11"/>
          <p:cNvSpPr/>
          <p:nvPr/>
        </p:nvSpPr>
        <p:spPr>
          <a:xfrm>
            <a:off x="3364992" y="1755648"/>
            <a:ext cx="2670048" cy="384048"/>
          </a:xfrm>
          <a:prstGeom prst="roundRect">
            <a:avLst>
              <a:gd name="adj" fmla="val 50000"/>
            </a:avLst>
          </a:prstGeom>
          <a:solidFill>
            <a:srgbClr val="232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3566160" y="1897379"/>
            <a:ext cx="100584" cy="100584"/>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67328" y="1755648"/>
            <a:ext cx="2157984" cy="384048"/>
          </a:xfrm>
          <a:prstGeom prst="rect">
            <a:avLst/>
          </a:prstGeom>
          <a:noFill/>
        </p:spPr>
        <p:txBody>
          <a:bodyPr wrap="square" lIns="0" rIns="0" tIns="0" bIns="0" anchor="ctr">
            <a:spAutoFit/>
          </a:bodyPr>
          <a:lstStyle/>
          <a:p>
            <a:pPr algn="l"/>
            <a:r>
              <a:rPr sz="1150" b="1">
                <a:solidFill>
                  <a:srgbClr val="FFFFFF"/>
                </a:solidFill>
                <a:latin typeface="Calibri"/>
              </a:rPr>
              <a:t>AgentCore Memory</a:t>
            </a:r>
          </a:p>
        </p:txBody>
      </p:sp>
      <p:sp>
        <p:nvSpPr>
          <p:cNvPr id="15" name="Rounded Rectangle 14"/>
          <p:cNvSpPr/>
          <p:nvPr/>
        </p:nvSpPr>
        <p:spPr>
          <a:xfrm>
            <a:off x="6163056" y="1755648"/>
            <a:ext cx="2670048" cy="384048"/>
          </a:xfrm>
          <a:prstGeom prst="roundRect">
            <a:avLst>
              <a:gd name="adj" fmla="val 50000"/>
            </a:avLst>
          </a:prstGeom>
          <a:solidFill>
            <a:srgbClr val="232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364224" y="1897379"/>
            <a:ext cx="100584" cy="100584"/>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65392" y="1755648"/>
            <a:ext cx="2157984" cy="384048"/>
          </a:xfrm>
          <a:prstGeom prst="rect">
            <a:avLst/>
          </a:prstGeom>
          <a:noFill/>
        </p:spPr>
        <p:txBody>
          <a:bodyPr wrap="square" lIns="0" rIns="0" tIns="0" bIns="0" anchor="ctr">
            <a:spAutoFit/>
          </a:bodyPr>
          <a:lstStyle/>
          <a:p>
            <a:pPr algn="l"/>
            <a:r>
              <a:rPr sz="1150" b="1">
                <a:solidFill>
                  <a:srgbClr val="FFFFFF"/>
                </a:solidFill>
                <a:latin typeface="Calibri"/>
              </a:rPr>
              <a:t>AgentCore Gateway</a:t>
            </a:r>
          </a:p>
        </p:txBody>
      </p:sp>
      <p:sp>
        <p:nvSpPr>
          <p:cNvPr id="18" name="Rounded Rectangle 17"/>
          <p:cNvSpPr/>
          <p:nvPr/>
        </p:nvSpPr>
        <p:spPr>
          <a:xfrm>
            <a:off x="8961119" y="1755648"/>
            <a:ext cx="2670048" cy="384048"/>
          </a:xfrm>
          <a:prstGeom prst="roundRect">
            <a:avLst>
              <a:gd name="adj" fmla="val 50000"/>
            </a:avLst>
          </a:prstGeom>
          <a:noFill/>
          <a:ln w="12700">
            <a:solidFill>
              <a:srgbClr val="E4E7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63455" y="1755648"/>
            <a:ext cx="2157984" cy="384048"/>
          </a:xfrm>
          <a:prstGeom prst="rect">
            <a:avLst/>
          </a:prstGeom>
          <a:noFill/>
        </p:spPr>
        <p:txBody>
          <a:bodyPr wrap="square" lIns="0" rIns="0" tIns="0" bIns="0" anchor="ctr">
            <a:spAutoFit/>
          </a:bodyPr>
          <a:lstStyle/>
          <a:p>
            <a:pPr algn="l"/>
            <a:r>
              <a:rPr sz="1150" b="0">
                <a:solidFill>
                  <a:srgbClr val="A6B0BA"/>
                </a:solidFill>
                <a:latin typeface="Calibri"/>
              </a:rPr>
              <a:t>AgentCore Observability</a:t>
            </a:r>
          </a:p>
        </p:txBody>
      </p:sp>
      <p:sp>
        <p:nvSpPr>
          <p:cNvPr id="20" name="Rounded Rectangle 19"/>
          <p:cNvSpPr/>
          <p:nvPr/>
        </p:nvSpPr>
        <p:spPr>
          <a:xfrm>
            <a:off x="566928" y="2395728"/>
            <a:ext cx="5394960" cy="3017520"/>
          </a:xfrm>
          <a:prstGeom prst="roundRect">
            <a:avLst>
              <a:gd name="adj" fmla="val 1818"/>
            </a:avLst>
          </a:prstGeom>
          <a:solidFill>
            <a:srgbClr val="F7F8FA"/>
          </a:solidFill>
          <a:ln w="12700">
            <a:solidFill>
              <a:srgbClr val="E4E7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66928" y="2395728"/>
            <a:ext cx="5394960" cy="420624"/>
          </a:xfrm>
          <a:prstGeom prst="rect">
            <a:avLst/>
          </a:prstGeom>
          <a:solidFill>
            <a:srgbClr val="545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68096" y="2395728"/>
            <a:ext cx="4992624" cy="420624"/>
          </a:xfrm>
          <a:prstGeom prst="rect">
            <a:avLst/>
          </a:prstGeom>
          <a:noFill/>
        </p:spPr>
        <p:txBody>
          <a:bodyPr wrap="square" lIns="0" rIns="0" tIns="0" bIns="0" anchor="ctr">
            <a:spAutoFit/>
          </a:bodyPr>
          <a:lstStyle/>
          <a:p>
            <a:pPr algn="l"/>
            <a:r>
              <a:rPr sz="1150" b="1">
                <a:solidFill>
                  <a:srgbClr val="FFFFFF"/>
                </a:solidFill>
                <a:latin typeface="Calibri"/>
              </a:rPr>
              <a:t>ENGINE A · GLUE CODE</a:t>
            </a:r>
          </a:p>
        </p:txBody>
      </p:sp>
      <p:sp>
        <p:nvSpPr>
          <p:cNvPr id="23" name="TextBox 22"/>
          <p:cNvSpPr txBox="1"/>
          <p:nvPr/>
        </p:nvSpPr>
        <p:spPr>
          <a:xfrm>
            <a:off x="768096" y="3017520"/>
            <a:ext cx="4992624" cy="310896"/>
          </a:xfrm>
          <a:prstGeom prst="rect">
            <a:avLst/>
          </a:prstGeom>
          <a:noFill/>
        </p:spPr>
        <p:txBody>
          <a:bodyPr wrap="square" lIns="0" rIns="0" tIns="0" bIns="0" anchor="t">
            <a:spAutoFit/>
          </a:bodyPr>
          <a:lstStyle/>
          <a:p>
            <a:pPr algn="l"/>
            <a:r>
              <a:rPr sz="1300" b="1">
                <a:solidFill>
                  <a:srgbClr val="232F3E"/>
                </a:solidFill>
                <a:latin typeface="Calibri"/>
              </a:rPr>
              <a:t>The extraction prompt is mine forever.</a:t>
            </a:r>
          </a:p>
        </p:txBody>
      </p:sp>
      <p:sp>
        <p:nvSpPr>
          <p:cNvPr id="24" name="TextBox 23"/>
          <p:cNvSpPr txBox="1"/>
          <p:nvPr/>
        </p:nvSpPr>
        <p:spPr>
          <a:xfrm>
            <a:off x="768096" y="3346704"/>
            <a:ext cx="4992624" cy="786384"/>
          </a:xfrm>
          <a:prstGeom prst="rect">
            <a:avLst/>
          </a:prstGeom>
          <a:noFill/>
        </p:spPr>
        <p:txBody>
          <a:bodyPr wrap="square" lIns="0" rIns="0" tIns="0" bIns="0" anchor="t">
            <a:spAutoFit/>
          </a:bodyPr>
          <a:lstStyle/>
          <a:p>
            <a:pPr algn="l"/>
            <a:r>
              <a:rPr sz="1150" b="0">
                <a:solidFill>
                  <a:srgbClr val="16191F"/>
                </a:solidFill>
                <a:latin typeface="Calibri"/>
              </a:rPr>
              <a:t>A second prompt to version, test and babysit — on top of the agent’s own.</a:t>
            </a:r>
          </a:p>
        </p:txBody>
      </p:sp>
      <p:sp>
        <p:nvSpPr>
          <p:cNvPr id="25" name="TextBox 24"/>
          <p:cNvSpPr txBox="1"/>
          <p:nvPr/>
        </p:nvSpPr>
        <p:spPr>
          <a:xfrm>
            <a:off x="768096" y="4224528"/>
            <a:ext cx="4992624" cy="310896"/>
          </a:xfrm>
          <a:prstGeom prst="rect">
            <a:avLst/>
          </a:prstGeom>
          <a:noFill/>
        </p:spPr>
        <p:txBody>
          <a:bodyPr wrap="square" lIns="0" rIns="0" tIns="0" bIns="0" anchor="t">
            <a:spAutoFit/>
          </a:bodyPr>
          <a:lstStyle/>
          <a:p>
            <a:pPr algn="l"/>
            <a:r>
              <a:rPr sz="1300" b="1">
                <a:solidFill>
                  <a:srgbClr val="232F3E"/>
                </a:solidFill>
                <a:latin typeface="Calibri"/>
              </a:rPr>
              <a:t>Adding a tool is a deploy.</a:t>
            </a:r>
          </a:p>
        </p:txBody>
      </p:sp>
      <p:sp>
        <p:nvSpPr>
          <p:cNvPr id="26" name="TextBox 25"/>
          <p:cNvSpPr txBox="1"/>
          <p:nvPr/>
        </p:nvSpPr>
        <p:spPr>
          <a:xfrm>
            <a:off x="768096" y="4553712"/>
            <a:ext cx="4992624" cy="786384"/>
          </a:xfrm>
          <a:prstGeom prst="rect">
            <a:avLst/>
          </a:prstGeom>
          <a:noFill/>
        </p:spPr>
        <p:txBody>
          <a:bodyPr wrap="square" lIns="0" rIns="0" tIns="0" bIns="0" anchor="t">
            <a:spAutoFit/>
          </a:bodyPr>
          <a:lstStyle/>
          <a:p>
            <a:pPr algn="l"/>
            <a:r>
              <a:rPr sz="1150" b="0">
                <a:solidFill>
                  <a:srgbClr val="16191F"/>
                </a:solidFill>
                <a:latin typeface="Calibri"/>
              </a:rPr>
              <a:t>Registry change, build, rolling ECS deploy — growth at the speed of the pipeline.</a:t>
            </a:r>
          </a:p>
        </p:txBody>
      </p:sp>
      <p:sp>
        <p:nvSpPr>
          <p:cNvPr id="27" name="Rounded Rectangle 26"/>
          <p:cNvSpPr/>
          <p:nvPr/>
        </p:nvSpPr>
        <p:spPr>
          <a:xfrm>
            <a:off x="6236208" y="2395728"/>
            <a:ext cx="5394960" cy="3017520"/>
          </a:xfrm>
          <a:prstGeom prst="roundRect">
            <a:avLst>
              <a:gd name="adj" fmla="val 1818"/>
            </a:avLst>
          </a:prstGeom>
          <a:solidFill>
            <a:srgbClr val="F7F8FA"/>
          </a:solidFill>
          <a:ln w="12700">
            <a:solidFill>
              <a:srgbClr val="E4E7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36208" y="2395728"/>
            <a:ext cx="5394960" cy="420624"/>
          </a:xfrm>
          <a:prstGeom prst="rect">
            <a:avLst/>
          </a:prstGeom>
          <a:solidFill>
            <a:srgbClr val="232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37376" y="2395728"/>
            <a:ext cx="4992624" cy="420624"/>
          </a:xfrm>
          <a:prstGeom prst="rect">
            <a:avLst/>
          </a:prstGeom>
          <a:noFill/>
        </p:spPr>
        <p:txBody>
          <a:bodyPr wrap="square" lIns="0" rIns="0" tIns="0" bIns="0" anchor="ctr">
            <a:spAutoFit/>
          </a:bodyPr>
          <a:lstStyle/>
          <a:p>
            <a:pPr algn="l"/>
            <a:r>
              <a:rPr sz="1150" b="1">
                <a:solidFill>
                  <a:srgbClr val="FFFFFF"/>
                </a:solidFill>
                <a:latin typeface="Calibri"/>
              </a:rPr>
              <a:t>ENGINE B · AGENTCORE</a:t>
            </a:r>
          </a:p>
        </p:txBody>
      </p:sp>
      <p:sp>
        <p:nvSpPr>
          <p:cNvPr id="30" name="TextBox 29"/>
          <p:cNvSpPr txBox="1"/>
          <p:nvPr/>
        </p:nvSpPr>
        <p:spPr>
          <a:xfrm>
            <a:off x="6437376" y="3017520"/>
            <a:ext cx="4992624" cy="310896"/>
          </a:xfrm>
          <a:prstGeom prst="rect">
            <a:avLst/>
          </a:prstGeom>
          <a:noFill/>
        </p:spPr>
        <p:txBody>
          <a:bodyPr wrap="square" lIns="0" rIns="0" tIns="0" bIns="0" anchor="t">
            <a:spAutoFit/>
          </a:bodyPr>
          <a:lstStyle/>
          <a:p>
            <a:pPr algn="l"/>
            <a:r>
              <a:rPr sz="1300" b="1">
                <a:solidFill>
                  <a:srgbClr val="232F3E"/>
                </a:solidFill>
                <a:latin typeface="Calibri"/>
              </a:rPr>
              <a:t>Extraction is the service’s problem.</a:t>
            </a:r>
          </a:p>
        </p:txBody>
      </p:sp>
      <p:sp>
        <p:nvSpPr>
          <p:cNvPr id="31" name="TextBox 30"/>
          <p:cNvSpPr txBox="1"/>
          <p:nvPr/>
        </p:nvSpPr>
        <p:spPr>
          <a:xfrm>
            <a:off x="6437376" y="3346704"/>
            <a:ext cx="4992624" cy="786384"/>
          </a:xfrm>
          <a:prstGeom prst="rect">
            <a:avLst/>
          </a:prstGeom>
          <a:noFill/>
        </p:spPr>
        <p:txBody>
          <a:bodyPr wrap="square" lIns="0" rIns="0" tIns="0" bIns="0" anchor="t">
            <a:spAutoFit/>
          </a:bodyPr>
          <a:lstStyle/>
          <a:p>
            <a:pPr algn="l"/>
            <a:r>
              <a:rPr sz="1150" b="0">
                <a:solidFill>
                  <a:srgbClr val="16191F"/>
                </a:solidFill>
                <a:latin typeface="Calibri"/>
              </a:rPr>
              <a:t>One event in, one retrieval out. One fewer prompt to own.</a:t>
            </a:r>
          </a:p>
        </p:txBody>
      </p:sp>
      <p:sp>
        <p:nvSpPr>
          <p:cNvPr id="32" name="TextBox 31"/>
          <p:cNvSpPr txBox="1"/>
          <p:nvPr/>
        </p:nvSpPr>
        <p:spPr>
          <a:xfrm>
            <a:off x="6437376" y="4224528"/>
            <a:ext cx="4992624" cy="310896"/>
          </a:xfrm>
          <a:prstGeom prst="rect">
            <a:avLst/>
          </a:prstGeom>
          <a:noFill/>
        </p:spPr>
        <p:txBody>
          <a:bodyPr wrap="square" lIns="0" rIns="0" tIns="0" bIns="0" anchor="t">
            <a:spAutoFit/>
          </a:bodyPr>
          <a:lstStyle/>
          <a:p>
            <a:pPr algn="l"/>
            <a:r>
              <a:rPr sz="1300" b="1">
                <a:solidFill>
                  <a:srgbClr val="232F3E"/>
                </a:solidFill>
                <a:latin typeface="Calibri"/>
              </a:rPr>
              <a:t>The tool list is data.</a:t>
            </a:r>
          </a:p>
        </p:txBody>
      </p:sp>
      <p:sp>
        <p:nvSpPr>
          <p:cNvPr id="33" name="TextBox 32"/>
          <p:cNvSpPr txBox="1"/>
          <p:nvPr/>
        </p:nvSpPr>
        <p:spPr>
          <a:xfrm>
            <a:off x="6437376" y="4553712"/>
            <a:ext cx="4992624" cy="786384"/>
          </a:xfrm>
          <a:prstGeom prst="rect">
            <a:avLst/>
          </a:prstGeom>
          <a:noFill/>
        </p:spPr>
        <p:txBody>
          <a:bodyPr wrap="square" lIns="0" rIns="0" tIns="0" bIns="0" anchor="t">
            <a:spAutoFit/>
          </a:bodyPr>
          <a:lstStyle/>
          <a:p>
            <a:pPr algn="l"/>
            <a:r>
              <a:rPr sz="1150" b="0">
                <a:solidFill>
                  <a:srgbClr val="16191F"/>
                </a:solidFill>
                <a:latin typeface="Calibri"/>
              </a:rPr>
              <a:t>Adding or revoking a tool via Gateway is a config change, not a release.</a:t>
            </a:r>
          </a:p>
        </p:txBody>
      </p:sp>
      <p:sp>
        <p:nvSpPr>
          <p:cNvPr id="34" name="Rounded Rectangle 33"/>
          <p:cNvSpPr/>
          <p:nvPr/>
        </p:nvSpPr>
        <p:spPr>
          <a:xfrm>
            <a:off x="566928" y="5614416"/>
            <a:ext cx="11064240" cy="566928"/>
          </a:xfrm>
          <a:prstGeom prst="roundRect">
            <a:avLst>
              <a:gd name="adj" fmla="val 16129"/>
            </a:avLst>
          </a:prstGeom>
          <a:solidFill>
            <a:srgbClr val="FFEF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04672" y="5614416"/>
            <a:ext cx="2103120" cy="566928"/>
          </a:xfrm>
          <a:prstGeom prst="rect">
            <a:avLst/>
          </a:prstGeom>
          <a:noFill/>
        </p:spPr>
        <p:txBody>
          <a:bodyPr wrap="square" lIns="0" rIns="0" tIns="0" bIns="0" anchor="ctr">
            <a:spAutoFit/>
          </a:bodyPr>
          <a:lstStyle/>
          <a:p>
            <a:pPr algn="l"/>
            <a:r>
              <a:rPr sz="2400" b="1">
                <a:solidFill>
                  <a:srgbClr val="FF9900"/>
                </a:solidFill>
                <a:latin typeface="Calibri"/>
              </a:rPr>
              <a:t>−1 prompt</a:t>
            </a:r>
          </a:p>
        </p:txBody>
      </p:sp>
      <p:sp>
        <p:nvSpPr>
          <p:cNvPr id="36" name="Rounded Rectangle 35"/>
          <p:cNvSpPr/>
          <p:nvPr/>
        </p:nvSpPr>
        <p:spPr>
          <a:xfrm>
            <a:off x="9966960" y="5769864"/>
            <a:ext cx="1426464" cy="256032"/>
          </a:xfrm>
          <a:prstGeom prst="roundRect">
            <a:avLst>
              <a:gd name="adj" fmla="val 46428"/>
            </a:avLst>
          </a:prstGeom>
          <a:solidFill>
            <a:srgbClr val="1E7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966960" y="5769864"/>
            <a:ext cx="1426464" cy="256032"/>
          </a:xfrm>
          <a:prstGeom prst="rect">
            <a:avLst/>
          </a:prstGeom>
          <a:noFill/>
        </p:spPr>
        <p:txBody>
          <a:bodyPr wrap="square" lIns="0" rIns="0" tIns="0" bIns="0" anchor="ctr">
            <a:spAutoFit/>
          </a:bodyPr>
          <a:lstStyle/>
          <a:p>
            <a:pPr algn="ctr"/>
            <a:r>
              <a:rPr sz="900" b="1">
                <a:solidFill>
                  <a:srgbClr val="FFFFFF"/>
                </a:solidFill>
                <a:latin typeface="Calibri"/>
              </a:rPr>
              <a:t>AGENTCORE</a:t>
            </a:r>
          </a:p>
        </p:txBody>
      </p:sp>
      <p:sp>
        <p:nvSpPr>
          <p:cNvPr id="38" name="TextBox 37"/>
          <p:cNvSpPr txBox="1"/>
          <p:nvPr/>
        </p:nvSpPr>
        <p:spPr>
          <a:xfrm>
            <a:off x="3017520" y="5687568"/>
            <a:ext cx="6766560" cy="237744"/>
          </a:xfrm>
          <a:prstGeom prst="rect">
            <a:avLst/>
          </a:prstGeom>
          <a:noFill/>
        </p:spPr>
        <p:txBody>
          <a:bodyPr wrap="square" lIns="0" rIns="0" tIns="0" bIns="0" anchor="ctr">
            <a:spAutoFit/>
          </a:bodyPr>
          <a:lstStyle/>
          <a:p>
            <a:pPr algn="l"/>
            <a:r>
              <a:rPr sz="1200" b="1">
                <a:solidFill>
                  <a:srgbClr val="232F3E"/>
                </a:solidFill>
                <a:latin typeface="Calibri"/>
              </a:rPr>
              <a:t>to own, version and regression-test — and tool changes stop being releases</a:t>
            </a:r>
          </a:p>
        </p:txBody>
      </p:sp>
      <p:sp>
        <p:nvSpPr>
          <p:cNvPr id="39" name="TextBox 38"/>
          <p:cNvSpPr txBox="1"/>
          <p:nvPr/>
        </p:nvSpPr>
        <p:spPr>
          <a:xfrm>
            <a:off x="3017520" y="5925312"/>
            <a:ext cx="6766560" cy="219456"/>
          </a:xfrm>
          <a:prstGeom prst="rect">
            <a:avLst/>
          </a:prstGeom>
          <a:noFill/>
        </p:spPr>
        <p:txBody>
          <a:bodyPr wrap="square" lIns="0" rIns="0" tIns="0" bIns="0" anchor="ctr">
            <a:spAutoFit/>
          </a:bodyPr>
          <a:lstStyle/>
          <a:p>
            <a:pPr algn="l"/>
            <a:r>
              <a:rPr sz="950" b="1">
                <a:solidFill>
                  <a:srgbClr val="545B64"/>
                </a:solidFill>
                <a:latin typeface="Calibri"/>
              </a:rPr>
              <a:t>Give up:  </a:t>
            </a:r>
            <a:r>
              <a:rPr sz="950" b="0">
                <a:solidFill>
                  <a:srgbClr val="545B64"/>
                </a:solidFill>
                <a:latin typeface="Calibri"/>
              </a:rPr>
              <a:t>the extraction schema you designed — preferenceCategoryCount is gone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69"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502920" y="365760"/>
            <a:ext cx="594360" cy="594360"/>
          </a:xfrm>
          <a:prstGeom prst="ellipse">
            <a:avLst/>
          </a:prstGeom>
          <a:solidFill>
            <a:srgbClr val="232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65760"/>
            <a:ext cx="594360" cy="594360"/>
          </a:xfrm>
          <a:prstGeom prst="rect">
            <a:avLst/>
          </a:prstGeom>
          <a:noFill/>
        </p:spPr>
        <p:txBody>
          <a:bodyPr wrap="square" lIns="0" rIns="0" tIns="0" bIns="0" anchor="ctr">
            <a:spAutoFit/>
          </a:bodyPr>
          <a:lstStyle/>
          <a:p>
            <a:pPr algn="ctr"/>
            <a:r>
              <a:rPr sz="2600" b="1">
                <a:solidFill>
                  <a:srgbClr val="FF9900"/>
                </a:solidFill>
                <a:latin typeface="Calibri"/>
              </a:rPr>
              <a:t>12</a:t>
            </a:r>
          </a:p>
        </p:txBody>
      </p:sp>
      <p:sp>
        <p:nvSpPr>
          <p:cNvPr id="5" name="TextBox 4"/>
          <p:cNvSpPr txBox="1"/>
          <p:nvPr/>
        </p:nvSpPr>
        <p:spPr>
          <a:xfrm>
            <a:off x="502920" y="6446520"/>
            <a:ext cx="8229600" cy="320040"/>
          </a:xfrm>
          <a:prstGeom prst="rect">
            <a:avLst/>
          </a:prstGeom>
          <a:noFill/>
        </p:spPr>
        <p:txBody>
          <a:bodyPr wrap="square" lIns="0" rIns="0" tIns="0" bIns="0" anchor="ctr">
            <a:spAutoFit/>
          </a:bodyPr>
          <a:lstStyle/>
          <a:p>
            <a:pPr algn="l"/>
            <a:r>
              <a:rPr sz="1000" b="1">
                <a:solidFill>
                  <a:srgbClr val="545B64"/>
                </a:solidFill>
                <a:latin typeface="Calibri"/>
              </a:rPr>
              <a:t>VALENTIN   ·   GenAI TFC Capstone Deep-Dive</a:t>
            </a:r>
          </a:p>
        </p:txBody>
      </p:sp>
      <p:sp>
        <p:nvSpPr>
          <p:cNvPr id="6" name="TextBox 5"/>
          <p:cNvSpPr txBox="1"/>
          <p:nvPr/>
        </p:nvSpPr>
        <p:spPr>
          <a:xfrm>
            <a:off x="10332720" y="6446520"/>
            <a:ext cx="1371600" cy="320040"/>
          </a:xfrm>
          <a:prstGeom prst="rect">
            <a:avLst/>
          </a:prstGeom>
          <a:noFill/>
        </p:spPr>
        <p:txBody>
          <a:bodyPr wrap="square" lIns="0" rIns="0" tIns="0" bIns="0" anchor="ctr">
            <a:spAutoFit/>
          </a:bodyPr>
          <a:lstStyle/>
          <a:p>
            <a:pPr algn="r"/>
            <a:r>
              <a:rPr sz="1000" b="0">
                <a:solidFill>
                  <a:srgbClr val="545B64"/>
                </a:solidFill>
                <a:latin typeface="Calibri"/>
              </a:rPr>
              <a:t>13 / 17</a:t>
            </a:r>
          </a:p>
        </p:txBody>
      </p:sp>
      <p:sp>
        <p:nvSpPr>
          <p:cNvPr id="7" name="TextBox 6"/>
          <p:cNvSpPr txBox="1"/>
          <p:nvPr/>
        </p:nvSpPr>
        <p:spPr>
          <a:xfrm>
            <a:off x="1280160" y="365760"/>
            <a:ext cx="10058400" cy="594360"/>
          </a:xfrm>
          <a:prstGeom prst="rect">
            <a:avLst/>
          </a:prstGeom>
          <a:noFill/>
        </p:spPr>
        <p:txBody>
          <a:bodyPr wrap="square" lIns="0" rIns="0" tIns="0" bIns="0" anchor="ctr">
            <a:spAutoFit/>
          </a:bodyPr>
          <a:lstStyle/>
          <a:p>
            <a:pPr algn="l"/>
            <a:r>
              <a:rPr sz="3000" b="1">
                <a:solidFill>
                  <a:srgbClr val="232F3E"/>
                </a:solidFill>
                <a:latin typeface="Calibri"/>
              </a:rPr>
              <a:t>Debuggability — the lens the glue code wins</a:t>
            </a:r>
          </a:p>
        </p:txBody>
      </p:sp>
      <p:sp>
        <p:nvSpPr>
          <p:cNvPr id="8" name="Rectangle 7"/>
          <p:cNvSpPr/>
          <p:nvPr/>
        </p:nvSpPr>
        <p:spPr>
          <a:xfrm>
            <a:off x="502920" y="1051560"/>
            <a:ext cx="1371600" cy="36576"/>
          </a:xfrm>
          <a:prstGeom prst="rect">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280160"/>
            <a:ext cx="11155680" cy="384048"/>
          </a:xfrm>
          <a:prstGeom prst="rect">
            <a:avLst/>
          </a:prstGeom>
          <a:noFill/>
        </p:spPr>
        <p:txBody>
          <a:bodyPr wrap="square" lIns="0" rIns="0" tIns="0" bIns="0" anchor="t">
            <a:spAutoFit/>
          </a:bodyPr>
          <a:lstStyle/>
          <a:p>
            <a:pPr algn="l"/>
            <a:r>
              <a:rPr sz="1400" b="0">
                <a:solidFill>
                  <a:srgbClr val="545B64"/>
                </a:solidFill>
                <a:latin typeface="Calibri"/>
              </a:rPr>
              <a:t>What you can actually see when a turn goes wrong at two in the morning.</a:t>
            </a:r>
          </a:p>
        </p:txBody>
      </p:sp>
      <p:sp>
        <p:nvSpPr>
          <p:cNvPr id="10" name="Rounded Rectangle 9"/>
          <p:cNvSpPr/>
          <p:nvPr/>
        </p:nvSpPr>
        <p:spPr>
          <a:xfrm>
            <a:off x="566928" y="1755648"/>
            <a:ext cx="2670048" cy="384048"/>
          </a:xfrm>
          <a:prstGeom prst="roundRect">
            <a:avLst>
              <a:gd name="adj" fmla="val 50000"/>
            </a:avLst>
          </a:prstGeom>
          <a:noFill/>
          <a:ln w="12700">
            <a:solidFill>
              <a:srgbClr val="E4E7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9264" y="1755648"/>
            <a:ext cx="2157984" cy="384048"/>
          </a:xfrm>
          <a:prstGeom prst="rect">
            <a:avLst/>
          </a:prstGeom>
          <a:noFill/>
        </p:spPr>
        <p:txBody>
          <a:bodyPr wrap="square" lIns="0" rIns="0" tIns="0" bIns="0" anchor="ctr">
            <a:spAutoFit/>
          </a:bodyPr>
          <a:lstStyle/>
          <a:p>
            <a:pPr algn="l"/>
            <a:r>
              <a:rPr sz="1150" b="0">
                <a:solidFill>
                  <a:srgbClr val="A6B0BA"/>
                </a:solidFill>
                <a:latin typeface="Calibri"/>
              </a:rPr>
              <a:t>AgentCore Runtime</a:t>
            </a:r>
          </a:p>
        </p:txBody>
      </p:sp>
      <p:sp>
        <p:nvSpPr>
          <p:cNvPr id="12" name="Rounded Rectangle 11"/>
          <p:cNvSpPr/>
          <p:nvPr/>
        </p:nvSpPr>
        <p:spPr>
          <a:xfrm>
            <a:off x="3364992" y="1755648"/>
            <a:ext cx="2670048" cy="384048"/>
          </a:xfrm>
          <a:prstGeom prst="roundRect">
            <a:avLst>
              <a:gd name="adj" fmla="val 50000"/>
            </a:avLst>
          </a:prstGeom>
          <a:noFill/>
          <a:ln w="12700">
            <a:solidFill>
              <a:srgbClr val="E4E7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767328" y="1755648"/>
            <a:ext cx="2157984" cy="384048"/>
          </a:xfrm>
          <a:prstGeom prst="rect">
            <a:avLst/>
          </a:prstGeom>
          <a:noFill/>
        </p:spPr>
        <p:txBody>
          <a:bodyPr wrap="square" lIns="0" rIns="0" tIns="0" bIns="0" anchor="ctr">
            <a:spAutoFit/>
          </a:bodyPr>
          <a:lstStyle/>
          <a:p>
            <a:pPr algn="l"/>
            <a:r>
              <a:rPr sz="1150" b="0">
                <a:solidFill>
                  <a:srgbClr val="A6B0BA"/>
                </a:solidFill>
                <a:latin typeface="Calibri"/>
              </a:rPr>
              <a:t>AgentCore Memory</a:t>
            </a:r>
          </a:p>
        </p:txBody>
      </p:sp>
      <p:sp>
        <p:nvSpPr>
          <p:cNvPr id="14" name="Rounded Rectangle 13"/>
          <p:cNvSpPr/>
          <p:nvPr/>
        </p:nvSpPr>
        <p:spPr>
          <a:xfrm>
            <a:off x="6163056" y="1755648"/>
            <a:ext cx="2670048" cy="384048"/>
          </a:xfrm>
          <a:prstGeom prst="roundRect">
            <a:avLst>
              <a:gd name="adj" fmla="val 50000"/>
            </a:avLst>
          </a:prstGeom>
          <a:noFill/>
          <a:ln w="12700">
            <a:solidFill>
              <a:srgbClr val="E4E7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65392" y="1755648"/>
            <a:ext cx="2157984" cy="384048"/>
          </a:xfrm>
          <a:prstGeom prst="rect">
            <a:avLst/>
          </a:prstGeom>
          <a:noFill/>
        </p:spPr>
        <p:txBody>
          <a:bodyPr wrap="square" lIns="0" rIns="0" tIns="0" bIns="0" anchor="ctr">
            <a:spAutoFit/>
          </a:bodyPr>
          <a:lstStyle/>
          <a:p>
            <a:pPr algn="l"/>
            <a:r>
              <a:rPr sz="1150" b="0">
                <a:solidFill>
                  <a:srgbClr val="A6B0BA"/>
                </a:solidFill>
                <a:latin typeface="Calibri"/>
              </a:rPr>
              <a:t>AgentCore Gateway</a:t>
            </a:r>
          </a:p>
        </p:txBody>
      </p:sp>
      <p:sp>
        <p:nvSpPr>
          <p:cNvPr id="16" name="Rounded Rectangle 15"/>
          <p:cNvSpPr/>
          <p:nvPr/>
        </p:nvSpPr>
        <p:spPr>
          <a:xfrm>
            <a:off x="8961119" y="1755648"/>
            <a:ext cx="2670048" cy="384048"/>
          </a:xfrm>
          <a:prstGeom prst="roundRect">
            <a:avLst>
              <a:gd name="adj" fmla="val 50000"/>
            </a:avLst>
          </a:prstGeom>
          <a:solidFill>
            <a:srgbClr val="232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162288" y="1897379"/>
            <a:ext cx="100584" cy="100584"/>
          </a:xfrm>
          <a:prstGeom prst="ellipse">
            <a:avLst/>
          </a:prstGeom>
          <a:solidFill>
            <a:srgbClr val="FF9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63455" y="1755648"/>
            <a:ext cx="2157984" cy="384048"/>
          </a:xfrm>
          <a:prstGeom prst="rect">
            <a:avLst/>
          </a:prstGeom>
          <a:noFill/>
        </p:spPr>
        <p:txBody>
          <a:bodyPr wrap="square" lIns="0" rIns="0" tIns="0" bIns="0" anchor="ctr">
            <a:spAutoFit/>
          </a:bodyPr>
          <a:lstStyle/>
          <a:p>
            <a:pPr algn="l"/>
            <a:r>
              <a:rPr sz="1150" b="1">
                <a:solidFill>
                  <a:srgbClr val="FFFFFF"/>
                </a:solidFill>
                <a:latin typeface="Calibri"/>
              </a:rPr>
              <a:t>AgentCore Observability</a:t>
            </a:r>
          </a:p>
        </p:txBody>
      </p:sp>
      <p:sp>
        <p:nvSpPr>
          <p:cNvPr id="19" name="Rounded Rectangle 18"/>
          <p:cNvSpPr/>
          <p:nvPr/>
        </p:nvSpPr>
        <p:spPr>
          <a:xfrm>
            <a:off x="566928" y="2395728"/>
            <a:ext cx="5394960" cy="3017520"/>
          </a:xfrm>
          <a:prstGeom prst="roundRect">
            <a:avLst>
              <a:gd name="adj" fmla="val 1818"/>
            </a:avLst>
          </a:prstGeom>
          <a:solidFill>
            <a:srgbClr val="F7F8FA"/>
          </a:solidFill>
          <a:ln w="12700">
            <a:solidFill>
              <a:srgbClr val="E4E7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66928" y="2395728"/>
            <a:ext cx="5394960" cy="420624"/>
          </a:xfrm>
          <a:prstGeom prst="rect">
            <a:avLst/>
          </a:prstGeom>
          <a:solidFill>
            <a:srgbClr val="545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8096" y="2395728"/>
            <a:ext cx="4992624" cy="420624"/>
          </a:xfrm>
          <a:prstGeom prst="rect">
            <a:avLst/>
          </a:prstGeom>
          <a:noFill/>
        </p:spPr>
        <p:txBody>
          <a:bodyPr wrap="square" lIns="0" rIns="0" tIns="0" bIns="0" anchor="ctr">
            <a:spAutoFit/>
          </a:bodyPr>
          <a:lstStyle/>
          <a:p>
            <a:pPr algn="l"/>
            <a:r>
              <a:rPr sz="1150" b="1">
                <a:solidFill>
                  <a:srgbClr val="FFFFFF"/>
                </a:solidFill>
                <a:latin typeface="Calibri"/>
              </a:rPr>
              <a:t>ENGINE A · GLUE CODE</a:t>
            </a:r>
          </a:p>
        </p:txBody>
      </p:sp>
      <p:sp>
        <p:nvSpPr>
          <p:cNvPr id="22" name="TextBox 21"/>
          <p:cNvSpPr txBox="1"/>
          <p:nvPr/>
        </p:nvSpPr>
        <p:spPr>
          <a:xfrm>
            <a:off x="768096" y="3017520"/>
            <a:ext cx="4992624" cy="310896"/>
          </a:xfrm>
          <a:prstGeom prst="rect">
            <a:avLst/>
          </a:prstGeom>
          <a:noFill/>
        </p:spPr>
        <p:txBody>
          <a:bodyPr wrap="square" lIns="0" rIns="0" tIns="0" bIns="0" anchor="t">
            <a:spAutoFit/>
          </a:bodyPr>
          <a:lstStyle/>
          <a:p>
            <a:pPr algn="l"/>
            <a:r>
              <a:rPr sz="1300" b="1">
                <a:solidFill>
                  <a:srgbClr val="232F3E"/>
                </a:solidFill>
                <a:latin typeface="Calibri"/>
              </a:rPr>
              <a:t>Exactly the fields that decide an incident.</a:t>
            </a:r>
          </a:p>
        </p:txBody>
      </p:sp>
      <p:sp>
        <p:nvSpPr>
          <p:cNvPr id="23" name="TextBox 22"/>
          <p:cNvSpPr txBox="1"/>
          <p:nvPr/>
        </p:nvSpPr>
        <p:spPr>
          <a:xfrm>
            <a:off x="768096" y="3346704"/>
            <a:ext cx="4992624" cy="786384"/>
          </a:xfrm>
          <a:prstGeom prst="rect">
            <a:avLst/>
          </a:prstGeom>
          <a:noFill/>
        </p:spPr>
        <p:txBody>
          <a:bodyPr wrap="square" lIns="0" rIns="0" tIns="0" bIns="0" anchor="t">
            <a:spAutoFit/>
          </a:bodyPr>
          <a:lstStyle/>
          <a:p>
            <a:pPr algn="l"/>
            <a:r>
              <a:rPr sz="1150" b="0">
                <a:solidFill>
                  <a:srgbClr val="16191F"/>
                </a:solidFill>
                <a:latin typeface="Calibri"/>
              </a:rPr>
              <a:t>Hand-wired OTEL spans: turn id, tool name, extraction latency, which reminder fired.</a:t>
            </a:r>
          </a:p>
        </p:txBody>
      </p:sp>
      <p:sp>
        <p:nvSpPr>
          <p:cNvPr id="24" name="TextBox 23"/>
          <p:cNvSpPr txBox="1"/>
          <p:nvPr/>
        </p:nvSpPr>
        <p:spPr>
          <a:xfrm>
            <a:off x="768096" y="4224528"/>
            <a:ext cx="4992624" cy="310896"/>
          </a:xfrm>
          <a:prstGeom prst="rect">
            <a:avLst/>
          </a:prstGeom>
          <a:noFill/>
        </p:spPr>
        <p:txBody>
          <a:bodyPr wrap="square" lIns="0" rIns="0" tIns="0" bIns="0" anchor="t">
            <a:spAutoFit/>
          </a:bodyPr>
          <a:lstStyle/>
          <a:p>
            <a:pPr algn="l"/>
            <a:r>
              <a:rPr sz="1300" b="1">
                <a:solidFill>
                  <a:srgbClr val="232F3E"/>
                </a:solidFill>
                <a:latin typeface="Calibri"/>
              </a:rPr>
              <a:t>The cost is real, not rhetorical.</a:t>
            </a:r>
          </a:p>
        </p:txBody>
      </p:sp>
      <p:sp>
        <p:nvSpPr>
          <p:cNvPr id="25" name="TextBox 24"/>
          <p:cNvSpPr txBox="1"/>
          <p:nvPr/>
        </p:nvSpPr>
        <p:spPr>
          <a:xfrm>
            <a:off x="768096" y="4553712"/>
            <a:ext cx="4992624" cy="786384"/>
          </a:xfrm>
          <a:prstGeom prst="rect">
            <a:avLst/>
          </a:prstGeom>
          <a:noFill/>
        </p:spPr>
        <p:txBody>
          <a:bodyPr wrap="square" lIns="0" rIns="0" tIns="0" bIns="0" anchor="t">
            <a:spAutoFit/>
          </a:bodyPr>
          <a:lstStyle/>
          <a:p>
            <a:pPr algn="l"/>
            <a:r>
              <a:rPr sz="1150" b="0">
                <a:solidFill>
                  <a:srgbClr val="16191F"/>
                </a:solidFill>
                <a:latin typeface="Calibri"/>
              </a:rPr>
              <a:t>I wrote the span plumbing and now maintain it — and CloudWatch is another bill.</a:t>
            </a:r>
          </a:p>
        </p:txBody>
      </p:sp>
      <p:sp>
        <p:nvSpPr>
          <p:cNvPr id="26" name="Rounded Rectangle 25"/>
          <p:cNvSpPr/>
          <p:nvPr/>
        </p:nvSpPr>
        <p:spPr>
          <a:xfrm>
            <a:off x="6236208" y="2395728"/>
            <a:ext cx="5394960" cy="3017520"/>
          </a:xfrm>
          <a:prstGeom prst="roundRect">
            <a:avLst>
              <a:gd name="adj" fmla="val 1818"/>
            </a:avLst>
          </a:prstGeom>
          <a:solidFill>
            <a:srgbClr val="F7F8FA"/>
          </a:solidFill>
          <a:ln w="12700">
            <a:solidFill>
              <a:srgbClr val="E4E7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236208" y="2395728"/>
            <a:ext cx="5394960" cy="420624"/>
          </a:xfrm>
          <a:prstGeom prst="rect">
            <a:avLst/>
          </a:prstGeom>
          <a:solidFill>
            <a:srgbClr val="232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37376" y="2395728"/>
            <a:ext cx="4992624" cy="420624"/>
          </a:xfrm>
          <a:prstGeom prst="rect">
            <a:avLst/>
          </a:prstGeom>
          <a:noFill/>
        </p:spPr>
        <p:txBody>
          <a:bodyPr wrap="square" lIns="0" rIns="0" tIns="0" bIns="0" anchor="ctr">
            <a:spAutoFit/>
          </a:bodyPr>
          <a:lstStyle/>
          <a:p>
            <a:pPr algn="l"/>
            <a:r>
              <a:rPr sz="1150" b="1">
                <a:solidFill>
                  <a:srgbClr val="FFFFFF"/>
                </a:solidFill>
                <a:latin typeface="Calibri"/>
              </a:rPr>
              <a:t>ENGINE B · AGENTCORE</a:t>
            </a:r>
          </a:p>
        </p:txBody>
      </p:sp>
      <p:sp>
        <p:nvSpPr>
          <p:cNvPr id="29" name="TextBox 28"/>
          <p:cNvSpPr txBox="1"/>
          <p:nvPr/>
        </p:nvSpPr>
        <p:spPr>
          <a:xfrm>
            <a:off x="6437376" y="3017520"/>
            <a:ext cx="4992624" cy="310896"/>
          </a:xfrm>
          <a:prstGeom prst="rect">
            <a:avLst/>
          </a:prstGeom>
          <a:noFill/>
        </p:spPr>
        <p:txBody>
          <a:bodyPr wrap="square" lIns="0" rIns="0" tIns="0" bIns="0" anchor="t">
            <a:spAutoFit/>
          </a:bodyPr>
          <a:lstStyle/>
          <a:p>
            <a:pPr algn="l"/>
            <a:r>
              <a:rPr sz="1300" b="1">
                <a:solidFill>
                  <a:srgbClr val="232F3E"/>
                </a:solidFill>
                <a:latin typeface="Calibri"/>
              </a:rPr>
              <a:t>Traces for free — on its schema.</a:t>
            </a:r>
          </a:p>
        </p:txBody>
      </p:sp>
      <p:sp>
        <p:nvSpPr>
          <p:cNvPr id="30" name="TextBox 29"/>
          <p:cNvSpPr txBox="1"/>
          <p:nvPr/>
        </p:nvSpPr>
        <p:spPr>
          <a:xfrm>
            <a:off x="6437376" y="3346704"/>
            <a:ext cx="4992624" cy="786384"/>
          </a:xfrm>
          <a:prstGeom prst="rect">
            <a:avLst/>
          </a:prstGeom>
          <a:noFill/>
        </p:spPr>
        <p:txBody>
          <a:bodyPr wrap="square" lIns="0" rIns="0" tIns="0" bIns="0" anchor="t">
            <a:spAutoFit/>
          </a:bodyPr>
          <a:lstStyle/>
          <a:p>
            <a:pPr algn="l"/>
            <a:r>
              <a:rPr sz="1150" b="0">
                <a:solidFill>
                  <a:srgbClr val="16191F"/>
                </a:solidFill>
                <a:latin typeface="Calibri"/>
              </a:rPr>
              <a:t>Session-level traces arrive with zero work, but the 2am fields are not the ones it emits.</a:t>
            </a:r>
          </a:p>
        </p:txBody>
      </p:sp>
      <p:sp>
        <p:nvSpPr>
          <p:cNvPr id="31" name="TextBox 30"/>
          <p:cNvSpPr txBox="1"/>
          <p:nvPr/>
        </p:nvSpPr>
        <p:spPr>
          <a:xfrm>
            <a:off x="6437376" y="4224528"/>
            <a:ext cx="4992624" cy="310896"/>
          </a:xfrm>
          <a:prstGeom prst="rect">
            <a:avLst/>
          </a:prstGeom>
          <a:noFill/>
        </p:spPr>
        <p:txBody>
          <a:bodyPr wrap="square" lIns="0" rIns="0" tIns="0" bIns="0" anchor="t">
            <a:spAutoFit/>
          </a:bodyPr>
          <a:lstStyle/>
          <a:p>
            <a:pPr algn="l"/>
            <a:r>
              <a:rPr sz="1300" b="1">
                <a:solidFill>
                  <a:srgbClr val="232F3E"/>
                </a:solidFill>
                <a:latin typeface="Calibri"/>
              </a:rPr>
              <a:t>Where I actually landed.</a:t>
            </a:r>
          </a:p>
        </p:txBody>
      </p:sp>
      <p:sp>
        <p:nvSpPr>
          <p:cNvPr id="32" name="TextBox 31"/>
          <p:cNvSpPr txBox="1"/>
          <p:nvPr/>
        </p:nvSpPr>
        <p:spPr>
          <a:xfrm>
            <a:off x="6437376" y="4553712"/>
            <a:ext cx="4992624" cy="786384"/>
          </a:xfrm>
          <a:prstGeom prst="rect">
            <a:avLst/>
          </a:prstGeom>
          <a:noFill/>
        </p:spPr>
        <p:txBody>
          <a:bodyPr wrap="square" lIns="0" rIns="0" tIns="0" bIns="0" anchor="t">
            <a:spAutoFit/>
          </a:bodyPr>
          <a:lstStyle/>
          <a:p>
            <a:pPr algn="l"/>
            <a:r>
              <a:rPr sz="1150" b="0">
                <a:solidFill>
                  <a:srgbClr val="16191F"/>
                </a:solidFill>
                <a:latin typeface="Calibri"/>
              </a:rPr>
              <a:t>AgentCore’s traces as the floor, my spans kept for the two or three fields that decide an incident.</a:t>
            </a:r>
          </a:p>
        </p:txBody>
      </p:sp>
      <p:sp>
        <p:nvSpPr>
          <p:cNvPr id="33" name="Rounded Rectangle 32"/>
          <p:cNvSpPr/>
          <p:nvPr/>
        </p:nvSpPr>
        <p:spPr>
          <a:xfrm>
            <a:off x="566928" y="5614416"/>
            <a:ext cx="11064240" cy="566928"/>
          </a:xfrm>
          <a:prstGeom prst="roundRect">
            <a:avLst>
              <a:gd name="adj" fmla="val 16129"/>
            </a:avLst>
          </a:prstGeom>
          <a:solidFill>
            <a:srgbClr val="FFEF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04672" y="5614416"/>
            <a:ext cx="2103120" cy="566928"/>
          </a:xfrm>
          <a:prstGeom prst="rect">
            <a:avLst/>
          </a:prstGeom>
          <a:noFill/>
        </p:spPr>
        <p:txBody>
          <a:bodyPr wrap="square" lIns="0" rIns="0" tIns="0" bIns="0" anchor="ctr">
            <a:spAutoFit/>
          </a:bodyPr>
          <a:lstStyle/>
          <a:p>
            <a:pPr algn="l"/>
            <a:r>
              <a:rPr sz="2400" b="1">
                <a:solidFill>
                  <a:srgbClr val="FF9900"/>
                </a:solidFill>
                <a:latin typeface="Calibri"/>
              </a:rPr>
              <a:t>1 of 6</a:t>
            </a:r>
          </a:p>
        </p:txBody>
      </p:sp>
      <p:sp>
        <p:nvSpPr>
          <p:cNvPr id="35" name="Rounded Rectangle 34"/>
          <p:cNvSpPr/>
          <p:nvPr/>
        </p:nvSpPr>
        <p:spPr>
          <a:xfrm>
            <a:off x="9966960" y="5769864"/>
            <a:ext cx="1426464" cy="256032"/>
          </a:xfrm>
          <a:prstGeom prst="roundRect">
            <a:avLst>
              <a:gd name="adj" fmla="val 46428"/>
            </a:avLst>
          </a:prstGeom>
          <a:solidFill>
            <a:srgbClr val="232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66960" y="5769864"/>
            <a:ext cx="1426464" cy="256032"/>
          </a:xfrm>
          <a:prstGeom prst="rect">
            <a:avLst/>
          </a:prstGeom>
          <a:noFill/>
        </p:spPr>
        <p:txBody>
          <a:bodyPr wrap="square" lIns="0" rIns="0" tIns="0" bIns="0" anchor="ctr">
            <a:spAutoFit/>
          </a:bodyPr>
          <a:lstStyle/>
          <a:p>
            <a:pPr algn="ctr"/>
            <a:r>
              <a:rPr sz="900" b="1">
                <a:solidFill>
                  <a:srgbClr val="FFFFFF"/>
                </a:solidFill>
                <a:latin typeface="Calibri"/>
              </a:rPr>
              <a:t>GLUE CODE</a:t>
            </a:r>
          </a:p>
        </p:txBody>
      </p:sp>
      <p:sp>
        <p:nvSpPr>
          <p:cNvPr id="37" name="TextBox 36"/>
          <p:cNvSpPr txBox="1"/>
          <p:nvPr/>
        </p:nvSpPr>
        <p:spPr>
          <a:xfrm>
            <a:off x="3017520" y="5614416"/>
            <a:ext cx="6766560" cy="566928"/>
          </a:xfrm>
          <a:prstGeom prst="rect">
            <a:avLst/>
          </a:prstGeom>
          <a:noFill/>
        </p:spPr>
        <p:txBody>
          <a:bodyPr wrap="square" lIns="0" rIns="0" tIns="0" bIns="0" anchor="ctr">
            <a:spAutoFit/>
          </a:bodyPr>
          <a:lstStyle/>
          <a:p>
            <a:pPr algn="l"/>
            <a:r>
              <a:rPr sz="1200" b="1">
                <a:solidFill>
                  <a:srgbClr val="232F3E"/>
                </a:solidFill>
                <a:latin typeface="Calibri"/>
              </a:rPr>
              <a:t>the lens DIY keeps — a 6–0 comparison would be a sales pitch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23</TotalTime>
  <Words>2985</Words>
  <Application>Microsoft Macintosh PowerPoint</Application>
  <PresentationFormat>Widescreen</PresentationFormat>
  <Paragraphs>284</Paragraphs>
  <Slides>17</Slides>
  <Notes>16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17</vt:i4>
      </vt:variant>
    </vt:vector>
  </HeadingPairs>
  <TitlesOfParts>
    <vt:vector size="21" baseType="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Coral Steinberg</cp:lastModifiedBy>
  <cp:revision>3</cp:revision>
  <dcterms:created xsi:type="dcterms:W3CDTF">2013-01-27T09:14:16Z</dcterms:created>
  <dcterms:modified xsi:type="dcterms:W3CDTF">2026-09-06T11:42:30Z</dcterms:modified>
  <cp:category/>
</cp:coreProperties>
</file>