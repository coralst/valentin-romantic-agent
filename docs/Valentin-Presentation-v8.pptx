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80" r:id="rId6"/>
    <p:sldId id="281" r:id="rId24"/>
    <p:sldId id="282" r:id="rId25"/>
    <p:sldId id="288" r:id="rId31"/>
    <p:sldId id="283" r:id="rId26"/>
    <p:sldId id="287" r:id="rId30"/>
    <p:sldId id="284" r:id="rId27"/>
    <p:sldId id="285" r:id="rId28"/>
    <p:sldId id="286" r:id="rId29"/>
    <p:sldId id="289" r:id="rId32"/>
    <p:sldId id="277" r:id="rId16"/>
    <p:sldId id="278"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40"/>
  </p:normalViewPr>
  <p:slideViewPr>
    <p:cSldViewPr snapToGrid="0" snapToObjects="1">
      <p:cViewPr varScale="1">
        <p:scale>
          <a:sx n="93" d="100"/>
          <a:sy n="93" d="100"/>
        </p:scale>
        <p:origin x="248"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cumulative 0:20 of 10:00]</a:t>
            </a:r>
          </a:p>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cumulative 1:05 of 10:00]</a:t>
            </a:r>
          </a:p>
          <a:p/>
          <a:p>
            <a:r>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 cumulative 2:10 of 10:00]</a:t>
            </a:r>
          </a:p>
          <a:p/>
          <a:p>
            <a:r>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EventBridge is what closes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cumulative 3:25 of 10:00]</a:t>
            </a:r>
          </a:p>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[0:35 · cumulative 5:15 of 10:00]</a:t>
            </a:r>
          </a:p>
          <a:p/>
          <a:p>
            <a:r>
              <a:t>Cost, at four scales. At one user the story is the floor: engine A bills eighteen dollars before anyone speaks; B bills a dime. At a million users the story is the meter: both bills are per-user, and B settles at eighteen times cheaper because extraction is part of the service, not a second model call. And A’s floor is not even fixed — it steps up with every forty concurrent sessions.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[0:20 · cumulative 5:35 of 10:00]</a:t>
            </a:r>
          </a:p>
          <a:p/>
          <a:p>
            <a:r>
              <a:t>The bill, itemised — every rate from a pricing page, every quantity counted out of this repo. The reply call to Bedrock is identical on both sides, so I excluded it from both.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cumulative 8:50 of 10:00]</a:t>
            </a:r>
          </a:p>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cumulative 9:50 of 10:00]</a:t>
            </a:r>
          </a:p>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 cumulative 10:00 of 10:00]</a:t>
            </a:r>
          </a:p>
          <a:p/>
          <a:p>
            <a:r>
              <a:t>That is Valentin. Happy to go deeper on any of the five lenses, or on the agent workflow that built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hyperlink" Target="https://d26dwovftfq9oe.cloudfront.net/explore.html#wor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sp>
        <p:nvSpPr>
          <p:cNvPr id="19" name="TextBox 18"/>
          <p:cNvSpPr txBox="1"/>
          <p:nvPr/>
        </p:nvSpPr>
        <p:spPr>
          <a:xfrm>
            <a:off x="1806154"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3" name="TextBox 22"/>
          <p:cNvSpPr txBox="1"/>
          <p:nvPr/>
        </p:nvSpPr>
        <p:spPr>
          <a:xfrm>
            <a:off x="685800"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Claude in context of the partner profile — same model, two delivery paths.</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sp>
        <p:nvSpPr>
          <p:cNvPr id="29" name="TextBox 28"/>
          <p:cNvSpPr txBox="1"/>
          <p:nvPr/>
        </p:nvSpPr>
        <p:spPr>
          <a:xfrm>
            <a:off x="4643765"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3" name="TextBox 32"/>
          <p:cNvSpPr txBox="1"/>
          <p:nvPr/>
        </p:nvSpPr>
        <p:spPr>
          <a:xfrm>
            <a:off x="3523411"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8 preference categories captured &amp; recalled across months.</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1" name="TextBox 40"/>
          <p:cNvSpPr txBox="1"/>
          <p:nvPr/>
        </p:nvSpPr>
        <p:spPr>
          <a:xfrm>
            <a:off x="6361023"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21 real tools: calendar, mail, restaurants, Spotify, Shabbat times.</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49" name="TextBox 48"/>
          <p:cNvSpPr txBox="1"/>
          <p:nvPr/>
        </p:nvSpPr>
        <p:spPr>
          <a:xfrm>
            <a:off x="9198635"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Reminders fire weeks later — no human, no model, deterministic.</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81299"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check_shabbat</a:t>
            </a: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find_restaurants</a:t>
            </a: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propose_whatsapp_nudge</a:t>
            </a: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set_reminder</a:t>
            </a: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17</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agram-two-engines-lr.png">
            <a:extLst>
              <a:ext uri="{FF2B5EF4-FFF2-40B4-BE49-F238E27FC236}">
                <a16:creationId xmlns:a16="http://schemas.microsoft.com/office/drawing/2014/main" id="{D035CF84-1FF1-2E55-E53B-30B56F9E1DF1}"/>
              </a:ext>
            </a:extLst>
          </p:cNvPr>
          <p:cNvPicPr>
            <a:picLocks noChangeAspect="1"/>
          </p:cNvPicPr>
          <p:nvPr/>
        </p:nvPicPr>
        <p:blipFill>
          <a:blip r:embed="rId2"/>
          <a:stretch>
            <a:fillRect/>
          </a:stretch>
        </p:blipFill>
        <p:spPr>
          <a:xfrm>
            <a:off x="20320" y="1839520"/>
            <a:ext cx="12191695" cy="4208100"/>
          </a:xfrm>
          <a:prstGeom prst="rect">
            <a:avLst/>
          </a:prstGeom>
        </p:spPr>
      </p:pic>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5 / 17</a:t>
            </a:r>
          </a:p>
        </p:txBody>
      </p:sp>
    </p:spTree>
    <p:extLst>
      <p:ext uri="{BB962C8B-B14F-4D97-AF65-F5344CB8AC3E}">
        <p14:creationId xmlns:p14="http://schemas.microsoft.com/office/powerpoint/2010/main" val="3652100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15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4156"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9428"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rIns="0" t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rIns="0" t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rIns="0" t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rIns="0" t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rIns="0" t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rIns="0" t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rIns="0" t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rIns="0" t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rIns="0" tIns="0" bIns="0" anchor="ctr">
            <a:spAutoFit/>
          </a:bodyPr>
          <a:lstStyle/>
          <a:p>
            <a:pPr algn="r"/>
            <a:r>
              <a:rPr sz="1000" b="1">
                <a:solidFill>
                  <a:srgbClr val="232F3E"/>
                </a:solidFill>
                <a:latin typeface="Calibri"/>
              </a:rPr>
              <a:t>Infra / Workflow</a:t>
            </a:r>
          </a:p>
        </p:txBody>
      </p:sp>
      <p:pic>
        <p:nvPicPr>
          <p:cNvPr id="3"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17</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64792"/>
            <a:ext cx="10277856" cy="676656"/>
          </a:xfrm>
          <a:prstGeom prst="rect">
            <a:avLst/>
          </a:prstGeom>
          <a:noFill/>
        </p:spPr>
        <p:txBody>
          <a:bodyPr wrap="square" lIns="0" tIns="0" rIns="0" bIns="0" anchor="ctr">
            <a:spAutoFit/>
          </a:bodyPr>
          <a:lstStyle/>
          <a:p>
            <a:pPr algn="l"/>
            <a:r>
              <a:rPr sz="1250" b="1">
                <a:solidFill>
                  <a:srgbClr val="232F3E"/>
                </a:solidFill>
                <a:latin typeface="Calibri"/>
              </a:rPr>
              <a:t>An agent is a loop, not a chatbot.  </a:t>
            </a:r>
            <a:r>
              <a:rPr sz="1250" b="0">
                <a:solidFill>
                  <a:srgbClr val="16191F"/>
                </a:solidFill>
                <a:latin typeface="Calibri"/>
              </a:rPr>
              <a:t>The agentic part of Valentin isn’t Claude — it’s trigger → tools → propose → extract → re-schedule, and every pass rewrites the timeline that feeds the next one. EventBridge closes the loop, not the model.</a:t>
            </a: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560320"/>
            <a:ext cx="420624" cy="804672"/>
          </a:xfrm>
          <a:prstGeom prst="rect">
            <a:avLst/>
          </a:prstGeom>
          <a:noFill/>
        </p:spPr>
        <p:txBody>
          <a:bodyPr wrap="square" lIns="0" tIns="0" rIns="0" bIns="0" anchor="ctr">
            <a:spAutoFit/>
          </a:bodyPr>
          <a:lstStyle/>
          <a:p>
            <a:pPr algn="ctr"/>
            <a:r>
              <a:rPr sz="2000" b="1">
                <a:solidFill>
                  <a:srgbClr val="FF9900"/>
                </a:solidFill>
                <a:latin typeface="Calibri"/>
              </a:rPr>
              <a:t>2</a:t>
            </a:r>
          </a:p>
        </p:txBody>
      </p:sp>
      <p:sp>
        <p:nvSpPr>
          <p:cNvPr id="17" name="TextBox 16"/>
          <p:cNvSpPr txBox="1"/>
          <p:nvPr/>
        </p:nvSpPr>
        <p:spPr>
          <a:xfrm>
            <a:off x="1207008" y="2624327"/>
            <a:ext cx="10277856" cy="676656"/>
          </a:xfrm>
          <a:prstGeom prst="rect">
            <a:avLst/>
          </a:prstGeom>
          <a:noFill/>
        </p:spPr>
        <p:txBody>
          <a:bodyPr wrap="square" lIns="0" tIns="0" rIns="0" bIns="0" anchor="ctr">
            <a:spAutoFit/>
          </a:bodyPr>
          <a:lstStyle/>
          <a:p>
            <a:pPr algn="l"/>
            <a:r>
              <a:rPr sz="1250" b="1">
                <a:solidFill>
                  <a:srgbClr val="232F3E"/>
                </a:solidFill>
                <a:latin typeface="Calibri"/>
              </a:rPr>
              <a:t>When you and the agent are both stuck, the next prompt is not the answer.  </a:t>
            </a:r>
            <a:r>
              <a:rPr sz="1250" b="0">
                <a:solidFill>
                  <a:srgbClr val="16191F"/>
                </a:solidFill>
                <a:latin typeface="Calibri"/>
              </a:rPr>
              <a:t>Stop and spend five minutes with pen and paper. Every long débâcle in this project ended the moment I stopped prompting and drew the thing.</a:t>
            </a: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419856"/>
            <a:ext cx="420624" cy="804672"/>
          </a:xfrm>
          <a:prstGeom prst="rect">
            <a:avLst/>
          </a:prstGeom>
          <a:noFill/>
        </p:spPr>
        <p:txBody>
          <a:bodyPr wrap="square" lIns="0" tIns="0" rIns="0" bIns="0" anchor="ctr">
            <a:spAutoFit/>
          </a:bodyPr>
          <a:lstStyle/>
          <a:p>
            <a:pPr algn="ctr"/>
            <a:r>
              <a:rPr sz="2000" b="1">
                <a:solidFill>
                  <a:srgbClr val="FF9900"/>
                </a:solidFill>
                <a:latin typeface="Calibri"/>
              </a:rPr>
              <a:t>3</a:t>
            </a:r>
          </a:p>
        </p:txBody>
      </p:sp>
      <p:sp>
        <p:nvSpPr>
          <p:cNvPr id="21" name="TextBox 20"/>
          <p:cNvSpPr txBox="1"/>
          <p:nvPr/>
        </p:nvSpPr>
        <p:spPr>
          <a:xfrm>
            <a:off x="1207008" y="3483864"/>
            <a:ext cx="10277856" cy="676656"/>
          </a:xfrm>
          <a:prstGeom prst="rect">
            <a:avLst/>
          </a:prstGeom>
          <a:noFill/>
        </p:spPr>
        <p:txBody>
          <a:bodyPr wrap="square" lIns="0" tIns="0" rIns="0" bIns="0" anchor="ctr">
            <a:spAutoFit/>
          </a:bodyPr>
          <a:lstStyle/>
          <a:p>
            <a:pPr algn="l"/>
            <a:r>
              <a:rPr sz="1250" b="1">
                <a:solidFill>
                  <a:srgbClr val="232F3E"/>
                </a:solidFill>
                <a:latin typeface="Calibri"/>
              </a:rPr>
              <a:t>Most of the tokens went to the workflow, not the code.  </a:t>
            </a:r>
            <a:r>
              <a:rPr sz="1250" b="0">
                <a:solidFill>
                  <a:srgbClr val="16191F"/>
                </a:solidFill>
                <a:latin typeface="Calibri"/>
              </a:rPr>
              <a:t>31 of 56 PRs built the factory — specs, review loops, merge gates, regression tests for the automation itself. That is what made the other 25 safe to merge.</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a:solidFill>
                  <a:srgbClr val="232F3E"/>
                </a:solidFill>
                <a:latin typeface="Calibri"/>
              </a:rPr>
              <a:t>The strongest case for AgentCore isn’t the bill, it’s the blast radius.  </a:t>
            </a:r>
            <a:r>
              <a:rPr sz="1250" b="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202936"/>
            <a:ext cx="10277856" cy="676656"/>
          </a:xfrm>
          <a:prstGeom prst="rect">
            <a:avLst/>
          </a:prstGeom>
          <a:noFill/>
        </p:spPr>
        <p:txBody>
          <a:bodyPr wrap="square" lIns="0" tIns="0" rIns="0" bIns="0" anchor="ctr">
            <a:spAutoFit/>
          </a:bodyPr>
          <a:lstStyle/>
          <a:p>
            <a:pPr algn="l"/>
            <a:r>
              <a:rPr sz="1250" b="1">
                <a:solidFill>
                  <a:srgbClr val="232F3E"/>
                </a:solidFill>
                <a:latin typeface="Calibri"/>
              </a:rPr>
              <a:t>It’s easy to gate “the service is up,” hard to gate “the LLM works.”  </a:t>
            </a:r>
            <a:r>
              <a:rPr sz="1250" b="0">
                <a:solidFill>
                  <a:srgbClr val="16191F"/>
                </a:solidFill>
                <a:latin typeface="Calibri"/>
              </a:rPr>
              <a:t>A missing Bedrock permission returned a polite fallback with HTTP 200; a # in the actorId made Memory silently store nothing while chat kept chatting. The only gate that caught either was a live conversation asserting on what the agent remembered.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6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Two engines, six lenses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1700784"/>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517904" cy="365760"/>
          </a:xfrm>
          <a:prstGeom prst="rect">
            <a:avLst/>
          </a:prstGeom>
          <a:noFill/>
        </p:spPr>
        <p:txBody>
          <a:bodyPr wrap="square" lIns="0" rIns="0" tIns="0" bIns="0" anchor="ctr">
            <a:spAutoFit/>
          </a:bodyPr>
          <a:lstStyle/>
          <a:p>
            <a:pPr algn="l"/>
            <a:r>
              <a:rPr sz="1000" b="1">
                <a:solidFill>
                  <a:srgbClr val="FF9900"/>
                </a:solidFill>
                <a:latin typeface="Calibri"/>
              </a:rPr>
              <a:t>THE LENS</a:t>
            </a:r>
          </a:p>
        </p:txBody>
      </p:sp>
      <p:sp>
        <p:nvSpPr>
          <p:cNvPr id="12" name="TextBox 11"/>
          <p:cNvSpPr txBox="1"/>
          <p:nvPr/>
        </p:nvSpPr>
        <p:spPr>
          <a:xfrm>
            <a:off x="4352544" y="1700784"/>
            <a:ext cx="3419856" cy="365760"/>
          </a:xfrm>
          <a:prstGeom prst="rect">
            <a:avLst/>
          </a:prstGeom>
          <a:noFill/>
        </p:spPr>
        <p:txBody>
          <a:bodyPr wrap="square" lIns="0" rIns="0" tIns="0" bIns="0" anchor="ctr">
            <a:spAutoFit/>
          </a:bodyPr>
          <a:lstStyle/>
          <a:p>
            <a:pPr algn="l"/>
            <a:r>
              <a:rPr sz="1000" b="1">
                <a:solidFill>
                  <a:srgbClr val="FFFFFF"/>
                </a:solidFill>
                <a:latin typeface="Calibri"/>
              </a:rPr>
              <a:t>THE UPSIDE</a:t>
            </a:r>
          </a:p>
        </p:txBody>
      </p:sp>
      <p:sp>
        <p:nvSpPr>
          <p:cNvPr id="13" name="TextBox 12"/>
          <p:cNvSpPr txBox="1"/>
          <p:nvPr/>
        </p:nvSpPr>
        <p:spPr>
          <a:xfrm>
            <a:off x="8046719" y="1700784"/>
            <a:ext cx="2432303" cy="365760"/>
          </a:xfrm>
          <a:prstGeom prst="rect">
            <a:avLst/>
          </a:prstGeom>
          <a:noFill/>
        </p:spPr>
        <p:txBody>
          <a:bodyPr wrap="square" lIns="0" rIns="0" tIns="0" bIns="0" anchor="ctr">
            <a:spAutoFit/>
          </a:bodyPr>
          <a:lstStyle/>
          <a:p>
            <a:pPr algn="l"/>
            <a:r>
              <a:rPr sz="1000" b="1">
                <a:solidFill>
                  <a:srgbClr val="FFFFFF"/>
                </a:solidFill>
                <a:latin typeface="Calibri"/>
              </a:rPr>
              <a:t>THE TRADE-OFF</a:t>
            </a:r>
          </a:p>
        </p:txBody>
      </p:sp>
      <p:sp>
        <p:nvSpPr>
          <p:cNvPr id="14" name="TextBox 13"/>
          <p:cNvSpPr txBox="1"/>
          <p:nvPr/>
        </p:nvSpPr>
        <p:spPr>
          <a:xfrm>
            <a:off x="10753344" y="1700784"/>
            <a:ext cx="786384" cy="365760"/>
          </a:xfrm>
          <a:prstGeom prst="rect">
            <a:avLst/>
          </a:prstGeom>
          <a:noFill/>
        </p:spPr>
        <p:txBody>
          <a:bodyPr wrap="square" lIns="0" rIns="0" tIns="0" bIns="0" anchor="ctr">
            <a:spAutoFit/>
          </a:bodyPr>
          <a:lstStyle/>
          <a:p>
            <a:pPr algn="l"/>
            <a:r>
              <a:rPr sz="1000" b="1">
                <a:solidFill>
                  <a:srgbClr val="FFFFFF"/>
                </a:solidFill>
                <a:latin typeface="Calibri"/>
              </a:rPr>
              <a:t>WINNER</a:t>
            </a:r>
          </a:p>
        </p:txBody>
      </p:sp>
      <p:sp>
        <p:nvSpPr>
          <p:cNvPr id="15" name="TextBox 14"/>
          <p:cNvSpPr txBox="1"/>
          <p:nvPr/>
        </p:nvSpPr>
        <p:spPr>
          <a:xfrm>
            <a:off x="2267712"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RUN</a:t>
            </a:r>
          </a:p>
        </p:txBody>
      </p:sp>
      <p:sp>
        <p:nvSpPr>
          <p:cNvPr id="16" name="TextBox 15"/>
          <p:cNvSpPr txBox="1"/>
          <p:nvPr/>
        </p:nvSpPr>
        <p:spPr>
          <a:xfrm>
            <a:off x="2743200"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MEM</a:t>
            </a:r>
          </a:p>
        </p:txBody>
      </p:sp>
      <p:sp>
        <p:nvSpPr>
          <p:cNvPr id="17" name="TextBox 16"/>
          <p:cNvSpPr txBox="1"/>
          <p:nvPr/>
        </p:nvSpPr>
        <p:spPr>
          <a:xfrm>
            <a:off x="3218688"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GTW</a:t>
            </a:r>
          </a:p>
        </p:txBody>
      </p:sp>
      <p:sp>
        <p:nvSpPr>
          <p:cNvPr id="18" name="TextBox 17"/>
          <p:cNvSpPr txBox="1"/>
          <p:nvPr/>
        </p:nvSpPr>
        <p:spPr>
          <a:xfrm>
            <a:off x="3694176"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OBS</a:t>
            </a:r>
          </a:p>
        </p:txBody>
      </p:sp>
      <p:sp>
        <p:nvSpPr>
          <p:cNvPr id="19" name="Rectangle 18"/>
          <p:cNvSpPr/>
          <p:nvPr/>
        </p:nvSpPr>
        <p:spPr>
          <a:xfrm>
            <a:off x="566928" y="212140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7523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121408"/>
            <a:ext cx="1517904" cy="640080"/>
          </a:xfrm>
          <a:prstGeom prst="rect">
            <a:avLst/>
          </a:prstGeom>
          <a:noFill/>
        </p:spPr>
        <p:txBody>
          <a:bodyPr wrap="square" lIns="0" rIns="0" tIns="0" bIns="0" anchor="ctr">
            <a:spAutoFit/>
          </a:bodyPr>
          <a:lstStyle/>
          <a:p>
            <a:pPr algn="l"/>
            <a:r>
              <a:rPr sz="1250" b="1">
                <a:solidFill>
                  <a:srgbClr val="232F3E"/>
                </a:solidFill>
                <a:latin typeface="Calibri"/>
              </a:rPr>
              <a:t>Cost</a:t>
            </a:r>
          </a:p>
        </p:txBody>
      </p:sp>
      <p:sp>
        <p:nvSpPr>
          <p:cNvPr id="22" name="Oval 21"/>
          <p:cNvSpPr/>
          <p:nvPr/>
        </p:nvSpPr>
        <p:spPr>
          <a:xfrm>
            <a:off x="2427732"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03220"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78708"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54196"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2194560"/>
            <a:ext cx="3419856" cy="493775"/>
          </a:xfrm>
          <a:prstGeom prst="rect">
            <a:avLst/>
          </a:prstGeom>
          <a:noFill/>
        </p:spPr>
        <p:txBody>
          <a:bodyPr wrap="square" lIns="0" rIns="0" tIns="0" bIns="0" anchor="ctr">
            <a:spAutoFit/>
          </a:bodyPr>
          <a:lstStyle/>
          <a:p>
            <a:pPr algn="l"/>
            <a:r>
              <a:rPr sz="1000" b="0">
                <a:solidFill>
                  <a:srgbClr val="16191F"/>
                </a:solidFill>
                <a:latin typeface="Calibri"/>
              </a:rPr>
              <a:t>The $18/mo idle floor disappears — pay per second of real agent work.</a:t>
            </a:r>
          </a:p>
        </p:txBody>
      </p:sp>
      <p:sp>
        <p:nvSpPr>
          <p:cNvPr id="27" name="TextBox 26"/>
          <p:cNvSpPr txBox="1"/>
          <p:nvPr/>
        </p:nvSpPr>
        <p:spPr>
          <a:xfrm>
            <a:off x="8046719" y="2194560"/>
            <a:ext cx="2432303" cy="493775"/>
          </a:xfrm>
          <a:prstGeom prst="rect">
            <a:avLst/>
          </a:prstGeom>
          <a:noFill/>
        </p:spPr>
        <p:txBody>
          <a:bodyPr wrap="square" lIns="0" rIns="0" tIns="0" bIns="0" anchor="ctr">
            <a:spAutoFit/>
          </a:bodyPr>
          <a:lstStyle/>
          <a:p>
            <a:pPr algn="l"/>
            <a:r>
              <a:rPr sz="1000" b="0">
                <a:solidFill>
                  <a:srgbClr val="16191F"/>
                </a:solidFill>
                <a:latin typeface="Calibri"/>
              </a:rPr>
              <a:t>Unit price is 2.20× dearer per vCPU-hour; it wins on granularity, not rate.</a:t>
            </a:r>
          </a:p>
        </p:txBody>
      </p:sp>
      <p:sp>
        <p:nvSpPr>
          <p:cNvPr id="28" name="Rounded Rectangle 27"/>
          <p:cNvSpPr/>
          <p:nvPr/>
        </p:nvSpPr>
        <p:spPr>
          <a:xfrm>
            <a:off x="10661904" y="232257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1904" y="232257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0" name="Rectangle 29"/>
          <p:cNvSpPr/>
          <p:nvPr/>
        </p:nvSpPr>
        <p:spPr>
          <a:xfrm>
            <a:off x="566928" y="33924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761487"/>
            <a:ext cx="1517904" cy="640080"/>
          </a:xfrm>
          <a:prstGeom prst="rect">
            <a:avLst/>
          </a:prstGeom>
          <a:noFill/>
        </p:spPr>
        <p:txBody>
          <a:bodyPr wrap="square" lIns="0" rIns="0" tIns="0" bIns="0" anchor="ctr">
            <a:spAutoFit/>
          </a:bodyPr>
          <a:lstStyle/>
          <a:p>
            <a:pPr algn="l"/>
            <a:r>
              <a:rPr sz="1250" b="1">
                <a:solidFill>
                  <a:srgbClr val="232F3E"/>
                </a:solidFill>
                <a:latin typeface="Calibri"/>
              </a:rPr>
              <a:t>Resilience</a:t>
            </a:r>
          </a:p>
        </p:txBody>
      </p:sp>
      <p:sp>
        <p:nvSpPr>
          <p:cNvPr id="32" name="Oval 31"/>
          <p:cNvSpPr/>
          <p:nvPr/>
        </p:nvSpPr>
        <p:spPr>
          <a:xfrm>
            <a:off x="2427732"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926079"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78708"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877056"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52544" y="2834639"/>
            <a:ext cx="3419856" cy="493775"/>
          </a:xfrm>
          <a:prstGeom prst="rect">
            <a:avLst/>
          </a:prstGeom>
          <a:noFill/>
        </p:spPr>
        <p:txBody>
          <a:bodyPr wrap="square" lIns="0" rIns="0" tIns="0" bIns="0" anchor="ctr">
            <a:spAutoFit/>
          </a:bodyPr>
          <a:lstStyle/>
          <a:p>
            <a:pPr algn="l"/>
            <a:r>
              <a:rPr sz="1000" b="0">
                <a:solidFill>
                  <a:srgbClr val="16191F"/>
                </a:solidFill>
                <a:latin typeface="Calibri"/>
              </a:rPr>
              <a:t>A microVM per session and a Lambda per tool: one fault loses 1 session, not 40.</a:t>
            </a:r>
          </a:p>
        </p:txBody>
      </p:sp>
      <p:sp>
        <p:nvSpPr>
          <p:cNvPr id="37" name="TextBox 36"/>
          <p:cNvSpPr txBox="1"/>
          <p:nvPr/>
        </p:nvSpPr>
        <p:spPr>
          <a:xfrm>
            <a:off x="8046719" y="2834639"/>
            <a:ext cx="2432303" cy="493775"/>
          </a:xfrm>
          <a:prstGeom prst="rect">
            <a:avLst/>
          </a:prstGeom>
          <a:noFill/>
        </p:spPr>
        <p:txBody>
          <a:bodyPr wrap="square" lIns="0" rIns="0" tIns="0" bIns="0" anchor="ctr">
            <a:spAutoFit/>
          </a:bodyPr>
          <a:lstStyle/>
          <a:p>
            <a:pPr algn="l"/>
            <a:r>
              <a:rPr sz="1000" b="0">
                <a:solidFill>
                  <a:srgbClr val="16191F"/>
                </a:solidFill>
                <a:latin typeface="Calibri"/>
              </a:rPr>
              <a:t>The container stops being yours — no sidecars, no in-process cache.</a:t>
            </a:r>
          </a:p>
        </p:txBody>
      </p:sp>
      <p:sp>
        <p:nvSpPr>
          <p:cNvPr id="38" name="Rounded Rectangle 37"/>
          <p:cNvSpPr/>
          <p:nvPr/>
        </p:nvSpPr>
        <p:spPr>
          <a:xfrm>
            <a:off x="10661904" y="296265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61904" y="296265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40" name="Rectangle 39"/>
          <p:cNvSpPr/>
          <p:nvPr/>
        </p:nvSpPr>
        <p:spPr>
          <a:xfrm>
            <a:off x="566928" y="340156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03250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3401568"/>
            <a:ext cx="1517904" cy="640080"/>
          </a:xfrm>
          <a:prstGeom prst="rect">
            <a:avLst/>
          </a:prstGeom>
          <a:noFill/>
        </p:spPr>
        <p:txBody>
          <a:bodyPr wrap="square" lIns="0" rIns="0" tIns="0" bIns="0" anchor="ctr">
            <a:spAutoFit/>
          </a:bodyPr>
          <a:lstStyle/>
          <a:p>
            <a:pPr algn="l"/>
            <a:r>
              <a:rPr sz="1250" b="1">
                <a:solidFill>
                  <a:srgbClr val="232F3E"/>
                </a:solidFill>
                <a:latin typeface="Calibri"/>
              </a:rPr>
              <a:t>Security</a:t>
            </a:r>
          </a:p>
        </p:txBody>
      </p:sp>
      <p:sp>
        <p:nvSpPr>
          <p:cNvPr id="43" name="Oval 42"/>
          <p:cNvSpPr/>
          <p:nvPr/>
        </p:nvSpPr>
        <p:spPr>
          <a:xfrm>
            <a:off x="2427732"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26079"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378708"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877056"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52544" y="3474720"/>
            <a:ext cx="3419856" cy="493775"/>
          </a:xfrm>
          <a:prstGeom prst="rect">
            <a:avLst/>
          </a:prstGeom>
          <a:noFill/>
        </p:spPr>
        <p:txBody>
          <a:bodyPr wrap="square" lIns="0" rIns="0" tIns="0" bIns="0" anchor="ctr">
            <a:spAutoFit/>
          </a:bodyPr>
          <a:lstStyle/>
          <a:p>
            <a:pPr algn="l"/>
            <a:r>
              <a:rPr sz="1000" b="0">
                <a:solidFill>
                  <a:srgbClr val="16191F"/>
                </a:solidFill>
                <a:latin typeface="Calibri"/>
              </a:rPr>
              <a:t>Auth resolves per tool; a hijacked session reaches only its own tokens.</a:t>
            </a:r>
          </a:p>
        </p:txBody>
      </p:sp>
      <p:sp>
        <p:nvSpPr>
          <p:cNvPr id="48" name="TextBox 47"/>
          <p:cNvSpPr txBox="1"/>
          <p:nvPr/>
        </p:nvSpPr>
        <p:spPr>
          <a:xfrm>
            <a:off x="8046719" y="3474720"/>
            <a:ext cx="2432303" cy="493775"/>
          </a:xfrm>
          <a:prstGeom prst="rect">
            <a:avLst/>
          </a:prstGeom>
          <a:noFill/>
        </p:spPr>
        <p:txBody>
          <a:bodyPr wrap="square" lIns="0" rIns="0" tIns="0" bIns="0" anchor="ctr">
            <a:spAutoFit/>
          </a:bodyPr>
          <a:lstStyle/>
          <a:p>
            <a:pPr algn="l"/>
            <a:r>
              <a:rPr sz="1000" b="0">
                <a:solidFill>
                  <a:srgbClr val="16191F"/>
                </a:solidFill>
                <a:latin typeface="Calibri"/>
              </a:rPr>
              <a:t>The isolation boundary is managed — you trust it, you cannot inspect it.</a:t>
            </a:r>
          </a:p>
        </p:txBody>
      </p:sp>
      <p:sp>
        <p:nvSpPr>
          <p:cNvPr id="49" name="Rounded Rectangle 48"/>
          <p:cNvSpPr/>
          <p:nvPr/>
        </p:nvSpPr>
        <p:spPr>
          <a:xfrm>
            <a:off x="10661904" y="3602735"/>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661904" y="3602735"/>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51" name="Rectangle 50"/>
          <p:cNvSpPr/>
          <p:nvPr/>
        </p:nvSpPr>
        <p:spPr>
          <a:xfrm>
            <a:off x="566928" y="4672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4041648"/>
            <a:ext cx="1517904" cy="640080"/>
          </a:xfrm>
          <a:prstGeom prst="rect">
            <a:avLst/>
          </a:prstGeom>
          <a:noFill/>
        </p:spPr>
        <p:txBody>
          <a:bodyPr wrap="square" lIns="0" rIns="0" tIns="0" bIns="0" anchor="ctr">
            <a:spAutoFit/>
          </a:bodyPr>
          <a:lstStyle/>
          <a:p>
            <a:pPr algn="l"/>
            <a:r>
              <a:rPr sz="1250" b="1">
                <a:solidFill>
                  <a:srgbClr val="232F3E"/>
                </a:solidFill>
                <a:latin typeface="Calibri"/>
              </a:rPr>
              <a:t>Ownership &amp; velocity</a:t>
            </a:r>
          </a:p>
        </p:txBody>
      </p:sp>
      <p:sp>
        <p:nvSpPr>
          <p:cNvPr id="53" name="Oval 52"/>
          <p:cNvSpPr/>
          <p:nvPr/>
        </p:nvSpPr>
        <p:spPr>
          <a:xfrm>
            <a:off x="2450592"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03220"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78708"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877056"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52544" y="4114800"/>
            <a:ext cx="3419856" cy="493775"/>
          </a:xfrm>
          <a:prstGeom prst="rect">
            <a:avLst/>
          </a:prstGeom>
          <a:noFill/>
        </p:spPr>
        <p:txBody>
          <a:bodyPr wrap="square" lIns="0" rIns="0" tIns="0" bIns="0" anchor="ctr">
            <a:spAutoFit/>
          </a:bodyPr>
          <a:lstStyle/>
          <a:p>
            <a:pPr algn="l"/>
            <a:r>
              <a:rPr sz="1000" b="0">
                <a:solidFill>
                  <a:srgbClr val="16191F"/>
                </a:solidFill>
                <a:latin typeface="Calibri"/>
              </a:rPr>
              <a:t>Extraction becomes the service’s prompt; adding a tool stops being a deploy.</a:t>
            </a:r>
          </a:p>
        </p:txBody>
      </p:sp>
      <p:sp>
        <p:nvSpPr>
          <p:cNvPr id="58" name="TextBox 57"/>
          <p:cNvSpPr txBox="1"/>
          <p:nvPr/>
        </p:nvSpPr>
        <p:spPr>
          <a:xfrm>
            <a:off x="8046719" y="4114800"/>
            <a:ext cx="2432303" cy="493775"/>
          </a:xfrm>
          <a:prstGeom prst="rect">
            <a:avLst/>
          </a:prstGeom>
          <a:noFill/>
        </p:spPr>
        <p:txBody>
          <a:bodyPr wrap="square" lIns="0" rIns="0" tIns="0" bIns="0" anchor="ctr">
            <a:spAutoFit/>
          </a:bodyPr>
          <a:lstStyle/>
          <a:p>
            <a:pPr algn="l"/>
            <a:r>
              <a:rPr sz="1000" b="0">
                <a:solidFill>
                  <a:srgbClr val="16191F"/>
                </a:solidFill>
                <a:latin typeface="Calibri"/>
              </a:rPr>
              <a:t>You lose the extraction schema you designed — and the fields only it had.</a:t>
            </a:r>
          </a:p>
        </p:txBody>
      </p:sp>
      <p:sp>
        <p:nvSpPr>
          <p:cNvPr id="59" name="Rounded Rectangle 58"/>
          <p:cNvSpPr/>
          <p:nvPr/>
        </p:nvSpPr>
        <p:spPr>
          <a:xfrm>
            <a:off x="10661904" y="424281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61904" y="424281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61" name="Rectangle 60"/>
          <p:cNvSpPr/>
          <p:nvPr/>
        </p:nvSpPr>
        <p:spPr>
          <a:xfrm>
            <a:off x="566928" y="4681727"/>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5312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 y="4681727"/>
            <a:ext cx="1517904" cy="640080"/>
          </a:xfrm>
          <a:prstGeom prst="rect">
            <a:avLst/>
          </a:prstGeom>
          <a:noFill/>
        </p:spPr>
        <p:txBody>
          <a:bodyPr wrap="square" lIns="0" rIns="0" tIns="0" bIns="0" anchor="ctr">
            <a:spAutoFit/>
          </a:bodyPr>
          <a:lstStyle/>
          <a:p>
            <a:pPr algn="l"/>
            <a:r>
              <a:rPr sz="1250" b="1">
                <a:solidFill>
                  <a:srgbClr val="232F3E"/>
                </a:solidFill>
                <a:latin typeface="Calibri"/>
              </a:rPr>
              <a:t>Debuggability</a:t>
            </a:r>
          </a:p>
        </p:txBody>
      </p:sp>
      <p:sp>
        <p:nvSpPr>
          <p:cNvPr id="64" name="Oval 63"/>
          <p:cNvSpPr/>
          <p:nvPr/>
        </p:nvSpPr>
        <p:spPr>
          <a:xfrm>
            <a:off x="2450592"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926079"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01568"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854196" y="492404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52544" y="4754879"/>
            <a:ext cx="3419856" cy="493775"/>
          </a:xfrm>
          <a:prstGeom prst="rect">
            <a:avLst/>
          </a:prstGeom>
          <a:noFill/>
        </p:spPr>
        <p:txBody>
          <a:bodyPr wrap="square" lIns="0" rIns="0" tIns="0" bIns="0" anchor="ctr">
            <a:spAutoFit/>
          </a:bodyPr>
          <a:lstStyle/>
          <a:p>
            <a:pPr algn="l"/>
            <a:r>
              <a:rPr sz="1000" b="0">
                <a:solidFill>
                  <a:srgbClr val="16191F"/>
                </a:solidFill>
                <a:latin typeface="Calibri"/>
              </a:rPr>
              <a:t>Hand-wired OTEL emits exactly the fields that decide an incident at 2am.</a:t>
            </a:r>
          </a:p>
        </p:txBody>
      </p:sp>
      <p:sp>
        <p:nvSpPr>
          <p:cNvPr id="69" name="TextBox 68"/>
          <p:cNvSpPr txBox="1"/>
          <p:nvPr/>
        </p:nvSpPr>
        <p:spPr>
          <a:xfrm>
            <a:off x="8046719" y="4754879"/>
            <a:ext cx="2432303" cy="493775"/>
          </a:xfrm>
          <a:prstGeom prst="rect">
            <a:avLst/>
          </a:prstGeom>
          <a:noFill/>
        </p:spPr>
        <p:txBody>
          <a:bodyPr wrap="square" lIns="0" rIns="0" tIns="0" bIns="0" anchor="ctr">
            <a:spAutoFit/>
          </a:bodyPr>
          <a:lstStyle/>
          <a:p>
            <a:pPr algn="l"/>
            <a:r>
              <a:rPr sz="1000" b="0">
                <a:solidFill>
                  <a:srgbClr val="16191F"/>
                </a:solidFill>
                <a:latin typeface="Calibri"/>
              </a:rPr>
              <a:t>You write and maintain the span plumbing, plus a CloudWatch bill.</a:t>
            </a:r>
          </a:p>
        </p:txBody>
      </p:sp>
      <p:sp>
        <p:nvSpPr>
          <p:cNvPr id="70" name="Rounded Rectangle 69"/>
          <p:cNvSpPr/>
          <p:nvPr/>
        </p:nvSpPr>
        <p:spPr>
          <a:xfrm>
            <a:off x="10661904" y="4882895"/>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661904" y="4882895"/>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72" name="Rectangle 71"/>
          <p:cNvSpPr/>
          <p:nvPr/>
        </p:nvSpPr>
        <p:spPr>
          <a:xfrm>
            <a:off x="566928" y="59527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8368" y="5321808"/>
            <a:ext cx="1517904" cy="640080"/>
          </a:xfrm>
          <a:prstGeom prst="rect">
            <a:avLst/>
          </a:prstGeom>
          <a:noFill/>
        </p:spPr>
        <p:txBody>
          <a:bodyPr wrap="square" lIns="0" rIns="0" tIns="0" bIns="0" anchor="ctr">
            <a:spAutoFit/>
          </a:bodyPr>
          <a:lstStyle/>
          <a:p>
            <a:pPr algn="l"/>
            <a:r>
              <a:rPr sz="1250" b="1">
                <a:solidFill>
                  <a:srgbClr val="232F3E"/>
                </a:solidFill>
                <a:latin typeface="Calibri"/>
              </a:rPr>
              <a:t>Latency</a:t>
            </a:r>
          </a:p>
        </p:txBody>
      </p:sp>
      <p:sp>
        <p:nvSpPr>
          <p:cNvPr id="74" name="Oval 73"/>
          <p:cNvSpPr/>
          <p:nvPr/>
        </p:nvSpPr>
        <p:spPr>
          <a:xfrm>
            <a:off x="2427732"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926079"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78708"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877056"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352544" y="5394960"/>
            <a:ext cx="3419856" cy="493775"/>
          </a:xfrm>
          <a:prstGeom prst="rect">
            <a:avLst/>
          </a:prstGeom>
          <a:noFill/>
        </p:spPr>
        <p:txBody>
          <a:bodyPr wrap="square" lIns="0" rIns="0" tIns="0" bIns="0" anchor="ctr">
            <a:spAutoFit/>
          </a:bodyPr>
          <a:lstStyle/>
          <a:p>
            <a:pPr algn="l"/>
            <a:r>
              <a:rPr sz="1000" b="0">
                <a:solidFill>
                  <a:srgbClr val="16191F"/>
                </a:solidFill>
                <a:latin typeface="Calibri"/>
              </a:rPr>
              <a:t>In-process tools on a warm task — a turn never waits on a hop.</a:t>
            </a:r>
          </a:p>
        </p:txBody>
      </p:sp>
      <p:sp>
        <p:nvSpPr>
          <p:cNvPr id="79" name="TextBox 78"/>
          <p:cNvSpPr txBox="1"/>
          <p:nvPr/>
        </p:nvSpPr>
        <p:spPr>
          <a:xfrm>
            <a:off x="8046719" y="5394960"/>
            <a:ext cx="2432303" cy="493775"/>
          </a:xfrm>
          <a:prstGeom prst="rect">
            <a:avLst/>
          </a:prstGeom>
          <a:noFill/>
        </p:spPr>
        <p:txBody>
          <a:bodyPr wrap="square" lIns="0" rIns="0" tIns="0" bIns="0" anchor="ctr">
            <a:spAutoFit/>
          </a:bodyPr>
          <a:lstStyle/>
          <a:p>
            <a:pPr algn="l"/>
            <a:r>
              <a:rPr sz="1000" b="0">
                <a:solidFill>
                  <a:srgbClr val="16191F"/>
                </a:solidFill>
                <a:latin typeface="Calibri"/>
              </a:rPr>
              <a:t>Engine B cold-starts an idle session and pays a Gateway hop per tool call.</a:t>
            </a:r>
          </a:p>
        </p:txBody>
      </p:sp>
      <p:sp>
        <p:nvSpPr>
          <p:cNvPr id="80" name="Rounded Rectangle 79"/>
          <p:cNvSpPr/>
          <p:nvPr/>
        </p:nvSpPr>
        <p:spPr>
          <a:xfrm>
            <a:off x="10661904" y="5522976"/>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661904" y="5522976"/>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82" name="Rounded Rectangle 81"/>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8" y="6016752"/>
            <a:ext cx="10698480" cy="384048"/>
          </a:xfrm>
          <a:prstGeom prst="rect">
            <a:avLst/>
          </a:prstGeom>
          <a:noFill/>
        </p:spPr>
        <p:txBody>
          <a:bodyPr wrap="square" lIns="0" rIns="0" tIns="0" bIns="0" anchor="ctr">
            <a:spAutoFit/>
          </a:bodyPr>
          <a:lstStyle/>
          <a:p>
            <a:pPr algn="l"/>
            <a:r>
              <a:rPr sz="1150" b="1">
                <a:solidFill>
                  <a:srgbClr val="232F3E"/>
                </a:solidFill>
                <a:latin typeface="Calibri"/>
              </a:rPr>
              <a:t>4–2 to AgentCore — and the two it loses are the honest half. Latency stays on this slide: it does not change the decision.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6</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7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Cost — the floor vs. the meter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same two bills at four scales. Left: what engine A is paying for. Right: what each user costs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6" name="Rounded Rectangle 15"/>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9" name="Rounded Rectangle 18"/>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22" name="TextBox 21"/>
          <p:cNvSpPr txBox="1"/>
          <p:nvPr/>
        </p:nvSpPr>
        <p:spPr>
          <a:xfrm>
            <a:off x="566928" y="2304288"/>
            <a:ext cx="6620256" cy="237744"/>
          </a:xfrm>
          <a:prstGeom prst="rect">
            <a:avLst/>
          </a:prstGeom>
          <a:noFill/>
        </p:spPr>
        <p:txBody>
          <a:bodyPr wrap="square" lIns="0" rIns="0" tIns="0" bIns="0" anchor="ctr">
            <a:spAutoFit/>
          </a:bodyPr>
          <a:lstStyle/>
          <a:p>
            <a:pPr algn="l"/>
            <a:r>
              <a:rPr sz="1050" b="1">
                <a:solidFill>
                  <a:srgbClr val="232F3E"/>
                </a:solidFill>
                <a:latin typeface="Calibri"/>
              </a:rPr>
              <a:t>ENGINE A · DIY — WHAT THE BILL IS MADE OF</a:t>
            </a:r>
          </a:p>
        </p:txBody>
      </p:sp>
      <p:sp>
        <p:nvSpPr>
          <p:cNvPr id="23" name="Rectangle 22"/>
          <p:cNvSpPr/>
          <p:nvPr/>
        </p:nvSpPr>
        <p:spPr>
          <a:xfrm>
            <a:off x="566928" y="2606039"/>
            <a:ext cx="182880" cy="128016"/>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2560320"/>
            <a:ext cx="2377440" cy="219456"/>
          </a:xfrm>
          <a:prstGeom prst="rect">
            <a:avLst/>
          </a:prstGeom>
          <a:noFill/>
        </p:spPr>
        <p:txBody>
          <a:bodyPr wrap="square" lIns="0" rIns="0" tIns="0" bIns="0" anchor="ctr">
            <a:spAutoFit/>
          </a:bodyPr>
          <a:lstStyle/>
          <a:p>
            <a:pPr algn="l"/>
            <a:r>
              <a:rPr sz="1000" b="0">
                <a:solidFill>
                  <a:srgbClr val="545B64"/>
                </a:solidFill>
                <a:latin typeface="Calibri"/>
              </a:rPr>
              <a:t>fixed floor — Fargate tasks</a:t>
            </a:r>
          </a:p>
        </p:txBody>
      </p:sp>
      <p:sp>
        <p:nvSpPr>
          <p:cNvPr id="25" name="Rectangle 24"/>
          <p:cNvSpPr/>
          <p:nvPr/>
        </p:nvSpPr>
        <p:spPr>
          <a:xfrm>
            <a:off x="3310128" y="2606039"/>
            <a:ext cx="182880" cy="12801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84448" y="2560320"/>
            <a:ext cx="2377440" cy="219456"/>
          </a:xfrm>
          <a:prstGeom prst="rect">
            <a:avLst/>
          </a:prstGeom>
          <a:noFill/>
        </p:spPr>
        <p:txBody>
          <a:bodyPr wrap="square" lIns="0" rIns="0" tIns="0" bIns="0" anchor="ctr">
            <a:spAutoFit/>
          </a:bodyPr>
          <a:lstStyle/>
          <a:p>
            <a:pPr algn="l"/>
            <a:r>
              <a:rPr sz="1000" b="0">
                <a:solidFill>
                  <a:srgbClr val="545B64"/>
                </a:solidFill>
                <a:latin typeface="Calibri"/>
              </a:rPr>
              <a:t>usage — extraction calls</a:t>
            </a:r>
          </a:p>
        </p:txBody>
      </p:sp>
      <p:sp>
        <p:nvSpPr>
          <p:cNvPr id="27" name="TextBox 26"/>
          <p:cNvSpPr txBox="1"/>
          <p:nvPr/>
        </p:nvSpPr>
        <p:spPr>
          <a:xfrm>
            <a:off x="566928" y="2871216"/>
            <a:ext cx="1060704" cy="274320"/>
          </a:xfrm>
          <a:prstGeom prst="rect">
            <a:avLst/>
          </a:prstGeom>
          <a:noFill/>
        </p:spPr>
        <p:txBody>
          <a:bodyPr wrap="square" lIns="0" rIns="0" tIns="0" bIns="0" anchor="ctr">
            <a:spAutoFit/>
          </a:bodyPr>
          <a:lstStyle/>
          <a:p>
            <a:pPr algn="r"/>
            <a:r>
              <a:rPr sz="1100" b="1">
                <a:solidFill>
                  <a:srgbClr val="232F3E"/>
                </a:solidFill>
                <a:latin typeface="Calibri"/>
              </a:rPr>
              <a:t>1 user</a:t>
            </a:r>
          </a:p>
        </p:txBody>
      </p:sp>
      <p:sp>
        <p:nvSpPr>
          <p:cNvPr id="28" name="Rectangle 27"/>
          <p:cNvSpPr/>
          <p:nvPr/>
        </p:nvSpPr>
        <p:spPr>
          <a:xfrm>
            <a:off x="1737360" y="2871216"/>
            <a:ext cx="3651285" cy="274320"/>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88645" y="2871216"/>
            <a:ext cx="280634" cy="2743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36208" y="2852928"/>
            <a:ext cx="950976" cy="164592"/>
          </a:xfrm>
          <a:prstGeom prst="rect">
            <a:avLst/>
          </a:prstGeom>
          <a:noFill/>
        </p:spPr>
        <p:txBody>
          <a:bodyPr wrap="square" lIns="0" rIns="0" tIns="0" bIns="0" anchor="ctr">
            <a:spAutoFit/>
          </a:bodyPr>
          <a:lstStyle/>
          <a:p>
            <a:pPr algn="r"/>
            <a:r>
              <a:rPr sz="1150" b="1">
                <a:solidFill>
                  <a:srgbClr val="232F3E"/>
                </a:solidFill>
                <a:latin typeface="Calibri"/>
              </a:rPr>
              <a:t>$19.41</a:t>
            </a:r>
          </a:p>
        </p:txBody>
      </p:sp>
      <p:sp>
        <p:nvSpPr>
          <p:cNvPr id="31" name="TextBox 30"/>
          <p:cNvSpPr txBox="1"/>
          <p:nvPr/>
        </p:nvSpPr>
        <p:spPr>
          <a:xfrm>
            <a:off x="6236208" y="3017520"/>
            <a:ext cx="950976" cy="146304"/>
          </a:xfrm>
          <a:prstGeom prst="rect">
            <a:avLst/>
          </a:prstGeom>
          <a:noFill/>
        </p:spPr>
        <p:txBody>
          <a:bodyPr wrap="square" lIns="0" rIns="0" tIns="0" bIns="0" anchor="ctr">
            <a:spAutoFit/>
          </a:bodyPr>
          <a:lstStyle/>
          <a:p>
            <a:pPr algn="r"/>
            <a:r>
              <a:rPr sz="1000" b="1">
                <a:solidFill>
                  <a:srgbClr val="1E7C3C"/>
                </a:solidFill>
                <a:latin typeface="Calibri"/>
              </a:rPr>
              <a:t>engine B  $0.10</a:t>
            </a:r>
          </a:p>
        </p:txBody>
      </p:sp>
      <p:sp>
        <p:nvSpPr>
          <p:cNvPr id="32" name="TextBox 31"/>
          <p:cNvSpPr txBox="1"/>
          <p:nvPr/>
        </p:nvSpPr>
        <p:spPr>
          <a:xfrm>
            <a:off x="1828800" y="2871216"/>
            <a:ext cx="3468405" cy="274320"/>
          </a:xfrm>
          <a:prstGeom prst="rect">
            <a:avLst/>
          </a:prstGeom>
          <a:noFill/>
        </p:spPr>
        <p:txBody>
          <a:bodyPr wrap="square" lIns="0" rIns="0" tIns="0" bIns="0" anchor="ctr">
            <a:spAutoFit/>
          </a:bodyPr>
          <a:lstStyle/>
          <a:p>
            <a:pPr algn="l"/>
            <a:r>
              <a:rPr sz="1000" b="1">
                <a:solidFill>
                  <a:srgbClr val="FFFFFF"/>
                </a:solidFill>
                <a:latin typeface="Calibri"/>
              </a:rPr>
              <a:t>93%</a:t>
            </a:r>
          </a:p>
        </p:txBody>
      </p:sp>
      <p:sp>
        <p:nvSpPr>
          <p:cNvPr id="33" name="TextBox 32"/>
          <p:cNvSpPr txBox="1"/>
          <p:nvPr/>
        </p:nvSpPr>
        <p:spPr>
          <a:xfrm>
            <a:off x="5724143" y="2871216"/>
            <a:ext cx="457200" cy="274320"/>
          </a:xfrm>
          <a:prstGeom prst="rect">
            <a:avLst/>
          </a:prstGeom>
          <a:noFill/>
        </p:spPr>
        <p:txBody>
          <a:bodyPr wrap="square" lIns="0" rIns="0" tIns="0" bIns="0" anchor="ctr">
            <a:spAutoFit/>
          </a:bodyPr>
          <a:lstStyle/>
          <a:p>
            <a:pPr algn="l"/>
            <a:r>
              <a:rPr sz="1000" b="1">
                <a:solidFill>
                  <a:srgbClr val="545B64"/>
                </a:solidFill>
                <a:latin typeface="Calibri"/>
              </a:rPr>
              <a:t>7%</a:t>
            </a:r>
          </a:p>
        </p:txBody>
      </p:sp>
      <p:sp>
        <p:nvSpPr>
          <p:cNvPr id="34" name="TextBox 33"/>
          <p:cNvSpPr txBox="1"/>
          <p:nvPr/>
        </p:nvSpPr>
        <p:spPr>
          <a:xfrm>
            <a:off x="566928" y="3438144"/>
            <a:ext cx="1060704" cy="274320"/>
          </a:xfrm>
          <a:prstGeom prst="rect">
            <a:avLst/>
          </a:prstGeom>
          <a:noFill/>
        </p:spPr>
        <p:txBody>
          <a:bodyPr wrap="square" lIns="0" rIns="0" tIns="0" bIns="0" anchor="ctr">
            <a:spAutoFit/>
          </a:bodyPr>
          <a:lstStyle/>
          <a:p>
            <a:pPr algn="r"/>
            <a:r>
              <a:rPr sz="1100" b="1">
                <a:solidFill>
                  <a:srgbClr val="232F3E"/>
                </a:solidFill>
                <a:latin typeface="Calibri"/>
              </a:rPr>
              <a:t>10 users</a:t>
            </a:r>
          </a:p>
        </p:txBody>
      </p:sp>
      <p:sp>
        <p:nvSpPr>
          <p:cNvPr id="35" name="Rectangle 34"/>
          <p:cNvSpPr/>
          <p:nvPr/>
        </p:nvSpPr>
        <p:spPr>
          <a:xfrm>
            <a:off x="1737360" y="3438144"/>
            <a:ext cx="2223194" cy="274320"/>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0554" y="3438144"/>
            <a:ext cx="1708725" cy="2743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8" y="3419856"/>
            <a:ext cx="950976" cy="164592"/>
          </a:xfrm>
          <a:prstGeom prst="rect">
            <a:avLst/>
          </a:prstGeom>
          <a:noFill/>
        </p:spPr>
        <p:txBody>
          <a:bodyPr wrap="square" lIns="0" rIns="0" tIns="0" bIns="0" anchor="ctr">
            <a:spAutoFit/>
          </a:bodyPr>
          <a:lstStyle/>
          <a:p>
            <a:pPr algn="r"/>
            <a:r>
              <a:rPr sz="1150" b="1">
                <a:solidFill>
                  <a:srgbClr val="232F3E"/>
                </a:solidFill>
                <a:latin typeface="Calibri"/>
              </a:rPr>
              <a:t>$31.87</a:t>
            </a:r>
          </a:p>
        </p:txBody>
      </p:sp>
      <p:sp>
        <p:nvSpPr>
          <p:cNvPr id="38" name="TextBox 37"/>
          <p:cNvSpPr txBox="1"/>
          <p:nvPr/>
        </p:nvSpPr>
        <p:spPr>
          <a:xfrm>
            <a:off x="6236208" y="3584448"/>
            <a:ext cx="950976" cy="146304"/>
          </a:xfrm>
          <a:prstGeom prst="rect">
            <a:avLst/>
          </a:prstGeom>
          <a:noFill/>
        </p:spPr>
        <p:txBody>
          <a:bodyPr wrap="square" lIns="0" rIns="0" tIns="0" bIns="0" anchor="ctr">
            <a:spAutoFit/>
          </a:bodyPr>
          <a:lstStyle/>
          <a:p>
            <a:pPr algn="r"/>
            <a:r>
              <a:rPr sz="1000" b="1">
                <a:solidFill>
                  <a:srgbClr val="1E7C3C"/>
                </a:solidFill>
                <a:latin typeface="Calibri"/>
              </a:rPr>
              <a:t>engine B  $1.03</a:t>
            </a:r>
          </a:p>
        </p:txBody>
      </p:sp>
      <p:sp>
        <p:nvSpPr>
          <p:cNvPr id="39" name="TextBox 38"/>
          <p:cNvSpPr txBox="1"/>
          <p:nvPr/>
        </p:nvSpPr>
        <p:spPr>
          <a:xfrm>
            <a:off x="1828800" y="3438144"/>
            <a:ext cx="2040314" cy="274320"/>
          </a:xfrm>
          <a:prstGeom prst="rect">
            <a:avLst/>
          </a:prstGeom>
          <a:noFill/>
        </p:spPr>
        <p:txBody>
          <a:bodyPr wrap="square" lIns="0" rIns="0" tIns="0" bIns="0" anchor="ctr">
            <a:spAutoFit/>
          </a:bodyPr>
          <a:lstStyle/>
          <a:p>
            <a:pPr algn="l"/>
            <a:r>
              <a:rPr sz="1000" b="1">
                <a:solidFill>
                  <a:srgbClr val="FFFFFF"/>
                </a:solidFill>
                <a:latin typeface="Calibri"/>
              </a:rPr>
              <a:t>57%</a:t>
            </a:r>
          </a:p>
        </p:txBody>
      </p:sp>
      <p:sp>
        <p:nvSpPr>
          <p:cNvPr id="40" name="TextBox 39"/>
          <p:cNvSpPr txBox="1"/>
          <p:nvPr/>
        </p:nvSpPr>
        <p:spPr>
          <a:xfrm>
            <a:off x="4051994" y="3438144"/>
            <a:ext cx="1525845" cy="274320"/>
          </a:xfrm>
          <a:prstGeom prst="rect">
            <a:avLst/>
          </a:prstGeom>
          <a:noFill/>
        </p:spPr>
        <p:txBody>
          <a:bodyPr wrap="square" lIns="0" rIns="0" tIns="0" bIns="0" anchor="ctr">
            <a:spAutoFit/>
          </a:bodyPr>
          <a:lstStyle/>
          <a:p>
            <a:pPr algn="r"/>
            <a:r>
              <a:rPr sz="1000" b="1">
                <a:solidFill>
                  <a:srgbClr val="FFFFFF"/>
                </a:solidFill>
                <a:latin typeface="Calibri"/>
              </a:rPr>
              <a:t>43%</a:t>
            </a:r>
          </a:p>
        </p:txBody>
      </p:sp>
      <p:sp>
        <p:nvSpPr>
          <p:cNvPr id="41" name="TextBox 40"/>
          <p:cNvSpPr txBox="1"/>
          <p:nvPr/>
        </p:nvSpPr>
        <p:spPr>
          <a:xfrm>
            <a:off x="566928" y="4005072"/>
            <a:ext cx="1060704" cy="274320"/>
          </a:xfrm>
          <a:prstGeom prst="rect">
            <a:avLst/>
          </a:prstGeom>
          <a:noFill/>
        </p:spPr>
        <p:txBody>
          <a:bodyPr wrap="square" lIns="0" rIns="0" tIns="0" bIns="0" anchor="ctr">
            <a:spAutoFit/>
          </a:bodyPr>
          <a:lstStyle/>
          <a:p>
            <a:pPr algn="r"/>
            <a:r>
              <a:rPr sz="1100" b="1">
                <a:solidFill>
                  <a:srgbClr val="232F3E"/>
                </a:solidFill>
                <a:latin typeface="Calibri"/>
              </a:rPr>
              <a:t>1,000 users</a:t>
            </a:r>
          </a:p>
        </p:txBody>
      </p:sp>
      <p:sp>
        <p:nvSpPr>
          <p:cNvPr id="42" name="Rectangle 41"/>
          <p:cNvSpPr/>
          <p:nvPr/>
        </p:nvSpPr>
        <p:spPr>
          <a:xfrm>
            <a:off x="1737360" y="4005072"/>
            <a:ext cx="965039" cy="274320"/>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702399" y="4005072"/>
            <a:ext cx="2966880" cy="2743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36208" y="3986784"/>
            <a:ext cx="950976" cy="164592"/>
          </a:xfrm>
          <a:prstGeom prst="rect">
            <a:avLst/>
          </a:prstGeom>
          <a:noFill/>
        </p:spPr>
        <p:txBody>
          <a:bodyPr wrap="square" lIns="0" rIns="0" tIns="0" bIns="0" anchor="ctr">
            <a:spAutoFit/>
          </a:bodyPr>
          <a:lstStyle/>
          <a:p>
            <a:pPr algn="r"/>
            <a:r>
              <a:rPr sz="1150" b="1">
                <a:solidFill>
                  <a:srgbClr val="232F3E"/>
                </a:solidFill>
                <a:latin typeface="Calibri"/>
              </a:rPr>
              <a:t>$1,836</a:t>
            </a:r>
          </a:p>
        </p:txBody>
      </p:sp>
      <p:sp>
        <p:nvSpPr>
          <p:cNvPr id="45" name="TextBox 44"/>
          <p:cNvSpPr txBox="1"/>
          <p:nvPr/>
        </p:nvSpPr>
        <p:spPr>
          <a:xfrm>
            <a:off x="6236208" y="4151376"/>
            <a:ext cx="950976" cy="146304"/>
          </a:xfrm>
          <a:prstGeom prst="rect">
            <a:avLst/>
          </a:prstGeom>
          <a:noFill/>
        </p:spPr>
        <p:txBody>
          <a:bodyPr wrap="square" lIns="0" rIns="0" tIns="0" bIns="0" anchor="ctr">
            <a:spAutoFit/>
          </a:bodyPr>
          <a:lstStyle/>
          <a:p>
            <a:pPr algn="r"/>
            <a:r>
              <a:rPr sz="1000" b="1">
                <a:solidFill>
                  <a:srgbClr val="1E7C3C"/>
                </a:solidFill>
                <a:latin typeface="Calibri"/>
              </a:rPr>
              <a:t>engine B  $103</a:t>
            </a:r>
          </a:p>
        </p:txBody>
      </p:sp>
      <p:sp>
        <p:nvSpPr>
          <p:cNvPr id="46" name="TextBox 45"/>
          <p:cNvSpPr txBox="1"/>
          <p:nvPr/>
        </p:nvSpPr>
        <p:spPr>
          <a:xfrm>
            <a:off x="1828800" y="4005072"/>
            <a:ext cx="782159" cy="274320"/>
          </a:xfrm>
          <a:prstGeom prst="rect">
            <a:avLst/>
          </a:prstGeom>
          <a:noFill/>
        </p:spPr>
        <p:txBody>
          <a:bodyPr wrap="square" lIns="0" rIns="0" tIns="0" bIns="0" anchor="ctr">
            <a:spAutoFit/>
          </a:bodyPr>
          <a:lstStyle/>
          <a:p>
            <a:pPr algn="l"/>
            <a:r>
              <a:rPr sz="1000" b="1">
                <a:solidFill>
                  <a:srgbClr val="FFFFFF"/>
                </a:solidFill>
                <a:latin typeface="Calibri"/>
              </a:rPr>
              <a:t>25%</a:t>
            </a:r>
          </a:p>
        </p:txBody>
      </p:sp>
      <p:sp>
        <p:nvSpPr>
          <p:cNvPr id="47" name="TextBox 46"/>
          <p:cNvSpPr txBox="1"/>
          <p:nvPr/>
        </p:nvSpPr>
        <p:spPr>
          <a:xfrm>
            <a:off x="2793839" y="4005072"/>
            <a:ext cx="2784000" cy="274320"/>
          </a:xfrm>
          <a:prstGeom prst="rect">
            <a:avLst/>
          </a:prstGeom>
          <a:noFill/>
        </p:spPr>
        <p:txBody>
          <a:bodyPr wrap="square" lIns="0" rIns="0" tIns="0" bIns="0" anchor="ctr">
            <a:spAutoFit/>
          </a:bodyPr>
          <a:lstStyle/>
          <a:p>
            <a:pPr algn="r"/>
            <a:r>
              <a:rPr sz="1000" b="1">
                <a:solidFill>
                  <a:srgbClr val="FFFFFF"/>
                </a:solidFill>
                <a:latin typeface="Calibri"/>
              </a:rPr>
              <a:t>75%</a:t>
            </a:r>
          </a:p>
        </p:txBody>
      </p:sp>
      <p:sp>
        <p:nvSpPr>
          <p:cNvPr id="48" name="TextBox 47"/>
          <p:cNvSpPr txBox="1"/>
          <p:nvPr/>
        </p:nvSpPr>
        <p:spPr>
          <a:xfrm>
            <a:off x="566928" y="4572000"/>
            <a:ext cx="1060704" cy="274320"/>
          </a:xfrm>
          <a:prstGeom prst="rect">
            <a:avLst/>
          </a:prstGeom>
          <a:noFill/>
        </p:spPr>
        <p:txBody>
          <a:bodyPr wrap="square" lIns="0" rIns="0" tIns="0" bIns="0" anchor="ctr">
            <a:spAutoFit/>
          </a:bodyPr>
          <a:lstStyle/>
          <a:p>
            <a:pPr algn="r"/>
            <a:r>
              <a:rPr sz="1100" b="1">
                <a:solidFill>
                  <a:srgbClr val="232F3E"/>
                </a:solidFill>
                <a:latin typeface="Calibri"/>
              </a:rPr>
              <a:t>1,000,000 users</a:t>
            </a:r>
          </a:p>
        </p:txBody>
      </p:sp>
      <p:sp>
        <p:nvSpPr>
          <p:cNvPr id="49" name="Rectangle 48"/>
          <p:cNvSpPr/>
          <p:nvPr/>
        </p:nvSpPr>
        <p:spPr>
          <a:xfrm>
            <a:off x="1737360" y="4572000"/>
            <a:ext cx="965039" cy="274320"/>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02399" y="4572000"/>
            <a:ext cx="2966880" cy="2743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36208" y="4553712"/>
            <a:ext cx="950976" cy="164592"/>
          </a:xfrm>
          <a:prstGeom prst="rect">
            <a:avLst/>
          </a:prstGeom>
          <a:noFill/>
        </p:spPr>
        <p:txBody>
          <a:bodyPr wrap="square" lIns="0" rIns="0" tIns="0" bIns="0" anchor="ctr">
            <a:spAutoFit/>
          </a:bodyPr>
          <a:lstStyle/>
          <a:p>
            <a:pPr algn="r"/>
            <a:r>
              <a:rPr sz="1150" b="1">
                <a:solidFill>
                  <a:srgbClr val="232F3E"/>
                </a:solidFill>
                <a:latin typeface="Calibri"/>
              </a:rPr>
              <a:t>$1.84M</a:t>
            </a:r>
          </a:p>
        </p:txBody>
      </p:sp>
      <p:sp>
        <p:nvSpPr>
          <p:cNvPr id="52" name="TextBox 51"/>
          <p:cNvSpPr txBox="1"/>
          <p:nvPr/>
        </p:nvSpPr>
        <p:spPr>
          <a:xfrm>
            <a:off x="6236208" y="4718304"/>
            <a:ext cx="950976" cy="146304"/>
          </a:xfrm>
          <a:prstGeom prst="rect">
            <a:avLst/>
          </a:prstGeom>
          <a:noFill/>
        </p:spPr>
        <p:txBody>
          <a:bodyPr wrap="square" lIns="0" rIns="0" tIns="0" bIns="0" anchor="ctr">
            <a:spAutoFit/>
          </a:bodyPr>
          <a:lstStyle/>
          <a:p>
            <a:pPr algn="r"/>
            <a:r>
              <a:rPr sz="1000" b="1">
                <a:solidFill>
                  <a:srgbClr val="1E7C3C"/>
                </a:solidFill>
                <a:latin typeface="Calibri"/>
              </a:rPr>
              <a:t>engine B  $103K</a:t>
            </a:r>
          </a:p>
        </p:txBody>
      </p:sp>
      <p:sp>
        <p:nvSpPr>
          <p:cNvPr id="53" name="TextBox 52"/>
          <p:cNvSpPr txBox="1"/>
          <p:nvPr/>
        </p:nvSpPr>
        <p:spPr>
          <a:xfrm>
            <a:off x="1828800" y="4572000"/>
            <a:ext cx="782159" cy="274320"/>
          </a:xfrm>
          <a:prstGeom prst="rect">
            <a:avLst/>
          </a:prstGeom>
          <a:noFill/>
        </p:spPr>
        <p:txBody>
          <a:bodyPr wrap="square" lIns="0" rIns="0" tIns="0" bIns="0" anchor="ctr">
            <a:spAutoFit/>
          </a:bodyPr>
          <a:lstStyle/>
          <a:p>
            <a:pPr algn="l"/>
            <a:r>
              <a:rPr sz="1000" b="1">
                <a:solidFill>
                  <a:srgbClr val="FFFFFF"/>
                </a:solidFill>
                <a:latin typeface="Calibri"/>
              </a:rPr>
              <a:t>25%</a:t>
            </a:r>
          </a:p>
        </p:txBody>
      </p:sp>
      <p:sp>
        <p:nvSpPr>
          <p:cNvPr id="54" name="TextBox 53"/>
          <p:cNvSpPr txBox="1"/>
          <p:nvPr/>
        </p:nvSpPr>
        <p:spPr>
          <a:xfrm>
            <a:off x="2793839" y="4572000"/>
            <a:ext cx="2784000" cy="274320"/>
          </a:xfrm>
          <a:prstGeom prst="rect">
            <a:avLst/>
          </a:prstGeom>
          <a:noFill/>
        </p:spPr>
        <p:txBody>
          <a:bodyPr wrap="square" lIns="0" rIns="0" tIns="0" bIns="0" anchor="ctr">
            <a:spAutoFit/>
          </a:bodyPr>
          <a:lstStyle/>
          <a:p>
            <a:pPr algn="r"/>
            <a:r>
              <a:rPr sz="1000" b="1">
                <a:solidFill>
                  <a:srgbClr val="FFFFFF"/>
                </a:solidFill>
                <a:latin typeface="Calibri"/>
              </a:rPr>
              <a:t>75%</a:t>
            </a:r>
          </a:p>
        </p:txBody>
      </p:sp>
      <p:sp>
        <p:nvSpPr>
          <p:cNvPr id="55" name="Rectangle 54"/>
          <p:cNvSpPr/>
          <p:nvPr/>
        </p:nvSpPr>
        <p:spPr>
          <a:xfrm>
            <a:off x="7223760" y="2304288"/>
            <a:ext cx="9144" cy="2724912"/>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33488" y="2304288"/>
            <a:ext cx="4297680" cy="237744"/>
          </a:xfrm>
          <a:prstGeom prst="rect">
            <a:avLst/>
          </a:prstGeom>
          <a:noFill/>
        </p:spPr>
        <p:txBody>
          <a:bodyPr wrap="square" lIns="0" rIns="0" tIns="0" bIns="0" anchor="ctr">
            <a:spAutoFit/>
          </a:bodyPr>
          <a:lstStyle/>
          <a:p>
            <a:pPr algn="l"/>
            <a:r>
              <a:rPr sz="1050" b="1">
                <a:solidFill>
                  <a:srgbClr val="232F3E"/>
                </a:solidFill>
                <a:latin typeface="Calibri"/>
              </a:rPr>
              <a:t>COST PER USER, PER MONTH</a:t>
            </a:r>
          </a:p>
        </p:txBody>
      </p:sp>
      <p:sp>
        <p:nvSpPr>
          <p:cNvPr id="57" name="Rectangle 56"/>
          <p:cNvSpPr/>
          <p:nvPr/>
        </p:nvSpPr>
        <p:spPr>
          <a:xfrm>
            <a:off x="7333488" y="2606039"/>
            <a:ext cx="146304" cy="128016"/>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71231" y="2560320"/>
            <a:ext cx="2377440" cy="219456"/>
          </a:xfrm>
          <a:prstGeom prst="rect">
            <a:avLst/>
          </a:prstGeom>
          <a:noFill/>
        </p:spPr>
        <p:txBody>
          <a:bodyPr wrap="square" lIns="0" rIns="0" tIns="0" bIns="0" anchor="ctr">
            <a:spAutoFit/>
          </a:bodyPr>
          <a:lstStyle/>
          <a:p>
            <a:pPr algn="l"/>
            <a:r>
              <a:rPr sz="1000" b="0">
                <a:solidFill>
                  <a:srgbClr val="545B64"/>
                </a:solidFill>
                <a:latin typeface="Calibri"/>
              </a:rPr>
              <a:t>engine A</a:t>
            </a:r>
          </a:p>
        </p:txBody>
      </p:sp>
      <p:sp>
        <p:nvSpPr>
          <p:cNvPr id="59" name="Rectangle 58"/>
          <p:cNvSpPr/>
          <p:nvPr/>
        </p:nvSpPr>
        <p:spPr>
          <a:xfrm>
            <a:off x="8796528" y="2606039"/>
            <a:ext cx="146304" cy="128016"/>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34272" y="2560320"/>
            <a:ext cx="2377440" cy="219456"/>
          </a:xfrm>
          <a:prstGeom prst="rect">
            <a:avLst/>
          </a:prstGeom>
          <a:noFill/>
        </p:spPr>
        <p:txBody>
          <a:bodyPr wrap="square" lIns="0" rIns="0" tIns="0" bIns="0" anchor="ctr">
            <a:spAutoFit/>
          </a:bodyPr>
          <a:lstStyle/>
          <a:p>
            <a:pPr algn="l"/>
            <a:r>
              <a:rPr sz="1000" b="0">
                <a:solidFill>
                  <a:srgbClr val="545B64"/>
                </a:solidFill>
                <a:latin typeface="Calibri"/>
              </a:rPr>
              <a:t>engine B</a:t>
            </a:r>
          </a:p>
        </p:txBody>
      </p:sp>
      <p:sp>
        <p:nvSpPr>
          <p:cNvPr id="61" name="TextBox 60"/>
          <p:cNvSpPr txBox="1"/>
          <p:nvPr/>
        </p:nvSpPr>
        <p:spPr>
          <a:xfrm>
            <a:off x="7333488" y="2871216"/>
            <a:ext cx="804672" cy="320040"/>
          </a:xfrm>
          <a:prstGeom prst="rect">
            <a:avLst/>
          </a:prstGeom>
          <a:noFill/>
        </p:spPr>
        <p:txBody>
          <a:bodyPr wrap="square" lIns="0" rIns="0" tIns="0" bIns="0" anchor="ctr">
            <a:spAutoFit/>
          </a:bodyPr>
          <a:lstStyle/>
          <a:p>
            <a:pPr algn="r"/>
            <a:r>
              <a:rPr sz="1100" b="1">
                <a:solidFill>
                  <a:srgbClr val="232F3E"/>
                </a:solidFill>
                <a:latin typeface="Calibri"/>
              </a:rPr>
              <a:t>1</a:t>
            </a:r>
          </a:p>
        </p:txBody>
      </p:sp>
      <p:sp>
        <p:nvSpPr>
          <p:cNvPr id="62" name="Rectangle 61"/>
          <p:cNvSpPr/>
          <p:nvPr/>
        </p:nvSpPr>
        <p:spPr>
          <a:xfrm>
            <a:off x="8229600" y="2871216"/>
            <a:ext cx="2307305" cy="13716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0057" y="2852928"/>
            <a:ext cx="950976" cy="173736"/>
          </a:xfrm>
          <a:prstGeom prst="rect">
            <a:avLst/>
          </a:prstGeom>
          <a:noFill/>
        </p:spPr>
        <p:txBody>
          <a:bodyPr wrap="square" lIns="0" rIns="0" tIns="0" bIns="0" anchor="ctr">
            <a:spAutoFit/>
          </a:bodyPr>
          <a:lstStyle/>
          <a:p>
            <a:pPr algn="l"/>
            <a:r>
              <a:rPr sz="1000" b="1">
                <a:solidFill>
                  <a:srgbClr val="232F3E"/>
                </a:solidFill>
                <a:latin typeface="Calibri"/>
              </a:rPr>
              <a:t>$19.41</a:t>
            </a:r>
          </a:p>
        </p:txBody>
      </p:sp>
      <p:sp>
        <p:nvSpPr>
          <p:cNvPr id="64" name="Rectangle 63"/>
          <p:cNvSpPr/>
          <p:nvPr/>
        </p:nvSpPr>
        <p:spPr>
          <a:xfrm>
            <a:off x="8229600" y="3054096"/>
            <a:ext cx="45720" cy="137160"/>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48472" y="3035808"/>
            <a:ext cx="950976" cy="173736"/>
          </a:xfrm>
          <a:prstGeom prst="rect">
            <a:avLst/>
          </a:prstGeom>
          <a:noFill/>
        </p:spPr>
        <p:txBody>
          <a:bodyPr wrap="square" lIns="0" rIns="0" tIns="0" bIns="0" anchor="ctr">
            <a:spAutoFit/>
          </a:bodyPr>
          <a:lstStyle/>
          <a:p>
            <a:pPr algn="l"/>
            <a:r>
              <a:rPr sz="1000" b="1">
                <a:solidFill>
                  <a:srgbClr val="1E7C3C"/>
                </a:solidFill>
                <a:latin typeface="Calibri"/>
              </a:rPr>
              <a:t>$0.10</a:t>
            </a:r>
          </a:p>
        </p:txBody>
      </p:sp>
      <p:sp>
        <p:nvSpPr>
          <p:cNvPr id="66" name="TextBox 65"/>
          <p:cNvSpPr txBox="1"/>
          <p:nvPr/>
        </p:nvSpPr>
        <p:spPr>
          <a:xfrm>
            <a:off x="7333488" y="3438144"/>
            <a:ext cx="804672" cy="320040"/>
          </a:xfrm>
          <a:prstGeom prst="rect">
            <a:avLst/>
          </a:prstGeom>
          <a:noFill/>
        </p:spPr>
        <p:txBody>
          <a:bodyPr wrap="square" lIns="0" rIns="0" tIns="0" bIns="0" anchor="ctr">
            <a:spAutoFit/>
          </a:bodyPr>
          <a:lstStyle/>
          <a:p>
            <a:pPr algn="r"/>
            <a:r>
              <a:rPr sz="1100" b="1">
                <a:solidFill>
                  <a:srgbClr val="232F3E"/>
                </a:solidFill>
                <a:latin typeface="Calibri"/>
              </a:rPr>
              <a:t>10</a:t>
            </a:r>
          </a:p>
        </p:txBody>
      </p:sp>
      <p:sp>
        <p:nvSpPr>
          <p:cNvPr id="67" name="Rectangle 66"/>
          <p:cNvSpPr/>
          <p:nvPr/>
        </p:nvSpPr>
        <p:spPr>
          <a:xfrm>
            <a:off x="8229600" y="3438144"/>
            <a:ext cx="379201" cy="13716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81953" y="3419856"/>
            <a:ext cx="950976" cy="173736"/>
          </a:xfrm>
          <a:prstGeom prst="rect">
            <a:avLst/>
          </a:prstGeom>
          <a:noFill/>
        </p:spPr>
        <p:txBody>
          <a:bodyPr wrap="square" lIns="0" rIns="0" tIns="0" bIns="0" anchor="ctr">
            <a:spAutoFit/>
          </a:bodyPr>
          <a:lstStyle/>
          <a:p>
            <a:pPr algn="l"/>
            <a:r>
              <a:rPr sz="1000" b="1">
                <a:solidFill>
                  <a:srgbClr val="232F3E"/>
                </a:solidFill>
                <a:latin typeface="Calibri"/>
              </a:rPr>
              <a:t>$3.19</a:t>
            </a:r>
          </a:p>
        </p:txBody>
      </p:sp>
      <p:sp>
        <p:nvSpPr>
          <p:cNvPr id="69" name="Rectangle 68"/>
          <p:cNvSpPr/>
          <p:nvPr/>
        </p:nvSpPr>
        <p:spPr>
          <a:xfrm>
            <a:off x="8229600" y="3621024"/>
            <a:ext cx="45720" cy="137160"/>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348472" y="3602736"/>
            <a:ext cx="950976" cy="173736"/>
          </a:xfrm>
          <a:prstGeom prst="rect">
            <a:avLst/>
          </a:prstGeom>
          <a:noFill/>
        </p:spPr>
        <p:txBody>
          <a:bodyPr wrap="square" lIns="0" rIns="0" tIns="0" bIns="0" anchor="ctr">
            <a:spAutoFit/>
          </a:bodyPr>
          <a:lstStyle/>
          <a:p>
            <a:pPr algn="l"/>
            <a:r>
              <a:rPr sz="1000" b="1">
                <a:solidFill>
                  <a:srgbClr val="1E7C3C"/>
                </a:solidFill>
                <a:latin typeface="Calibri"/>
              </a:rPr>
              <a:t>$0.10</a:t>
            </a:r>
          </a:p>
        </p:txBody>
      </p:sp>
      <p:sp>
        <p:nvSpPr>
          <p:cNvPr id="71" name="TextBox 70"/>
          <p:cNvSpPr txBox="1"/>
          <p:nvPr/>
        </p:nvSpPr>
        <p:spPr>
          <a:xfrm>
            <a:off x="7333488" y="4005072"/>
            <a:ext cx="804672" cy="320040"/>
          </a:xfrm>
          <a:prstGeom prst="rect">
            <a:avLst/>
          </a:prstGeom>
          <a:noFill/>
        </p:spPr>
        <p:txBody>
          <a:bodyPr wrap="square" lIns="0" rIns="0" tIns="0" bIns="0" anchor="ctr">
            <a:spAutoFit/>
          </a:bodyPr>
          <a:lstStyle/>
          <a:p>
            <a:pPr algn="r"/>
            <a:r>
              <a:rPr sz="1100" b="1">
                <a:solidFill>
                  <a:srgbClr val="232F3E"/>
                </a:solidFill>
                <a:latin typeface="Calibri"/>
              </a:rPr>
              <a:t>1,000</a:t>
            </a:r>
          </a:p>
        </p:txBody>
      </p:sp>
      <p:sp>
        <p:nvSpPr>
          <p:cNvPr id="72" name="Rectangle 71"/>
          <p:cNvSpPr/>
          <p:nvPr/>
        </p:nvSpPr>
        <p:spPr>
          <a:xfrm>
            <a:off x="8229600" y="4005072"/>
            <a:ext cx="218724" cy="13716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21476" y="3986784"/>
            <a:ext cx="950976" cy="173736"/>
          </a:xfrm>
          <a:prstGeom prst="rect">
            <a:avLst/>
          </a:prstGeom>
          <a:noFill/>
        </p:spPr>
        <p:txBody>
          <a:bodyPr wrap="square" lIns="0" rIns="0" tIns="0" bIns="0" anchor="ctr">
            <a:spAutoFit/>
          </a:bodyPr>
          <a:lstStyle/>
          <a:p>
            <a:pPr algn="l"/>
            <a:r>
              <a:rPr sz="1000" b="1">
                <a:solidFill>
                  <a:srgbClr val="232F3E"/>
                </a:solidFill>
                <a:latin typeface="Calibri"/>
              </a:rPr>
              <a:t>$1.84</a:t>
            </a:r>
          </a:p>
        </p:txBody>
      </p:sp>
      <p:sp>
        <p:nvSpPr>
          <p:cNvPr id="74" name="Rectangle 73"/>
          <p:cNvSpPr/>
          <p:nvPr/>
        </p:nvSpPr>
        <p:spPr>
          <a:xfrm>
            <a:off x="8229600" y="4187952"/>
            <a:ext cx="45720" cy="137160"/>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348472" y="4169663"/>
            <a:ext cx="950976" cy="173736"/>
          </a:xfrm>
          <a:prstGeom prst="rect">
            <a:avLst/>
          </a:prstGeom>
          <a:noFill/>
        </p:spPr>
        <p:txBody>
          <a:bodyPr wrap="square" lIns="0" rIns="0" tIns="0" bIns="0" anchor="ctr">
            <a:spAutoFit/>
          </a:bodyPr>
          <a:lstStyle/>
          <a:p>
            <a:pPr algn="l"/>
            <a:r>
              <a:rPr sz="1000" b="1">
                <a:solidFill>
                  <a:srgbClr val="1E7C3C"/>
                </a:solidFill>
                <a:latin typeface="Calibri"/>
              </a:rPr>
              <a:t>$0.10</a:t>
            </a:r>
          </a:p>
        </p:txBody>
      </p:sp>
      <p:sp>
        <p:nvSpPr>
          <p:cNvPr id="76" name="TextBox 75"/>
          <p:cNvSpPr txBox="1"/>
          <p:nvPr/>
        </p:nvSpPr>
        <p:spPr>
          <a:xfrm>
            <a:off x="7333488" y="4572000"/>
            <a:ext cx="804672" cy="320040"/>
          </a:xfrm>
          <a:prstGeom prst="rect">
            <a:avLst/>
          </a:prstGeom>
          <a:noFill/>
        </p:spPr>
        <p:txBody>
          <a:bodyPr wrap="square" lIns="0" rIns="0" tIns="0" bIns="0" anchor="ctr">
            <a:spAutoFit/>
          </a:bodyPr>
          <a:lstStyle/>
          <a:p>
            <a:pPr algn="r"/>
            <a:r>
              <a:rPr sz="1100" b="1">
                <a:solidFill>
                  <a:srgbClr val="232F3E"/>
                </a:solidFill>
                <a:latin typeface="Calibri"/>
              </a:rPr>
              <a:t>1,000,000</a:t>
            </a:r>
          </a:p>
        </p:txBody>
      </p:sp>
      <p:sp>
        <p:nvSpPr>
          <p:cNvPr id="77" name="Rectangle 76"/>
          <p:cNvSpPr/>
          <p:nvPr/>
        </p:nvSpPr>
        <p:spPr>
          <a:xfrm>
            <a:off x="8229600" y="4572000"/>
            <a:ext cx="218724" cy="13716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521476" y="4553712"/>
            <a:ext cx="950976" cy="173736"/>
          </a:xfrm>
          <a:prstGeom prst="rect">
            <a:avLst/>
          </a:prstGeom>
          <a:noFill/>
        </p:spPr>
        <p:txBody>
          <a:bodyPr wrap="square" lIns="0" rIns="0" tIns="0" bIns="0" anchor="ctr">
            <a:spAutoFit/>
          </a:bodyPr>
          <a:lstStyle/>
          <a:p>
            <a:pPr algn="l"/>
            <a:r>
              <a:rPr sz="1000" b="1">
                <a:solidFill>
                  <a:srgbClr val="232F3E"/>
                </a:solidFill>
                <a:latin typeface="Calibri"/>
              </a:rPr>
              <a:t>$1.84</a:t>
            </a:r>
          </a:p>
        </p:txBody>
      </p:sp>
      <p:sp>
        <p:nvSpPr>
          <p:cNvPr id="79" name="Rectangle 78"/>
          <p:cNvSpPr/>
          <p:nvPr/>
        </p:nvSpPr>
        <p:spPr>
          <a:xfrm>
            <a:off x="8229600" y="4754880"/>
            <a:ext cx="45720" cy="137160"/>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48472" y="4736592"/>
            <a:ext cx="950976" cy="173736"/>
          </a:xfrm>
          <a:prstGeom prst="rect">
            <a:avLst/>
          </a:prstGeom>
          <a:noFill/>
        </p:spPr>
        <p:txBody>
          <a:bodyPr wrap="square" lIns="0" rIns="0" tIns="0" bIns="0" anchor="ctr">
            <a:spAutoFit/>
          </a:bodyPr>
          <a:lstStyle/>
          <a:p>
            <a:pPr algn="l"/>
            <a:r>
              <a:rPr sz="1000" b="1">
                <a:solidFill>
                  <a:srgbClr val="1E7C3C"/>
                </a:solidFill>
                <a:latin typeface="Calibri"/>
              </a:rPr>
              <a:t>$0.10</a:t>
            </a:r>
          </a:p>
        </p:txBody>
      </p:sp>
      <p:sp>
        <p:nvSpPr>
          <p:cNvPr id="81" name="TextBox 80"/>
          <p:cNvSpPr txBox="1"/>
          <p:nvPr/>
        </p:nvSpPr>
        <p:spPr>
          <a:xfrm>
            <a:off x="7333488" y="4956048"/>
            <a:ext cx="4297680" cy="201168"/>
          </a:xfrm>
          <a:prstGeom prst="rect">
            <a:avLst/>
          </a:prstGeom>
          <a:noFill/>
        </p:spPr>
        <p:txBody>
          <a:bodyPr wrap="square" lIns="0" rIns="0" tIns="0" bIns="0" anchor="ctr">
            <a:spAutoFit/>
          </a:bodyPr>
          <a:lstStyle/>
          <a:p>
            <a:pPr algn="l"/>
            <a:r>
              <a:rPr sz="1000" b="0">
                <a:solidFill>
                  <a:srgbClr val="545B64"/>
                </a:solidFill>
                <a:latin typeface="Calibri"/>
              </a:rPr>
              <a:t>one linear scale, $0–$20 — engine B’s dime is the sliver</a:t>
            </a:r>
          </a:p>
        </p:txBody>
      </p:sp>
      <p:sp>
        <p:nvSpPr>
          <p:cNvPr id="82" name="TextBox 81"/>
          <p:cNvSpPr txBox="1"/>
          <p:nvPr/>
        </p:nvSpPr>
        <p:spPr>
          <a:xfrm>
            <a:off x="566928" y="5175504"/>
            <a:ext cx="11064240" cy="365760"/>
          </a:xfrm>
          <a:prstGeom prst="rect">
            <a:avLst/>
          </a:prstGeom>
          <a:noFill/>
        </p:spPr>
        <p:txBody>
          <a:bodyPr wrap="square" lIns="0" rIns="0" tIns="0" bIns="0" anchor="t">
            <a:spAutoFit/>
          </a:bodyPr>
          <a:lstStyle/>
          <a:p>
            <a:pPr algn="l"/>
            <a:r>
              <a:rPr sz="1100" b="0">
                <a:solidFill>
                  <a:srgbClr val="545B64"/>
                </a:solidFill>
                <a:latin typeface="Calibri"/>
              </a:rPr>
              <a:t>Engine A’s floor is not fixed: a Fargate task is added every 40 concurrent sessions, so the grey block never shrinks past a quarter of the bill. Its cost per user falls 19.41 → 1.84 and then stops — 18× above a dime that never moves.</a:t>
            </a:r>
          </a:p>
        </p:txBody>
      </p:sp>
      <p:sp>
        <p:nvSpPr>
          <p:cNvPr id="83" name="Rounded Rectangle 8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18×</a:t>
            </a:r>
          </a:p>
        </p:txBody>
      </p:sp>
      <p:sp>
        <p:nvSpPr>
          <p:cNvPr id="85" name="Rounded Rectangle 84"/>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87" name="TextBox 86"/>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cheaper at scale — 189× at one user, where only B has no floor</a:t>
            </a:r>
          </a:p>
        </p:txBody>
      </p:sp>
      <p:sp>
        <p:nvSpPr>
          <p:cNvPr id="88" name="TextBox 87"/>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if Memory retrievals meter per record, not per call, this narrows — confirm before quoting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8</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9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11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12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13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Debuggability — the lens DIY wins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the lens DIY keeps — a 6–0 comparison would be a sales pitch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10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09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3737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3232"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53128"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93023"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sessions lost to the same fault, on the same code — the whole argument in one number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7</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8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Cost — the bill, itemised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Every rate from a vendor pricing page, every quantity counted out of this repo. The identical Bedrock reply call is excluded from both.</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6" name="Rounded Rectangle 15"/>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9" name="Rounded Rectangle 18"/>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22" name="Rounded Rectangle 21"/>
          <p:cNvSpPr/>
          <p:nvPr/>
        </p:nvSpPr>
        <p:spPr>
          <a:xfrm>
            <a:off x="566928" y="2304288"/>
            <a:ext cx="5394960" cy="3054096"/>
          </a:xfrm>
          <a:prstGeom prst="roundRect">
            <a:avLst>
              <a:gd name="adj" fmla="val 179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230428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230428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5" name="TextBox 24"/>
          <p:cNvSpPr txBox="1"/>
          <p:nvPr/>
        </p:nvSpPr>
        <p:spPr>
          <a:xfrm>
            <a:off x="768096" y="2852928"/>
            <a:ext cx="4992624" cy="329184"/>
          </a:xfrm>
          <a:prstGeom prst="rect">
            <a:avLst/>
          </a:prstGeom>
          <a:noFill/>
        </p:spPr>
        <p:txBody>
          <a:bodyPr wrap="square" lIns="0" rIns="0" tIns="0" bIns="0" anchor="ctr">
            <a:spAutoFit/>
          </a:bodyPr>
          <a:lstStyle/>
          <a:p>
            <a:pPr algn="l"/>
            <a:r>
              <a:rPr sz="1600" b="1">
                <a:solidFill>
                  <a:srgbClr val="232F3E"/>
                </a:solidFill>
                <a:latin typeface="Calibri"/>
              </a:rPr>
              <a:t>$18.02 fixed  +  $1.39 per user</a:t>
            </a:r>
          </a:p>
        </p:txBody>
      </p:sp>
      <p:sp>
        <p:nvSpPr>
          <p:cNvPr id="26" name="TextBox 25"/>
          <p:cNvSpPr txBox="1"/>
          <p:nvPr/>
        </p:nvSpPr>
        <p:spPr>
          <a:xfrm>
            <a:off x="768096" y="3273552"/>
            <a:ext cx="3657600" cy="237744"/>
          </a:xfrm>
          <a:prstGeom prst="rect">
            <a:avLst/>
          </a:prstGeom>
          <a:noFill/>
        </p:spPr>
        <p:txBody>
          <a:bodyPr wrap="square" lIns="0" rIns="0" tIns="0" bIns="0" anchor="ctr">
            <a:spAutoFit/>
          </a:bodyPr>
          <a:lstStyle/>
          <a:p>
            <a:pPr algn="l"/>
            <a:r>
              <a:rPr sz="1200" b="1">
                <a:solidFill>
                  <a:srgbClr val="232F3E"/>
                </a:solidFill>
                <a:latin typeface="Calibri"/>
              </a:rPr>
              <a:t>AWS Fargate</a:t>
            </a:r>
          </a:p>
        </p:txBody>
      </p:sp>
      <p:sp>
        <p:nvSpPr>
          <p:cNvPr id="27" name="TextBox 26"/>
          <p:cNvSpPr txBox="1"/>
          <p:nvPr/>
        </p:nvSpPr>
        <p:spPr>
          <a:xfrm>
            <a:off x="768096" y="3511296"/>
            <a:ext cx="3657600" cy="219456"/>
          </a:xfrm>
          <a:prstGeom prst="rect">
            <a:avLst/>
          </a:prstGeom>
          <a:noFill/>
        </p:spPr>
        <p:txBody>
          <a:bodyPr wrap="square" lIns="0" rIns="0" tIns="0" bIns="0" anchor="ctr">
            <a:spAutoFit/>
          </a:bodyPr>
          <a:lstStyle/>
          <a:p>
            <a:pPr algn="l"/>
            <a:r>
              <a:rPr sz="1000" b="0">
                <a:solidFill>
                  <a:srgbClr val="545B64"/>
                </a:solidFill>
                <a:latin typeface="Calibri"/>
              </a:rPr>
              <a:t>0.5 vCPU · 730 h · never scales below one task</a:t>
            </a:r>
          </a:p>
        </p:txBody>
      </p:sp>
      <p:sp>
        <p:nvSpPr>
          <p:cNvPr id="28" name="TextBox 27"/>
          <p:cNvSpPr txBox="1"/>
          <p:nvPr/>
        </p:nvSpPr>
        <p:spPr>
          <a:xfrm>
            <a:off x="768096" y="3273552"/>
            <a:ext cx="4992624" cy="237744"/>
          </a:xfrm>
          <a:prstGeom prst="rect">
            <a:avLst/>
          </a:prstGeom>
          <a:noFill/>
        </p:spPr>
        <p:txBody>
          <a:bodyPr wrap="square" lIns="0" rIns="0" tIns="0" bIns="0" anchor="ctr">
            <a:spAutoFit/>
          </a:bodyPr>
          <a:lstStyle/>
          <a:p>
            <a:pPr algn="r"/>
            <a:r>
              <a:rPr sz="1300" b="1">
                <a:solidFill>
                  <a:srgbClr val="232F3E"/>
                </a:solidFill>
                <a:latin typeface="Calibri"/>
              </a:rPr>
              <a:t>$18.02</a:t>
            </a:r>
          </a:p>
        </p:txBody>
      </p:sp>
      <p:sp>
        <p:nvSpPr>
          <p:cNvPr id="29" name="Rectangle 28"/>
          <p:cNvSpPr/>
          <p:nvPr/>
        </p:nvSpPr>
        <p:spPr>
          <a:xfrm>
            <a:off x="768096" y="3785616"/>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3840480"/>
            <a:ext cx="3657600" cy="237744"/>
          </a:xfrm>
          <a:prstGeom prst="rect">
            <a:avLst/>
          </a:prstGeom>
          <a:noFill/>
        </p:spPr>
        <p:txBody>
          <a:bodyPr wrap="square" lIns="0" rIns="0" tIns="0" bIns="0" anchor="ctr">
            <a:spAutoFit/>
          </a:bodyPr>
          <a:lstStyle/>
          <a:p>
            <a:pPr algn="l"/>
            <a:r>
              <a:rPr sz="1200" b="1">
                <a:solidFill>
                  <a:srgbClr val="232F3E"/>
                </a:solidFill>
                <a:latin typeface="Calibri"/>
              </a:rPr>
              <a:t>2nd Bedrock call — extraction</a:t>
            </a:r>
          </a:p>
        </p:txBody>
      </p:sp>
      <p:sp>
        <p:nvSpPr>
          <p:cNvPr id="31" name="TextBox 30"/>
          <p:cNvSpPr txBox="1"/>
          <p:nvPr/>
        </p:nvSpPr>
        <p:spPr>
          <a:xfrm>
            <a:off x="768096" y="4078224"/>
            <a:ext cx="3657600" cy="219456"/>
          </a:xfrm>
          <a:prstGeom prst="rect">
            <a:avLst/>
          </a:prstGeom>
          <a:noFill/>
        </p:spPr>
        <p:txBody>
          <a:bodyPr wrap="square" lIns="0" rIns="0" tIns="0" bIns="0" anchor="ctr">
            <a:spAutoFit/>
          </a:bodyPr>
          <a:lstStyle/>
          <a:p>
            <a:pPr algn="l"/>
            <a:r>
              <a:rPr sz="1000" b="0">
                <a:solidFill>
                  <a:srgbClr val="545B64"/>
                </a:solidFill>
                <a:latin typeface="Calibri"/>
              </a:rPr>
              <a:t>104 turns × $0.01332</a:t>
            </a:r>
          </a:p>
        </p:txBody>
      </p:sp>
      <p:sp>
        <p:nvSpPr>
          <p:cNvPr id="32" name="TextBox 31"/>
          <p:cNvSpPr txBox="1"/>
          <p:nvPr/>
        </p:nvSpPr>
        <p:spPr>
          <a:xfrm>
            <a:off x="768096" y="3840480"/>
            <a:ext cx="4992624" cy="237744"/>
          </a:xfrm>
          <a:prstGeom prst="rect">
            <a:avLst/>
          </a:prstGeom>
          <a:noFill/>
        </p:spPr>
        <p:txBody>
          <a:bodyPr wrap="square" lIns="0" rIns="0" tIns="0" bIns="0" anchor="ctr">
            <a:spAutoFit/>
          </a:bodyPr>
          <a:lstStyle/>
          <a:p>
            <a:pPr algn="r"/>
            <a:r>
              <a:rPr sz="1300" b="1">
                <a:solidFill>
                  <a:srgbClr val="232F3E"/>
                </a:solidFill>
                <a:latin typeface="Calibri"/>
              </a:rPr>
              <a:t>$1.385</a:t>
            </a:r>
          </a:p>
        </p:txBody>
      </p:sp>
      <p:sp>
        <p:nvSpPr>
          <p:cNvPr id="33" name="Rectangle 32"/>
          <p:cNvSpPr/>
          <p:nvPr/>
        </p:nvSpPr>
        <p:spPr>
          <a:xfrm>
            <a:off x="768096" y="4352544"/>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4407408"/>
            <a:ext cx="3657600" cy="237744"/>
          </a:xfrm>
          <a:prstGeom prst="rect">
            <a:avLst/>
          </a:prstGeom>
          <a:noFill/>
        </p:spPr>
        <p:txBody>
          <a:bodyPr wrap="square" lIns="0" rIns="0" tIns="0" bIns="0" anchor="ctr">
            <a:spAutoFit/>
          </a:bodyPr>
          <a:lstStyle/>
          <a:p>
            <a:pPr algn="l"/>
            <a:r>
              <a:rPr sz="1200" b="1">
                <a:solidFill>
                  <a:srgbClr val="232F3E"/>
                </a:solidFill>
                <a:latin typeface="Calibri"/>
              </a:rPr>
              <a:t>Amazon DynamoDB</a:t>
            </a:r>
          </a:p>
        </p:txBody>
      </p:sp>
      <p:sp>
        <p:nvSpPr>
          <p:cNvPr id="35" name="TextBox 34"/>
          <p:cNvSpPr txBox="1"/>
          <p:nvPr/>
        </p:nvSpPr>
        <p:spPr>
          <a:xfrm>
            <a:off x="768096" y="4645152"/>
            <a:ext cx="3657600" cy="219456"/>
          </a:xfrm>
          <a:prstGeom prst="rect">
            <a:avLst/>
          </a:prstGeom>
          <a:noFill/>
        </p:spPr>
        <p:txBody>
          <a:bodyPr wrap="square" lIns="0" rIns="0" tIns="0" bIns="0" anchor="ctr">
            <a:spAutoFit/>
          </a:bodyPr>
          <a:lstStyle/>
          <a:p>
            <a:pPr algn="l"/>
            <a:r>
              <a:rPr sz="1000" b="0">
                <a:solidFill>
                  <a:srgbClr val="545B64"/>
                </a:solidFill>
                <a:latin typeface="Calibri"/>
              </a:rPr>
              <a:t>on-demand reads, writes and storage</a:t>
            </a:r>
          </a:p>
        </p:txBody>
      </p:sp>
      <p:sp>
        <p:nvSpPr>
          <p:cNvPr id="36" name="TextBox 35"/>
          <p:cNvSpPr txBox="1"/>
          <p:nvPr/>
        </p:nvSpPr>
        <p:spPr>
          <a:xfrm>
            <a:off x="768096" y="4407408"/>
            <a:ext cx="4992624" cy="237744"/>
          </a:xfrm>
          <a:prstGeom prst="rect">
            <a:avLst/>
          </a:prstGeom>
          <a:noFill/>
        </p:spPr>
        <p:txBody>
          <a:bodyPr wrap="square" lIns="0" rIns="0" tIns="0" bIns="0" anchor="ctr">
            <a:spAutoFit/>
          </a:bodyPr>
          <a:lstStyle/>
          <a:p>
            <a:pPr algn="r"/>
            <a:r>
              <a:rPr sz="1300" b="1">
                <a:solidFill>
                  <a:srgbClr val="232F3E"/>
                </a:solidFill>
                <a:latin typeface="Calibri"/>
              </a:rPr>
              <a:t>$0.0006</a:t>
            </a:r>
          </a:p>
        </p:txBody>
      </p:sp>
      <p:sp>
        <p:nvSpPr>
          <p:cNvPr id="37" name="Rectangle 36"/>
          <p:cNvSpPr/>
          <p:nvPr/>
        </p:nvSpPr>
        <p:spPr>
          <a:xfrm>
            <a:off x="768096" y="4919472"/>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10912"/>
            <a:ext cx="3657600" cy="274320"/>
          </a:xfrm>
          <a:prstGeom prst="rect">
            <a:avLst/>
          </a:prstGeom>
          <a:noFill/>
        </p:spPr>
        <p:txBody>
          <a:bodyPr wrap="square" lIns="0" rIns="0" tIns="0" bIns="0" anchor="ctr">
            <a:spAutoFit/>
          </a:bodyPr>
          <a:lstStyle/>
          <a:p>
            <a:pPr algn="l"/>
            <a:r>
              <a:rPr sz="1250" b="1">
                <a:solidFill>
                  <a:srgbClr val="232F3E"/>
                </a:solidFill>
                <a:latin typeface="Calibri"/>
              </a:rPr>
              <a:t>At one user, per month</a:t>
            </a:r>
          </a:p>
        </p:txBody>
      </p:sp>
      <p:sp>
        <p:nvSpPr>
          <p:cNvPr id="39" name="TextBox 38"/>
          <p:cNvSpPr txBox="1"/>
          <p:nvPr/>
        </p:nvSpPr>
        <p:spPr>
          <a:xfrm>
            <a:off x="768096" y="5010912"/>
            <a:ext cx="4992624" cy="274320"/>
          </a:xfrm>
          <a:prstGeom prst="rect">
            <a:avLst/>
          </a:prstGeom>
          <a:noFill/>
        </p:spPr>
        <p:txBody>
          <a:bodyPr wrap="square" lIns="0" rIns="0" tIns="0" bIns="0" anchor="ctr">
            <a:spAutoFit/>
          </a:bodyPr>
          <a:lstStyle/>
          <a:p>
            <a:pPr algn="r"/>
            <a:r>
              <a:rPr sz="1500" b="1">
                <a:solidFill>
                  <a:srgbClr val="232F3E"/>
                </a:solidFill>
                <a:latin typeface="Calibri"/>
              </a:rPr>
              <a:t>$19.41</a:t>
            </a:r>
          </a:p>
        </p:txBody>
      </p:sp>
      <p:sp>
        <p:nvSpPr>
          <p:cNvPr id="40" name="Rounded Rectangle 39"/>
          <p:cNvSpPr/>
          <p:nvPr/>
        </p:nvSpPr>
        <p:spPr>
          <a:xfrm>
            <a:off x="6236208" y="2304288"/>
            <a:ext cx="5394960" cy="3054096"/>
          </a:xfrm>
          <a:prstGeom prst="roundRect">
            <a:avLst>
              <a:gd name="adj" fmla="val 179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6208" y="230428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37376" y="230428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43" name="TextBox 42"/>
          <p:cNvSpPr txBox="1"/>
          <p:nvPr/>
        </p:nvSpPr>
        <p:spPr>
          <a:xfrm>
            <a:off x="6437376" y="2852928"/>
            <a:ext cx="4992624" cy="329184"/>
          </a:xfrm>
          <a:prstGeom prst="rect">
            <a:avLst/>
          </a:prstGeom>
          <a:noFill/>
        </p:spPr>
        <p:txBody>
          <a:bodyPr wrap="square" lIns="0" rIns="0" tIns="0" bIns="0" anchor="ctr">
            <a:spAutoFit/>
          </a:bodyPr>
          <a:lstStyle/>
          <a:p>
            <a:pPr algn="l"/>
            <a:r>
              <a:rPr sz="1600" b="1">
                <a:solidFill>
                  <a:srgbClr val="232F3E"/>
                </a:solidFill>
                <a:latin typeface="Calibri"/>
              </a:rPr>
              <a:t>$0.0006 fixed  +  $0.10 per user</a:t>
            </a:r>
          </a:p>
        </p:txBody>
      </p:sp>
      <p:sp>
        <p:nvSpPr>
          <p:cNvPr id="44" name="TextBox 43"/>
          <p:cNvSpPr txBox="1"/>
          <p:nvPr/>
        </p:nvSpPr>
        <p:spPr>
          <a:xfrm>
            <a:off x="6437376" y="3273552"/>
            <a:ext cx="3657600" cy="237744"/>
          </a:xfrm>
          <a:prstGeom prst="rect">
            <a:avLst/>
          </a:prstGeom>
          <a:noFill/>
        </p:spPr>
        <p:txBody>
          <a:bodyPr wrap="square" lIns="0" rIns="0" tIns="0" bIns="0" anchor="ctr">
            <a:spAutoFit/>
          </a:bodyPr>
          <a:lstStyle/>
          <a:p>
            <a:pPr algn="l"/>
            <a:r>
              <a:rPr sz="1200" b="1">
                <a:solidFill>
                  <a:srgbClr val="232F3E"/>
                </a:solidFill>
                <a:latin typeface="Calibri"/>
              </a:rPr>
              <a:t>AgentCore Gateway</a:t>
            </a:r>
          </a:p>
        </p:txBody>
      </p:sp>
      <p:sp>
        <p:nvSpPr>
          <p:cNvPr id="45" name="TextBox 44"/>
          <p:cNvSpPr txBox="1"/>
          <p:nvPr/>
        </p:nvSpPr>
        <p:spPr>
          <a:xfrm>
            <a:off x="6437376" y="3511296"/>
            <a:ext cx="3657600" cy="219456"/>
          </a:xfrm>
          <a:prstGeom prst="rect">
            <a:avLst/>
          </a:prstGeom>
          <a:noFill/>
        </p:spPr>
        <p:txBody>
          <a:bodyPr wrap="square" lIns="0" rIns="0" tIns="0" bIns="0" anchor="ctr">
            <a:spAutoFit/>
          </a:bodyPr>
          <a:lstStyle/>
          <a:p>
            <a:pPr algn="l"/>
            <a:r>
              <a:rPr sz="1000" b="0">
                <a:solidFill>
                  <a:srgbClr val="545B64"/>
                </a:solidFill>
                <a:latin typeface="Calibri"/>
              </a:rPr>
              <a:t>3 tools indexed — the only fixed line</a:t>
            </a:r>
          </a:p>
        </p:txBody>
      </p:sp>
      <p:sp>
        <p:nvSpPr>
          <p:cNvPr id="46" name="TextBox 45"/>
          <p:cNvSpPr txBox="1"/>
          <p:nvPr/>
        </p:nvSpPr>
        <p:spPr>
          <a:xfrm>
            <a:off x="6437376" y="3273552"/>
            <a:ext cx="4992624" cy="237744"/>
          </a:xfrm>
          <a:prstGeom prst="rect">
            <a:avLst/>
          </a:prstGeom>
          <a:noFill/>
        </p:spPr>
        <p:txBody>
          <a:bodyPr wrap="square" lIns="0" rIns="0" tIns="0" bIns="0" anchor="ctr">
            <a:spAutoFit/>
          </a:bodyPr>
          <a:lstStyle/>
          <a:p>
            <a:pPr algn="r"/>
            <a:r>
              <a:rPr sz="1300" b="1">
                <a:solidFill>
                  <a:srgbClr val="1E7C3C"/>
                </a:solidFill>
                <a:latin typeface="Calibri"/>
              </a:rPr>
              <a:t>$0.0006</a:t>
            </a:r>
          </a:p>
        </p:txBody>
      </p:sp>
      <p:sp>
        <p:nvSpPr>
          <p:cNvPr id="47" name="Rectangle 46"/>
          <p:cNvSpPr/>
          <p:nvPr/>
        </p:nvSpPr>
        <p:spPr>
          <a:xfrm>
            <a:off x="6437376" y="3785616"/>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37376" y="3840480"/>
            <a:ext cx="3657600" cy="237744"/>
          </a:xfrm>
          <a:prstGeom prst="rect">
            <a:avLst/>
          </a:prstGeom>
          <a:noFill/>
        </p:spPr>
        <p:txBody>
          <a:bodyPr wrap="square" lIns="0" rIns="0" tIns="0" bIns="0" anchor="ctr">
            <a:spAutoFit/>
          </a:bodyPr>
          <a:lstStyle/>
          <a:p>
            <a:pPr algn="l"/>
            <a:r>
              <a:rPr sz="1200" b="1">
                <a:solidFill>
                  <a:srgbClr val="232F3E"/>
                </a:solidFill>
                <a:latin typeface="Calibri"/>
              </a:rPr>
              <a:t>AgentCore Memory</a:t>
            </a:r>
          </a:p>
        </p:txBody>
      </p:sp>
      <p:sp>
        <p:nvSpPr>
          <p:cNvPr id="49" name="TextBox 48"/>
          <p:cNvSpPr txBox="1"/>
          <p:nvPr/>
        </p:nvSpPr>
        <p:spPr>
          <a:xfrm>
            <a:off x="6437376" y="4078224"/>
            <a:ext cx="3657600" cy="219456"/>
          </a:xfrm>
          <a:prstGeom prst="rect">
            <a:avLst/>
          </a:prstGeom>
          <a:noFill/>
        </p:spPr>
        <p:txBody>
          <a:bodyPr wrap="square" lIns="0" rIns="0" tIns="0" bIns="0" anchor="ctr">
            <a:spAutoFit/>
          </a:bodyPr>
          <a:lstStyle/>
          <a:p>
            <a:pPr algn="l"/>
            <a:r>
              <a:rPr sz="1000" b="0">
                <a:solidFill>
                  <a:srgbClr val="545B64"/>
                </a:solidFill>
                <a:latin typeface="Calibri"/>
              </a:rPr>
              <a:t>1 event + 1 retrieval per turn, extraction included</a:t>
            </a:r>
          </a:p>
        </p:txBody>
      </p:sp>
      <p:sp>
        <p:nvSpPr>
          <p:cNvPr id="50" name="TextBox 49"/>
          <p:cNvSpPr txBox="1"/>
          <p:nvPr/>
        </p:nvSpPr>
        <p:spPr>
          <a:xfrm>
            <a:off x="6437376" y="3840480"/>
            <a:ext cx="4992624" cy="237744"/>
          </a:xfrm>
          <a:prstGeom prst="rect">
            <a:avLst/>
          </a:prstGeom>
          <a:noFill/>
        </p:spPr>
        <p:txBody>
          <a:bodyPr wrap="square" lIns="0" rIns="0" tIns="0" bIns="0" anchor="ctr">
            <a:spAutoFit/>
          </a:bodyPr>
          <a:lstStyle/>
          <a:p>
            <a:pPr algn="r"/>
            <a:r>
              <a:rPr sz="1300" b="1">
                <a:solidFill>
                  <a:srgbClr val="1E7C3C"/>
                </a:solidFill>
                <a:latin typeface="Calibri"/>
              </a:rPr>
              <a:t>$0.098</a:t>
            </a:r>
          </a:p>
        </p:txBody>
      </p:sp>
      <p:sp>
        <p:nvSpPr>
          <p:cNvPr id="51" name="Rectangle 50"/>
          <p:cNvSpPr/>
          <p:nvPr/>
        </p:nvSpPr>
        <p:spPr>
          <a:xfrm>
            <a:off x="6437376" y="4352544"/>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37376" y="4407408"/>
            <a:ext cx="3657600" cy="237744"/>
          </a:xfrm>
          <a:prstGeom prst="rect">
            <a:avLst/>
          </a:prstGeom>
          <a:noFill/>
        </p:spPr>
        <p:txBody>
          <a:bodyPr wrap="square" lIns="0" rIns="0" tIns="0" bIns="0" anchor="ctr">
            <a:spAutoFit/>
          </a:bodyPr>
          <a:lstStyle/>
          <a:p>
            <a:pPr algn="l"/>
            <a:r>
              <a:rPr sz="1200" b="1">
                <a:solidFill>
                  <a:srgbClr val="232F3E"/>
                </a:solidFill>
                <a:latin typeface="Calibri"/>
              </a:rPr>
              <a:t>AgentCore Runtime</a:t>
            </a:r>
          </a:p>
        </p:txBody>
      </p:sp>
      <p:sp>
        <p:nvSpPr>
          <p:cNvPr id="53" name="TextBox 52"/>
          <p:cNvSpPr txBox="1"/>
          <p:nvPr/>
        </p:nvSpPr>
        <p:spPr>
          <a:xfrm>
            <a:off x="6437376" y="4645152"/>
            <a:ext cx="3657600" cy="219456"/>
          </a:xfrm>
          <a:prstGeom prst="rect">
            <a:avLst/>
          </a:prstGeom>
          <a:noFill/>
        </p:spPr>
        <p:txBody>
          <a:bodyPr wrap="square" lIns="0" rIns="0" tIns="0" bIns="0" anchor="ctr">
            <a:spAutoFit/>
          </a:bodyPr>
          <a:lstStyle/>
          <a:p>
            <a:pPr algn="l"/>
            <a:r>
              <a:rPr sz="1000" b="0">
                <a:solidFill>
                  <a:srgbClr val="545B64"/>
                </a:solidFill>
                <a:latin typeface="Calibri"/>
              </a:rPr>
              <a:t>3 s × 104 turns, billed per second</a:t>
            </a:r>
          </a:p>
        </p:txBody>
      </p:sp>
      <p:sp>
        <p:nvSpPr>
          <p:cNvPr id="54" name="TextBox 53"/>
          <p:cNvSpPr txBox="1"/>
          <p:nvPr/>
        </p:nvSpPr>
        <p:spPr>
          <a:xfrm>
            <a:off x="6437376" y="4407408"/>
            <a:ext cx="4992624" cy="237744"/>
          </a:xfrm>
          <a:prstGeom prst="rect">
            <a:avLst/>
          </a:prstGeom>
          <a:noFill/>
        </p:spPr>
        <p:txBody>
          <a:bodyPr wrap="square" lIns="0" rIns="0" tIns="0" bIns="0" anchor="ctr">
            <a:spAutoFit/>
          </a:bodyPr>
          <a:lstStyle/>
          <a:p>
            <a:pPr algn="r"/>
            <a:r>
              <a:rPr sz="1300" b="1">
                <a:solidFill>
                  <a:srgbClr val="1E7C3C"/>
                </a:solidFill>
                <a:latin typeface="Calibri"/>
              </a:rPr>
              <a:t>$0.0047</a:t>
            </a:r>
          </a:p>
        </p:txBody>
      </p:sp>
      <p:sp>
        <p:nvSpPr>
          <p:cNvPr id="55" name="Rectangle 54"/>
          <p:cNvSpPr/>
          <p:nvPr/>
        </p:nvSpPr>
        <p:spPr>
          <a:xfrm>
            <a:off x="6437376" y="4919472"/>
            <a:ext cx="4992624"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37376" y="5010912"/>
            <a:ext cx="3657600" cy="274320"/>
          </a:xfrm>
          <a:prstGeom prst="rect">
            <a:avLst/>
          </a:prstGeom>
          <a:noFill/>
        </p:spPr>
        <p:txBody>
          <a:bodyPr wrap="square" lIns="0" rIns="0" tIns="0" bIns="0" anchor="ctr">
            <a:spAutoFit/>
          </a:bodyPr>
          <a:lstStyle/>
          <a:p>
            <a:pPr algn="l"/>
            <a:r>
              <a:rPr sz="1250" b="1">
                <a:solidFill>
                  <a:srgbClr val="232F3E"/>
                </a:solidFill>
                <a:latin typeface="Calibri"/>
              </a:rPr>
              <a:t>At one user, per month</a:t>
            </a:r>
          </a:p>
        </p:txBody>
      </p:sp>
      <p:sp>
        <p:nvSpPr>
          <p:cNvPr id="57" name="TextBox 56"/>
          <p:cNvSpPr txBox="1"/>
          <p:nvPr/>
        </p:nvSpPr>
        <p:spPr>
          <a:xfrm>
            <a:off x="6437376" y="5010912"/>
            <a:ext cx="4992624" cy="274320"/>
          </a:xfrm>
          <a:prstGeom prst="rect">
            <a:avLst/>
          </a:prstGeom>
          <a:noFill/>
        </p:spPr>
        <p:txBody>
          <a:bodyPr wrap="square" lIns="0" rIns="0" tIns="0" bIns="0" anchor="ctr">
            <a:spAutoFit/>
          </a:bodyPr>
          <a:lstStyle/>
          <a:p>
            <a:pPr algn="r"/>
            <a:r>
              <a:rPr sz="1500" b="1">
                <a:solidFill>
                  <a:srgbClr val="1E7C3C"/>
                </a:solidFill>
                <a:latin typeface="Calibri"/>
              </a:rPr>
              <a:t>$0.10</a:t>
            </a:r>
          </a:p>
        </p:txBody>
      </p:sp>
      <p:sp>
        <p:nvSpPr>
          <p:cNvPr id="58" name="TextBox 57"/>
          <p:cNvSpPr txBox="1"/>
          <p:nvPr/>
        </p:nvSpPr>
        <p:spPr>
          <a:xfrm>
            <a:off x="566928" y="5449824"/>
            <a:ext cx="11064240" cy="384048"/>
          </a:xfrm>
          <a:prstGeom prst="rect">
            <a:avLst/>
          </a:prstGeom>
          <a:noFill/>
        </p:spPr>
        <p:txBody>
          <a:bodyPr wrap="square" lIns="0" rIns="0" tIns="0" bIns="0" anchor="t">
            <a:spAutoFit/>
          </a:bodyPr>
          <a:lstStyle/>
          <a:p>
            <a:pPr algn="l"/>
            <a:r>
              <a:rPr sz="1100" b="0">
                <a:solidFill>
                  <a:srgbClr val="545B64"/>
                </a:solidFill>
                <a:latin typeface="Calibri"/>
              </a:rPr>
              <a:t>Unit price favours engine A — Runtime is 2.20× dearer per vCPU-hour and one Memory event costs ~124× a DynamoDB write. B wins the bill anyway: it charges per second of real work, and folds extraction into the service instead of a second model call.</a:t>
            </a:r>
          </a:p>
        </p:txBody>
      </p:sp>
      <p:sp>
        <p:nvSpPr>
          <p:cNvPr id="59" name="Rounded Rectangle 58"/>
          <p:cNvSpPr/>
          <p:nvPr/>
        </p:nvSpPr>
        <p:spPr>
          <a:xfrm>
            <a:off x="566928" y="5888736"/>
            <a:ext cx="11064240" cy="402336"/>
          </a:xfrm>
          <a:prstGeom prst="roundRect">
            <a:avLst>
              <a:gd name="adj" fmla="val 22727"/>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8096" y="5888736"/>
            <a:ext cx="10661904" cy="402336"/>
          </a:xfrm>
          <a:prstGeom prst="rect">
            <a:avLst/>
          </a:prstGeom>
          <a:noFill/>
        </p:spPr>
        <p:txBody>
          <a:bodyPr wrap="square" lIns="0" rIns="0" tIns="0" bIns="0" anchor="ctr">
            <a:spAutoFit/>
          </a:bodyPr>
          <a:lstStyle/>
          <a:p>
            <a:pPr algn="l"/>
            <a:r>
              <a:rPr sz="1100" b="1">
                <a:solidFill>
                  <a:srgbClr val="232F3E"/>
                </a:solidFill>
                <a:latin typeface="Calibri"/>
              </a:rPr>
              <a:t>Reproducible: </a:t>
            </a:r>
            <a:r>
              <a:rPr sz="1100" b="1">
                <a:solidFill>
                  <a:srgbClr val="FF9900"/>
                </a:solidFill>
                <a:latin typeface="Calibri"/>
              </a:rPr>
              <a:t>scripts/cost-model.mjs</a:t>
            </a:r>
            <a:r>
              <a:rPr sz="1100" b="0">
                <a:solidFill>
                  <a:srgbClr val="232F3E"/>
                </a:solidFill>
                <a:latin typeface="Calibri"/>
              </a:rPr>
              <a:t>  regenerates every figure. Caveat — if Memory meters retrievals per record rather than per call, engine B lands 3.8× worse.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14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01952"/>
            <a:ext cx="4937760" cy="274320"/>
          </a:xfrm>
          <a:prstGeom prst="rect">
            <a:avLst/>
          </a:prstGeom>
          <a:noFill/>
        </p:spPr>
        <p:txBody>
          <a:bodyPr wrap="square" lIns="0" rIns="0" t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rIns="0" t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01952"/>
            <a:ext cx="4937760" cy="274320"/>
          </a:xfrm>
          <a:prstGeom prst="rect">
            <a:avLst/>
          </a:prstGeom>
          <a:noFill/>
        </p:spPr>
        <p:txBody>
          <a:bodyPr wrap="square" lIns="0" rIns="0" t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rIns="0" t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55340"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55340"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55340"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7449"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97449"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7449"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39558"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39558"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39558"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81667"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81667"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rIns="0" t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8096" y="5870448"/>
            <a:ext cx="10661904" cy="384048"/>
          </a:xfrm>
          <a:prstGeom prst="rect">
            <a:avLst/>
          </a:prstGeom>
          <a:noFill/>
        </p:spPr>
        <p:txBody>
          <a:bodyPr wrap="square" lIns="0" rIns="0" t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2985</Words>
  <Application>Microsoft Macintosh PowerPoint</Application>
  <PresentationFormat>Widescreen</PresentationFormat>
  <Paragraphs>284</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3</cp:revision>
  <dcterms:created xsi:type="dcterms:W3CDTF">2013-01-27T09:14:16Z</dcterms:created>
  <dcterms:modified xsi:type="dcterms:W3CDTF">2026-09-06T11:42:30Z</dcterms:modified>
  <cp:category/>
</cp:coreProperties>
</file>