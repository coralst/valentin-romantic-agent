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80" r:id="rId6"/>
    <p:sldId id="281" r:id="rId24"/>
    <p:sldId id="290" r:id="rId15"/>
    <p:sldId id="291" r:id="rId14"/>
    <p:sldId id="292" r:id="rId13"/>
    <p:sldId id="283" r:id="rId26"/>
    <p:sldId id="287" r:id="rId30"/>
    <p:sldId id="284" r:id="rId27"/>
    <p:sldId id="285" r:id="rId28"/>
    <p:sldId id="286" r:id="rId29"/>
    <p:sldId id="289" r:id="rId32"/>
    <p:sldId id="277" r:id="rId16"/>
    <p:sldId id="278" r:id="rId17"/>
    <p:sldId id="26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40"/>
  </p:normalViewPr>
  <p:slideViewPr>
    <p:cSldViewPr snapToGrid="0" snapToObjects="1">
      <p:cViewPr varScale="1">
        <p:scale>
          <a:sx n="93" d="100"/>
          <a:sy n="93" d="100"/>
        </p:scale>
        <p:origin x="248"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13" Type="http://schemas.openxmlformats.org/officeDocument/2006/relationships/slide" Target="slides/slide20.xml"/><Relationship Id="rId14" Type="http://schemas.openxmlformats.org/officeDocument/2006/relationships/slide" Target="slides/slide19.xml"/><Relationship Id="rId15" Type="http://schemas.openxmlformats.org/officeDocument/2006/relationships/slide" Target="slides/slide18.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6.xml"/><Relationship Id="rId26" Type="http://schemas.openxmlformats.org/officeDocument/2006/relationships/slide" Target="slides/slide9.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0.xml"/><Relationship Id="rId32"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170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 · cumulative 0:20 of 10:00]</a:t>
            </a:r>
          </a:p>
          <a:p/>
          <a:p>
            <a:r>
              <a:t>Valentin is an agent that helps me be a better partner. Ten minutes: what it does, why the loop is the interesting part, then the decision I actually came to present — build the agent platform myself on Fargate, or buy AgentCore.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 cumulative 1:05 of 10:00]</a:t>
            </a:r>
          </a:p>
          <a:p/>
          <a:p>
            <a:r>
              <a:t>The problem is not that I forget her birthday. It is that being thoughtful is a background job: noticing an occasion is coming, remembering what she liked last time, and doing something about it before the day arrives. That is three different jobs, and a chat window only does the middle one.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 cumulative 2:10 of 10:00]</a:t>
            </a:r>
          </a:p>
          <a:p/>
          <a:p>
            <a:r>
              <a:t>This is the whole system in one picture, and it is the slide I would defend hardest. An event on the timeline triggers a planning pass — that is the arrow coming up from the calendar. The agent uses tools, proposes something, we talk, and it extracts what it learned about her. Then feedback after the event can set the next event, which is the arrow going back down to the timeline. Claude is one step in that ring. EventBridge is what closes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[1:15 · cumulative 3:25 of 10:00]</a:t>
            </a:r>
          </a:p>
          <a:p/>
          <a:p>
            <a:r>
              <a:t>Short demo. Watch two things: it opens with an occasion I never typed, and by the end it has written something into her file that changes what it says next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7:55 of 10:00]</a:t>
            </a:r>
          </a:p>
          <a:p/>
          <a:p>
            <a:r>
              <a:t>Debuggability the DIY build wins, and I will not skip it. Hand-wired OTEL emits exactly the fields that decide an incident at two in the morning. AgentCore’s traces are free, but on its schema. Where I landed: its traces as the floor, my spans on top.</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7:25 of 10:00]</a:t>
            </a:r>
          </a:p>
          <a:p/>
          <a:p>
            <a:r>
              <a:t>Ownership and velocity — Memory plus Gateway. On engine A the extraction prompt is mine to maintain forever, and adding a tool is a deploy. On B, extraction is the service’s problem and the tool list is data. The give-up is real: I lose the extraction schema I designed.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7:00 of 10:00]</a:t>
            </a:r>
          </a:p>
          <a:p/>
          <a:p>
            <a:r>
              <a:t>Security — same two components, different question: not what crashes, but what leaks. Engine A holds every user’s credentials in one heap behind one shared IAM role; an injection that pivots reaches everyone’s tokens. Behind Gateway, auth resolves per tool and a hijacked session reaches only its own.</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3:50 of 10:00]</a:t>
            </a:r>
          </a:p>
          <a:p/>
          <a:p>
            <a:r>
              <a:t>Now the real content. Same product, built twice: engine A is the DIY build I own on Fargate; engine B is the same model on AgentCore. Everything from here judges those two engines through six lenses.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[0:50 · cumulative 4:40 of 10:00]</a:t>
            </a:r>
          </a:p>
          <a:p/>
          <a:p>
            <a:r>
              <a:t>The whole section in one slide. Six lenses down the side; the four AgentCore components across the top, lit when they matter to that lens. Cost lights everything. Security is Runtime plus Gateway. Debuggability and latency go to DIY — four-two, and the two it loses are why this is a comparison and not a sales pitch.</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6:05 of 10:00]</a:t>
            </a:r>
          </a:p>
          <a:p/>
          <a:p>
            <a:r>
              <a:t>Resilience is Runtime plus Gateway. In-process, forty sessions share one Node process, one heap, one crash. A microVM per session and a Lambda per tool means a fault has nowhere to travel: one session lost, not forty.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[0:25 · cumulative 6:30 of 10:00]</a:t>
            </a:r>
          </a:p>
          <a:p/>
          <a:p>
            <a:r>
              <a:t>The same fault, injected on both engines. Engine A loses all forty sessions — the process is the blast radius. Engine B loses exactly one: the caller. Three fault classes, same outcome every time.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 · cumulative 8:50 of 10:00]</a:t>
            </a:r>
          </a:p>
          <a:p/>
          <a:p>
            <a:r>
              <a:t>Every node here is a real pull request, in the order it was opened, connected to where it merged. Fifty-seven of them. The link opens the interactive version if you want to read any review thread.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 · cumulative 9:50 of 10:00]</a:t>
            </a:r>
          </a:p>
          <a:p/>
          <a:p>
            <a:r>
              <a:t>Five things I would tell the next person. An agent is a loop, not a chatbot. When you and the agent are both stuck, stop prompting and pick up a pen. Most of my tokens went to the workflow, not the code — and that is what made the code safe to merge. The strongest case for AgentCore is blast radius, not the bill. And it is easy to gate that the service is up, hard to gate that the model still works — a missing permission returned a polite fallback with a two hundred.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 cumulative 10:00 of 10:00]</a:t>
            </a:r>
          </a:p>
          <a:p/>
          <a:p>
            <a:r>
              <a:t>That is Valentin. Happy to go deeper on any of the five lenses, or on the agent workflow that built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Notes Placeholder"/>
          <p:cNvSpPr>
            <a:spLocks noGrp="1"/>
          </p:cNvSpPr>
          <p:nvPr>
            <p:ph type="body" idx="1"/>
          </p:nvPr>
        </p:nvSpPr>
        <p:spPr/>
        <p:txBody>
          <a:bodyPr/>
          <a:lstStyle/>
          <a:p>
            <a:r>
              <a:t>[0:30 · cumulative 8:25 of 10:00]</a:t>
            </a:r>
          </a:p>
          <a:p/>
          <a:p>
            <a:r>
              <a:t>A word on how this got built, because it is the part people ask about. I wrote none of the application code. Six agents did, each with a prompt file and an explicit do-not-touch list — disjoint ownership is what stops five agents editing at once from being a merge-conflict generator.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hyperlink" Target="https://amazon-my.sharepoint.com/personal/coralst_amazon_com/Lists/Natural%20Intelligence%20Support%20Planning%20Workshop/AllItems.aspx?sortField=Order0&amp;isAscending=false&amp;viewid=082e8a62%2D439c%2D4e01%2Da1d9%2D6bd9a85907a3&amp;env=WebViewLis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hyperlink" Target="https://d26dwovftfq9oe.cloudfront.net/explore.html#wor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685800"/>
            <a:ext cx="5486400" cy="365760"/>
          </a:xfrm>
          <a:prstGeom prst="rect">
            <a:avLst/>
          </a:prstGeom>
          <a:noFill/>
        </p:spPr>
        <p:txBody>
          <a:bodyPr wrap="square" lIns="0" tIns="0" rIns="0" bIns="0" anchor="t">
            <a:spAutoFit/>
          </a:bodyPr>
          <a:lstStyle/>
          <a:p>
            <a:pPr algn="l"/>
            <a:r>
              <a:rPr sz="1200" b="1">
                <a:solidFill>
                  <a:srgbClr val="FF9900"/>
                </a:solidFill>
                <a:latin typeface="Calibri"/>
              </a:rPr>
              <a:t>AWS ENTERPRISE SUPPORT · GenAI Core TFC</a:t>
            </a:r>
          </a:p>
        </p:txBody>
      </p:sp>
      <p:sp>
        <p:nvSpPr>
          <p:cNvPr id="5" name="TextBox 4"/>
          <p:cNvSpPr txBox="1"/>
          <p:nvPr/>
        </p:nvSpPr>
        <p:spPr>
          <a:xfrm>
            <a:off x="685800" y="2194560"/>
            <a:ext cx="10972800" cy="1371600"/>
          </a:xfrm>
          <a:prstGeom prst="rect">
            <a:avLst/>
          </a:prstGeom>
          <a:noFill/>
        </p:spPr>
        <p:txBody>
          <a:bodyPr wrap="square" lIns="0" tIns="0" rIns="0" bIns="0" anchor="t">
            <a:spAutoFit/>
          </a:bodyPr>
          <a:lstStyle/>
          <a:p>
            <a:pPr algn="l"/>
            <a:r>
              <a:rPr sz="7200" b="1">
                <a:solidFill>
                  <a:srgbClr val="FFFFFF"/>
                </a:solidFill>
                <a:latin typeface="Calibri"/>
              </a:rPr>
              <a:t>Valentin</a:t>
            </a:r>
          </a:p>
        </p:txBody>
      </p:sp>
      <p:sp>
        <p:nvSpPr>
          <p:cNvPr id="6" name="TextBox 5"/>
          <p:cNvSpPr txBox="1"/>
          <p:nvPr/>
        </p:nvSpPr>
        <p:spPr>
          <a:xfrm>
            <a:off x="685800" y="3383280"/>
            <a:ext cx="10972800" cy="731520"/>
          </a:xfrm>
          <a:prstGeom prst="rect">
            <a:avLst/>
          </a:prstGeom>
          <a:noFill/>
        </p:spPr>
        <p:txBody>
          <a:bodyPr wrap="square" lIns="0" tIns="0" rIns="0" bIns="0" anchor="t">
            <a:spAutoFit/>
          </a:bodyPr>
          <a:lstStyle/>
          <a:p>
            <a:pPr algn="l"/>
            <a:r>
              <a:rPr sz="2400" b="0">
                <a:solidFill>
                  <a:srgbClr val="FF9900"/>
                </a:solidFill>
                <a:latin typeface="Calibri"/>
              </a:rPr>
              <a:t>One product · Two agent platforms · Same model</a:t>
            </a:r>
          </a:p>
        </p:txBody>
      </p:sp>
      <p:sp>
        <p:nvSpPr>
          <p:cNvPr id="7" name="TextBox 6"/>
          <p:cNvSpPr txBox="1"/>
          <p:nvPr/>
        </p:nvSpPr>
        <p:spPr>
          <a:xfrm>
            <a:off x="685800" y="4754880"/>
            <a:ext cx="10972800" cy="457200"/>
          </a:xfrm>
          <a:prstGeom prst="rect">
            <a:avLst/>
          </a:prstGeom>
          <a:noFill/>
        </p:spPr>
        <p:txBody>
          <a:bodyPr wrap="square" lIns="0" tIns="0" rIns="0" bIns="0" anchor="t">
            <a:spAutoFit/>
          </a:bodyPr>
          <a:lstStyle/>
          <a:p>
            <a:pPr algn="l"/>
            <a:r>
              <a:rPr sz="1700" b="0" dirty="0">
                <a:solidFill>
                  <a:srgbClr val="879596"/>
                </a:solidFill>
                <a:latin typeface="Calibri"/>
              </a:rPr>
              <a:t>AgentCore vs Fargate + DynamoDB — a controlled A/B</a:t>
            </a:r>
          </a:p>
        </p:txBody>
      </p:sp>
      <p:sp>
        <p:nvSpPr>
          <p:cNvPr id="8" name="TextBox 7"/>
          <p:cNvSpPr txBox="1"/>
          <p:nvPr/>
        </p:nvSpPr>
        <p:spPr>
          <a:xfrm>
            <a:off x="685800" y="5440680"/>
            <a:ext cx="10972800" cy="365760"/>
          </a:xfrm>
          <a:prstGeom prst="rect">
            <a:avLst/>
          </a:prstGeom>
          <a:noFill/>
        </p:spPr>
        <p:txBody>
          <a:bodyPr wrap="square" lIns="0" tIns="0" rIns="0" bIns="0" anchor="t">
            <a:spAutoFit/>
          </a:bodyPr>
          <a:lstStyle/>
          <a:p>
            <a:pPr algn="l"/>
            <a:r>
              <a:rPr sz="1400" b="0">
                <a:solidFill>
                  <a:srgbClr val="FFFFFF"/>
                </a:solidFill>
                <a:latin typeface="Calibri"/>
              </a:rPr>
              <a:t>Coral Magen  ·  Technical Account Manager  ·  September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1</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The Business Problem and the Application</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234440"/>
            <a:ext cx="11155680" cy="411480"/>
          </a:xfrm>
          <a:prstGeom prst="rect">
            <a:avLst/>
          </a:prstGeom>
          <a:noFill/>
        </p:spPr>
        <p:txBody>
          <a:bodyPr wrap="square" lIns="0" tIns="0" rIns="0" bIns="0" anchor="t">
            <a:spAutoFit/>
          </a:bodyPr>
          <a:lstStyle/>
          <a:p>
            <a:pPr algn="l"/>
            <a:r>
              <a:rPr sz="1700" b="0">
                <a:solidFill>
                  <a:srgbClr val="545B64"/>
                </a:solidFill>
                <a:latin typeface="Calibri"/>
              </a:rPr>
              <a:t>Small nudges over time — from a partner who's paying attention when you can't.</a:t>
            </a:r>
          </a:p>
        </p:txBody>
      </p:sp>
      <p:sp>
        <p:nvSpPr>
          <p:cNvPr id="7" name="Rounded Rectangle 6"/>
          <p:cNvSpPr/>
          <p:nvPr/>
        </p:nvSpPr>
        <p:spPr>
          <a:xfrm>
            <a:off x="50292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02920" y="1783080"/>
            <a:ext cx="5532120" cy="1371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057400"/>
            <a:ext cx="4983480" cy="411480"/>
          </a:xfrm>
          <a:prstGeom prst="rect">
            <a:avLst/>
          </a:prstGeom>
          <a:noFill/>
        </p:spPr>
        <p:txBody>
          <a:bodyPr wrap="square" lIns="0" tIns="0" rIns="0" bIns="0" anchor="t">
            <a:spAutoFit/>
          </a:bodyPr>
          <a:lstStyle/>
          <a:p>
            <a:pPr algn="l"/>
            <a:r>
              <a:rPr sz="1300" b="1">
                <a:solidFill>
                  <a:srgbClr val="C0392B"/>
                </a:solidFill>
                <a:latin typeface="Calibri"/>
              </a:rPr>
              <a:t>THE BUSINESS PROBLEM</a:t>
            </a:r>
          </a:p>
        </p:txBody>
      </p:sp>
      <p:sp>
        <p:nvSpPr>
          <p:cNvPr id="10" name="TextBox 9"/>
          <p:cNvSpPr txBox="1"/>
          <p:nvPr/>
        </p:nvSpPr>
        <p:spPr>
          <a:xfrm>
            <a:off x="822960" y="2560320"/>
            <a:ext cx="4983480" cy="777240"/>
          </a:xfrm>
          <a:prstGeom prst="rect">
            <a:avLst/>
          </a:prstGeom>
          <a:noFill/>
        </p:spPr>
        <p:txBody>
          <a:bodyPr wrap="square" lIns="0" tIns="0" rIns="0" bIns="0" anchor="t">
            <a:spAutoFit/>
          </a:bodyPr>
          <a:lstStyle/>
          <a:p>
            <a:pPr algn="l"/>
            <a:r>
              <a:rPr sz="1700" b="0">
                <a:solidFill>
                  <a:srgbClr val="16191F"/>
                </a:solidFill>
                <a:latin typeface="Calibri"/>
              </a:rPr>
              <a:t>We're busy. The little things that make our partner feel seen slip through the cracks — until we need them.</a:t>
            </a:r>
          </a:p>
        </p:txBody>
      </p:sp>
      <p:sp>
        <p:nvSpPr>
          <p:cNvPr id="11" name="Rounded Rectangle 10"/>
          <p:cNvSpPr/>
          <p:nvPr/>
        </p:nvSpPr>
        <p:spPr>
          <a:xfrm>
            <a:off x="6309360" y="1783080"/>
            <a:ext cx="5532120" cy="164592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09360" y="1783080"/>
            <a:ext cx="5532120" cy="137160"/>
          </a:xfrm>
          <a:prstGeom prst="roundRect">
            <a:avLst/>
          </a:prstGeom>
          <a:solidFill>
            <a:srgbClr val="1E7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2057400"/>
            <a:ext cx="4983480" cy="411480"/>
          </a:xfrm>
          <a:prstGeom prst="rect">
            <a:avLst/>
          </a:prstGeom>
          <a:noFill/>
        </p:spPr>
        <p:txBody>
          <a:bodyPr wrap="square" lIns="0" tIns="0" rIns="0" bIns="0" anchor="t">
            <a:spAutoFit/>
          </a:bodyPr>
          <a:lstStyle/>
          <a:p>
            <a:pPr algn="l"/>
            <a:r>
              <a:rPr sz="1300" b="1">
                <a:solidFill>
                  <a:srgbClr val="1E7C3C"/>
                </a:solidFill>
                <a:latin typeface="Calibri"/>
              </a:rPr>
              <a:t>WHAT VALENTIN IS</a:t>
            </a:r>
          </a:p>
        </p:txBody>
      </p:sp>
      <p:sp>
        <p:nvSpPr>
          <p:cNvPr id="14" name="TextBox 13"/>
          <p:cNvSpPr txBox="1"/>
          <p:nvPr/>
        </p:nvSpPr>
        <p:spPr>
          <a:xfrm>
            <a:off x="6629400" y="2560320"/>
            <a:ext cx="4983480" cy="822960"/>
          </a:xfrm>
          <a:prstGeom prst="rect">
            <a:avLst/>
          </a:prstGeom>
          <a:noFill/>
        </p:spPr>
        <p:txBody>
          <a:bodyPr wrap="square" lIns="0" tIns="0" rIns="0" bIns="0" anchor="t">
            <a:spAutoFit/>
          </a:bodyPr>
          <a:lstStyle/>
          <a:p>
            <a:pPr algn="l"/>
            <a:r>
              <a:rPr sz="1700" b="0">
                <a:solidFill>
                  <a:srgbClr val="16191F"/>
                </a:solidFill>
                <a:latin typeface="Calibri"/>
              </a:rPr>
              <a:t>A personal AI assistant that listens, remembers per partner, and acts weeks early — with your final word.</a:t>
            </a:r>
          </a:p>
        </p:txBody>
      </p:sp>
      <p:sp>
        <p:nvSpPr>
          <p:cNvPr id="15" name="Rounded Rectangle 14"/>
          <p:cNvSpPr/>
          <p:nvPr/>
        </p:nvSpPr>
        <p:spPr>
          <a:xfrm>
            <a:off x="502920"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31520"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1</a:t>
            </a:r>
          </a:p>
        </p:txBody>
      </p:sp>
      <p:pic>
        <p:nvPicPr>
          <p:cNvPr id="18" name="Picture 17" descr="bedrock.png"/>
          <p:cNvPicPr>
            <a:picLocks noChangeAspect="1"/>
          </p:cNvPicPr>
          <p:nvPr/>
        </p:nvPicPr>
        <p:blipFill>
          <a:blip r:embed="rId3"/>
          <a:stretch>
            <a:fillRect/>
          </a:stretch>
        </p:blipFill>
        <p:spPr>
          <a:xfrm>
            <a:off x="1085049" y="4390858"/>
            <a:ext cx="640080" cy="640080"/>
          </a:xfrm>
          <a:prstGeom prst="rect">
            <a:avLst/>
          </a:prstGeom>
        </p:spPr>
      </p:pic>
      <p:sp>
        <p:nvSpPr>
          <p:cNvPr id="19" name="TextBox 18"/>
          <p:cNvSpPr txBox="1"/>
          <p:nvPr/>
        </p:nvSpPr>
        <p:spPr>
          <a:xfrm>
            <a:off x="1806154"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20" name="Picture 19" descr="agentcore.png"/>
          <p:cNvPicPr>
            <a:picLocks noChangeAspect="1"/>
          </p:cNvPicPr>
          <p:nvPr/>
        </p:nvPicPr>
        <p:blipFill>
          <a:blip r:embed="rId4"/>
          <a:stretch>
            <a:fillRect/>
          </a:stretch>
        </p:blipFill>
        <p:spPr>
          <a:xfrm>
            <a:off x="2136609" y="4390858"/>
            <a:ext cx="640080" cy="640080"/>
          </a:xfrm>
          <a:prstGeom prst="rect">
            <a:avLst/>
          </a:prstGeom>
        </p:spPr>
      </p:pic>
      <p:sp>
        <p:nvSpPr>
          <p:cNvPr id="21" name="TextBox 20"/>
          <p:cNvSpPr txBox="1"/>
          <p:nvPr/>
        </p:nvSpPr>
        <p:spPr>
          <a:xfrm>
            <a:off x="685800"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Chatbot</a:t>
            </a:r>
          </a:p>
        </p:txBody>
      </p:sp>
      <p:sp>
        <p:nvSpPr>
          <p:cNvPr id="22" name="TextBox 21"/>
          <p:cNvSpPr txBox="1"/>
          <p:nvPr/>
        </p:nvSpPr>
        <p:spPr>
          <a:xfrm>
            <a:off x="640080"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Bedrock  ·  AgentCore Runtime</a:t>
            </a:r>
          </a:p>
        </p:txBody>
      </p:sp>
      <p:sp>
        <p:nvSpPr>
          <p:cNvPr id="23" name="TextBox 22"/>
          <p:cNvSpPr txBox="1"/>
          <p:nvPr/>
        </p:nvSpPr>
        <p:spPr>
          <a:xfrm>
            <a:off x="685800"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Claude in context of the partner profile — same model, two delivery paths.</a:t>
            </a:r>
          </a:p>
        </p:txBody>
      </p:sp>
      <p:sp>
        <p:nvSpPr>
          <p:cNvPr id="24" name="Right Arrow 23"/>
          <p:cNvSpPr/>
          <p:nvPr/>
        </p:nvSpPr>
        <p:spPr>
          <a:xfrm>
            <a:off x="3185939"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3340531"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340531"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569131"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2</a:t>
            </a:r>
          </a:p>
        </p:txBody>
      </p:sp>
      <p:pic>
        <p:nvPicPr>
          <p:cNvPr id="28" name="Picture 27" descr="dynamodb.png"/>
          <p:cNvPicPr>
            <a:picLocks noChangeAspect="1"/>
          </p:cNvPicPr>
          <p:nvPr/>
        </p:nvPicPr>
        <p:blipFill>
          <a:blip r:embed="rId5"/>
          <a:stretch>
            <a:fillRect/>
          </a:stretch>
        </p:blipFill>
        <p:spPr>
          <a:xfrm>
            <a:off x="3922660" y="4390858"/>
            <a:ext cx="640080" cy="640080"/>
          </a:xfrm>
          <a:prstGeom prst="rect">
            <a:avLst/>
          </a:prstGeom>
        </p:spPr>
      </p:pic>
      <p:sp>
        <p:nvSpPr>
          <p:cNvPr id="29" name="TextBox 28"/>
          <p:cNvSpPr txBox="1"/>
          <p:nvPr/>
        </p:nvSpPr>
        <p:spPr>
          <a:xfrm>
            <a:off x="4643765" y="4450309"/>
            <a:ext cx="228600" cy="430887"/>
          </a:xfrm>
          <a:prstGeom prst="rect">
            <a:avLst/>
          </a:prstGeom>
          <a:noFill/>
        </p:spPr>
        <p:txBody>
          <a:bodyPr wrap="square" lIns="0" tIns="0" rIns="0" bIns="0" anchor="ctr">
            <a:spAutoFit/>
          </a:bodyPr>
          <a:lstStyle/>
          <a:p>
            <a:pPr algn="ctr"/>
            <a:r>
              <a:rPr lang="en-US" sz="2800" b="1" dirty="0">
                <a:solidFill>
                  <a:srgbClr val="FF9900"/>
                </a:solidFill>
                <a:latin typeface="Calibri"/>
              </a:rPr>
              <a:t>/</a:t>
            </a:r>
            <a:endParaRPr sz="2800" b="1" dirty="0">
              <a:solidFill>
                <a:srgbClr val="FF9900"/>
              </a:solidFill>
              <a:latin typeface="Calibri"/>
            </a:endParaRPr>
          </a:p>
        </p:txBody>
      </p:sp>
      <p:pic>
        <p:nvPicPr>
          <p:cNvPr id="30" name="Picture 29" descr="agentcore.png"/>
          <p:cNvPicPr>
            <a:picLocks noChangeAspect="1"/>
          </p:cNvPicPr>
          <p:nvPr/>
        </p:nvPicPr>
        <p:blipFill>
          <a:blip r:embed="rId4"/>
          <a:stretch>
            <a:fillRect/>
          </a:stretch>
        </p:blipFill>
        <p:spPr>
          <a:xfrm>
            <a:off x="4974220" y="4390858"/>
            <a:ext cx="640080" cy="640080"/>
          </a:xfrm>
          <a:prstGeom prst="rect">
            <a:avLst/>
          </a:prstGeom>
        </p:spPr>
      </p:pic>
      <p:sp>
        <p:nvSpPr>
          <p:cNvPr id="31" name="TextBox 30"/>
          <p:cNvSpPr txBox="1"/>
          <p:nvPr/>
        </p:nvSpPr>
        <p:spPr>
          <a:xfrm>
            <a:off x="3523411"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Persistent Memory</a:t>
            </a:r>
          </a:p>
        </p:txBody>
      </p:sp>
      <p:sp>
        <p:nvSpPr>
          <p:cNvPr id="32" name="TextBox 31"/>
          <p:cNvSpPr txBox="1"/>
          <p:nvPr/>
        </p:nvSpPr>
        <p:spPr>
          <a:xfrm>
            <a:off x="3477691" y="5532120"/>
            <a:ext cx="2398699" cy="274320"/>
          </a:xfrm>
          <a:prstGeom prst="rect">
            <a:avLst/>
          </a:prstGeom>
          <a:noFill/>
        </p:spPr>
        <p:txBody>
          <a:bodyPr wrap="square" lIns="0" tIns="0" rIns="0" bIns="0" anchor="t">
            <a:spAutoFit/>
          </a:bodyPr>
          <a:lstStyle/>
          <a:p>
            <a:pPr algn="ctr"/>
            <a:r>
              <a:rPr sz="1000" b="1" dirty="0">
                <a:solidFill>
                  <a:srgbClr val="C07000"/>
                </a:solidFill>
                <a:latin typeface="Calibri"/>
              </a:rPr>
              <a:t>Amazon DynamoDB  ·  AgentCore Memory</a:t>
            </a:r>
          </a:p>
        </p:txBody>
      </p:sp>
      <p:sp>
        <p:nvSpPr>
          <p:cNvPr id="33" name="TextBox 32"/>
          <p:cNvSpPr txBox="1"/>
          <p:nvPr/>
        </p:nvSpPr>
        <p:spPr>
          <a:xfrm>
            <a:off x="3523411"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8 preference categories captured &amp; recalled across months.</a:t>
            </a:r>
          </a:p>
        </p:txBody>
      </p:sp>
      <p:sp>
        <p:nvSpPr>
          <p:cNvPr id="34" name="Right Arrow 33"/>
          <p:cNvSpPr/>
          <p:nvPr/>
        </p:nvSpPr>
        <p:spPr>
          <a:xfrm>
            <a:off x="6023551"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178143"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6178143"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06743"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3</a:t>
            </a:r>
          </a:p>
        </p:txBody>
      </p:sp>
      <p:pic>
        <p:nvPicPr>
          <p:cNvPr id="38" name="Picture 37" descr="lambda.png"/>
          <p:cNvPicPr>
            <a:picLocks noChangeAspect="1"/>
          </p:cNvPicPr>
          <p:nvPr/>
        </p:nvPicPr>
        <p:blipFill>
          <a:blip r:embed="rId6"/>
          <a:stretch>
            <a:fillRect/>
          </a:stretch>
        </p:blipFill>
        <p:spPr>
          <a:xfrm>
            <a:off x="7011732" y="4023360"/>
            <a:ext cx="1005840" cy="1005840"/>
          </a:xfrm>
          <a:prstGeom prst="rect">
            <a:avLst/>
          </a:prstGeom>
        </p:spPr>
      </p:pic>
      <p:sp>
        <p:nvSpPr>
          <p:cNvPr id="39" name="TextBox 38"/>
          <p:cNvSpPr txBox="1"/>
          <p:nvPr/>
        </p:nvSpPr>
        <p:spPr>
          <a:xfrm>
            <a:off x="6361023"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Tool Using</a:t>
            </a:r>
          </a:p>
        </p:txBody>
      </p:sp>
      <p:sp>
        <p:nvSpPr>
          <p:cNvPr id="40" name="TextBox 39"/>
          <p:cNvSpPr txBox="1"/>
          <p:nvPr/>
        </p:nvSpPr>
        <p:spPr>
          <a:xfrm>
            <a:off x="6315303"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AWS Lambda · MCP</a:t>
            </a:r>
          </a:p>
        </p:txBody>
      </p:sp>
      <p:sp>
        <p:nvSpPr>
          <p:cNvPr id="41" name="TextBox 40"/>
          <p:cNvSpPr txBox="1"/>
          <p:nvPr/>
        </p:nvSpPr>
        <p:spPr>
          <a:xfrm>
            <a:off x="6361023"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21 real tools: calendar, mail, restaurants, Spotify, Shabbat times.</a:t>
            </a:r>
          </a:p>
        </p:txBody>
      </p:sp>
      <p:sp>
        <p:nvSpPr>
          <p:cNvPr id="42" name="Right Arrow 41"/>
          <p:cNvSpPr/>
          <p:nvPr/>
        </p:nvSpPr>
        <p:spPr>
          <a:xfrm>
            <a:off x="8861163" y="4800600"/>
            <a:ext cx="144592" cy="182880"/>
          </a:xfrm>
          <a:prstGeom prst="rightArrow">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15755" y="3703320"/>
            <a:ext cx="2673019" cy="2377440"/>
          </a:xfrm>
          <a:prstGeom prst="roundRect">
            <a:avLst/>
          </a:prstGeom>
          <a:solidFill>
            <a:srgbClr val="F7F8FA"/>
          </a:solidFill>
          <a:ln w="9525">
            <a:solidFill>
              <a:srgbClr val="E4E7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9015755" y="3703320"/>
            <a:ext cx="2673019" cy="13716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9244355" y="3977640"/>
            <a:ext cx="384048" cy="384048"/>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9900"/>
                </a:solidFill>
                <a:latin typeface="Calibri"/>
              </a:rPr>
              <a:t>4</a:t>
            </a:r>
          </a:p>
        </p:txBody>
      </p:sp>
      <p:pic>
        <p:nvPicPr>
          <p:cNvPr id="46" name="Picture 45" descr="eventbridge.png"/>
          <p:cNvPicPr>
            <a:picLocks noChangeAspect="1"/>
          </p:cNvPicPr>
          <p:nvPr/>
        </p:nvPicPr>
        <p:blipFill>
          <a:blip r:embed="rId7"/>
          <a:stretch>
            <a:fillRect/>
          </a:stretch>
        </p:blipFill>
        <p:spPr>
          <a:xfrm>
            <a:off x="9849344" y="4023360"/>
            <a:ext cx="1005840" cy="1005840"/>
          </a:xfrm>
          <a:prstGeom prst="rect">
            <a:avLst/>
          </a:prstGeom>
        </p:spPr>
      </p:pic>
      <p:sp>
        <p:nvSpPr>
          <p:cNvPr id="47" name="TextBox 46"/>
          <p:cNvSpPr txBox="1"/>
          <p:nvPr/>
        </p:nvSpPr>
        <p:spPr>
          <a:xfrm>
            <a:off x="9198635" y="5120640"/>
            <a:ext cx="2307259" cy="411480"/>
          </a:xfrm>
          <a:prstGeom prst="rect">
            <a:avLst/>
          </a:prstGeom>
          <a:noFill/>
        </p:spPr>
        <p:txBody>
          <a:bodyPr wrap="square" lIns="0" tIns="0" rIns="0" bIns="0" anchor="t">
            <a:spAutoFit/>
          </a:bodyPr>
          <a:lstStyle/>
          <a:p>
            <a:pPr algn="ctr"/>
            <a:r>
              <a:rPr sz="1700" b="1">
                <a:solidFill>
                  <a:srgbClr val="232F3E"/>
                </a:solidFill>
                <a:latin typeface="Calibri"/>
              </a:rPr>
              <a:t>Triggers &amp; Loop</a:t>
            </a:r>
          </a:p>
        </p:txBody>
      </p:sp>
      <p:sp>
        <p:nvSpPr>
          <p:cNvPr id="48" name="TextBox 47"/>
          <p:cNvSpPr txBox="1"/>
          <p:nvPr/>
        </p:nvSpPr>
        <p:spPr>
          <a:xfrm>
            <a:off x="9152915" y="5532120"/>
            <a:ext cx="2398699" cy="274320"/>
          </a:xfrm>
          <a:prstGeom prst="rect">
            <a:avLst/>
          </a:prstGeom>
          <a:noFill/>
        </p:spPr>
        <p:txBody>
          <a:bodyPr wrap="square" lIns="0" tIns="0" rIns="0" bIns="0" anchor="t">
            <a:spAutoFit/>
          </a:bodyPr>
          <a:lstStyle/>
          <a:p>
            <a:pPr algn="ctr"/>
            <a:r>
              <a:rPr sz="1000" b="1">
                <a:solidFill>
                  <a:srgbClr val="C07000"/>
                </a:solidFill>
                <a:latin typeface="Calibri"/>
              </a:rPr>
              <a:t>EventBridge Scheduler</a:t>
            </a:r>
          </a:p>
        </p:txBody>
      </p:sp>
      <p:sp>
        <p:nvSpPr>
          <p:cNvPr id="49" name="TextBox 48"/>
          <p:cNvSpPr txBox="1"/>
          <p:nvPr/>
        </p:nvSpPr>
        <p:spPr>
          <a:xfrm>
            <a:off x="9198635" y="5760720"/>
            <a:ext cx="2307259" cy="320040"/>
          </a:xfrm>
          <a:prstGeom prst="rect">
            <a:avLst/>
          </a:prstGeom>
          <a:noFill/>
        </p:spPr>
        <p:txBody>
          <a:bodyPr wrap="square" lIns="0" tIns="0" rIns="0" bIns="0" anchor="t">
            <a:spAutoFit/>
          </a:bodyPr>
          <a:lstStyle/>
          <a:p>
            <a:pPr algn="ctr"/>
            <a:r>
              <a:rPr sz="1000" b="0">
                <a:solidFill>
                  <a:srgbClr val="545B64"/>
                </a:solidFill>
                <a:latin typeface="Calibri"/>
              </a:rPr>
              <a:t>Reminders fire weeks later — no human, no model, deterministic.</a:t>
            </a:r>
          </a:p>
        </p:txBody>
      </p:sp>
      <p:sp>
        <p:nvSpPr>
          <p:cNvPr id="50" name="TextBox 49"/>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51" name="TextBox 50"/>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2 / 18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504825" y="361950"/>
            <a:ext cx="590550" cy="5905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000" b="1">
                <a:solidFill>
                  <a:srgbClr val="FF9900"/>
                </a:solidFill>
                <a:latin typeface="Calibri"/>
              </a:rPr>
              <a:t>2</a:t>
            </a:r>
          </a:p>
        </p:txBody>
      </p:sp>
      <p:sp>
        <p:nvSpPr>
          <p:cNvPr id="4" name="TextBox 3"/>
          <p:cNvSpPr txBox="1"/>
          <p:nvPr/>
        </p:nvSpPr>
        <p:spPr>
          <a:xfrm>
            <a:off x="1276350" y="400050"/>
            <a:ext cx="8572500" cy="450123"/>
          </a:xfrm>
          <a:prstGeom prst="rect">
            <a:avLst/>
          </a:prstGeom>
          <a:noFill/>
        </p:spPr>
        <p:txBody>
          <a:bodyPr wrap="square" lIns="0" tIns="0" rIns="0" bIns="0">
            <a:spAutoFit/>
          </a:bodyPr>
          <a:lstStyle/>
          <a:p>
            <a:pPr algn="l"/>
            <a:r>
              <a:rPr sz="2925" b="1" dirty="0">
                <a:solidFill>
                  <a:srgbClr val="232F3E"/>
                </a:solidFill>
                <a:latin typeface="Calibri"/>
              </a:rPr>
              <a:t>Valentin Workflow</a:t>
            </a:r>
            <a:r>
              <a:rPr lang="en-US" sz="2925" b="1" dirty="0">
                <a:solidFill>
                  <a:srgbClr val="232F3E"/>
                </a:solidFill>
                <a:latin typeface="Calibri"/>
              </a:rPr>
              <a:t> – what makes it agentic?</a:t>
            </a:r>
            <a:endParaRPr sz="2925" b="1" dirty="0">
              <a:solidFill>
                <a:srgbClr val="232F3E"/>
              </a:solidFill>
              <a:latin typeface="Calibri"/>
            </a:endParaRPr>
          </a:p>
        </p:txBody>
      </p:sp>
      <p:sp>
        <p:nvSpPr>
          <p:cNvPr id="5" name="Rectangle 4"/>
          <p:cNvSpPr/>
          <p:nvPr/>
        </p:nvSpPr>
        <p:spPr>
          <a:xfrm>
            <a:off x="504825" y="1047750"/>
            <a:ext cx="1371600" cy="3810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 name="Oval 6"/>
          <p:cNvSpPr/>
          <p:nvPr/>
        </p:nvSpPr>
        <p:spPr>
          <a:xfrm>
            <a:off x="1597533" y="1666875"/>
            <a:ext cx="3662934" cy="3524250"/>
          </a:xfrm>
          <a:prstGeom prst="ellipse">
            <a:avLst/>
          </a:prstGeom>
          <a:noFill/>
          <a:ln w="133350">
            <a:solidFill>
              <a:srgbClr val="FFEFD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7" name="Rounded Rectangle 16"/>
          <p:cNvSpPr/>
          <p:nvPr/>
        </p:nvSpPr>
        <p:spPr>
          <a:xfrm>
            <a:off x="2666999" y="4834419"/>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18" name="TextBox 17"/>
          <p:cNvSpPr txBox="1"/>
          <p:nvPr/>
        </p:nvSpPr>
        <p:spPr>
          <a:xfrm>
            <a:off x="2781299" y="4929669"/>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Trigger and planning</a:t>
            </a:r>
            <a:endParaRPr sz="1600" b="1" dirty="0">
              <a:solidFill>
                <a:srgbClr val="232F3E"/>
              </a:solidFill>
              <a:latin typeface="Calibri"/>
            </a:endParaRPr>
          </a:p>
        </p:txBody>
      </p:sp>
      <p:sp>
        <p:nvSpPr>
          <p:cNvPr id="19" name="TextBox 18"/>
          <p:cNvSpPr txBox="1"/>
          <p:nvPr/>
        </p:nvSpPr>
        <p:spPr>
          <a:xfrm>
            <a:off x="2781299" y="5129694"/>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0" name="Oval 19"/>
          <p:cNvSpPr/>
          <p:nvPr/>
        </p:nvSpPr>
        <p:spPr>
          <a:xfrm>
            <a:off x="2562224" y="4729644"/>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1</a:t>
            </a:r>
          </a:p>
        </p:txBody>
      </p:sp>
      <p:sp>
        <p:nvSpPr>
          <p:cNvPr id="21" name="Rounded Rectangle 20"/>
          <p:cNvSpPr/>
          <p:nvPr/>
        </p:nvSpPr>
        <p:spPr>
          <a:xfrm>
            <a:off x="557212"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2" name="TextBox 21"/>
          <p:cNvSpPr txBox="1"/>
          <p:nvPr/>
        </p:nvSpPr>
        <p:spPr>
          <a:xfrm>
            <a:off x="671512" y="3798426"/>
            <a:ext cx="1581150" cy="246221"/>
          </a:xfrm>
          <a:prstGeom prst="rect">
            <a:avLst/>
          </a:prstGeom>
          <a:noFill/>
        </p:spPr>
        <p:txBody>
          <a:bodyPr wrap="square" lIns="0" tIns="0" rIns="0" bIns="0">
            <a:spAutoFit/>
          </a:bodyPr>
          <a:lstStyle/>
          <a:p>
            <a:pPr algn="ctr"/>
            <a:r>
              <a:rPr sz="1600" b="1" dirty="0">
                <a:solidFill>
                  <a:srgbClr val="232F3E"/>
                </a:solidFill>
                <a:latin typeface="Calibri"/>
              </a:rPr>
              <a:t>Use tools</a:t>
            </a:r>
          </a:p>
        </p:txBody>
      </p:sp>
      <p:sp>
        <p:nvSpPr>
          <p:cNvPr id="23" name="TextBox 22"/>
          <p:cNvSpPr txBox="1"/>
          <p:nvPr/>
        </p:nvSpPr>
        <p:spPr>
          <a:xfrm>
            <a:off x="671512"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4" name="Oval 23"/>
          <p:cNvSpPr/>
          <p:nvPr/>
        </p:nvSpPr>
        <p:spPr>
          <a:xfrm>
            <a:off x="452437"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2</a:t>
            </a:r>
          </a:p>
        </p:txBody>
      </p:sp>
      <p:sp>
        <p:nvSpPr>
          <p:cNvPr id="25" name="Rounded Rectangle 24"/>
          <p:cNvSpPr/>
          <p:nvPr/>
        </p:nvSpPr>
        <p:spPr>
          <a:xfrm>
            <a:off x="1273985" y="1738063"/>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26" name="TextBox 25"/>
          <p:cNvSpPr txBox="1"/>
          <p:nvPr/>
        </p:nvSpPr>
        <p:spPr>
          <a:xfrm>
            <a:off x="1388285" y="1995359"/>
            <a:ext cx="1581150" cy="246221"/>
          </a:xfrm>
          <a:prstGeom prst="rect">
            <a:avLst/>
          </a:prstGeom>
          <a:noFill/>
        </p:spPr>
        <p:txBody>
          <a:bodyPr wrap="square" lIns="0" tIns="0" rIns="0" bIns="0">
            <a:spAutoFit/>
          </a:bodyPr>
          <a:lstStyle/>
          <a:p>
            <a:pPr algn="ctr"/>
            <a:r>
              <a:rPr sz="1600" b="1" dirty="0">
                <a:solidFill>
                  <a:srgbClr val="232F3E"/>
                </a:solidFill>
                <a:latin typeface="Calibri"/>
              </a:rPr>
              <a:t>Propose</a:t>
            </a:r>
          </a:p>
        </p:txBody>
      </p:sp>
      <p:sp>
        <p:nvSpPr>
          <p:cNvPr id="27" name="TextBox 26"/>
          <p:cNvSpPr txBox="1"/>
          <p:nvPr/>
        </p:nvSpPr>
        <p:spPr>
          <a:xfrm>
            <a:off x="1388285" y="2033338"/>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28" name="Oval 27"/>
          <p:cNvSpPr/>
          <p:nvPr/>
        </p:nvSpPr>
        <p:spPr>
          <a:xfrm>
            <a:off x="116921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3</a:t>
            </a:r>
          </a:p>
        </p:txBody>
      </p:sp>
      <p:sp>
        <p:nvSpPr>
          <p:cNvPr id="29" name="Rounded Rectangle 28"/>
          <p:cNvSpPr/>
          <p:nvPr/>
        </p:nvSpPr>
        <p:spPr>
          <a:xfrm>
            <a:off x="3771900" y="1738063"/>
            <a:ext cx="194310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0" name="TextBox 29"/>
          <p:cNvSpPr txBox="1"/>
          <p:nvPr/>
        </p:nvSpPr>
        <p:spPr>
          <a:xfrm>
            <a:off x="3693033" y="1833313"/>
            <a:ext cx="2100834" cy="492443"/>
          </a:xfrm>
          <a:prstGeom prst="rect">
            <a:avLst/>
          </a:prstGeom>
          <a:noFill/>
        </p:spPr>
        <p:txBody>
          <a:bodyPr wrap="square" lIns="0" tIns="0" rIns="0" bIns="0">
            <a:spAutoFit/>
          </a:bodyPr>
          <a:lstStyle/>
          <a:p>
            <a:pPr algn="ctr"/>
            <a:r>
              <a:rPr lang="en-US" sz="1600" b="1" dirty="0">
                <a:solidFill>
                  <a:srgbClr val="232F3E"/>
                </a:solidFill>
                <a:latin typeface="Calibri"/>
              </a:rPr>
              <a:t>Discussion and preference extraction</a:t>
            </a:r>
            <a:endParaRPr sz="1600" b="1" dirty="0">
              <a:solidFill>
                <a:srgbClr val="232F3E"/>
              </a:solidFill>
              <a:latin typeface="Calibri"/>
            </a:endParaRPr>
          </a:p>
        </p:txBody>
      </p:sp>
      <p:sp>
        <p:nvSpPr>
          <p:cNvPr id="32" name="Oval 31"/>
          <p:cNvSpPr/>
          <p:nvPr/>
        </p:nvSpPr>
        <p:spPr>
          <a:xfrm>
            <a:off x="3733800" y="1633288"/>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4</a:t>
            </a:r>
          </a:p>
        </p:txBody>
      </p:sp>
      <p:sp>
        <p:nvSpPr>
          <p:cNvPr id="33" name="Rounded Rectangle 32"/>
          <p:cNvSpPr/>
          <p:nvPr/>
        </p:nvSpPr>
        <p:spPr>
          <a:xfrm>
            <a:off x="4514216" y="3541130"/>
            <a:ext cx="1809750" cy="742950"/>
          </a:xfrm>
          <a:prstGeom prst="roundRect">
            <a:avLst>
              <a:gd name="adj" fmla="val 16000"/>
            </a:avLst>
          </a:prstGeom>
          <a:solidFill>
            <a:srgbClr val="FFFFFF"/>
          </a:solidFill>
          <a:ln w="1397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4" name="TextBox 33"/>
          <p:cNvSpPr txBox="1"/>
          <p:nvPr/>
        </p:nvSpPr>
        <p:spPr>
          <a:xfrm>
            <a:off x="4628516" y="3636380"/>
            <a:ext cx="1581150" cy="492443"/>
          </a:xfrm>
          <a:prstGeom prst="rect">
            <a:avLst/>
          </a:prstGeom>
          <a:noFill/>
        </p:spPr>
        <p:txBody>
          <a:bodyPr wrap="square" lIns="0" tIns="0" rIns="0" bIns="0">
            <a:spAutoFit/>
          </a:bodyPr>
          <a:lstStyle/>
          <a:p>
            <a:pPr algn="ctr"/>
            <a:r>
              <a:rPr lang="en-US" sz="1600" b="1" dirty="0">
                <a:solidFill>
                  <a:srgbClr val="232F3E"/>
                </a:solidFill>
                <a:latin typeface="Calibri"/>
              </a:rPr>
              <a:t>Feedback after the Event</a:t>
            </a:r>
            <a:endParaRPr sz="1600" b="1" dirty="0">
              <a:solidFill>
                <a:srgbClr val="232F3E"/>
              </a:solidFill>
              <a:latin typeface="Calibri"/>
            </a:endParaRPr>
          </a:p>
        </p:txBody>
      </p:sp>
      <p:sp>
        <p:nvSpPr>
          <p:cNvPr id="35" name="TextBox 34"/>
          <p:cNvSpPr txBox="1"/>
          <p:nvPr/>
        </p:nvSpPr>
        <p:spPr>
          <a:xfrm>
            <a:off x="4628516" y="3836405"/>
            <a:ext cx="1581150" cy="109645"/>
          </a:xfrm>
          <a:prstGeom prst="rect">
            <a:avLst/>
          </a:prstGeom>
          <a:noFill/>
        </p:spPr>
        <p:txBody>
          <a:bodyPr wrap="square" lIns="0" tIns="0" rIns="0" bIns="0">
            <a:spAutoFit/>
          </a:bodyPr>
          <a:lstStyle/>
          <a:p>
            <a:pPr algn="l">
              <a:lnSpc>
                <a:spcPct val="95000"/>
              </a:lnSpc>
            </a:pPr>
            <a:endParaRPr sz="750" b="0" dirty="0">
              <a:solidFill>
                <a:srgbClr val="545B64"/>
              </a:solidFill>
              <a:latin typeface="Calibri"/>
            </a:endParaRPr>
          </a:p>
        </p:txBody>
      </p:sp>
      <p:sp>
        <p:nvSpPr>
          <p:cNvPr id="36" name="Oval 35"/>
          <p:cNvSpPr/>
          <p:nvPr/>
        </p:nvSpPr>
        <p:spPr>
          <a:xfrm>
            <a:off x="4409441" y="3436355"/>
            <a:ext cx="209550" cy="2095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a:solidFill>
                  <a:srgbClr val="232F3E"/>
                </a:solidFill>
                <a:latin typeface="Calibri"/>
              </a:rPr>
              <a:t>5</a:t>
            </a:r>
          </a:p>
        </p:txBody>
      </p:sp>
      <p:sp>
        <p:nvSpPr>
          <p:cNvPr id="37" name="Oval 36"/>
          <p:cNvSpPr/>
          <p:nvPr/>
        </p:nvSpPr>
        <p:spPr>
          <a:xfrm>
            <a:off x="2714625" y="2714625"/>
            <a:ext cx="1428750" cy="142875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38" name="TextBox 37"/>
          <p:cNvSpPr txBox="1"/>
          <p:nvPr/>
        </p:nvSpPr>
        <p:spPr>
          <a:xfrm>
            <a:off x="2714625" y="3162300"/>
            <a:ext cx="1428750" cy="133350"/>
          </a:xfrm>
          <a:prstGeom prst="rect">
            <a:avLst/>
          </a:prstGeom>
          <a:noFill/>
        </p:spPr>
        <p:txBody>
          <a:bodyPr wrap="square" lIns="0" tIns="0" rIns="0" bIns="0">
            <a:spAutoFit/>
          </a:bodyPr>
          <a:lstStyle/>
          <a:p>
            <a:pPr algn="ctr"/>
            <a:r>
              <a:rPr sz="1000" b="1" spc="120">
                <a:solidFill>
                  <a:srgbClr val="FF9900"/>
                </a:solidFill>
                <a:latin typeface="Calibri"/>
              </a:rPr>
              <a:t>GOAL</a:t>
            </a:r>
          </a:p>
        </p:txBody>
      </p:sp>
      <p:sp>
        <p:nvSpPr>
          <p:cNvPr id="39" name="TextBox 38"/>
          <p:cNvSpPr txBox="1"/>
          <p:nvPr/>
        </p:nvSpPr>
        <p:spPr>
          <a:xfrm>
            <a:off x="2809875" y="3333750"/>
            <a:ext cx="1238250" cy="419100"/>
          </a:xfrm>
          <a:prstGeom prst="rect">
            <a:avLst/>
          </a:prstGeom>
          <a:noFill/>
        </p:spPr>
        <p:txBody>
          <a:bodyPr wrap="square" lIns="0" tIns="0" rIns="0" bIns="0">
            <a:spAutoFit/>
          </a:bodyPr>
          <a:lstStyle/>
          <a:p>
            <a:pPr algn="ctr">
              <a:lnSpc>
                <a:spcPct val="95000"/>
              </a:lnSpc>
            </a:pPr>
            <a:r>
              <a:rPr sz="1087" b="1">
                <a:solidFill>
                  <a:srgbClr val="FFFFFF"/>
                </a:solidFill>
                <a:latin typeface="Calibri"/>
              </a:rPr>
              <a:t>Make her feel seen</a:t>
            </a:r>
          </a:p>
        </p:txBody>
      </p:sp>
      <p:sp>
        <p:nvSpPr>
          <p:cNvPr id="40" name="Rounded Rectangle 39"/>
          <p:cNvSpPr/>
          <p:nvPr/>
        </p:nvSpPr>
        <p:spPr>
          <a:xfrm>
            <a:off x="6667500" y="2131189"/>
            <a:ext cx="5029200" cy="1676400"/>
          </a:xfrm>
          <a:prstGeom prst="roundRect">
            <a:avLst>
              <a:gd name="adj" fmla="val 7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41" name="TextBox 40"/>
          <p:cNvSpPr txBox="1"/>
          <p:nvPr/>
        </p:nvSpPr>
        <p:spPr>
          <a:xfrm>
            <a:off x="6800088" y="2197423"/>
            <a:ext cx="4743450" cy="215444"/>
          </a:xfrm>
          <a:prstGeom prst="rect">
            <a:avLst/>
          </a:prstGeom>
          <a:noFill/>
        </p:spPr>
        <p:txBody>
          <a:bodyPr wrap="square" lIns="0" tIns="0" rIns="0" bIns="0">
            <a:spAutoFit/>
          </a:bodyPr>
          <a:lstStyle/>
          <a:p>
            <a:pPr algn="l"/>
            <a:r>
              <a:rPr sz="1400" b="1" spc="90" dirty="0">
                <a:solidFill>
                  <a:srgbClr val="C07000"/>
                </a:solidFill>
                <a:latin typeface="Calibri"/>
              </a:rPr>
              <a:t>TOOLS — THE LOOP’S HANDS</a:t>
            </a:r>
          </a:p>
        </p:txBody>
      </p:sp>
      <p:sp>
        <p:nvSpPr>
          <p:cNvPr id="42" name="Rounded Rectangle 41"/>
          <p:cNvSpPr/>
          <p:nvPr/>
        </p:nvSpPr>
        <p:spPr>
          <a:xfrm>
            <a:off x="6810375" y="2455039"/>
            <a:ext cx="918591"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check_shabbat</a:t>
            </a:r>
          </a:p>
        </p:txBody>
      </p:sp>
      <p:sp>
        <p:nvSpPr>
          <p:cNvPr id="43" name="Rounded Rectangle 42"/>
          <p:cNvSpPr/>
          <p:nvPr/>
        </p:nvSpPr>
        <p:spPr>
          <a:xfrm>
            <a:off x="7767066" y="2455039"/>
            <a:ext cx="131064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get_hebrew_occasions</a:t>
            </a:r>
          </a:p>
        </p:txBody>
      </p:sp>
      <p:sp>
        <p:nvSpPr>
          <p:cNvPr id="44" name="Rounded Rectangle 43"/>
          <p:cNvSpPr/>
          <p:nvPr/>
        </p:nvSpPr>
        <p:spPr>
          <a:xfrm>
            <a:off x="9115806" y="2455039"/>
            <a:ext cx="974598"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find_occasions</a:t>
            </a:r>
          </a:p>
        </p:txBody>
      </p:sp>
      <p:sp>
        <p:nvSpPr>
          <p:cNvPr id="45" name="Rounded Rectangle 44"/>
          <p:cNvSpPr/>
          <p:nvPr/>
        </p:nvSpPr>
        <p:spPr>
          <a:xfrm>
            <a:off x="10128504" y="2455039"/>
            <a:ext cx="1086612"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find_restaurants</a:t>
            </a:r>
          </a:p>
        </p:txBody>
      </p:sp>
      <p:sp>
        <p:nvSpPr>
          <p:cNvPr id="46" name="Rounded Rectangle 45"/>
          <p:cNvSpPr/>
          <p:nvPr/>
        </p:nvSpPr>
        <p:spPr>
          <a:xfrm>
            <a:off x="6810375" y="2678626"/>
            <a:ext cx="1198626"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check_availability</a:t>
            </a:r>
          </a:p>
        </p:txBody>
      </p:sp>
      <p:sp>
        <p:nvSpPr>
          <p:cNvPr id="47" name="Rounded Rectangle 46"/>
          <p:cNvSpPr/>
          <p:nvPr/>
        </p:nvSpPr>
        <p:spPr>
          <a:xfrm>
            <a:off x="8047101" y="2678626"/>
            <a:ext cx="1254633"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propose_reservation</a:t>
            </a:r>
          </a:p>
        </p:txBody>
      </p:sp>
      <p:sp>
        <p:nvSpPr>
          <p:cNvPr id="48" name="Rounded Rectangle 47"/>
          <p:cNvSpPr/>
          <p:nvPr/>
        </p:nvSpPr>
        <p:spPr>
          <a:xfrm>
            <a:off x="9339834" y="2678626"/>
            <a:ext cx="750570"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find_music</a:t>
            </a:r>
          </a:p>
        </p:txBody>
      </p:sp>
      <p:sp>
        <p:nvSpPr>
          <p:cNvPr id="49" name="Rounded Rectangle 48"/>
          <p:cNvSpPr/>
          <p:nvPr/>
        </p:nvSpPr>
        <p:spPr>
          <a:xfrm>
            <a:off x="10128504" y="2678626"/>
            <a:ext cx="1086612"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propose_playlist</a:t>
            </a:r>
          </a:p>
        </p:txBody>
      </p:sp>
      <p:sp>
        <p:nvSpPr>
          <p:cNvPr id="50" name="Rounded Rectangle 49"/>
          <p:cNvSpPr/>
          <p:nvPr/>
        </p:nvSpPr>
        <p:spPr>
          <a:xfrm>
            <a:off x="681037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search_hotels</a:t>
            </a:r>
          </a:p>
        </p:txBody>
      </p:sp>
      <p:sp>
        <p:nvSpPr>
          <p:cNvPr id="51" name="Rounded Rectangle 50"/>
          <p:cNvSpPr/>
          <p:nvPr/>
        </p:nvSpPr>
        <p:spPr>
          <a:xfrm>
            <a:off x="7767066" y="2902214"/>
            <a:ext cx="1142619"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search_activities</a:t>
            </a:r>
          </a:p>
        </p:txBody>
      </p:sp>
      <p:sp>
        <p:nvSpPr>
          <p:cNvPr id="52" name="Rounded Rectangle 51"/>
          <p:cNvSpPr/>
          <p:nvPr/>
        </p:nvSpPr>
        <p:spPr>
          <a:xfrm>
            <a:off x="8947785"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order_flowers</a:t>
            </a:r>
          </a:p>
        </p:txBody>
      </p:sp>
      <p:sp>
        <p:nvSpPr>
          <p:cNvPr id="53" name="Rounded Rectangle 52"/>
          <p:cNvSpPr/>
          <p:nvPr/>
        </p:nvSpPr>
        <p:spPr>
          <a:xfrm>
            <a:off x="9904476" y="2902214"/>
            <a:ext cx="918591"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propose_email</a:t>
            </a:r>
          </a:p>
        </p:txBody>
      </p:sp>
      <p:sp>
        <p:nvSpPr>
          <p:cNvPr id="54" name="Rounded Rectangle 53"/>
          <p:cNvSpPr/>
          <p:nvPr/>
        </p:nvSpPr>
        <p:spPr>
          <a:xfrm>
            <a:off x="6810375"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propose_whatsapp_nudge</a:t>
            </a:r>
          </a:p>
        </p:txBody>
      </p:sp>
      <p:sp>
        <p:nvSpPr>
          <p:cNvPr id="55" name="Rounded Rectangle 54"/>
          <p:cNvSpPr/>
          <p:nvPr/>
        </p:nvSpPr>
        <p:spPr>
          <a:xfrm>
            <a:off x="8271129" y="3125801"/>
            <a:ext cx="862584" cy="200025"/>
          </a:xfrm>
          <a:prstGeom prst="roundRect">
            <a:avLst>
              <a:gd name="adj" fmla="val 50000"/>
            </a:avLst>
          </a:prstGeom>
          <a:solidFill>
            <a:srgbClr val="FFF7EC"/>
          </a:solidFill>
          <a:ln w="9525">
            <a:solidFill>
              <a:srgbClr val="FFD08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C07000"/>
                </a:solidFill>
                <a:latin typeface="Consolas"/>
              </a:rPr>
              <a:t>set_reminder</a:t>
            </a:r>
          </a:p>
        </p:txBody>
      </p:sp>
      <p:sp>
        <p:nvSpPr>
          <p:cNvPr id="56" name="Rounded Rectangle 55"/>
          <p:cNvSpPr/>
          <p:nvPr/>
        </p:nvSpPr>
        <p:spPr>
          <a:xfrm>
            <a:off x="9171813" y="3125801"/>
            <a:ext cx="1422654" cy="200025"/>
          </a:xfrm>
          <a:prstGeom prst="roundRect">
            <a:avLst>
              <a:gd name="adj" fmla="val 50000"/>
            </a:avLst>
          </a:prstGeom>
          <a:solidFill>
            <a:srgbClr val="FFFFFF"/>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a:solidFill>
                  <a:srgbClr val="232F3E"/>
                </a:solidFill>
                <a:latin typeface="Consolas"/>
              </a:rPr>
              <a:t>propose_calendar_event</a:t>
            </a:r>
          </a:p>
        </p:txBody>
      </p:sp>
      <p:sp>
        <p:nvSpPr>
          <p:cNvPr id="57" name="TextBox 56"/>
          <p:cNvSpPr txBox="1"/>
          <p:nvPr/>
        </p:nvSpPr>
        <p:spPr>
          <a:xfrm>
            <a:off x="6810375" y="3402026"/>
            <a:ext cx="4743450" cy="369332"/>
          </a:xfrm>
          <a:prstGeom prst="rect">
            <a:avLst/>
          </a:prstGeom>
          <a:noFill/>
        </p:spPr>
        <p:txBody>
          <a:bodyPr wrap="square" lIns="0" tIns="0" rIns="0" bIns="0">
            <a:spAutoFit/>
          </a:bodyPr>
          <a:lstStyle/>
          <a:p>
            <a:pPr algn="l"/>
            <a:r>
              <a:rPr sz="1200" b="0" dirty="0">
                <a:solidFill>
                  <a:srgbClr val="545B64"/>
                </a:solidFill>
                <a:latin typeface="Calibri"/>
              </a:rPr>
              <a:t>21 registered tools · 6 live integrations. Every write leaves as a proposal, never as a fact.</a:t>
            </a:r>
          </a:p>
        </p:txBody>
      </p:sp>
      <p:sp>
        <p:nvSpPr>
          <p:cNvPr id="58" name="Rounded Rectangle 57"/>
          <p:cNvSpPr/>
          <p:nvPr/>
        </p:nvSpPr>
        <p:spPr>
          <a:xfrm>
            <a:off x="666750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59" name="TextBox 58"/>
          <p:cNvSpPr txBox="1"/>
          <p:nvPr/>
        </p:nvSpPr>
        <p:spPr>
          <a:xfrm>
            <a:off x="681037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MEMORY</a:t>
            </a:r>
          </a:p>
        </p:txBody>
      </p:sp>
      <p:sp>
        <p:nvSpPr>
          <p:cNvPr id="60" name="TextBox 59"/>
          <p:cNvSpPr txBox="1"/>
          <p:nvPr/>
        </p:nvSpPr>
        <p:spPr>
          <a:xfrm>
            <a:off x="6810375" y="4424907"/>
            <a:ext cx="2171700" cy="190500"/>
          </a:xfrm>
          <a:prstGeom prst="rect">
            <a:avLst/>
          </a:prstGeom>
          <a:noFill/>
        </p:spPr>
        <p:txBody>
          <a:bodyPr wrap="square" lIns="0" tIns="0" rIns="0" bIns="0">
            <a:spAutoFit/>
          </a:bodyPr>
          <a:lstStyle/>
          <a:p>
            <a:pPr algn="l"/>
            <a:r>
              <a:rPr sz="1050" b="1" dirty="0">
                <a:solidFill>
                  <a:srgbClr val="232F3E"/>
                </a:solidFill>
                <a:latin typeface="Calibri"/>
              </a:rPr>
              <a:t>Her file, rewritten every turn</a:t>
            </a:r>
          </a:p>
        </p:txBody>
      </p:sp>
      <p:sp>
        <p:nvSpPr>
          <p:cNvPr id="61" name="TextBox 60"/>
          <p:cNvSpPr txBox="1"/>
          <p:nvPr/>
        </p:nvSpPr>
        <p:spPr>
          <a:xfrm>
            <a:off x="6810375" y="4653507"/>
            <a:ext cx="2171700" cy="571500"/>
          </a:xfrm>
          <a:prstGeom prst="rect">
            <a:avLst/>
          </a:prstGeom>
          <a:noFill/>
        </p:spPr>
        <p:txBody>
          <a:bodyPr wrap="square" lIns="0" tIns="0" rIns="0" bIns="0">
            <a:spAutoFit/>
          </a:bodyPr>
          <a:lstStyle/>
          <a:p>
            <a:pPr algn="l">
              <a:lnSpc>
                <a:spcPct val="95000"/>
              </a:lnSpc>
            </a:pPr>
            <a:r>
              <a:rPr sz="1000" b="0" dirty="0">
                <a:solidFill>
                  <a:srgbClr val="545B64"/>
                </a:solidFill>
                <a:latin typeface="Calibri"/>
              </a:rPr>
              <a:t>8 preference categories · past outings · pending reminders. DynamoDB / AgentCore Memory.</a:t>
            </a:r>
          </a:p>
        </p:txBody>
      </p:sp>
      <p:sp>
        <p:nvSpPr>
          <p:cNvPr id="62" name="Rounded Rectangle 61"/>
          <p:cNvSpPr/>
          <p:nvPr/>
        </p:nvSpPr>
        <p:spPr>
          <a:xfrm>
            <a:off x="9239250" y="4073807"/>
            <a:ext cx="2457450" cy="1390650"/>
          </a:xfrm>
          <a:prstGeom prst="roundRect">
            <a:avLst>
              <a:gd name="adj" fmla="val 8500"/>
            </a:avLst>
          </a:prstGeom>
          <a:solidFill>
            <a:srgbClr val="F7F8FA"/>
          </a:solidFill>
          <a:ln w="9525">
            <a:solidFill>
              <a:srgbClr val="E4E7EA"/>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63" name="TextBox 62"/>
          <p:cNvSpPr txBox="1"/>
          <p:nvPr/>
        </p:nvSpPr>
        <p:spPr>
          <a:xfrm>
            <a:off x="9382125" y="4197632"/>
            <a:ext cx="2171700" cy="215444"/>
          </a:xfrm>
          <a:prstGeom prst="rect">
            <a:avLst/>
          </a:prstGeom>
          <a:noFill/>
        </p:spPr>
        <p:txBody>
          <a:bodyPr wrap="square" lIns="0" tIns="0" rIns="0" bIns="0">
            <a:spAutoFit/>
          </a:bodyPr>
          <a:lstStyle/>
          <a:p>
            <a:pPr algn="l"/>
            <a:r>
              <a:rPr sz="1400" b="1" spc="90" dirty="0">
                <a:solidFill>
                  <a:srgbClr val="C07000"/>
                </a:solidFill>
                <a:latin typeface="Calibri"/>
              </a:rPr>
              <a:t>LOOP</a:t>
            </a:r>
          </a:p>
        </p:txBody>
      </p:sp>
      <p:sp>
        <p:nvSpPr>
          <p:cNvPr id="64" name="TextBox 63"/>
          <p:cNvSpPr txBox="1"/>
          <p:nvPr/>
        </p:nvSpPr>
        <p:spPr>
          <a:xfrm>
            <a:off x="9382125" y="4424907"/>
            <a:ext cx="2171700" cy="190500"/>
          </a:xfrm>
          <a:prstGeom prst="rect">
            <a:avLst/>
          </a:prstGeom>
          <a:noFill/>
        </p:spPr>
        <p:txBody>
          <a:bodyPr wrap="square" lIns="0" tIns="0" rIns="0" bIns="0">
            <a:spAutoFit/>
          </a:bodyPr>
          <a:lstStyle/>
          <a:p>
            <a:pPr algn="l"/>
            <a:r>
              <a:rPr sz="1050" b="1">
                <a:solidFill>
                  <a:srgbClr val="232F3E"/>
                </a:solidFill>
                <a:latin typeface="Calibri"/>
              </a:rPr>
              <a:t>It never ends on a reply</a:t>
            </a:r>
          </a:p>
        </p:txBody>
      </p:sp>
      <p:sp>
        <p:nvSpPr>
          <p:cNvPr id="65" name="TextBox 64"/>
          <p:cNvSpPr txBox="1"/>
          <p:nvPr/>
        </p:nvSpPr>
        <p:spPr>
          <a:xfrm>
            <a:off x="9382125" y="4653507"/>
            <a:ext cx="2171700" cy="571500"/>
          </a:xfrm>
          <a:prstGeom prst="rect">
            <a:avLst/>
          </a:prstGeom>
          <a:noFill/>
        </p:spPr>
        <p:txBody>
          <a:bodyPr wrap="square" lIns="0" tIns="0" rIns="0" bIns="0">
            <a:spAutoFit/>
          </a:bodyPr>
          <a:lstStyle/>
          <a:p>
            <a:pPr algn="l">
              <a:lnSpc>
                <a:spcPct val="95000"/>
              </a:lnSpc>
            </a:pPr>
            <a:r>
              <a:rPr sz="1000" b="0">
                <a:solidFill>
                  <a:srgbClr val="545B64"/>
                </a:solidFill>
                <a:latin typeface="Calibri"/>
              </a:rPr>
              <a:t>Each pass reorganises the timeline: new dates land, stale ones fall off, reminders re-scheduled.</a:t>
            </a:r>
          </a:p>
        </p:txBody>
      </p:sp>
      <p:grpSp>
        <p:nvGrpSpPr>
          <p:cNvPr id="95" name="Group 94">
            <a:extLst>
              <a:ext uri="{FF2B5EF4-FFF2-40B4-BE49-F238E27FC236}">
                <a16:creationId xmlns:a16="http://schemas.microsoft.com/office/drawing/2014/main" id="{A0D98818-BC03-63C2-8438-EA6EF23603A0}"/>
              </a:ext>
            </a:extLst>
          </p:cNvPr>
          <p:cNvGrpSpPr/>
          <p:nvPr/>
        </p:nvGrpSpPr>
        <p:grpSpPr>
          <a:xfrm>
            <a:off x="6667808" y="1269273"/>
            <a:ext cx="3703107" cy="282320"/>
            <a:chOff x="6667809" y="1269273"/>
            <a:chExt cx="2522220" cy="228600"/>
          </a:xfrm>
        </p:grpSpPr>
        <p:sp>
          <p:nvSpPr>
            <p:cNvPr id="66" name="Rounded Rectangle 65"/>
            <p:cNvSpPr/>
            <p:nvPr/>
          </p:nvSpPr>
          <p:spPr>
            <a:xfrm>
              <a:off x="6667809" y="1269273"/>
              <a:ext cx="521970" cy="228600"/>
            </a:xfrm>
            <a:prstGeom prst="roundRect">
              <a:avLst>
                <a:gd name="adj" fmla="val 50000"/>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232F3E"/>
                  </a:solidFill>
                  <a:latin typeface="Calibri"/>
                </a:rPr>
                <a:t>GOAL</a:t>
              </a:r>
            </a:p>
          </p:txBody>
        </p:sp>
        <p:sp>
          <p:nvSpPr>
            <p:cNvPr id="67" name="Rounded Rectangle 66"/>
            <p:cNvSpPr/>
            <p:nvPr/>
          </p:nvSpPr>
          <p:spPr>
            <a:xfrm>
              <a:off x="7265979" y="1269273"/>
              <a:ext cx="52197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LOOP</a:t>
              </a:r>
            </a:p>
          </p:txBody>
        </p:sp>
        <p:sp>
          <p:nvSpPr>
            <p:cNvPr id="68" name="Rounded Rectangle 67"/>
            <p:cNvSpPr/>
            <p:nvPr/>
          </p:nvSpPr>
          <p:spPr>
            <a:xfrm>
              <a:off x="7864149" y="1269273"/>
              <a:ext cx="65913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MEMORY</a:t>
              </a:r>
            </a:p>
          </p:txBody>
        </p:sp>
        <p:sp>
          <p:nvSpPr>
            <p:cNvPr id="69" name="Rounded Rectangle 68"/>
            <p:cNvSpPr/>
            <p:nvPr/>
          </p:nvSpPr>
          <p:spPr>
            <a:xfrm>
              <a:off x="8599479" y="1269273"/>
              <a:ext cx="590550" cy="228600"/>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TOOLS</a:t>
              </a:r>
            </a:p>
          </p:txBody>
        </p:sp>
      </p:grpSp>
      <p:sp>
        <p:nvSpPr>
          <p:cNvPr id="72" name="Rounded Rectangle 71"/>
          <p:cNvSpPr/>
          <p:nvPr/>
        </p:nvSpPr>
        <p:spPr>
          <a:xfrm>
            <a:off x="504825" y="5991827"/>
            <a:ext cx="11182350" cy="47625"/>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3" name="Oval 72"/>
          <p:cNvSpPr/>
          <p:nvPr/>
        </p:nvSpPr>
        <p:spPr>
          <a:xfrm>
            <a:off x="132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4" name="Oval 73"/>
          <p:cNvSpPr/>
          <p:nvPr/>
        </p:nvSpPr>
        <p:spPr>
          <a:xfrm>
            <a:off x="136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5" name="TextBox 74"/>
          <p:cNvSpPr txBox="1"/>
          <p:nvPr/>
        </p:nvSpPr>
        <p:spPr>
          <a:xfrm>
            <a:off x="55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EVERY FRIDAY</a:t>
            </a:r>
          </a:p>
        </p:txBody>
      </p:sp>
      <p:sp>
        <p:nvSpPr>
          <p:cNvPr id="76" name="TextBox 75"/>
          <p:cNvSpPr txBox="1"/>
          <p:nvPr/>
        </p:nvSpPr>
        <p:spPr>
          <a:xfrm>
            <a:off x="552450" y="6277577"/>
            <a:ext cx="1714500" cy="171450"/>
          </a:xfrm>
          <a:prstGeom prst="rect">
            <a:avLst/>
          </a:prstGeom>
          <a:noFill/>
        </p:spPr>
        <p:txBody>
          <a:bodyPr wrap="square" lIns="0" tIns="0" rIns="0" bIns="0">
            <a:spAutoFit/>
          </a:bodyPr>
          <a:lstStyle/>
          <a:p>
            <a:pPr algn="ctr"/>
            <a:r>
              <a:rPr sz="1000" b="1">
                <a:solidFill>
                  <a:srgbClr val="232F3E"/>
                </a:solidFill>
                <a:latin typeface="Calibri"/>
              </a:rPr>
              <a:t>Shabbat dinner</a:t>
            </a:r>
          </a:p>
        </p:txBody>
      </p:sp>
      <p:sp>
        <p:nvSpPr>
          <p:cNvPr id="77" name="Oval 76"/>
          <p:cNvSpPr/>
          <p:nvPr/>
        </p:nvSpPr>
        <p:spPr>
          <a:xfrm>
            <a:off x="39147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8" name="Oval 77"/>
          <p:cNvSpPr/>
          <p:nvPr/>
        </p:nvSpPr>
        <p:spPr>
          <a:xfrm>
            <a:off x="39528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79" name="TextBox 78"/>
          <p:cNvSpPr txBox="1"/>
          <p:nvPr/>
        </p:nvSpPr>
        <p:spPr>
          <a:xfrm>
            <a:off x="31432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3 NOV</a:t>
            </a:r>
          </a:p>
        </p:txBody>
      </p:sp>
      <p:sp>
        <p:nvSpPr>
          <p:cNvPr id="80" name="TextBox 79"/>
          <p:cNvSpPr txBox="1"/>
          <p:nvPr/>
        </p:nvSpPr>
        <p:spPr>
          <a:xfrm>
            <a:off x="3143250"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a:t>
            </a:r>
          </a:p>
        </p:txBody>
      </p:sp>
      <p:sp>
        <p:nvSpPr>
          <p:cNvPr id="81" name="Oval 80"/>
          <p:cNvSpPr/>
          <p:nvPr/>
        </p:nvSpPr>
        <p:spPr>
          <a:xfrm>
            <a:off x="648652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2" name="Oval 81"/>
          <p:cNvSpPr/>
          <p:nvPr/>
        </p:nvSpPr>
        <p:spPr>
          <a:xfrm>
            <a:off x="652462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3" name="TextBox 82"/>
          <p:cNvSpPr txBox="1"/>
          <p:nvPr/>
        </p:nvSpPr>
        <p:spPr>
          <a:xfrm>
            <a:off x="571500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14 FEB</a:t>
            </a:r>
          </a:p>
        </p:txBody>
      </p:sp>
      <p:sp>
        <p:nvSpPr>
          <p:cNvPr id="84" name="TextBox 83"/>
          <p:cNvSpPr txBox="1"/>
          <p:nvPr/>
        </p:nvSpPr>
        <p:spPr>
          <a:xfrm>
            <a:off x="5715000" y="6277577"/>
            <a:ext cx="1714500" cy="171450"/>
          </a:xfrm>
          <a:prstGeom prst="rect">
            <a:avLst/>
          </a:prstGeom>
          <a:noFill/>
        </p:spPr>
        <p:txBody>
          <a:bodyPr wrap="square" lIns="0" tIns="0" rIns="0" bIns="0">
            <a:spAutoFit/>
          </a:bodyPr>
          <a:lstStyle/>
          <a:p>
            <a:pPr algn="ctr"/>
            <a:r>
              <a:rPr sz="1000" b="1">
                <a:solidFill>
                  <a:srgbClr val="232F3E"/>
                </a:solidFill>
                <a:latin typeface="Calibri"/>
              </a:rPr>
              <a:t>Her birthday</a:t>
            </a:r>
          </a:p>
        </p:txBody>
      </p:sp>
      <p:sp>
        <p:nvSpPr>
          <p:cNvPr id="85" name="Oval 84"/>
          <p:cNvSpPr/>
          <p:nvPr/>
        </p:nvSpPr>
        <p:spPr>
          <a:xfrm>
            <a:off x="8943975"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6" name="Oval 85"/>
          <p:cNvSpPr/>
          <p:nvPr/>
        </p:nvSpPr>
        <p:spPr>
          <a:xfrm>
            <a:off x="8982075"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87" name="TextBox 86"/>
          <p:cNvSpPr txBox="1"/>
          <p:nvPr/>
        </p:nvSpPr>
        <p:spPr>
          <a:xfrm>
            <a:off x="8172450"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21 MAR</a:t>
            </a:r>
          </a:p>
        </p:txBody>
      </p:sp>
      <p:sp>
        <p:nvSpPr>
          <p:cNvPr id="88" name="TextBox 87"/>
          <p:cNvSpPr txBox="1"/>
          <p:nvPr/>
        </p:nvSpPr>
        <p:spPr>
          <a:xfrm>
            <a:off x="8172450" y="6277577"/>
            <a:ext cx="1714500" cy="171450"/>
          </a:xfrm>
          <a:prstGeom prst="rect">
            <a:avLst/>
          </a:prstGeom>
          <a:noFill/>
        </p:spPr>
        <p:txBody>
          <a:bodyPr wrap="square" lIns="0" tIns="0" rIns="0" bIns="0">
            <a:spAutoFit/>
          </a:bodyPr>
          <a:lstStyle/>
          <a:p>
            <a:pPr algn="ctr"/>
            <a:r>
              <a:rPr sz="1000" b="1">
                <a:solidFill>
                  <a:srgbClr val="232F3E"/>
                </a:solidFill>
                <a:latin typeface="Calibri"/>
              </a:rPr>
              <a:t>Bat mitzvah</a:t>
            </a:r>
          </a:p>
        </p:txBody>
      </p:sp>
      <p:sp>
        <p:nvSpPr>
          <p:cNvPr id="89" name="Oval 88"/>
          <p:cNvSpPr/>
          <p:nvPr/>
        </p:nvSpPr>
        <p:spPr>
          <a:xfrm>
            <a:off x="11182350" y="5915627"/>
            <a:ext cx="171450" cy="171450"/>
          </a:xfrm>
          <a:prstGeom prst="ellipse">
            <a:avLst/>
          </a:prstGeom>
          <a:solidFill>
            <a:srgbClr val="FFFFFF"/>
          </a:solidFill>
          <a:ln w="19050">
            <a:solidFill>
              <a:srgbClr val="232F3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0" name="Oval 89"/>
          <p:cNvSpPr/>
          <p:nvPr/>
        </p:nvSpPr>
        <p:spPr>
          <a:xfrm>
            <a:off x="11220450" y="5953727"/>
            <a:ext cx="95250" cy="95250"/>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endParaRPr/>
          </a:p>
        </p:txBody>
      </p:sp>
      <p:sp>
        <p:nvSpPr>
          <p:cNvPr id="91" name="TextBox 90"/>
          <p:cNvSpPr txBox="1"/>
          <p:nvPr/>
        </p:nvSpPr>
        <p:spPr>
          <a:xfrm>
            <a:off x="10410825" y="6144227"/>
            <a:ext cx="1714500" cy="133350"/>
          </a:xfrm>
          <a:prstGeom prst="rect">
            <a:avLst/>
          </a:prstGeom>
          <a:noFill/>
        </p:spPr>
        <p:txBody>
          <a:bodyPr wrap="square" lIns="0" tIns="0" rIns="0" bIns="0">
            <a:spAutoFit/>
          </a:bodyPr>
          <a:lstStyle/>
          <a:p>
            <a:pPr algn="ctr"/>
            <a:r>
              <a:rPr sz="1000" b="1" spc="60">
                <a:solidFill>
                  <a:srgbClr val="C07000"/>
                </a:solidFill>
                <a:latin typeface="Calibri"/>
              </a:rPr>
              <a:t>JUNE</a:t>
            </a:r>
          </a:p>
        </p:txBody>
      </p:sp>
      <p:sp>
        <p:nvSpPr>
          <p:cNvPr id="92" name="TextBox 91"/>
          <p:cNvSpPr txBox="1"/>
          <p:nvPr/>
        </p:nvSpPr>
        <p:spPr>
          <a:xfrm>
            <a:off x="10410825" y="6277577"/>
            <a:ext cx="1714500" cy="171450"/>
          </a:xfrm>
          <a:prstGeom prst="rect">
            <a:avLst/>
          </a:prstGeom>
          <a:noFill/>
        </p:spPr>
        <p:txBody>
          <a:bodyPr wrap="square" lIns="0" tIns="0" rIns="0" bIns="0">
            <a:spAutoFit/>
          </a:bodyPr>
          <a:lstStyle/>
          <a:p>
            <a:pPr algn="ctr"/>
            <a:r>
              <a:rPr sz="1000" b="1">
                <a:solidFill>
                  <a:srgbClr val="232F3E"/>
                </a:solidFill>
                <a:latin typeface="Calibri"/>
              </a:rPr>
              <a:t>Anniversary trip</a:t>
            </a:r>
          </a:p>
        </p:txBody>
      </p:sp>
      <p:sp>
        <p:nvSpPr>
          <p:cNvPr id="93" name="TextBox 92"/>
          <p:cNvSpPr txBox="1"/>
          <p:nvPr/>
        </p:nvSpPr>
        <p:spPr>
          <a:xfrm>
            <a:off x="504825" y="6534150"/>
            <a:ext cx="5715000" cy="152400"/>
          </a:xfrm>
          <a:prstGeom prst="rect">
            <a:avLst/>
          </a:prstGeom>
          <a:noFill/>
        </p:spPr>
        <p:txBody>
          <a:bodyPr wrap="square" lIns="0" tIns="0" rIns="0" bIns="0">
            <a:spAutoFit/>
          </a:bodyPr>
          <a:lstStyle/>
          <a:p>
            <a:pPr algn="l"/>
            <a:r>
              <a:rPr sz="1000" b="1" dirty="0">
                <a:solidFill>
                  <a:srgbClr val="545B64"/>
                </a:solidFill>
                <a:latin typeface="Calibri"/>
              </a:rPr>
              <a:t>VALENTIN   ·   GenAI TFC Capstone Deep-Dive</a:t>
            </a:r>
          </a:p>
        </p:txBody>
      </p:sp>
      <p:sp>
        <p:nvSpPr>
          <p:cNvPr id="94" name="TextBox 93"/>
          <p:cNvSpPr txBox="1"/>
          <p:nvPr/>
        </p:nvSpPr>
        <p:spPr>
          <a:xfrm>
            <a:off x="10258425" y="6534150"/>
            <a:ext cx="1428750" cy="152400"/>
          </a:xfrm>
          <a:prstGeom prst="rect">
            <a:avLst/>
          </a:prstGeom>
          <a:noFill/>
        </p:spPr>
        <p:txBody>
          <a:bodyPr wrap="square" lIns="0" tIns="0" rIns="0" bIns="0">
            <a:spAutoFit/>
          </a:bodyPr>
          <a:lstStyle/>
          <a:p>
            <a:pPr algn="r"/>
            <a:r>
              <a:rPr sz="1000" b="0">
                <a:solidFill>
                  <a:srgbClr val="545B64"/>
                </a:solidFill>
                <a:latin typeface="Calibri"/>
              </a:rPr>
              <a:t>3 / 18</a:t>
            </a:r>
          </a:p>
        </p:txBody>
      </p:sp>
      <p:sp>
        <p:nvSpPr>
          <p:cNvPr id="1078" name="Arc 1078"/>
          <p:cNvSpPr/>
          <p:nvPr/>
        </p:nvSpPr>
        <p:spPr>
          <a:xfrm>
            <a:off x="1600200" y="1664208"/>
            <a:ext cx="3666744" cy="3520440"/>
          </a:xfrm>
          <a:prstGeom prst="arc">
            <a:avLst>
              <a:gd name="adj1" fmla="val 6600000"/>
              <a:gd name="adj2" fmla="val 8880000"/>
            </a:avLst>
          </a:prstGeom>
          <a:noFill/>
          <a:ln w="38100" cap="rnd">
            <a:solidFill>
              <a:srgbClr val="FF9900"/>
            </a:solidFill>
            <a:tailEnd type="triangle" w="med" len="med"/>
          </a:ln>
        </p:spPr>
        <p:txBody>
          <a:bodyPr/>
          <a:lstStyle/>
          <a:p>
            <a:endParaRPr/>
          </a:p>
        </p:txBody>
      </p:sp>
      <p:sp>
        <p:nvSpPr>
          <p:cNvPr id="1079" name="Arc 1079"/>
          <p:cNvSpPr/>
          <p:nvPr/>
        </p:nvSpPr>
        <p:spPr>
          <a:xfrm>
            <a:off x="1600200" y="1664208"/>
            <a:ext cx="3666744" cy="3520440"/>
          </a:xfrm>
          <a:prstGeom prst="arc">
            <a:avLst>
              <a:gd name="adj1" fmla="val 11100000"/>
              <a:gd name="adj2" fmla="val 12600000"/>
            </a:avLst>
          </a:prstGeom>
          <a:noFill/>
          <a:ln w="38100" cap="rnd">
            <a:solidFill>
              <a:srgbClr val="FF9900"/>
            </a:solidFill>
            <a:tailEnd type="triangle" w="med" len="med"/>
          </a:ln>
        </p:spPr>
        <p:txBody>
          <a:bodyPr/>
          <a:lstStyle/>
          <a:p>
            <a:endParaRPr/>
          </a:p>
        </p:txBody>
      </p:sp>
      <p:sp>
        <p:nvSpPr>
          <p:cNvPr id="1080" name="Arc 1080"/>
          <p:cNvSpPr/>
          <p:nvPr/>
        </p:nvSpPr>
        <p:spPr>
          <a:xfrm>
            <a:off x="1600200" y="1664208"/>
            <a:ext cx="3666744" cy="3520440"/>
          </a:xfrm>
          <a:prstGeom prst="arc">
            <a:avLst>
              <a:gd name="adj1" fmla="val 14760000"/>
              <a:gd name="adj2" fmla="val 17760000"/>
            </a:avLst>
          </a:prstGeom>
          <a:noFill/>
          <a:ln w="38100" cap="rnd">
            <a:solidFill>
              <a:srgbClr val="FF9900"/>
            </a:solidFill>
            <a:tailEnd type="triangle" w="med" len="med"/>
          </a:ln>
        </p:spPr>
        <p:txBody>
          <a:bodyPr/>
          <a:lstStyle/>
          <a:p>
            <a:endParaRPr/>
          </a:p>
        </p:txBody>
      </p:sp>
      <p:sp>
        <p:nvSpPr>
          <p:cNvPr id="1081" name="Arc 1081"/>
          <p:cNvSpPr/>
          <p:nvPr/>
        </p:nvSpPr>
        <p:spPr>
          <a:xfrm>
            <a:off x="1600200" y="1664208"/>
            <a:ext cx="3666744" cy="3520440"/>
          </a:xfrm>
          <a:prstGeom prst="arc">
            <a:avLst>
              <a:gd name="adj1" fmla="val 19980000"/>
              <a:gd name="adj2" fmla="val 21300000"/>
            </a:avLst>
          </a:prstGeom>
          <a:noFill/>
          <a:ln w="38100" cap="rnd">
            <a:solidFill>
              <a:srgbClr val="FF9900"/>
            </a:solidFill>
            <a:tailEnd type="triangle" w="med" len="med"/>
          </a:ln>
        </p:spPr>
        <p:txBody>
          <a:bodyPr/>
          <a:lstStyle/>
          <a:p>
            <a:endParaRPr/>
          </a:p>
        </p:txBody>
      </p:sp>
      <p:sp>
        <p:nvSpPr>
          <p:cNvPr id="1082" name="Arc 1082"/>
          <p:cNvSpPr/>
          <p:nvPr/>
        </p:nvSpPr>
        <p:spPr>
          <a:xfrm>
            <a:off x="1600200" y="1664208"/>
            <a:ext cx="3666744" cy="3520440"/>
          </a:xfrm>
          <a:prstGeom prst="arc">
            <a:avLst>
              <a:gd name="adj1" fmla="val 1920000"/>
              <a:gd name="adj2" fmla="val 4320000"/>
            </a:avLst>
          </a:prstGeom>
          <a:noFill/>
          <a:ln w="38100" cap="rnd">
            <a:solidFill>
              <a:srgbClr val="FF9900"/>
            </a:solidFill>
            <a:tailEnd type="triangle" w="med" len="med"/>
          </a:ln>
        </p:spPr>
        <p:txBody>
          <a:bodyPr/>
          <a:lstStyle/>
          <a:p>
            <a:endParaRPr/>
          </a:p>
        </p:txBody>
      </p:sp>
      <p:cxnSp>
        <p:nvCxnSpPr>
          <p:cNvPr id="1083" name="Connector 1082"/>
          <p:cNvCxnSpPr/>
          <p:nvPr/>
        </p:nvCxnSpPr>
        <p:spPr>
          <a:xfrm flipV="1">
            <a:off x="4000500" y="5632703"/>
            <a:ext cx="0" cy="256033"/>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6327648" y="3913632"/>
            <a:ext cx="242316"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cxnSp>
        <p:nvCxnSpPr>
          <p:cNvPr id="1085" name="Connector 1084"/>
          <p:cNvCxnSpPr/>
          <p:nvPr/>
        </p:nvCxnSpPr>
        <p:spPr>
          <a:xfrm>
            <a:off x="6569964" y="3913632"/>
            <a:ext cx="0" cy="1956816"/>
          </a:xfrm>
          <a:prstGeom prst="line">
            <a:avLst/>
          </a:prstGeom>
          <a:ln w="38100">
            <a:solidFill>
              <a:srgbClr val="FF9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86" name="TextBox 1085"/>
          <p:cNvSpPr txBox="1"/>
          <p:nvPr/>
        </p:nvSpPr>
        <p:spPr>
          <a:xfrm>
            <a:off x="4663440" y="4956048"/>
            <a:ext cx="1737360" cy="219456"/>
          </a:xfrm>
          <a:prstGeom prst="rect">
            <a:avLst/>
          </a:prstGeom>
          <a:noFill/>
        </p:spPr>
        <p:txBody>
          <a:bodyPr wrap="square" lIns="0" tIns="0" rIns="0" bIns="0" anchor="ctr">
            <a:spAutoFit/>
          </a:bodyPr>
          <a:lstStyle/>
          <a:p>
            <a:pPr algn="r"/>
            <a:r>
              <a:rPr sz="1000" b="1">
                <a:solidFill>
                  <a:srgbClr val="FF9900"/>
                </a:solidFill>
                <a:latin typeface="Calibri"/>
              </a:rPr>
              <a:t>sets a new event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a:solidFill>
                  <a:srgbClr val="FF9900"/>
                </a:solidFill>
                <a:latin typeface="Calibri"/>
              </a:rPr>
              <a:t>3</a:t>
            </a:r>
          </a:p>
        </p:txBody>
      </p:sp>
      <p:sp>
        <p:nvSpPr>
          <p:cNvPr id="4" name="TextBox 3"/>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Demo</a:t>
            </a:r>
          </a:p>
        </p:txBody>
      </p:sp>
      <p:sp>
        <p:nvSpPr>
          <p:cNvPr id="5" name="Rectangle 4"/>
          <p:cNvSpPr/>
          <p:nvPr/>
        </p:nvSpPr>
        <p:spPr>
          <a:xfrm>
            <a:off x="502920" y="1051560"/>
            <a:ext cx="1371600" cy="35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828800"/>
            <a:ext cx="11155680" cy="548640"/>
          </a:xfrm>
          <a:prstGeom prst="rect">
            <a:avLst/>
          </a:prstGeom>
          <a:noFill/>
        </p:spPr>
        <p:txBody>
          <a:bodyPr wrap="square" lIns="0" tIns="0" rIns="0" bIns="0" anchor="t">
            <a:spAutoFit/>
          </a:bodyPr>
          <a:lstStyle/>
          <a:p>
            <a:pPr algn="ctr"/>
            <a:r>
              <a:rPr sz="1800" b="0">
                <a:solidFill>
                  <a:srgbClr val="545B64"/>
                </a:solidFill>
                <a:latin typeface="Calibri"/>
              </a:rPr>
              <a:t>Live product · deployed on AWS · 6 real integrations</a:t>
            </a:r>
          </a:p>
        </p:txBody>
      </p:sp>
      <p:sp>
        <p:nvSpPr>
          <p:cNvPr id="7" name="Rounded Rectangle 6">
            <a:hlinkClick r:id="rId3"/>
          </p:cNvPr>
          <p:cNvSpPr/>
          <p:nvPr/>
        </p:nvSpPr>
        <p:spPr>
          <a:xfrm>
            <a:off x="2209647" y="2926080"/>
            <a:ext cx="7772400" cy="1828800"/>
          </a:xfrm>
          <a:prstGeom prst="round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09647" y="3246120"/>
            <a:ext cx="7772400" cy="365760"/>
          </a:xfrm>
          <a:prstGeom prst="rect">
            <a:avLst/>
          </a:prstGeom>
          <a:noFill/>
        </p:spPr>
        <p:txBody>
          <a:bodyPr wrap="square" lIns="0" tIns="0" rIns="0" bIns="0" anchor="t">
            <a:spAutoFit/>
          </a:bodyPr>
          <a:lstStyle/>
          <a:p>
            <a:pPr algn="ctr"/>
            <a:r>
              <a:rPr sz="1300" b="1">
                <a:solidFill>
                  <a:srgbClr val="232F3E"/>
                </a:solidFill>
                <a:latin typeface="Calibri"/>
              </a:rPr>
              <a:t>OPEN THE DEMO</a:t>
            </a:r>
          </a:p>
        </p:txBody>
      </p:sp>
      <p:sp>
        <p:nvSpPr>
          <p:cNvPr id="9" name="TextBox 8"/>
          <p:cNvSpPr txBox="1"/>
          <p:nvPr/>
        </p:nvSpPr>
        <p:spPr>
          <a:xfrm>
            <a:off x="2483967" y="3657600"/>
            <a:ext cx="7223760" cy="594360"/>
          </a:xfrm>
          <a:prstGeom prst="rect">
            <a:avLst/>
          </a:prstGeom>
          <a:noFill/>
        </p:spPr>
        <p:txBody>
          <a:bodyPr wrap="square" lIns="0" rIns="0" anchor="ctr">
            <a:spAutoFit/>
          </a:bodyPr>
          <a:lstStyle/>
          <a:p>
            <a:pPr algn="ctr"/>
            <a:r>
              <a:rPr sz="2600" b="1">
                <a:solidFill>
                  <a:srgbClr val="232F3E"/>
                </a:solidFill>
                <a:latin typeface="Calibri"/>
                <a:hlinkClick r:id="rId3"/>
              </a:rPr>
              <a:t>Valentin — Live Demo  ↗</a:t>
            </a:r>
          </a:p>
        </p:txBody>
      </p:sp>
      <p:sp>
        <p:nvSpPr>
          <p:cNvPr id="10" name="TextBox 9"/>
          <p:cNvSpPr txBox="1"/>
          <p:nvPr/>
        </p:nvSpPr>
        <p:spPr>
          <a:xfrm>
            <a:off x="2209647" y="4297680"/>
            <a:ext cx="7772400" cy="365760"/>
          </a:xfrm>
          <a:prstGeom prst="rect">
            <a:avLst/>
          </a:prstGeom>
          <a:noFill/>
        </p:spPr>
        <p:txBody>
          <a:bodyPr wrap="square" lIns="0" tIns="0" rIns="0" bIns="0" anchor="t">
            <a:spAutoFit/>
          </a:bodyPr>
          <a:lstStyle/>
          <a:p>
            <a:pPr algn="ctr"/>
            <a:r>
              <a:rPr sz="1200" b="0">
                <a:solidFill>
                  <a:srgbClr val="232F3E"/>
                </a:solidFill>
                <a:latin typeface="Calibri"/>
              </a:rPr>
              <a:t>The four beats: extract · remember · decide · act</a:t>
            </a:r>
          </a:p>
        </p:txBody>
      </p:sp>
      <p:sp>
        <p:nvSpPr>
          <p:cNvPr id="11" name="TextBox 10"/>
          <p:cNvSpPr txBox="1"/>
          <p:nvPr/>
        </p:nvSpPr>
        <p:spPr>
          <a:xfrm>
            <a:off x="502920" y="6446520"/>
            <a:ext cx="8229600" cy="320040"/>
          </a:xfrm>
          <a:prstGeom prst="rect">
            <a:avLst/>
          </a:prstGeom>
          <a:noFill/>
        </p:spPr>
        <p:txBody>
          <a:bodyPr wrap="square" lIns="0" tIns="0" rIns="0" bIns="0" anchor="t">
            <a:spAutoFit/>
          </a:bodyPr>
          <a:lstStyle/>
          <a:p>
            <a:pPr algn="l"/>
            <a:r>
              <a:rPr sz="1000" b="1">
                <a:solidFill>
                  <a:srgbClr val="545B64"/>
                </a:solidFill>
                <a:latin typeface="Calibri"/>
              </a:rPr>
              <a:t>VALENTIN   ·   GenAI TFC Capstone Deep-Dive</a:t>
            </a:r>
          </a:p>
        </p:txBody>
      </p:sp>
      <p:sp>
        <p:nvSpPr>
          <p:cNvPr id="12" name="TextBox 11"/>
          <p:cNvSpPr txBox="1"/>
          <p:nvPr/>
        </p:nvSpPr>
        <p:spPr>
          <a:xfrm>
            <a:off x="10332720" y="6446520"/>
            <a:ext cx="1371600" cy="320040"/>
          </a:xfrm>
          <a:prstGeom prst="rect">
            <a:avLst/>
          </a:prstGeom>
          <a:noFill/>
        </p:spPr>
        <p:txBody>
          <a:bodyPr wrap="square" lIns="0" tIns="0" rIns="0" bIns="0" anchor="t">
            <a:spAutoFit/>
          </a:bodyPr>
          <a:lstStyle/>
          <a:p>
            <a:pPr algn="r"/>
            <a:r>
              <a:rPr sz="1000" b="0">
                <a:solidFill>
                  <a:srgbClr val="545B64"/>
                </a:solidFill>
                <a:latin typeface="Calibri"/>
              </a:rPr>
              <a:t>4 / 18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iagram-two-engines-lr.png">
            <a:extLst>
              <a:ext uri="{FF2B5EF4-FFF2-40B4-BE49-F238E27FC236}">
                <a16:creationId xmlns:a16="http://schemas.microsoft.com/office/drawing/2014/main" id="{D035CF84-1FF1-2E55-E53B-30B56F9E1DF1}"/>
              </a:ext>
            </a:extLst>
          </p:cNvPr>
          <p:cNvPicPr>
            <a:picLocks noChangeAspect="1"/>
          </p:cNvPicPr>
          <p:nvPr/>
        </p:nvPicPr>
        <p:blipFill>
          <a:blip r:embed="rId2"/>
          <a:stretch>
            <a:fillRect/>
          </a:stretch>
        </p:blipFill>
        <p:spPr>
          <a:xfrm>
            <a:off x="20320" y="1839520"/>
            <a:ext cx="12191695" cy="4208100"/>
          </a:xfrm>
          <a:prstGeom prst="rect">
            <a:avLst/>
          </a:prstGeom>
        </p:spPr>
      </p:pic>
      <p:sp>
        <p:nvSpPr>
          <p:cNvPr id="5" name="Oval 4">
            <a:extLst>
              <a:ext uri="{FF2B5EF4-FFF2-40B4-BE49-F238E27FC236}">
                <a16:creationId xmlns:a16="http://schemas.microsoft.com/office/drawing/2014/main" id="{FB8C9FB7-A2FF-782A-D490-C1538A5BAB64}"/>
              </a:ext>
            </a:extLst>
          </p:cNvPr>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72D50C0-9D66-26EE-1205-FC111A25DF37}"/>
              </a:ext>
            </a:extLst>
          </p:cNvPr>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4</a:t>
            </a:r>
          </a:p>
        </p:txBody>
      </p:sp>
      <p:sp>
        <p:nvSpPr>
          <p:cNvPr id="7" name="TextBox 6">
            <a:extLst>
              <a:ext uri="{FF2B5EF4-FFF2-40B4-BE49-F238E27FC236}">
                <a16:creationId xmlns:a16="http://schemas.microsoft.com/office/drawing/2014/main" id="{E9C4E456-3B3E-C842-4CEC-16C9CB606914}"/>
              </a:ext>
            </a:extLst>
          </p:cNvPr>
          <p:cNvSpPr txBox="1"/>
          <p:nvPr/>
        </p:nvSpPr>
        <p:spPr>
          <a:xfrm>
            <a:off x="1280160" y="478274"/>
            <a:ext cx="10058400" cy="369332"/>
          </a:xfrm>
          <a:prstGeom prst="rect">
            <a:avLst/>
          </a:prstGeom>
          <a:noFill/>
        </p:spPr>
        <p:txBody>
          <a:bodyPr wrap="square" lIns="0" tIns="0" rIns="0" bIns="0" anchor="ctr">
            <a:spAutoFit/>
          </a:bodyPr>
          <a:lstStyle/>
          <a:p>
            <a:pPr algn="l"/>
            <a:r>
              <a:rPr sz="2400" b="1" dirty="0">
                <a:solidFill>
                  <a:srgbClr val="232F3E"/>
                </a:solidFill>
                <a:latin typeface="Calibri"/>
              </a:rPr>
              <a:t>Architecture</a:t>
            </a:r>
          </a:p>
        </p:txBody>
      </p:sp>
      <p:sp>
        <p:nvSpPr>
          <p:cNvPr id="8" name="Rectangle 7">
            <a:extLst>
              <a:ext uri="{FF2B5EF4-FFF2-40B4-BE49-F238E27FC236}">
                <a16:creationId xmlns:a16="http://schemas.microsoft.com/office/drawing/2014/main" id="{C6F24A49-16D2-FFEA-53A1-A5952FDE03C1}"/>
              </a:ext>
            </a:extLst>
          </p:cNvPr>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5 / 18</a:t>
            </a:r>
          </a:p>
        </p:txBody>
      </p:sp>
    </p:spTree>
    <p:extLst>
      <p:ext uri="{BB962C8B-B14F-4D97-AF65-F5344CB8AC3E}">
        <p14:creationId xmlns:p14="http://schemas.microsoft.com/office/powerpoint/2010/main" val="3652100840"/>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5</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6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Two engines, six lenses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Each lens toggles on the components that decide it. One upside, one trade-off, one winner per row.</a:t>
            </a:r>
          </a:p>
        </p:txBody>
      </p:sp>
      <p:sp>
        <p:nvSpPr>
          <p:cNvPr id="10" name="Rounded Rectangle 9"/>
          <p:cNvSpPr/>
          <p:nvPr/>
        </p:nvSpPr>
        <p:spPr>
          <a:xfrm>
            <a:off x="566928" y="1700784"/>
            <a:ext cx="11064240" cy="365760"/>
          </a:xfrm>
          <a:prstGeom prst="roundRect">
            <a:avLst>
              <a:gd name="adj" fmla="val 15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00784"/>
            <a:ext cx="1517904" cy="365760"/>
          </a:xfrm>
          <a:prstGeom prst="rect">
            <a:avLst/>
          </a:prstGeom>
          <a:noFill/>
        </p:spPr>
        <p:txBody>
          <a:bodyPr wrap="square" lIns="0" rIns="0" tIns="0" bIns="0" anchor="ctr">
            <a:spAutoFit/>
          </a:bodyPr>
          <a:lstStyle/>
          <a:p>
            <a:pPr algn="l"/>
            <a:r>
              <a:rPr sz="1000" b="1">
                <a:solidFill>
                  <a:srgbClr val="FF9900"/>
                </a:solidFill>
                <a:latin typeface="Calibri"/>
              </a:rPr>
              <a:t>THE LENS</a:t>
            </a:r>
          </a:p>
        </p:txBody>
      </p:sp>
      <p:sp>
        <p:nvSpPr>
          <p:cNvPr id="12" name="TextBox 11"/>
          <p:cNvSpPr txBox="1"/>
          <p:nvPr/>
        </p:nvSpPr>
        <p:spPr>
          <a:xfrm>
            <a:off x="4352544" y="1700784"/>
            <a:ext cx="3419856" cy="365760"/>
          </a:xfrm>
          <a:prstGeom prst="rect">
            <a:avLst/>
          </a:prstGeom>
          <a:noFill/>
        </p:spPr>
        <p:txBody>
          <a:bodyPr wrap="square" lIns="0" rIns="0" tIns="0" bIns="0" anchor="ctr">
            <a:spAutoFit/>
          </a:bodyPr>
          <a:lstStyle/>
          <a:p>
            <a:pPr algn="l"/>
            <a:r>
              <a:rPr sz="1000" b="1">
                <a:solidFill>
                  <a:srgbClr val="FFFFFF"/>
                </a:solidFill>
                <a:latin typeface="Calibri"/>
              </a:rPr>
              <a:t>THE UPSIDE</a:t>
            </a:r>
          </a:p>
        </p:txBody>
      </p:sp>
      <p:sp>
        <p:nvSpPr>
          <p:cNvPr id="13" name="TextBox 12"/>
          <p:cNvSpPr txBox="1"/>
          <p:nvPr/>
        </p:nvSpPr>
        <p:spPr>
          <a:xfrm>
            <a:off x="8046719" y="1700784"/>
            <a:ext cx="2432303" cy="365760"/>
          </a:xfrm>
          <a:prstGeom prst="rect">
            <a:avLst/>
          </a:prstGeom>
          <a:noFill/>
        </p:spPr>
        <p:txBody>
          <a:bodyPr wrap="square" lIns="0" rIns="0" tIns="0" bIns="0" anchor="ctr">
            <a:spAutoFit/>
          </a:bodyPr>
          <a:lstStyle/>
          <a:p>
            <a:pPr algn="l"/>
            <a:r>
              <a:rPr sz="1000" b="1">
                <a:solidFill>
                  <a:srgbClr val="FFFFFF"/>
                </a:solidFill>
                <a:latin typeface="Calibri"/>
              </a:rPr>
              <a:t>THE TRADE-OFF</a:t>
            </a:r>
          </a:p>
        </p:txBody>
      </p:sp>
      <p:sp>
        <p:nvSpPr>
          <p:cNvPr id="14" name="TextBox 13"/>
          <p:cNvSpPr txBox="1"/>
          <p:nvPr/>
        </p:nvSpPr>
        <p:spPr>
          <a:xfrm>
            <a:off x="10753344" y="1700784"/>
            <a:ext cx="786384" cy="365760"/>
          </a:xfrm>
          <a:prstGeom prst="rect">
            <a:avLst/>
          </a:prstGeom>
          <a:noFill/>
        </p:spPr>
        <p:txBody>
          <a:bodyPr wrap="square" lIns="0" rIns="0" tIns="0" bIns="0" anchor="ctr">
            <a:spAutoFit/>
          </a:bodyPr>
          <a:lstStyle/>
          <a:p>
            <a:pPr algn="l"/>
            <a:r>
              <a:rPr sz="1000" b="1">
                <a:solidFill>
                  <a:srgbClr val="FFFFFF"/>
                </a:solidFill>
                <a:latin typeface="Calibri"/>
              </a:rPr>
              <a:t>WINNER</a:t>
            </a:r>
          </a:p>
        </p:txBody>
      </p:sp>
      <p:sp>
        <p:nvSpPr>
          <p:cNvPr id="15" name="TextBox 14"/>
          <p:cNvSpPr txBox="1"/>
          <p:nvPr/>
        </p:nvSpPr>
        <p:spPr>
          <a:xfrm>
            <a:off x="2267712"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RUN</a:t>
            </a:r>
          </a:p>
        </p:txBody>
      </p:sp>
      <p:sp>
        <p:nvSpPr>
          <p:cNvPr id="16" name="TextBox 15"/>
          <p:cNvSpPr txBox="1"/>
          <p:nvPr/>
        </p:nvSpPr>
        <p:spPr>
          <a:xfrm>
            <a:off x="2743200"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MEM</a:t>
            </a:r>
          </a:p>
        </p:txBody>
      </p:sp>
      <p:sp>
        <p:nvSpPr>
          <p:cNvPr id="17" name="TextBox 16"/>
          <p:cNvSpPr txBox="1"/>
          <p:nvPr/>
        </p:nvSpPr>
        <p:spPr>
          <a:xfrm>
            <a:off x="3218688"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GTW</a:t>
            </a:r>
          </a:p>
        </p:txBody>
      </p:sp>
      <p:sp>
        <p:nvSpPr>
          <p:cNvPr id="18" name="TextBox 17"/>
          <p:cNvSpPr txBox="1"/>
          <p:nvPr/>
        </p:nvSpPr>
        <p:spPr>
          <a:xfrm>
            <a:off x="3694176" y="1700784"/>
            <a:ext cx="475488" cy="365760"/>
          </a:xfrm>
          <a:prstGeom prst="rect">
            <a:avLst/>
          </a:prstGeom>
          <a:noFill/>
        </p:spPr>
        <p:txBody>
          <a:bodyPr wrap="square" lIns="0" rIns="0" tIns="0" bIns="0" anchor="ctr">
            <a:spAutoFit/>
          </a:bodyPr>
          <a:lstStyle/>
          <a:p>
            <a:pPr algn="ctr"/>
            <a:r>
              <a:rPr sz="1000" b="1">
                <a:solidFill>
                  <a:srgbClr val="FFFFFF"/>
                </a:solidFill>
                <a:latin typeface="Calibri"/>
              </a:rPr>
              <a:t>OBS</a:t>
            </a:r>
          </a:p>
        </p:txBody>
      </p:sp>
      <p:sp>
        <p:nvSpPr>
          <p:cNvPr id="19" name="Rectangle 18"/>
          <p:cNvSpPr/>
          <p:nvPr/>
        </p:nvSpPr>
        <p:spPr>
          <a:xfrm>
            <a:off x="566928" y="212140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7523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2121408"/>
            <a:ext cx="1517904" cy="640080"/>
          </a:xfrm>
          <a:prstGeom prst="rect">
            <a:avLst/>
          </a:prstGeom>
          <a:noFill/>
        </p:spPr>
        <p:txBody>
          <a:bodyPr wrap="square" lIns="0" rIns="0" tIns="0" bIns="0" anchor="ctr">
            <a:spAutoFit/>
          </a:bodyPr>
          <a:lstStyle/>
          <a:p>
            <a:pPr algn="l"/>
            <a:r>
              <a:rPr sz="1250" b="1">
                <a:solidFill>
                  <a:srgbClr val="232F3E"/>
                </a:solidFill>
                <a:latin typeface="Calibri"/>
              </a:rPr>
              <a:t>Cost</a:t>
            </a:r>
          </a:p>
        </p:txBody>
      </p:sp>
      <p:sp>
        <p:nvSpPr>
          <p:cNvPr id="22" name="Oval 21"/>
          <p:cNvSpPr/>
          <p:nvPr/>
        </p:nvSpPr>
        <p:spPr>
          <a:xfrm>
            <a:off x="2427732"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903220"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378708"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854196" y="23637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52544" y="2194560"/>
            <a:ext cx="3419856" cy="493775"/>
          </a:xfrm>
          <a:prstGeom prst="rect">
            <a:avLst/>
          </a:prstGeom>
          <a:noFill/>
        </p:spPr>
        <p:txBody>
          <a:bodyPr wrap="square" lIns="0" rIns="0" tIns="0" bIns="0" anchor="ctr">
            <a:spAutoFit/>
          </a:bodyPr>
          <a:lstStyle/>
          <a:p>
            <a:pPr algn="l"/>
            <a:r>
              <a:rPr sz="1000" b="0">
                <a:solidFill>
                  <a:srgbClr val="16191F"/>
                </a:solidFill>
                <a:latin typeface="Calibri"/>
              </a:rPr>
              <a:t>The $18/mo idle floor disappears — pay per second of real agent work.</a:t>
            </a:r>
          </a:p>
        </p:txBody>
      </p:sp>
      <p:sp>
        <p:nvSpPr>
          <p:cNvPr id="27" name="TextBox 26"/>
          <p:cNvSpPr txBox="1"/>
          <p:nvPr/>
        </p:nvSpPr>
        <p:spPr>
          <a:xfrm>
            <a:off x="8046719" y="2194560"/>
            <a:ext cx="2432303" cy="493775"/>
          </a:xfrm>
          <a:prstGeom prst="rect">
            <a:avLst/>
          </a:prstGeom>
          <a:noFill/>
        </p:spPr>
        <p:txBody>
          <a:bodyPr wrap="square" lIns="0" rIns="0" tIns="0" bIns="0" anchor="ctr">
            <a:spAutoFit/>
          </a:bodyPr>
          <a:lstStyle/>
          <a:p>
            <a:pPr algn="l"/>
            <a:r>
              <a:rPr sz="1000" b="0">
                <a:solidFill>
                  <a:srgbClr val="16191F"/>
                </a:solidFill>
                <a:latin typeface="Calibri"/>
              </a:rPr>
              <a:t>Unit price is 2.20× dearer per vCPU-hour; it wins on granularity, not rate.</a:t>
            </a:r>
          </a:p>
        </p:txBody>
      </p:sp>
      <p:sp>
        <p:nvSpPr>
          <p:cNvPr id="28" name="Rounded Rectangle 27"/>
          <p:cNvSpPr/>
          <p:nvPr/>
        </p:nvSpPr>
        <p:spPr>
          <a:xfrm>
            <a:off x="10661904" y="232257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1904" y="232257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0" name="Rectangle 29"/>
          <p:cNvSpPr/>
          <p:nvPr/>
        </p:nvSpPr>
        <p:spPr>
          <a:xfrm>
            <a:off x="566928" y="339242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2761487"/>
            <a:ext cx="1517904" cy="640080"/>
          </a:xfrm>
          <a:prstGeom prst="rect">
            <a:avLst/>
          </a:prstGeom>
          <a:noFill/>
        </p:spPr>
        <p:txBody>
          <a:bodyPr wrap="square" lIns="0" rIns="0" tIns="0" bIns="0" anchor="ctr">
            <a:spAutoFit/>
          </a:bodyPr>
          <a:lstStyle/>
          <a:p>
            <a:pPr algn="l"/>
            <a:r>
              <a:rPr sz="1250" b="1">
                <a:solidFill>
                  <a:srgbClr val="232F3E"/>
                </a:solidFill>
                <a:latin typeface="Calibri"/>
              </a:rPr>
              <a:t>Resilience</a:t>
            </a:r>
          </a:p>
        </p:txBody>
      </p:sp>
      <p:sp>
        <p:nvSpPr>
          <p:cNvPr id="32" name="Oval 31"/>
          <p:cNvSpPr/>
          <p:nvPr/>
        </p:nvSpPr>
        <p:spPr>
          <a:xfrm>
            <a:off x="2427732"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926079"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378708" y="300380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877056" y="302666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52544" y="2834639"/>
            <a:ext cx="3419856" cy="493775"/>
          </a:xfrm>
          <a:prstGeom prst="rect">
            <a:avLst/>
          </a:prstGeom>
          <a:noFill/>
        </p:spPr>
        <p:txBody>
          <a:bodyPr wrap="square" lIns="0" rIns="0" tIns="0" bIns="0" anchor="ctr">
            <a:spAutoFit/>
          </a:bodyPr>
          <a:lstStyle/>
          <a:p>
            <a:pPr algn="l"/>
            <a:r>
              <a:rPr sz="1000" b="0">
                <a:solidFill>
                  <a:srgbClr val="16191F"/>
                </a:solidFill>
                <a:latin typeface="Calibri"/>
              </a:rPr>
              <a:t>A microVM per session and a Lambda per tool: one fault loses 1 session, not 40.</a:t>
            </a:r>
          </a:p>
        </p:txBody>
      </p:sp>
      <p:sp>
        <p:nvSpPr>
          <p:cNvPr id="37" name="TextBox 36"/>
          <p:cNvSpPr txBox="1"/>
          <p:nvPr/>
        </p:nvSpPr>
        <p:spPr>
          <a:xfrm>
            <a:off x="8046719" y="2834639"/>
            <a:ext cx="2432303" cy="493775"/>
          </a:xfrm>
          <a:prstGeom prst="rect">
            <a:avLst/>
          </a:prstGeom>
          <a:noFill/>
        </p:spPr>
        <p:txBody>
          <a:bodyPr wrap="square" lIns="0" rIns="0" tIns="0" bIns="0" anchor="ctr">
            <a:spAutoFit/>
          </a:bodyPr>
          <a:lstStyle/>
          <a:p>
            <a:pPr algn="l"/>
            <a:r>
              <a:rPr sz="1000" b="0">
                <a:solidFill>
                  <a:srgbClr val="16191F"/>
                </a:solidFill>
                <a:latin typeface="Calibri"/>
              </a:rPr>
              <a:t>The container stops being yours — no sidecars, no in-process cache.</a:t>
            </a:r>
          </a:p>
        </p:txBody>
      </p:sp>
      <p:sp>
        <p:nvSpPr>
          <p:cNvPr id="38" name="Rounded Rectangle 37"/>
          <p:cNvSpPr/>
          <p:nvPr/>
        </p:nvSpPr>
        <p:spPr>
          <a:xfrm>
            <a:off x="10661904" y="296265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61904" y="296265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40" name="Rectangle 39"/>
          <p:cNvSpPr/>
          <p:nvPr/>
        </p:nvSpPr>
        <p:spPr>
          <a:xfrm>
            <a:off x="566928" y="3401568"/>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66928" y="403250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3401568"/>
            <a:ext cx="1517904" cy="640080"/>
          </a:xfrm>
          <a:prstGeom prst="rect">
            <a:avLst/>
          </a:prstGeom>
          <a:noFill/>
        </p:spPr>
        <p:txBody>
          <a:bodyPr wrap="square" lIns="0" rIns="0" tIns="0" bIns="0" anchor="ctr">
            <a:spAutoFit/>
          </a:bodyPr>
          <a:lstStyle/>
          <a:p>
            <a:pPr algn="l"/>
            <a:r>
              <a:rPr sz="1250" b="1">
                <a:solidFill>
                  <a:srgbClr val="232F3E"/>
                </a:solidFill>
                <a:latin typeface="Calibri"/>
              </a:rPr>
              <a:t>Security</a:t>
            </a:r>
          </a:p>
        </p:txBody>
      </p:sp>
      <p:sp>
        <p:nvSpPr>
          <p:cNvPr id="43" name="Oval 42"/>
          <p:cNvSpPr/>
          <p:nvPr/>
        </p:nvSpPr>
        <p:spPr>
          <a:xfrm>
            <a:off x="2427732"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926079"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378708" y="364388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877056" y="366674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52544" y="3474720"/>
            <a:ext cx="3419856" cy="493775"/>
          </a:xfrm>
          <a:prstGeom prst="rect">
            <a:avLst/>
          </a:prstGeom>
          <a:noFill/>
        </p:spPr>
        <p:txBody>
          <a:bodyPr wrap="square" lIns="0" rIns="0" tIns="0" bIns="0" anchor="ctr">
            <a:spAutoFit/>
          </a:bodyPr>
          <a:lstStyle/>
          <a:p>
            <a:pPr algn="l"/>
            <a:r>
              <a:rPr sz="1000" b="0">
                <a:solidFill>
                  <a:srgbClr val="16191F"/>
                </a:solidFill>
                <a:latin typeface="Calibri"/>
              </a:rPr>
              <a:t>Auth resolves per tool; a hijacked session reaches only its own tokens.</a:t>
            </a:r>
          </a:p>
        </p:txBody>
      </p:sp>
      <p:sp>
        <p:nvSpPr>
          <p:cNvPr id="48" name="TextBox 47"/>
          <p:cNvSpPr txBox="1"/>
          <p:nvPr/>
        </p:nvSpPr>
        <p:spPr>
          <a:xfrm>
            <a:off x="8046719" y="3474720"/>
            <a:ext cx="2432303" cy="493775"/>
          </a:xfrm>
          <a:prstGeom prst="rect">
            <a:avLst/>
          </a:prstGeom>
          <a:noFill/>
        </p:spPr>
        <p:txBody>
          <a:bodyPr wrap="square" lIns="0" rIns="0" tIns="0" bIns="0" anchor="ctr">
            <a:spAutoFit/>
          </a:bodyPr>
          <a:lstStyle/>
          <a:p>
            <a:pPr algn="l"/>
            <a:r>
              <a:rPr sz="1000" b="0">
                <a:solidFill>
                  <a:srgbClr val="16191F"/>
                </a:solidFill>
                <a:latin typeface="Calibri"/>
              </a:rPr>
              <a:t>The isolation boundary is managed — you trust it, you cannot inspect it.</a:t>
            </a:r>
          </a:p>
        </p:txBody>
      </p:sp>
      <p:sp>
        <p:nvSpPr>
          <p:cNvPr id="49" name="Rounded Rectangle 48"/>
          <p:cNvSpPr/>
          <p:nvPr/>
        </p:nvSpPr>
        <p:spPr>
          <a:xfrm>
            <a:off x="10661904" y="3602735"/>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661904" y="3602735"/>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51" name="Rectangle 50"/>
          <p:cNvSpPr/>
          <p:nvPr/>
        </p:nvSpPr>
        <p:spPr>
          <a:xfrm>
            <a:off x="566928" y="467258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4041648"/>
            <a:ext cx="1517904" cy="640080"/>
          </a:xfrm>
          <a:prstGeom prst="rect">
            <a:avLst/>
          </a:prstGeom>
          <a:noFill/>
        </p:spPr>
        <p:txBody>
          <a:bodyPr wrap="square" lIns="0" rIns="0" tIns="0" bIns="0" anchor="ctr">
            <a:spAutoFit/>
          </a:bodyPr>
          <a:lstStyle/>
          <a:p>
            <a:pPr algn="l"/>
            <a:r>
              <a:rPr sz="1250" b="1">
                <a:solidFill>
                  <a:srgbClr val="232F3E"/>
                </a:solidFill>
                <a:latin typeface="Calibri"/>
              </a:rPr>
              <a:t>Ownership &amp; velocity</a:t>
            </a:r>
          </a:p>
        </p:txBody>
      </p:sp>
      <p:sp>
        <p:nvSpPr>
          <p:cNvPr id="53" name="Oval 52"/>
          <p:cNvSpPr/>
          <p:nvPr/>
        </p:nvSpPr>
        <p:spPr>
          <a:xfrm>
            <a:off x="2450592"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903220"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378708" y="428396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877056" y="430682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352544" y="4114800"/>
            <a:ext cx="3419856" cy="493775"/>
          </a:xfrm>
          <a:prstGeom prst="rect">
            <a:avLst/>
          </a:prstGeom>
          <a:noFill/>
        </p:spPr>
        <p:txBody>
          <a:bodyPr wrap="square" lIns="0" rIns="0" tIns="0" bIns="0" anchor="ctr">
            <a:spAutoFit/>
          </a:bodyPr>
          <a:lstStyle/>
          <a:p>
            <a:pPr algn="l"/>
            <a:r>
              <a:rPr sz="1000" b="0">
                <a:solidFill>
                  <a:srgbClr val="16191F"/>
                </a:solidFill>
                <a:latin typeface="Calibri"/>
              </a:rPr>
              <a:t>Extraction becomes the service’s prompt; adding a tool stops being a deploy.</a:t>
            </a:r>
          </a:p>
        </p:txBody>
      </p:sp>
      <p:sp>
        <p:nvSpPr>
          <p:cNvPr id="58" name="TextBox 57"/>
          <p:cNvSpPr txBox="1"/>
          <p:nvPr/>
        </p:nvSpPr>
        <p:spPr>
          <a:xfrm>
            <a:off x="8046719" y="4114800"/>
            <a:ext cx="2432303" cy="493775"/>
          </a:xfrm>
          <a:prstGeom prst="rect">
            <a:avLst/>
          </a:prstGeom>
          <a:noFill/>
        </p:spPr>
        <p:txBody>
          <a:bodyPr wrap="square" lIns="0" rIns="0" tIns="0" bIns="0" anchor="ctr">
            <a:spAutoFit/>
          </a:bodyPr>
          <a:lstStyle/>
          <a:p>
            <a:pPr algn="l"/>
            <a:r>
              <a:rPr sz="1000" b="0">
                <a:solidFill>
                  <a:srgbClr val="16191F"/>
                </a:solidFill>
                <a:latin typeface="Calibri"/>
              </a:rPr>
              <a:t>You lose the extraction schema you designed — and the fields only it had.</a:t>
            </a:r>
          </a:p>
        </p:txBody>
      </p:sp>
      <p:sp>
        <p:nvSpPr>
          <p:cNvPr id="59" name="Rounded Rectangle 58"/>
          <p:cNvSpPr/>
          <p:nvPr/>
        </p:nvSpPr>
        <p:spPr>
          <a:xfrm>
            <a:off x="10661904" y="4242816"/>
            <a:ext cx="969264" cy="237744"/>
          </a:xfrm>
          <a:prstGeom prst="roundRect">
            <a:avLst>
              <a:gd name="adj" fmla="val 50000"/>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661904" y="4242816"/>
            <a:ext cx="969264" cy="237744"/>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61" name="Rectangle 60"/>
          <p:cNvSpPr/>
          <p:nvPr/>
        </p:nvSpPr>
        <p:spPr>
          <a:xfrm>
            <a:off x="566928" y="4681727"/>
            <a:ext cx="11064240" cy="64008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566928" y="531266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8368" y="4681727"/>
            <a:ext cx="1517904" cy="640080"/>
          </a:xfrm>
          <a:prstGeom prst="rect">
            <a:avLst/>
          </a:prstGeom>
          <a:noFill/>
        </p:spPr>
        <p:txBody>
          <a:bodyPr wrap="square" lIns="0" rIns="0" tIns="0" bIns="0" anchor="ctr">
            <a:spAutoFit/>
          </a:bodyPr>
          <a:lstStyle/>
          <a:p>
            <a:pPr algn="l"/>
            <a:r>
              <a:rPr sz="1250" b="1">
                <a:solidFill>
                  <a:srgbClr val="232F3E"/>
                </a:solidFill>
                <a:latin typeface="Calibri"/>
              </a:rPr>
              <a:t>Debuggability</a:t>
            </a:r>
          </a:p>
        </p:txBody>
      </p:sp>
      <p:sp>
        <p:nvSpPr>
          <p:cNvPr id="64" name="Oval 63"/>
          <p:cNvSpPr/>
          <p:nvPr/>
        </p:nvSpPr>
        <p:spPr>
          <a:xfrm>
            <a:off x="2450592"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2926079"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401568" y="4946903"/>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854196" y="4924043"/>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52544" y="4754879"/>
            <a:ext cx="3419856" cy="493775"/>
          </a:xfrm>
          <a:prstGeom prst="rect">
            <a:avLst/>
          </a:prstGeom>
          <a:noFill/>
        </p:spPr>
        <p:txBody>
          <a:bodyPr wrap="square" lIns="0" rIns="0" tIns="0" bIns="0" anchor="ctr">
            <a:spAutoFit/>
          </a:bodyPr>
          <a:lstStyle/>
          <a:p>
            <a:pPr algn="l"/>
            <a:r>
              <a:rPr sz="1000" b="0">
                <a:solidFill>
                  <a:srgbClr val="16191F"/>
                </a:solidFill>
                <a:latin typeface="Calibri"/>
              </a:rPr>
              <a:t>Hand-wired OTEL emits exactly the fields that decide an incident at 2am.</a:t>
            </a:r>
          </a:p>
        </p:txBody>
      </p:sp>
      <p:sp>
        <p:nvSpPr>
          <p:cNvPr id="69" name="TextBox 68"/>
          <p:cNvSpPr txBox="1"/>
          <p:nvPr/>
        </p:nvSpPr>
        <p:spPr>
          <a:xfrm>
            <a:off x="8046719" y="4754879"/>
            <a:ext cx="2432303" cy="493775"/>
          </a:xfrm>
          <a:prstGeom prst="rect">
            <a:avLst/>
          </a:prstGeom>
          <a:noFill/>
        </p:spPr>
        <p:txBody>
          <a:bodyPr wrap="square" lIns="0" rIns="0" tIns="0" bIns="0" anchor="ctr">
            <a:spAutoFit/>
          </a:bodyPr>
          <a:lstStyle/>
          <a:p>
            <a:pPr algn="l"/>
            <a:r>
              <a:rPr sz="1000" b="0">
                <a:solidFill>
                  <a:srgbClr val="16191F"/>
                </a:solidFill>
                <a:latin typeface="Calibri"/>
              </a:rPr>
              <a:t>You write and maintain the span plumbing, plus a CloudWatch bill.</a:t>
            </a:r>
          </a:p>
        </p:txBody>
      </p:sp>
      <p:sp>
        <p:nvSpPr>
          <p:cNvPr id="70" name="Rounded Rectangle 69"/>
          <p:cNvSpPr/>
          <p:nvPr/>
        </p:nvSpPr>
        <p:spPr>
          <a:xfrm>
            <a:off x="10661904" y="4882895"/>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661904" y="4882895"/>
            <a:ext cx="969264" cy="237744"/>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72" name="Rectangle 71"/>
          <p:cNvSpPr/>
          <p:nvPr/>
        </p:nvSpPr>
        <p:spPr>
          <a:xfrm>
            <a:off x="566928" y="5952744"/>
            <a:ext cx="11064240"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58368" y="5321808"/>
            <a:ext cx="1517904" cy="640080"/>
          </a:xfrm>
          <a:prstGeom prst="rect">
            <a:avLst/>
          </a:prstGeom>
          <a:noFill/>
        </p:spPr>
        <p:txBody>
          <a:bodyPr wrap="square" lIns="0" rIns="0" tIns="0" bIns="0" anchor="ctr">
            <a:spAutoFit/>
          </a:bodyPr>
          <a:lstStyle/>
          <a:p>
            <a:pPr algn="l"/>
            <a:r>
              <a:rPr sz="1250" b="1">
                <a:solidFill>
                  <a:srgbClr val="232F3E"/>
                </a:solidFill>
                <a:latin typeface="Calibri"/>
              </a:rPr>
              <a:t>Latency</a:t>
            </a:r>
          </a:p>
        </p:txBody>
      </p:sp>
      <p:sp>
        <p:nvSpPr>
          <p:cNvPr id="74" name="Oval 73"/>
          <p:cNvSpPr/>
          <p:nvPr/>
        </p:nvSpPr>
        <p:spPr>
          <a:xfrm>
            <a:off x="2427732"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2926079"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78708" y="5564124"/>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877056" y="5586984"/>
            <a:ext cx="109728" cy="109728"/>
          </a:xfrm>
          <a:prstGeom prst="ellipse">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352544" y="5394960"/>
            <a:ext cx="3419856" cy="493775"/>
          </a:xfrm>
          <a:prstGeom prst="rect">
            <a:avLst/>
          </a:prstGeom>
          <a:noFill/>
        </p:spPr>
        <p:txBody>
          <a:bodyPr wrap="square" lIns="0" rIns="0" tIns="0" bIns="0" anchor="ctr">
            <a:spAutoFit/>
          </a:bodyPr>
          <a:lstStyle/>
          <a:p>
            <a:pPr algn="l"/>
            <a:r>
              <a:rPr sz="1000" b="0">
                <a:solidFill>
                  <a:srgbClr val="16191F"/>
                </a:solidFill>
                <a:latin typeface="Calibri"/>
              </a:rPr>
              <a:t>In-process tools on a warm task — a turn never waits on a hop.</a:t>
            </a:r>
          </a:p>
        </p:txBody>
      </p:sp>
      <p:sp>
        <p:nvSpPr>
          <p:cNvPr id="79" name="TextBox 78"/>
          <p:cNvSpPr txBox="1"/>
          <p:nvPr/>
        </p:nvSpPr>
        <p:spPr>
          <a:xfrm>
            <a:off x="8046719" y="5394960"/>
            <a:ext cx="2432303" cy="493775"/>
          </a:xfrm>
          <a:prstGeom prst="rect">
            <a:avLst/>
          </a:prstGeom>
          <a:noFill/>
        </p:spPr>
        <p:txBody>
          <a:bodyPr wrap="square" lIns="0" rIns="0" tIns="0" bIns="0" anchor="ctr">
            <a:spAutoFit/>
          </a:bodyPr>
          <a:lstStyle/>
          <a:p>
            <a:pPr algn="l"/>
            <a:r>
              <a:rPr sz="1000" b="0">
                <a:solidFill>
                  <a:srgbClr val="16191F"/>
                </a:solidFill>
                <a:latin typeface="Calibri"/>
              </a:rPr>
              <a:t>Engine B cold-starts an idle session and pays a Gateway hop per tool call.</a:t>
            </a:r>
          </a:p>
        </p:txBody>
      </p:sp>
      <p:sp>
        <p:nvSpPr>
          <p:cNvPr id="80" name="Rounded Rectangle 79"/>
          <p:cNvSpPr/>
          <p:nvPr/>
        </p:nvSpPr>
        <p:spPr>
          <a:xfrm>
            <a:off x="10661904" y="5522976"/>
            <a:ext cx="969264" cy="237744"/>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661904" y="5522976"/>
            <a:ext cx="969264" cy="237744"/>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82" name="Rounded Rectangle 81"/>
          <p:cNvSpPr/>
          <p:nvPr/>
        </p:nvSpPr>
        <p:spPr>
          <a:xfrm>
            <a:off x="566928" y="6016752"/>
            <a:ext cx="11064240" cy="384048"/>
          </a:xfrm>
          <a:prstGeom prst="roundRect">
            <a:avLst>
              <a:gd name="adj" fmla="val 23809"/>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9808" y="6016752"/>
            <a:ext cx="10698480" cy="384048"/>
          </a:xfrm>
          <a:prstGeom prst="rect">
            <a:avLst/>
          </a:prstGeom>
          <a:noFill/>
        </p:spPr>
        <p:txBody>
          <a:bodyPr wrap="square" lIns="0" rIns="0" tIns="0" bIns="0" anchor="ctr">
            <a:spAutoFit/>
          </a:bodyPr>
          <a:lstStyle/>
          <a:p>
            <a:pPr algn="l"/>
            <a:r>
              <a:rPr sz="1150" b="1">
                <a:solidFill>
                  <a:srgbClr val="232F3E"/>
                </a:solidFill>
                <a:latin typeface="Calibri"/>
              </a:rPr>
              <a:t>4–2 to AgentCore — and the two it loses are the honest half. Latency stays on this slide: it does not change the decision.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9</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10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Resilience — what one fault takes down</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blast radius of a crash, in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Forty sessions, one Node process.</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One heap, one event loop, one crash — a fault anywhere travels everywhere.</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Tools crash in-process too.</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misbehaving integration takes the whole agent with it, mid-conversation.</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One microVM per session.</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process-level fault has nowhere to travel; thirty-nine conversations never notice.</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One Lambda per tool behind Gateway.</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crashed tool is a failed call, not a dead agent.</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40 → 1</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sessions lost to one process fault — measured, next slide</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container control: no sidecars, no long-lived in-process cache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10</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11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One fault, forty sessions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same process-level fault, injected into one live session on each engine.</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Oval 22"/>
          <p:cNvSpPr/>
          <p:nvPr/>
        </p:nvSpPr>
        <p:spPr>
          <a:xfrm>
            <a:off x="180136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208940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37744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66547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95351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2415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529584"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817620"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105656"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393692"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80136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08940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37744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66547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5351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241548"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29584"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817620"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105656"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393692" y="338328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80136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08940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37744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66547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95351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241548"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529584"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817620"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105656"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393692" y="365760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80136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08940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37744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66547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95351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241548"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3529584"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817620"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105656"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393692" y="393192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096" y="4297680"/>
            <a:ext cx="4992624" cy="475488"/>
          </a:xfrm>
          <a:prstGeom prst="rect">
            <a:avLst/>
          </a:prstGeom>
          <a:noFill/>
        </p:spPr>
        <p:txBody>
          <a:bodyPr wrap="square" lIns="0" rIns="0" tIns="0" bIns="0" anchor="ctr">
            <a:spAutoFit/>
          </a:bodyPr>
          <a:lstStyle/>
          <a:p>
            <a:pPr algn="l"/>
            <a:r>
              <a:rPr sz="1150" b="1">
                <a:solidFill>
                  <a:srgbClr val="232F3E"/>
                </a:solidFill>
                <a:latin typeface="Calibri"/>
              </a:rPr>
              <a:t>40 / 40 sessions lost — every user, every partner profile in flight.</a:t>
            </a:r>
          </a:p>
        </p:txBody>
      </p:sp>
      <p:sp>
        <p:nvSpPr>
          <p:cNvPr id="64" name="Rounded Rectangle 63"/>
          <p:cNvSpPr/>
          <p:nvPr/>
        </p:nvSpPr>
        <p:spPr>
          <a:xfrm>
            <a:off x="6236208" y="2395728"/>
            <a:ext cx="5394960" cy="2468880"/>
          </a:xfrm>
          <a:prstGeom prst="roundRect">
            <a:avLst>
              <a:gd name="adj" fmla="val 2222"/>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67" name="Oval 66"/>
          <p:cNvSpPr/>
          <p:nvPr/>
        </p:nvSpPr>
        <p:spPr>
          <a:xfrm>
            <a:off x="7470648" y="3108960"/>
            <a:ext cx="155448" cy="155448"/>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758683"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804672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833475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862279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8910828"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9198864"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9486900"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774936"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10062972" y="310896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47064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7758683"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04672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833475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862279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8910828"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9198864"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9486900"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9774936"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10062972" y="338328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47064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758683"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04672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33475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62279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910828"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9198864"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9486900"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9774936"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0062972" y="365760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747064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7758683"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04672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33475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862279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8910828"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198864"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486900"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774936"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10062972" y="3931920"/>
            <a:ext cx="155448" cy="155448"/>
          </a:xfrm>
          <a:prstGeom prst="ellipse">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6437376" y="4297680"/>
            <a:ext cx="4992624" cy="475488"/>
          </a:xfrm>
          <a:prstGeom prst="rect">
            <a:avLst/>
          </a:prstGeom>
          <a:noFill/>
        </p:spPr>
        <p:txBody>
          <a:bodyPr wrap="square" lIns="0" rIns="0" tIns="0" bIns="0" anchor="ctr">
            <a:spAutoFit/>
          </a:bodyPr>
          <a:lstStyle/>
          <a:p>
            <a:pPr algn="l"/>
            <a:r>
              <a:rPr sz="1150" b="1">
                <a:solidFill>
                  <a:srgbClr val="232F3E"/>
                </a:solidFill>
                <a:latin typeface="Calibri"/>
              </a:rPr>
              <a:t>1 / 40 sessions lost — the caller. Thirty-nine never notice.</a:t>
            </a:r>
          </a:p>
        </p:txBody>
      </p:sp>
      <p:sp>
        <p:nvSpPr>
          <p:cNvPr id="108" name="Rounded Rectangle 107"/>
          <p:cNvSpPr/>
          <p:nvPr/>
        </p:nvSpPr>
        <p:spPr>
          <a:xfrm>
            <a:off x="566928"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13232"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Unhandled rejection — </a:t>
            </a:r>
            <a:r>
              <a:rPr sz="1000" b="0">
                <a:solidFill>
                  <a:srgbClr val="16191F"/>
                </a:solidFill>
                <a:latin typeface="Calibri"/>
              </a:rPr>
              <a:t>one turn throws; the shared process exits.</a:t>
            </a:r>
          </a:p>
        </p:txBody>
      </p:sp>
      <p:sp>
        <p:nvSpPr>
          <p:cNvPr id="110" name="Rounded Rectangle 109"/>
          <p:cNvSpPr/>
          <p:nvPr/>
        </p:nvSpPr>
        <p:spPr>
          <a:xfrm>
            <a:off x="4306824"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4453128"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Out of memory — </a:t>
            </a:r>
            <a:r>
              <a:rPr sz="1000" b="0">
                <a:solidFill>
                  <a:srgbClr val="16191F"/>
                </a:solidFill>
                <a:latin typeface="Calibri"/>
              </a:rPr>
              <a:t>one runaway conversation exhausts the one heap.</a:t>
            </a:r>
          </a:p>
        </p:txBody>
      </p:sp>
      <p:sp>
        <p:nvSpPr>
          <p:cNvPr id="112" name="Rounded Rectangle 111"/>
          <p:cNvSpPr/>
          <p:nvPr/>
        </p:nvSpPr>
        <p:spPr>
          <a:xfrm>
            <a:off x="8046719" y="5029200"/>
            <a:ext cx="3584448" cy="475488"/>
          </a:xfrm>
          <a:prstGeom prst="roundRect">
            <a:avLst>
              <a:gd name="adj" fmla="val 1153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8193023" y="5029200"/>
            <a:ext cx="3291840" cy="475488"/>
          </a:xfrm>
          <a:prstGeom prst="rect">
            <a:avLst/>
          </a:prstGeom>
          <a:noFill/>
        </p:spPr>
        <p:txBody>
          <a:bodyPr wrap="square" lIns="0" rIns="0" tIns="0" bIns="0" anchor="ctr">
            <a:spAutoFit/>
          </a:bodyPr>
          <a:lstStyle/>
          <a:p>
            <a:pPr algn="l"/>
            <a:r>
              <a:rPr sz="1000" b="1">
                <a:solidFill>
                  <a:srgbClr val="232F3E"/>
                </a:solidFill>
                <a:latin typeface="Calibri"/>
              </a:rPr>
              <a:t>Injection that pivots — </a:t>
            </a:r>
            <a:r>
              <a:rPr sz="1000" b="0">
                <a:solidFill>
                  <a:srgbClr val="16191F"/>
                </a:solidFill>
                <a:latin typeface="Calibri"/>
              </a:rPr>
              <a:t>reaches the registry and every user’s tokens.</a:t>
            </a:r>
          </a:p>
        </p:txBody>
      </p:sp>
      <p:sp>
        <p:nvSpPr>
          <p:cNvPr id="114" name="Rounded Rectangle 11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40 → 1</a:t>
            </a:r>
          </a:p>
        </p:txBody>
      </p:sp>
      <p:sp>
        <p:nvSpPr>
          <p:cNvPr id="116" name="Rounded Rectangle 11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118" name="TextBox 117"/>
          <p:cNvSpPr txBox="1"/>
          <p:nvPr/>
        </p:nvSpPr>
        <p:spPr>
          <a:xfrm>
            <a:off x="3017520" y="5614416"/>
            <a:ext cx="6766560" cy="566928"/>
          </a:xfrm>
          <a:prstGeom prst="rect">
            <a:avLst/>
          </a:prstGeom>
          <a:noFill/>
        </p:spPr>
        <p:txBody>
          <a:bodyPr wrap="square" lIns="0" rIns="0" tIns="0" bIns="0" anchor="ctr">
            <a:spAutoFit/>
          </a:bodyPr>
          <a:lstStyle/>
          <a:p>
            <a:pPr algn="l"/>
            <a:r>
              <a:rPr sz="1200" b="1">
                <a:solidFill>
                  <a:srgbClr val="232F3E"/>
                </a:solidFill>
                <a:latin typeface="Calibri"/>
              </a:rPr>
              <a:t>sessions lost to the same fault, on the same code — the whole argument in one number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11</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12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Security — what one breach reaches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Same two components as resilience; the question is what leaks, not what crashes.</a:t>
            </a:r>
          </a:p>
        </p:txBody>
      </p:sp>
      <p:sp>
        <p:nvSpPr>
          <p:cNvPr id="10" name="Rounded Rectangle 9"/>
          <p:cNvSpPr/>
          <p:nvPr/>
        </p:nvSpPr>
        <p:spPr>
          <a:xfrm>
            <a:off x="566928"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Runtime</a:t>
            </a:r>
          </a:p>
        </p:txBody>
      </p:sp>
      <p:sp>
        <p:nvSpPr>
          <p:cNvPr id="13" name="Rounded Rectangle 12"/>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Every credential in one heap.</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process-wide registry holds every user’s tokens next to every live session.</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One shared IAM role.</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An injection that pivots to the registry reaches the shared Bedrock client and everyone’s tokens.</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Auth resolves per tool.</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Each tool is its own Lambda with its own role; credentials never share a heap with sessions.</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Isolation is the boundary, twice.</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 hijacked session is walled into its own microVM — it reaches its own tokens and nothing else.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all → one</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users’ tokens reachable from a single compromised session</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the boundary is managed — you trust it rather than inspect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12</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13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2400" b="1">
                <a:solidFill>
                  <a:srgbClr val="232F3E"/>
                </a:solidFill>
                <a:latin typeface="Calibri"/>
              </a:rPr>
              <a:t>Ownership &amp; velocity — what you maintain forever</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The code you keep owning after launch, and how fast the agent can grow.</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66160"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67328"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Memory</a:t>
            </a:r>
          </a:p>
        </p:txBody>
      </p:sp>
      <p:sp>
        <p:nvSpPr>
          <p:cNvPr id="15" name="Rounded Rectangle 14"/>
          <p:cNvSpPr/>
          <p:nvPr/>
        </p:nvSpPr>
        <p:spPr>
          <a:xfrm>
            <a:off x="6163056"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64224"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Gateway</a:t>
            </a:r>
          </a:p>
        </p:txBody>
      </p:sp>
      <p:sp>
        <p:nvSpPr>
          <p:cNvPr id="18" name="Rounded Rectangle 17"/>
          <p:cNvSpPr/>
          <p:nvPr/>
        </p:nvSpPr>
        <p:spPr>
          <a:xfrm>
            <a:off x="8961119"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5"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Observability</a:t>
            </a:r>
          </a:p>
        </p:txBody>
      </p:sp>
      <p:sp>
        <p:nvSpPr>
          <p:cNvPr id="20" name="Rounded Rectangle 19"/>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3" name="TextBox 22"/>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The extraction prompt is mine forever.</a:t>
            </a:r>
          </a:p>
        </p:txBody>
      </p:sp>
      <p:sp>
        <p:nvSpPr>
          <p:cNvPr id="24" name="TextBox 23"/>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A second prompt to version, test and babysit — on top of the agent’s own.</a:t>
            </a:r>
          </a:p>
        </p:txBody>
      </p:sp>
      <p:sp>
        <p:nvSpPr>
          <p:cNvPr id="25" name="TextBox 24"/>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Adding a tool is a deploy.</a:t>
            </a:r>
          </a:p>
        </p:txBody>
      </p:sp>
      <p:sp>
        <p:nvSpPr>
          <p:cNvPr id="26" name="TextBox 25"/>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Registry change, build, rolling ECS deploy — growth at the speed of the pipeline.</a:t>
            </a:r>
          </a:p>
        </p:txBody>
      </p:sp>
      <p:sp>
        <p:nvSpPr>
          <p:cNvPr id="27" name="Rounded Rectangle 26"/>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30" name="TextBox 29"/>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Extraction is the service’s problem.</a:t>
            </a:r>
          </a:p>
        </p:txBody>
      </p:sp>
      <p:sp>
        <p:nvSpPr>
          <p:cNvPr id="31" name="TextBox 30"/>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One event in, one retrieval out. One fewer prompt to own.</a:t>
            </a:r>
          </a:p>
        </p:txBody>
      </p:sp>
      <p:sp>
        <p:nvSpPr>
          <p:cNvPr id="32" name="TextBox 31"/>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The tool list is data.</a:t>
            </a:r>
          </a:p>
        </p:txBody>
      </p:sp>
      <p:sp>
        <p:nvSpPr>
          <p:cNvPr id="33" name="TextBox 32"/>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Adding or revoking a tool via Gateway is a config change, not a release.</a:t>
            </a:r>
          </a:p>
        </p:txBody>
      </p:sp>
      <p:sp>
        <p:nvSpPr>
          <p:cNvPr id="34" name="Rounded Rectangle 33"/>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 prompt</a:t>
            </a:r>
          </a:p>
        </p:txBody>
      </p:sp>
      <p:sp>
        <p:nvSpPr>
          <p:cNvPr id="36" name="Rounded Rectangle 35"/>
          <p:cNvSpPr/>
          <p:nvPr/>
        </p:nvSpPr>
        <p:spPr>
          <a:xfrm>
            <a:off x="9966960" y="5769864"/>
            <a:ext cx="1426464" cy="256032"/>
          </a:xfrm>
          <a:prstGeom prst="roundRect">
            <a:avLst>
              <a:gd name="adj" fmla="val 46428"/>
            </a:avLst>
          </a:prstGeom>
          <a:solidFill>
            <a:srgbClr val="1E7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AGENTCORE</a:t>
            </a:r>
          </a:p>
        </p:txBody>
      </p:sp>
      <p:sp>
        <p:nvSpPr>
          <p:cNvPr id="38" name="TextBox 37"/>
          <p:cNvSpPr txBox="1"/>
          <p:nvPr/>
        </p:nvSpPr>
        <p:spPr>
          <a:xfrm>
            <a:off x="3017520" y="5678424"/>
            <a:ext cx="6766560" cy="237744"/>
          </a:xfrm>
          <a:prstGeom prst="rect">
            <a:avLst/>
          </a:prstGeom>
          <a:noFill/>
        </p:spPr>
        <p:txBody>
          <a:bodyPr wrap="square" lIns="0" rIns="0" tIns="0" bIns="0" anchor="ctr">
            <a:spAutoFit/>
          </a:bodyPr>
          <a:lstStyle/>
          <a:p>
            <a:pPr algn="l"/>
            <a:r>
              <a:rPr sz="1200" b="1">
                <a:solidFill>
                  <a:srgbClr val="232F3E"/>
                </a:solidFill>
                <a:latin typeface="Calibri"/>
              </a:rPr>
              <a:t>to own, version and regression-test — and tool changes stop being releases</a:t>
            </a:r>
          </a:p>
        </p:txBody>
      </p:sp>
      <p:sp>
        <p:nvSpPr>
          <p:cNvPr id="39" name="TextBox 38"/>
          <p:cNvSpPr txBox="1"/>
          <p:nvPr/>
        </p:nvSpPr>
        <p:spPr>
          <a:xfrm>
            <a:off x="3017520" y="5916168"/>
            <a:ext cx="6766560" cy="237744"/>
          </a:xfrm>
          <a:prstGeom prst="rect">
            <a:avLst/>
          </a:prstGeom>
          <a:noFill/>
        </p:spPr>
        <p:txBody>
          <a:bodyPr wrap="square" lIns="0" rIns="0" tIns="0" bIns="0" anchor="ctr">
            <a:spAutoFit/>
          </a:bodyPr>
          <a:lstStyle/>
          <a:p>
            <a:pPr algn="l"/>
            <a:r>
              <a:rPr sz="1000" b="1">
                <a:solidFill>
                  <a:srgbClr val="545B64"/>
                </a:solidFill>
                <a:latin typeface="Calibri"/>
              </a:rPr>
              <a:t>Give up:  </a:t>
            </a:r>
            <a:r>
              <a:rPr sz="1000" b="0">
                <a:solidFill>
                  <a:srgbClr val="545B64"/>
                </a:solidFill>
                <a:latin typeface="Calibri"/>
              </a:rPr>
              <a:t>the extraction schema you designed — preferenceCategoryCount is gone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13</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14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Debuggability — the lens DIY wins</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What you can actually see when a turn goes wrong at two in the morning.</a:t>
            </a:r>
          </a:p>
        </p:txBody>
      </p:sp>
      <p:sp>
        <p:nvSpPr>
          <p:cNvPr id="10" name="Rounded Rectangle 9"/>
          <p:cNvSpPr/>
          <p:nvPr/>
        </p:nvSpPr>
        <p:spPr>
          <a:xfrm>
            <a:off x="566928"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Runtime</a:t>
            </a:r>
          </a:p>
        </p:txBody>
      </p:sp>
      <p:sp>
        <p:nvSpPr>
          <p:cNvPr id="12" name="Rounded Rectangle 11"/>
          <p:cNvSpPr/>
          <p:nvPr/>
        </p:nvSpPr>
        <p:spPr>
          <a:xfrm>
            <a:off x="3364992"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67328"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Memory</a:t>
            </a:r>
          </a:p>
        </p:txBody>
      </p:sp>
      <p:sp>
        <p:nvSpPr>
          <p:cNvPr id="14" name="Rounded Rectangle 13"/>
          <p:cNvSpPr/>
          <p:nvPr/>
        </p:nvSpPr>
        <p:spPr>
          <a:xfrm>
            <a:off x="6163056" y="1755648"/>
            <a:ext cx="2670048" cy="384048"/>
          </a:xfrm>
          <a:prstGeom prst="roundRect">
            <a:avLst>
              <a:gd name="adj" fmla="val 50000"/>
            </a:avLst>
          </a:prstGeom>
          <a:no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1755648"/>
            <a:ext cx="2157984" cy="384048"/>
          </a:xfrm>
          <a:prstGeom prst="rect">
            <a:avLst/>
          </a:prstGeom>
          <a:noFill/>
        </p:spPr>
        <p:txBody>
          <a:bodyPr wrap="square" lIns="0" rIns="0" tIns="0" bIns="0" anchor="ctr">
            <a:spAutoFit/>
          </a:bodyPr>
          <a:lstStyle/>
          <a:p>
            <a:pPr algn="l"/>
            <a:r>
              <a:rPr sz="1150" b="0">
                <a:solidFill>
                  <a:srgbClr val="A6B0BA"/>
                </a:solidFill>
                <a:latin typeface="Calibri"/>
              </a:rPr>
              <a:t>AgentCore Gateway</a:t>
            </a:r>
          </a:p>
        </p:txBody>
      </p:sp>
      <p:sp>
        <p:nvSpPr>
          <p:cNvPr id="16" name="Rounded Rectangle 15"/>
          <p:cNvSpPr/>
          <p:nvPr/>
        </p:nvSpPr>
        <p:spPr>
          <a:xfrm>
            <a:off x="8961119" y="1755648"/>
            <a:ext cx="2670048" cy="384048"/>
          </a:xfrm>
          <a:prstGeom prst="roundRect">
            <a:avLst>
              <a:gd name="adj" fmla="val 50000"/>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62288" y="1897379"/>
            <a:ext cx="100584" cy="100584"/>
          </a:xfrm>
          <a:prstGeom prst="ellipse">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63455" y="1755648"/>
            <a:ext cx="2157984" cy="384048"/>
          </a:xfrm>
          <a:prstGeom prst="rect">
            <a:avLst/>
          </a:prstGeom>
          <a:noFill/>
        </p:spPr>
        <p:txBody>
          <a:bodyPr wrap="square" lIns="0" rIns="0" tIns="0" bIns="0" anchor="ctr">
            <a:spAutoFit/>
          </a:bodyPr>
          <a:lstStyle/>
          <a:p>
            <a:pPr algn="l"/>
            <a:r>
              <a:rPr sz="1150" b="1">
                <a:solidFill>
                  <a:srgbClr val="FFFFFF"/>
                </a:solidFill>
                <a:latin typeface="Calibri"/>
              </a:rPr>
              <a:t>AgentCore Observability</a:t>
            </a:r>
          </a:p>
        </p:txBody>
      </p:sp>
      <p:sp>
        <p:nvSpPr>
          <p:cNvPr id="19" name="Rounded Rectangle 18"/>
          <p:cNvSpPr/>
          <p:nvPr/>
        </p:nvSpPr>
        <p:spPr>
          <a:xfrm>
            <a:off x="56692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2395728"/>
            <a:ext cx="5394960" cy="420624"/>
          </a:xfrm>
          <a:prstGeom prst="rect">
            <a:avLst/>
          </a:prstGeom>
          <a:solidFill>
            <a:srgbClr val="545B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A · DIY</a:t>
            </a:r>
          </a:p>
        </p:txBody>
      </p:sp>
      <p:sp>
        <p:nvSpPr>
          <p:cNvPr id="22" name="TextBox 21"/>
          <p:cNvSpPr txBox="1"/>
          <p:nvPr/>
        </p:nvSpPr>
        <p:spPr>
          <a:xfrm>
            <a:off x="76809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Exactly the fields that decide an incident.</a:t>
            </a:r>
          </a:p>
        </p:txBody>
      </p:sp>
      <p:sp>
        <p:nvSpPr>
          <p:cNvPr id="23" name="TextBox 22"/>
          <p:cNvSpPr txBox="1"/>
          <p:nvPr/>
        </p:nvSpPr>
        <p:spPr>
          <a:xfrm>
            <a:off x="76809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Hand-wired OTEL spans: turn id, tool name, extraction latency, which reminder fired.</a:t>
            </a:r>
          </a:p>
        </p:txBody>
      </p:sp>
      <p:sp>
        <p:nvSpPr>
          <p:cNvPr id="24" name="TextBox 23"/>
          <p:cNvSpPr txBox="1"/>
          <p:nvPr/>
        </p:nvSpPr>
        <p:spPr>
          <a:xfrm>
            <a:off x="76809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The cost is real, not rhetorical.</a:t>
            </a:r>
          </a:p>
        </p:txBody>
      </p:sp>
      <p:sp>
        <p:nvSpPr>
          <p:cNvPr id="25" name="TextBox 24"/>
          <p:cNvSpPr txBox="1"/>
          <p:nvPr/>
        </p:nvSpPr>
        <p:spPr>
          <a:xfrm>
            <a:off x="76809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I wrote the span plumbing and now maintain it — and CloudWatch is another bill.</a:t>
            </a:r>
          </a:p>
        </p:txBody>
      </p:sp>
      <p:sp>
        <p:nvSpPr>
          <p:cNvPr id="26" name="Rounded Rectangle 25"/>
          <p:cNvSpPr/>
          <p:nvPr/>
        </p:nvSpPr>
        <p:spPr>
          <a:xfrm>
            <a:off x="6236208" y="2395728"/>
            <a:ext cx="5394960" cy="3017520"/>
          </a:xfrm>
          <a:prstGeom prst="roundRect">
            <a:avLst>
              <a:gd name="adj" fmla="val 1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6208" y="2395728"/>
            <a:ext cx="5394960" cy="420624"/>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37376" y="2395728"/>
            <a:ext cx="4992624" cy="420624"/>
          </a:xfrm>
          <a:prstGeom prst="rect">
            <a:avLst/>
          </a:prstGeom>
          <a:noFill/>
        </p:spPr>
        <p:txBody>
          <a:bodyPr wrap="square" lIns="0" rIns="0" tIns="0" bIns="0" anchor="ctr">
            <a:spAutoFit/>
          </a:bodyPr>
          <a:lstStyle/>
          <a:p>
            <a:pPr algn="l"/>
            <a:r>
              <a:rPr sz="1150" b="1">
                <a:solidFill>
                  <a:srgbClr val="FFFFFF"/>
                </a:solidFill>
                <a:latin typeface="Calibri"/>
              </a:rPr>
              <a:t>ENGINE B · AGENTCORE</a:t>
            </a:r>
          </a:p>
        </p:txBody>
      </p:sp>
      <p:sp>
        <p:nvSpPr>
          <p:cNvPr id="29" name="TextBox 28"/>
          <p:cNvSpPr txBox="1"/>
          <p:nvPr/>
        </p:nvSpPr>
        <p:spPr>
          <a:xfrm>
            <a:off x="6437376" y="3017520"/>
            <a:ext cx="4992624" cy="310896"/>
          </a:xfrm>
          <a:prstGeom prst="rect">
            <a:avLst/>
          </a:prstGeom>
          <a:noFill/>
        </p:spPr>
        <p:txBody>
          <a:bodyPr wrap="square" lIns="0" rIns="0" tIns="0" bIns="0" anchor="t">
            <a:spAutoFit/>
          </a:bodyPr>
          <a:lstStyle/>
          <a:p>
            <a:pPr algn="l"/>
            <a:r>
              <a:rPr sz="1300" b="1">
                <a:solidFill>
                  <a:srgbClr val="232F3E"/>
                </a:solidFill>
                <a:latin typeface="Calibri"/>
              </a:rPr>
              <a:t>Traces for free — on its schema.</a:t>
            </a:r>
          </a:p>
        </p:txBody>
      </p:sp>
      <p:sp>
        <p:nvSpPr>
          <p:cNvPr id="30" name="TextBox 29"/>
          <p:cNvSpPr txBox="1"/>
          <p:nvPr/>
        </p:nvSpPr>
        <p:spPr>
          <a:xfrm>
            <a:off x="6437376" y="3346704"/>
            <a:ext cx="4992624" cy="786384"/>
          </a:xfrm>
          <a:prstGeom prst="rect">
            <a:avLst/>
          </a:prstGeom>
          <a:noFill/>
        </p:spPr>
        <p:txBody>
          <a:bodyPr wrap="square" lIns="0" rIns="0" tIns="0" bIns="0" anchor="t">
            <a:spAutoFit/>
          </a:bodyPr>
          <a:lstStyle/>
          <a:p>
            <a:pPr algn="l"/>
            <a:r>
              <a:rPr sz="1150" b="0">
                <a:solidFill>
                  <a:srgbClr val="16191F"/>
                </a:solidFill>
                <a:latin typeface="Calibri"/>
              </a:rPr>
              <a:t>Session-level traces arrive with zero work, but the 2am fields are not the ones it emits.</a:t>
            </a:r>
          </a:p>
        </p:txBody>
      </p:sp>
      <p:sp>
        <p:nvSpPr>
          <p:cNvPr id="31" name="TextBox 30"/>
          <p:cNvSpPr txBox="1"/>
          <p:nvPr/>
        </p:nvSpPr>
        <p:spPr>
          <a:xfrm>
            <a:off x="6437376" y="4224528"/>
            <a:ext cx="4992624" cy="310896"/>
          </a:xfrm>
          <a:prstGeom prst="rect">
            <a:avLst/>
          </a:prstGeom>
          <a:noFill/>
        </p:spPr>
        <p:txBody>
          <a:bodyPr wrap="square" lIns="0" rIns="0" tIns="0" bIns="0" anchor="t">
            <a:spAutoFit/>
          </a:bodyPr>
          <a:lstStyle/>
          <a:p>
            <a:pPr algn="l"/>
            <a:r>
              <a:rPr sz="1300" b="1">
                <a:solidFill>
                  <a:srgbClr val="232F3E"/>
                </a:solidFill>
                <a:latin typeface="Calibri"/>
              </a:rPr>
              <a:t>Where I actually landed.</a:t>
            </a:r>
          </a:p>
        </p:txBody>
      </p:sp>
      <p:sp>
        <p:nvSpPr>
          <p:cNvPr id="32" name="TextBox 31"/>
          <p:cNvSpPr txBox="1"/>
          <p:nvPr/>
        </p:nvSpPr>
        <p:spPr>
          <a:xfrm>
            <a:off x="6437376" y="4553712"/>
            <a:ext cx="4992624" cy="786384"/>
          </a:xfrm>
          <a:prstGeom prst="rect">
            <a:avLst/>
          </a:prstGeom>
          <a:noFill/>
        </p:spPr>
        <p:txBody>
          <a:bodyPr wrap="square" lIns="0" rIns="0" tIns="0" bIns="0" anchor="t">
            <a:spAutoFit/>
          </a:bodyPr>
          <a:lstStyle/>
          <a:p>
            <a:pPr algn="l"/>
            <a:r>
              <a:rPr sz="1150" b="0">
                <a:solidFill>
                  <a:srgbClr val="16191F"/>
                </a:solidFill>
                <a:latin typeface="Calibri"/>
              </a:rPr>
              <a:t>AgentCore’s traces as the floor, my spans kept for the two or three fields that decide an incident.</a:t>
            </a:r>
          </a:p>
        </p:txBody>
      </p:sp>
      <p:sp>
        <p:nvSpPr>
          <p:cNvPr id="33" name="Rounded Rectangle 32"/>
          <p:cNvSpPr/>
          <p:nvPr/>
        </p:nvSpPr>
        <p:spPr>
          <a:xfrm>
            <a:off x="566928" y="5614416"/>
            <a:ext cx="11064240" cy="566928"/>
          </a:xfrm>
          <a:prstGeom prst="roundRect">
            <a:avLst>
              <a:gd name="adj" fmla="val 1612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2" y="5614416"/>
            <a:ext cx="2103120" cy="566928"/>
          </a:xfrm>
          <a:prstGeom prst="rect">
            <a:avLst/>
          </a:prstGeom>
          <a:noFill/>
        </p:spPr>
        <p:txBody>
          <a:bodyPr wrap="square" lIns="0" rIns="0" tIns="0" bIns="0" anchor="ctr">
            <a:spAutoFit/>
          </a:bodyPr>
          <a:lstStyle/>
          <a:p>
            <a:pPr algn="l"/>
            <a:r>
              <a:rPr sz="2400" b="1">
                <a:solidFill>
                  <a:srgbClr val="FF9900"/>
                </a:solidFill>
                <a:latin typeface="Calibri"/>
              </a:rPr>
              <a:t>1 of 6</a:t>
            </a:r>
          </a:p>
        </p:txBody>
      </p:sp>
      <p:sp>
        <p:nvSpPr>
          <p:cNvPr id="35" name="Rounded Rectangle 34"/>
          <p:cNvSpPr/>
          <p:nvPr/>
        </p:nvSpPr>
        <p:spPr>
          <a:xfrm>
            <a:off x="9966960" y="5769864"/>
            <a:ext cx="1426464" cy="256032"/>
          </a:xfrm>
          <a:prstGeom prst="roundRect">
            <a:avLst>
              <a:gd name="adj" fmla="val 46428"/>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66960" y="5769864"/>
            <a:ext cx="1426464" cy="256032"/>
          </a:xfrm>
          <a:prstGeom prst="rect">
            <a:avLst/>
          </a:prstGeom>
          <a:noFill/>
        </p:spPr>
        <p:txBody>
          <a:bodyPr wrap="square" lIns="0" rIns="0" tIns="0" bIns="0" anchor="ctr">
            <a:spAutoFit/>
          </a:bodyPr>
          <a:lstStyle/>
          <a:p>
            <a:pPr algn="ctr"/>
            <a:r>
              <a:rPr sz="1000" b="1">
                <a:solidFill>
                  <a:srgbClr val="FFFFFF"/>
                </a:solidFill>
                <a:latin typeface="Calibri"/>
              </a:rPr>
              <a:t>DIY</a:t>
            </a:r>
          </a:p>
        </p:txBody>
      </p:sp>
      <p:sp>
        <p:nvSpPr>
          <p:cNvPr id="37" name="TextBox 36"/>
          <p:cNvSpPr txBox="1"/>
          <p:nvPr/>
        </p:nvSpPr>
        <p:spPr>
          <a:xfrm>
            <a:off x="3017520" y="5614416"/>
            <a:ext cx="6766560" cy="566928"/>
          </a:xfrm>
          <a:prstGeom prst="rect">
            <a:avLst/>
          </a:prstGeom>
          <a:noFill/>
        </p:spPr>
        <p:txBody>
          <a:bodyPr wrap="square" lIns="0" rIns="0" tIns="0" bIns="0" anchor="ctr">
            <a:spAutoFit/>
          </a:bodyPr>
          <a:lstStyle/>
          <a:p>
            <a:pPr algn="l"/>
            <a:r>
              <a:rPr sz="1200" b="1">
                <a:solidFill>
                  <a:srgbClr val="232F3E"/>
                </a:solidFill>
                <a:latin typeface="Calibri"/>
              </a:rPr>
              <a:t>the lens DIY keeps — a 6–0 comparison would be a sales pitch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14</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15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I didn’t write it. They did.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Six agent personas with disjoint file ownership, and one human who holds the veto.</a:t>
            </a:r>
          </a:p>
        </p:txBody>
      </p:sp>
      <p:sp>
        <p:nvSpPr>
          <p:cNvPr id="10" name="Rounded Rectangle 9"/>
          <p:cNvSpPr/>
          <p:nvPr/>
        </p:nvSpPr>
        <p:spPr>
          <a:xfrm>
            <a:off x="56692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810512"/>
            <a:ext cx="54864" cy="841248"/>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901952"/>
            <a:ext cx="4937760" cy="274320"/>
          </a:xfrm>
          <a:prstGeom prst="rect">
            <a:avLst/>
          </a:prstGeom>
          <a:noFill/>
        </p:spPr>
        <p:txBody>
          <a:bodyPr wrap="square" lIns="0" rIns="0" tIns="0" bIns="0" anchor="ctr">
            <a:spAutoFit/>
          </a:bodyPr>
          <a:lstStyle/>
          <a:p>
            <a:pPr algn="l"/>
            <a:r>
              <a:rPr sz="1300" b="1">
                <a:solidFill>
                  <a:srgbClr val="232F3E"/>
                </a:solidFill>
                <a:latin typeface="Calibri"/>
              </a:rPr>
              <a:t>Coral · human</a:t>
            </a:r>
          </a:p>
        </p:txBody>
      </p:sp>
      <p:sp>
        <p:nvSpPr>
          <p:cNvPr id="13" name="TextBox 12"/>
          <p:cNvSpPr txBox="1"/>
          <p:nvPr/>
        </p:nvSpPr>
        <p:spPr>
          <a:xfrm>
            <a:off x="822960" y="2194560"/>
            <a:ext cx="4937760" cy="365760"/>
          </a:xfrm>
          <a:prstGeom prst="rect">
            <a:avLst/>
          </a:prstGeom>
          <a:noFill/>
        </p:spPr>
        <p:txBody>
          <a:bodyPr wrap="square" lIns="0" rIns="0" tIns="0" bIns="0" anchor="t">
            <a:spAutoFit/>
          </a:bodyPr>
          <a:lstStyle/>
          <a:p>
            <a:pPr algn="l"/>
            <a:r>
              <a:rPr sz="1100" b="0">
                <a:solidFill>
                  <a:srgbClr val="16191F"/>
                </a:solidFill>
                <a:latin typeface="Calibri"/>
              </a:rPr>
              <a:t>Product intent, final say, veto. Wrote none of the application code.</a:t>
            </a:r>
          </a:p>
        </p:txBody>
      </p:sp>
      <p:sp>
        <p:nvSpPr>
          <p:cNvPr id="14" name="Rounded Rectangle 13"/>
          <p:cNvSpPr/>
          <p:nvPr/>
        </p:nvSpPr>
        <p:spPr>
          <a:xfrm>
            <a:off x="6236208" y="1810512"/>
            <a:ext cx="5394960" cy="841248"/>
          </a:xfrm>
          <a:prstGeom prst="roundRect">
            <a:avLst>
              <a:gd name="adj" fmla="val 6521"/>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208" y="1810512"/>
            <a:ext cx="54864" cy="841248"/>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01952"/>
            <a:ext cx="4937760" cy="274320"/>
          </a:xfrm>
          <a:prstGeom prst="rect">
            <a:avLst/>
          </a:prstGeom>
          <a:noFill/>
        </p:spPr>
        <p:txBody>
          <a:bodyPr wrap="square" lIns="0" rIns="0" tIns="0" bIns="0" anchor="ctr">
            <a:spAutoFit/>
          </a:bodyPr>
          <a:lstStyle/>
          <a:p>
            <a:pPr algn="l"/>
            <a:r>
              <a:rPr sz="1300" b="1">
                <a:solidFill>
                  <a:srgbClr val="232F3E"/>
                </a:solidFill>
                <a:latin typeface="Calibri"/>
              </a:rPr>
              <a:t>Master Agent  ·  .kiro/  ·  .github/</a:t>
            </a:r>
          </a:p>
        </p:txBody>
      </p:sp>
      <p:sp>
        <p:nvSpPr>
          <p:cNvPr id="17" name="TextBox 16"/>
          <p:cNvSpPr txBox="1"/>
          <p:nvPr/>
        </p:nvSpPr>
        <p:spPr>
          <a:xfrm>
            <a:off x="6492240" y="2194560"/>
            <a:ext cx="4937760" cy="365760"/>
          </a:xfrm>
          <a:prstGeom prst="rect">
            <a:avLst/>
          </a:prstGeom>
          <a:noFill/>
        </p:spPr>
        <p:txBody>
          <a:bodyPr wrap="square" lIns="0" rIns="0" tIns="0" bIns="0" anchor="t">
            <a:spAutoFit/>
          </a:bodyPr>
          <a:lstStyle/>
          <a:p>
            <a:pPr algn="l"/>
            <a:r>
              <a:rPr sz="1100" b="0">
                <a:solidFill>
                  <a:srgbClr val="16191F"/>
                </a:solidFill>
                <a:latin typeface="Calibri"/>
              </a:rPr>
              <a:t>Decomposes, delegates, reviews, merges — and posts the last word.</a:t>
            </a:r>
          </a:p>
        </p:txBody>
      </p:sp>
      <p:sp>
        <p:nvSpPr>
          <p:cNvPr id="18" name="Rounded Rectangle 17"/>
          <p:cNvSpPr/>
          <p:nvPr/>
        </p:nvSpPr>
        <p:spPr>
          <a:xfrm>
            <a:off x="566928"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System Architect</a:t>
            </a:r>
          </a:p>
        </p:txBody>
      </p:sp>
      <p:sp>
        <p:nvSpPr>
          <p:cNvPr id="21" name="Rounded Rectangle 20"/>
          <p:cNvSpPr/>
          <p:nvPr/>
        </p:nvSpPr>
        <p:spPr>
          <a:xfrm>
            <a:off x="713232"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src/shared/</a:t>
            </a:r>
          </a:p>
        </p:txBody>
      </p:sp>
      <p:sp>
        <p:nvSpPr>
          <p:cNvPr id="23" name="TextBox 22"/>
          <p:cNvSpPr txBox="1"/>
          <p:nvPr/>
        </p:nvSpPr>
        <p:spPr>
          <a:xfrm>
            <a:off x="713232"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Contracts and shared types. Writes the spec before anyone branches.</a:t>
            </a:r>
          </a:p>
        </p:txBody>
      </p:sp>
      <p:sp>
        <p:nvSpPr>
          <p:cNvPr id="24" name="Rectangle 23"/>
          <p:cNvSpPr/>
          <p:nvPr/>
        </p:nvSpPr>
        <p:spPr>
          <a:xfrm>
            <a:off x="713232"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#2 shared types · #41 category lookups · #44 preferenceCategoryCount</a:t>
            </a:r>
          </a:p>
        </p:txBody>
      </p:sp>
      <p:sp>
        <p:nvSpPr>
          <p:cNvPr id="26" name="Rounded Rectangle 25"/>
          <p:cNvSpPr/>
          <p:nvPr/>
        </p:nvSpPr>
        <p:spPr>
          <a:xfrm>
            <a:off x="2809036"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09036"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55340"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Frontend Dev</a:t>
            </a:r>
          </a:p>
        </p:txBody>
      </p:sp>
      <p:sp>
        <p:nvSpPr>
          <p:cNvPr id="29" name="Rounded Rectangle 28"/>
          <p:cNvSpPr/>
          <p:nvPr/>
        </p:nvSpPr>
        <p:spPr>
          <a:xfrm>
            <a:off x="2955340"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55340"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src/client/</a:t>
            </a:r>
          </a:p>
        </p:txBody>
      </p:sp>
      <p:sp>
        <p:nvSpPr>
          <p:cNvPr id="31" name="TextBox 30"/>
          <p:cNvSpPr txBox="1"/>
          <p:nvPr/>
        </p:nvSpPr>
        <p:spPr>
          <a:xfrm>
            <a:off x="2955340"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Components, hooks, state. Cannot touch shared types.</a:t>
            </a:r>
          </a:p>
        </p:txBody>
      </p:sp>
      <p:sp>
        <p:nvSpPr>
          <p:cNvPr id="32" name="Rectangle 31"/>
          <p:cNvSpPr/>
          <p:nvPr/>
        </p:nvSpPr>
        <p:spPr>
          <a:xfrm>
            <a:off x="2955340"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55340"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#3 chat UI · #58 Partner Profile Panel, 27 files · #65 live architecture view</a:t>
            </a:r>
          </a:p>
        </p:txBody>
      </p:sp>
      <p:sp>
        <p:nvSpPr>
          <p:cNvPr id="34" name="Rounded Rectangle 33"/>
          <p:cNvSpPr/>
          <p:nvPr/>
        </p:nvSpPr>
        <p:spPr>
          <a:xfrm>
            <a:off x="5051145"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51145"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97449"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Backend Dev</a:t>
            </a:r>
          </a:p>
        </p:txBody>
      </p:sp>
      <p:sp>
        <p:nvSpPr>
          <p:cNvPr id="37" name="Rounded Rectangle 36"/>
          <p:cNvSpPr/>
          <p:nvPr/>
        </p:nvSpPr>
        <p:spPr>
          <a:xfrm>
            <a:off x="5197449"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97449"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src/server/</a:t>
            </a:r>
          </a:p>
        </p:txBody>
      </p:sp>
      <p:sp>
        <p:nvSpPr>
          <p:cNvPr id="39" name="TextBox 38"/>
          <p:cNvSpPr txBox="1"/>
          <p:nvPr/>
        </p:nvSpPr>
        <p:spPr>
          <a:xfrm>
            <a:off x="5197449"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API, Bedrock extraction, persistence. Cannot touch the client.</a:t>
            </a:r>
          </a:p>
        </p:txBody>
      </p:sp>
      <p:sp>
        <p:nvSpPr>
          <p:cNvPr id="40" name="Rectangle 39"/>
          <p:cNvSpPr/>
          <p:nvPr/>
        </p:nvSpPr>
        <p:spPr>
          <a:xfrm>
            <a:off x="5197449"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97449"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#4 API and orchestrator · #15 real Bedrock SDK · #64 demo seeding and reset</a:t>
            </a:r>
          </a:p>
        </p:txBody>
      </p:sp>
      <p:sp>
        <p:nvSpPr>
          <p:cNvPr id="42" name="Rounded Rectangle 41"/>
          <p:cNvSpPr/>
          <p:nvPr/>
        </p:nvSpPr>
        <p:spPr>
          <a:xfrm>
            <a:off x="7293254"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293254"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39558"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UI Designer</a:t>
            </a:r>
          </a:p>
        </p:txBody>
      </p:sp>
      <p:sp>
        <p:nvSpPr>
          <p:cNvPr id="45" name="Rounded Rectangle 44"/>
          <p:cNvSpPr/>
          <p:nvPr/>
        </p:nvSpPr>
        <p:spPr>
          <a:xfrm>
            <a:off x="7439558"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39558"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design-system/</a:t>
            </a:r>
          </a:p>
        </p:txBody>
      </p:sp>
      <p:sp>
        <p:nvSpPr>
          <p:cNvPr id="47" name="TextBox 46"/>
          <p:cNvSpPr txBox="1"/>
          <p:nvPr/>
        </p:nvSpPr>
        <p:spPr>
          <a:xfrm>
            <a:off x="7439558"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Tokens, accessibility, eight real mockups to choose from.</a:t>
            </a:r>
          </a:p>
        </p:txBody>
      </p:sp>
      <p:sp>
        <p:nvSpPr>
          <p:cNvPr id="48" name="Rectangle 47"/>
          <p:cNvSpPr/>
          <p:nvPr/>
        </p:nvSpPr>
        <p:spPr>
          <a:xfrm>
            <a:off x="7439558"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39558"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#16 refined palette · #22 component pass · 8 mockups, one shipped</a:t>
            </a:r>
          </a:p>
        </p:txBody>
      </p:sp>
      <p:sp>
        <p:nvSpPr>
          <p:cNvPr id="50" name="Rounded Rectangle 49"/>
          <p:cNvSpPr/>
          <p:nvPr/>
        </p:nvSpPr>
        <p:spPr>
          <a:xfrm>
            <a:off x="9535363" y="2871216"/>
            <a:ext cx="2095804" cy="2212848"/>
          </a:xfrm>
          <a:prstGeom prst="roundRect">
            <a:avLst>
              <a:gd name="adj" fmla="val 2617"/>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535363" y="2871216"/>
            <a:ext cx="2095804" cy="45720"/>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2999232"/>
            <a:ext cx="1803196" cy="256032"/>
          </a:xfrm>
          <a:prstGeom prst="rect">
            <a:avLst/>
          </a:prstGeom>
          <a:noFill/>
        </p:spPr>
        <p:txBody>
          <a:bodyPr wrap="square" lIns="0" rIns="0" tIns="0" bIns="0" anchor="ctr">
            <a:spAutoFit/>
          </a:bodyPr>
          <a:lstStyle/>
          <a:p>
            <a:pPr algn="l"/>
            <a:r>
              <a:rPr sz="1250" b="1">
                <a:solidFill>
                  <a:srgbClr val="232F3E"/>
                </a:solidFill>
                <a:latin typeface="Calibri"/>
              </a:rPr>
              <a:t>QA Agent</a:t>
            </a:r>
          </a:p>
        </p:txBody>
      </p:sp>
      <p:sp>
        <p:nvSpPr>
          <p:cNvPr id="53" name="Rounded Rectangle 52"/>
          <p:cNvSpPr/>
          <p:nvPr/>
        </p:nvSpPr>
        <p:spPr>
          <a:xfrm>
            <a:off x="9681667" y="3291840"/>
            <a:ext cx="1803196" cy="237744"/>
          </a:xfrm>
          <a:prstGeom prst="roundRect">
            <a:avLst>
              <a:gd name="adj" fmla="val 3076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681667" y="3291840"/>
            <a:ext cx="1803196" cy="237744"/>
          </a:xfrm>
          <a:prstGeom prst="rect">
            <a:avLst/>
          </a:prstGeom>
          <a:noFill/>
        </p:spPr>
        <p:txBody>
          <a:bodyPr wrap="square" lIns="0" rIns="0" tIns="0" bIns="0" anchor="ctr">
            <a:spAutoFit/>
          </a:bodyPr>
          <a:lstStyle/>
          <a:p>
            <a:pPr algn="ctr"/>
            <a:r>
              <a:rPr sz="1000" b="1">
                <a:solidFill>
                  <a:srgbClr val="545B64"/>
                </a:solidFill>
                <a:latin typeface="Calibri"/>
              </a:rPr>
              <a:t>e2e/</a:t>
            </a:r>
          </a:p>
        </p:txBody>
      </p:sp>
      <p:sp>
        <p:nvSpPr>
          <p:cNvPr id="55" name="TextBox 54"/>
          <p:cNvSpPr txBox="1"/>
          <p:nvPr/>
        </p:nvSpPr>
        <p:spPr>
          <a:xfrm>
            <a:off x="9681667" y="3621024"/>
            <a:ext cx="1803196" cy="676656"/>
          </a:xfrm>
          <a:prstGeom prst="rect">
            <a:avLst/>
          </a:prstGeom>
          <a:noFill/>
        </p:spPr>
        <p:txBody>
          <a:bodyPr wrap="square" lIns="0" rIns="0" tIns="0" bIns="0" anchor="t">
            <a:spAutoFit/>
          </a:bodyPr>
          <a:lstStyle/>
          <a:p>
            <a:pPr algn="l"/>
            <a:r>
              <a:rPr sz="1050" b="0">
                <a:solidFill>
                  <a:srgbClr val="16191F"/>
                </a:solidFill>
                <a:latin typeface="Calibri"/>
              </a:rPr>
              <a:t>Playwright E2E and regression coverage. Cannot touch src at all.</a:t>
            </a:r>
          </a:p>
        </p:txBody>
      </p:sp>
      <p:sp>
        <p:nvSpPr>
          <p:cNvPr id="56" name="Rectangle 55"/>
          <p:cNvSpPr/>
          <p:nvPr/>
        </p:nvSpPr>
        <p:spPr>
          <a:xfrm>
            <a:off x="9681667" y="4334256"/>
            <a:ext cx="1803196" cy="9144"/>
          </a:xfrm>
          <a:prstGeom prst="rect">
            <a:avLst/>
          </a:prstGeom>
          <a:solidFill>
            <a:srgbClr val="E4E7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81667" y="4407408"/>
            <a:ext cx="1803196" cy="603504"/>
          </a:xfrm>
          <a:prstGeom prst="rect">
            <a:avLst/>
          </a:prstGeom>
          <a:noFill/>
        </p:spPr>
        <p:txBody>
          <a:bodyPr wrap="square" lIns="0" rIns="0" tIns="0" bIns="0" anchor="t">
            <a:spAutoFit/>
          </a:bodyPr>
          <a:lstStyle/>
          <a:p>
            <a:pPr algn="l"/>
            <a:r>
              <a:rPr sz="1000" b="0">
                <a:solidFill>
                  <a:srgbClr val="545B64"/>
                </a:solidFill>
                <a:latin typeface="Calibri"/>
              </a:rPr>
              <a:t>#8 onboarding and responsive · 5 PRs purely for coverage · 376 tests green</a:t>
            </a:r>
          </a:p>
        </p:txBody>
      </p:sp>
      <p:sp>
        <p:nvSpPr>
          <p:cNvPr id="58" name="TextBox 57"/>
          <p:cNvSpPr txBox="1"/>
          <p:nvPr/>
        </p:nvSpPr>
        <p:spPr>
          <a:xfrm>
            <a:off x="566928" y="5285232"/>
            <a:ext cx="11064240" cy="512064"/>
          </a:xfrm>
          <a:prstGeom prst="rect">
            <a:avLst/>
          </a:prstGeom>
          <a:noFill/>
        </p:spPr>
        <p:txBody>
          <a:bodyPr wrap="square" lIns="0" rIns="0" tIns="0" bIns="0" anchor="t">
            <a:spAutoFit/>
          </a:bodyPr>
          <a:lstStyle/>
          <a:p>
            <a:pPr algn="l"/>
            <a:r>
              <a:rPr sz="1100" b="0">
                <a:solidFill>
                  <a:srgbClr val="545B64"/>
                </a:solidFill>
                <a:latin typeface="Calibri"/>
              </a:rPr>
              <a:t>Each is a prompt file in .kiro/agents/ with a voice exemplar and an explicit do-not-modify list. Disjoint ownership is what keeps five agents editing at once from being a merge-conflict generator.</a:t>
            </a:r>
          </a:p>
        </p:txBody>
      </p:sp>
      <p:sp>
        <p:nvSpPr>
          <p:cNvPr id="59" name="Rounded Rectangle 58"/>
          <p:cNvSpPr/>
          <p:nvPr/>
        </p:nvSpPr>
        <p:spPr>
          <a:xfrm>
            <a:off x="566928" y="5870448"/>
            <a:ext cx="11064240" cy="384048"/>
          </a:xfrm>
          <a:prstGeom prst="roundRect">
            <a:avLst>
              <a:gd name="adj" fmla="val 23809"/>
            </a:avLst>
          </a:prstGeom>
          <a:solidFill>
            <a:srgbClr val="FF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8096" y="5870448"/>
            <a:ext cx="10661904" cy="384048"/>
          </a:xfrm>
          <a:prstGeom prst="rect">
            <a:avLst/>
          </a:prstGeom>
          <a:noFill/>
        </p:spPr>
        <p:txBody>
          <a:bodyPr wrap="square" lIns="0" rIns="0" tIns="0" bIns="0" anchor="ctr">
            <a:spAutoFit/>
          </a:bodyPr>
          <a:lstStyle/>
          <a:p>
            <a:pPr algn="l"/>
            <a:r>
              <a:rPr sz="1100" b="1">
                <a:solidFill>
                  <a:srgbClr val="232F3E"/>
                </a:solidFill>
                <a:latin typeface="Calibri"/>
              </a:rPr>
              <a:t>57 pull requests  ·  49 merged  ·  93 review comments  ·  </a:t>
            </a:r>
            <a:r>
              <a:rPr sz="1100" b="0">
                <a:solidFill>
                  <a:srgbClr val="232F3E"/>
                </a:solidFill>
                <a:latin typeface="Calibri"/>
              </a:rPr>
              <a:t>I wrote none of the application code.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a:solidFill>
                  <a:srgbClr val="FF9900"/>
                </a:solidFill>
                <a:latin typeface="Calibri"/>
              </a:rPr>
              <a:t>15</a:t>
            </a:r>
          </a:p>
        </p:txBody>
      </p:sp>
      <p:sp>
        <p:nvSpPr>
          <p:cNvPr id="5" name="TextBox 4"/>
          <p:cNvSpPr txBox="1"/>
          <p:nvPr/>
        </p:nvSpPr>
        <p:spPr>
          <a:xfrm>
            <a:off x="502920" y="6446520"/>
            <a:ext cx="8229600" cy="320040"/>
          </a:xfrm>
          <a:prstGeom prst="rect">
            <a:avLst/>
          </a:prstGeom>
          <a:noFill/>
        </p:spPr>
        <p:txBody>
          <a:bodyPr wrap="square" lIns="0" rIns="0" t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rIns="0" tIns="0" bIns="0" anchor="ctr">
            <a:spAutoFit/>
          </a:bodyPr>
          <a:lstStyle/>
          <a:p>
            <a:pPr algn="r"/>
            <a:r>
              <a:rPr sz="1000" b="0">
                <a:solidFill>
                  <a:srgbClr val="545B64"/>
                </a:solidFill>
                <a:latin typeface="Calibri"/>
              </a:rPr>
              <a:t>16 / 18</a:t>
            </a:r>
          </a:p>
        </p:txBody>
      </p:sp>
      <p:sp>
        <p:nvSpPr>
          <p:cNvPr id="7" name="TextBox 6"/>
          <p:cNvSpPr txBox="1"/>
          <p:nvPr/>
        </p:nvSpPr>
        <p:spPr>
          <a:xfrm>
            <a:off x="1280160" y="365760"/>
            <a:ext cx="10058400" cy="594360"/>
          </a:xfrm>
          <a:prstGeom prst="rect">
            <a:avLst/>
          </a:prstGeom>
          <a:noFill/>
        </p:spPr>
        <p:txBody>
          <a:bodyPr wrap="square" lIns="0" rIns="0" tIns="0" bIns="0" anchor="ctr">
            <a:spAutoFit/>
          </a:bodyPr>
          <a:lstStyle/>
          <a:p>
            <a:pPr algn="l"/>
            <a:r>
              <a:rPr sz="3000" b="1">
                <a:solidFill>
                  <a:srgbClr val="232F3E"/>
                </a:solidFill>
                <a:latin typeface="Calibri"/>
              </a:rPr>
              <a:t>Every node is a real pull request</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280160"/>
            <a:ext cx="11155680" cy="384048"/>
          </a:xfrm>
          <a:prstGeom prst="rect">
            <a:avLst/>
          </a:prstGeom>
          <a:noFill/>
        </p:spPr>
        <p:txBody>
          <a:bodyPr wrap="square" lIns="0" rIns="0" tIns="0" bIns="0" anchor="t">
            <a:spAutoFit/>
          </a:bodyPr>
          <a:lstStyle/>
          <a:p>
            <a:pPr algn="l"/>
            <a:r>
              <a:rPr sz="1400" b="0">
                <a:solidFill>
                  <a:srgbClr val="545B64"/>
                </a:solidFill>
                <a:latin typeface="Calibri"/>
              </a:rPr>
              <a:t>Fifty-seven of them, in the order they were opened, connected to where they merged.</a:t>
            </a:r>
          </a:p>
        </p:txBody>
      </p:sp>
      <p:sp>
        <p:nvSpPr>
          <p:cNvPr id="10" name="Rounded Rectangle 9"/>
          <p:cNvSpPr/>
          <p:nvPr/>
        </p:nvSpPr>
        <p:spPr>
          <a:xfrm>
            <a:off x="566928"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57</a:t>
            </a:r>
          </a:p>
        </p:txBody>
      </p:sp>
      <p:sp>
        <p:nvSpPr>
          <p:cNvPr id="12" name="TextBox 11"/>
          <p:cNvSpPr txBox="1"/>
          <p:nvPr/>
        </p:nvSpPr>
        <p:spPr>
          <a:xfrm>
            <a:off x="1627631"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pull requests</a:t>
            </a:r>
          </a:p>
        </p:txBody>
      </p:sp>
      <p:sp>
        <p:nvSpPr>
          <p:cNvPr id="13" name="TextBox 12"/>
          <p:cNvSpPr txBox="1"/>
          <p:nvPr/>
        </p:nvSpPr>
        <p:spPr>
          <a:xfrm>
            <a:off x="731520"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49 merged · 7 closed · 1 open</a:t>
            </a:r>
          </a:p>
        </p:txBody>
      </p:sp>
      <p:sp>
        <p:nvSpPr>
          <p:cNvPr id="14" name="Rounded Rectangle 13"/>
          <p:cNvSpPr/>
          <p:nvPr/>
        </p:nvSpPr>
        <p:spPr>
          <a:xfrm>
            <a:off x="3369564"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4156"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176</a:t>
            </a:r>
          </a:p>
        </p:txBody>
      </p:sp>
      <p:sp>
        <p:nvSpPr>
          <p:cNvPr id="16" name="TextBox 15"/>
          <p:cNvSpPr txBox="1"/>
          <p:nvPr/>
        </p:nvSpPr>
        <p:spPr>
          <a:xfrm>
            <a:off x="4430268"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commits</a:t>
            </a:r>
          </a:p>
        </p:txBody>
      </p:sp>
      <p:sp>
        <p:nvSpPr>
          <p:cNvPr id="17" name="TextBox 16"/>
          <p:cNvSpPr txBox="1"/>
          <p:nvPr/>
        </p:nvSpPr>
        <p:spPr>
          <a:xfrm>
            <a:off x="3534156"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+34,549 lines, 436 files</a:t>
            </a:r>
          </a:p>
        </p:txBody>
      </p:sp>
      <p:sp>
        <p:nvSpPr>
          <p:cNvPr id="18" name="Rounded Rectangle 17"/>
          <p:cNvSpPr/>
          <p:nvPr/>
        </p:nvSpPr>
        <p:spPr>
          <a:xfrm>
            <a:off x="6172200"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792"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93</a:t>
            </a:r>
          </a:p>
        </p:txBody>
      </p:sp>
      <p:sp>
        <p:nvSpPr>
          <p:cNvPr id="20" name="TextBox 19"/>
          <p:cNvSpPr txBox="1"/>
          <p:nvPr/>
        </p:nvSpPr>
        <p:spPr>
          <a:xfrm>
            <a:off x="7232904"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review comments</a:t>
            </a:r>
          </a:p>
        </p:txBody>
      </p:sp>
      <p:sp>
        <p:nvSpPr>
          <p:cNvPr id="21" name="TextBox 20"/>
          <p:cNvSpPr txBox="1"/>
          <p:nvPr/>
        </p:nvSpPr>
        <p:spPr>
          <a:xfrm>
            <a:off x="6336792"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longest threads run dozens deep</a:t>
            </a:r>
          </a:p>
        </p:txBody>
      </p:sp>
      <p:sp>
        <p:nvSpPr>
          <p:cNvPr id="22" name="Rounded Rectangle 21"/>
          <p:cNvSpPr/>
          <p:nvPr/>
        </p:nvSpPr>
        <p:spPr>
          <a:xfrm>
            <a:off x="8974836" y="4956048"/>
            <a:ext cx="2656332" cy="786384"/>
          </a:xfrm>
          <a:prstGeom prst="roundRect">
            <a:avLst>
              <a:gd name="adj" fmla="val 6976"/>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9428" y="5010912"/>
            <a:ext cx="914400" cy="365760"/>
          </a:xfrm>
          <a:prstGeom prst="rect">
            <a:avLst/>
          </a:prstGeom>
          <a:noFill/>
        </p:spPr>
        <p:txBody>
          <a:bodyPr wrap="square" lIns="0" rIns="0" tIns="0" bIns="0" anchor="ctr">
            <a:spAutoFit/>
          </a:bodyPr>
          <a:lstStyle/>
          <a:p>
            <a:pPr algn="l"/>
            <a:r>
              <a:rPr sz="2000" b="1">
                <a:solidFill>
                  <a:srgbClr val="232F3E"/>
                </a:solidFill>
                <a:latin typeface="Calibri"/>
              </a:rPr>
              <a:t>32</a:t>
            </a:r>
          </a:p>
        </p:txBody>
      </p:sp>
      <p:sp>
        <p:nvSpPr>
          <p:cNvPr id="24" name="TextBox 23"/>
          <p:cNvSpPr txBox="1"/>
          <p:nvPr/>
        </p:nvSpPr>
        <p:spPr>
          <a:xfrm>
            <a:off x="10035540" y="5010912"/>
            <a:ext cx="1431035" cy="365760"/>
          </a:xfrm>
          <a:prstGeom prst="rect">
            <a:avLst/>
          </a:prstGeom>
          <a:noFill/>
        </p:spPr>
        <p:txBody>
          <a:bodyPr wrap="square" lIns="0" rIns="0" tIns="0" bIns="0" anchor="ctr">
            <a:spAutoFit/>
          </a:bodyPr>
          <a:lstStyle/>
          <a:p>
            <a:pPr algn="l"/>
            <a:r>
              <a:rPr sz="1200" b="1">
                <a:solidFill>
                  <a:srgbClr val="232F3E"/>
                </a:solidFill>
                <a:latin typeface="Calibri"/>
              </a:rPr>
              <a:t>workflow PRs</a:t>
            </a:r>
          </a:p>
        </p:txBody>
      </p:sp>
      <p:sp>
        <p:nvSpPr>
          <p:cNvPr id="25" name="TextBox 24"/>
          <p:cNvSpPr txBox="1"/>
          <p:nvPr/>
        </p:nvSpPr>
        <p:spPr>
          <a:xfrm>
            <a:off x="9139428" y="5394960"/>
            <a:ext cx="2327148" cy="292608"/>
          </a:xfrm>
          <a:prstGeom prst="rect">
            <a:avLst/>
          </a:prstGeom>
          <a:noFill/>
        </p:spPr>
        <p:txBody>
          <a:bodyPr wrap="square" lIns="0" rIns="0" tIns="0" bIns="0" anchor="ctr">
            <a:spAutoFit/>
          </a:bodyPr>
          <a:lstStyle/>
          <a:p>
            <a:pPr algn="l"/>
            <a:r>
              <a:rPr sz="1000" b="0">
                <a:solidFill>
                  <a:srgbClr val="545B64"/>
                </a:solidFill>
                <a:latin typeface="Calibri"/>
              </a:rPr>
              <a:t>the methodology is the biggest lane</a:t>
            </a:r>
          </a:p>
        </p:txBody>
      </p:sp>
      <p:sp>
        <p:nvSpPr>
          <p:cNvPr id="26" name="TextBox 25"/>
          <p:cNvSpPr txBox="1"/>
          <p:nvPr/>
        </p:nvSpPr>
        <p:spPr>
          <a:xfrm>
            <a:off x="566928" y="5888736"/>
            <a:ext cx="11064240" cy="475488"/>
          </a:xfrm>
          <a:prstGeom prst="rect">
            <a:avLst/>
          </a:prstGeom>
          <a:noFill/>
        </p:spPr>
        <p:txBody>
          <a:bodyPr wrap="square" lIns="0" rIns="0" tIns="0" bIns="0" anchor="t">
            <a:spAutoFit/>
          </a:bodyPr>
          <a:lstStyle/>
          <a:p>
            <a:pPr algn="l"/>
            <a:r>
              <a:rPr sz="1050" b="0">
                <a:solidFill>
                  <a:srgbClr val="545B64"/>
                </a:solidFill>
                <a:latin typeface="Calibri"/>
              </a:rPr>
              <a:t>Generated from the repo’s PR history by a script, so it cannot drift. Node size is files changed; a ring means a genuine multi-agent review thread; the axis is PR order, not a calendar. At the peak, five PRs were open at once.</a:t>
            </a:r>
          </a:p>
        </p:txBody>
      </p:sp>
      <p:sp>
        <p:nvSpPr>
          <p:cNvPr id="27" name="TextBox 26"/>
          <p:cNvSpPr txBox="1"/>
          <p:nvPr/>
        </p:nvSpPr>
        <p:spPr>
          <a:xfrm>
            <a:off x="566928" y="1792224"/>
            <a:ext cx="11064240" cy="256032"/>
          </a:xfrm>
          <a:prstGeom prst="rect">
            <a:avLst/>
          </a:prstGeom>
          <a:noFill/>
        </p:spPr>
        <p:txBody>
          <a:bodyPr wrap="square" lIns="0" rIns="0" tIns="0" bIns="0" anchor="ctr">
            <a:spAutoFit/>
          </a:bodyPr>
          <a:lstStyle/>
          <a:p>
            <a:pPr algn="l"/>
            <a:r>
              <a:rPr sz="1050" b="0">
                <a:solidFill>
                  <a:srgbClr val="545B64"/>
                </a:solidFill>
                <a:latin typeface="Calibri"/>
              </a:rPr>
              <a:t>node size = files changed   ·   ring = a genuine multi-agent review thread   ·   dashed = reviewed, then closed without merging   ·   left to right = the order the PRs were opened</a:t>
            </a:r>
          </a:p>
        </p:txBody>
      </p:sp>
      <p:sp>
        <p:nvSpPr>
          <p:cNvPr id="28" name="TextBox 27"/>
          <p:cNvSpPr txBox="1"/>
          <p:nvPr/>
        </p:nvSpPr>
        <p:spPr>
          <a:xfrm>
            <a:off x="566928" y="2447773"/>
            <a:ext cx="1207008" cy="237744"/>
          </a:xfrm>
          <a:prstGeom prst="rect">
            <a:avLst/>
          </a:prstGeom>
          <a:noFill/>
        </p:spPr>
        <p:txBody>
          <a:bodyPr wrap="square" lIns="0" rIns="0" tIns="0" bIns="0" anchor="ctr">
            <a:spAutoFit/>
          </a:bodyPr>
          <a:lstStyle/>
          <a:p>
            <a:pPr algn="r"/>
            <a:r>
              <a:rPr sz="1000" b="1">
                <a:solidFill>
                  <a:srgbClr val="232F3E"/>
                </a:solidFill>
                <a:latin typeface="Calibri"/>
              </a:rPr>
              <a:t>Master Agent</a:t>
            </a:r>
          </a:p>
        </p:txBody>
      </p:sp>
      <p:sp>
        <p:nvSpPr>
          <p:cNvPr id="29" name="TextBox 28"/>
          <p:cNvSpPr txBox="1"/>
          <p:nvPr/>
        </p:nvSpPr>
        <p:spPr>
          <a:xfrm>
            <a:off x="566928" y="2733176"/>
            <a:ext cx="1207008" cy="237744"/>
          </a:xfrm>
          <a:prstGeom prst="rect">
            <a:avLst/>
          </a:prstGeom>
          <a:noFill/>
        </p:spPr>
        <p:txBody>
          <a:bodyPr wrap="square" lIns="0" rIns="0" tIns="0" bIns="0" anchor="ctr">
            <a:spAutoFit/>
          </a:bodyPr>
          <a:lstStyle/>
          <a:p>
            <a:pPr algn="r"/>
            <a:r>
              <a:rPr sz="1000" b="1">
                <a:solidFill>
                  <a:srgbClr val="232F3E"/>
                </a:solidFill>
                <a:latin typeface="Calibri"/>
              </a:rPr>
              <a:t>System Architect</a:t>
            </a:r>
          </a:p>
        </p:txBody>
      </p:sp>
      <p:sp>
        <p:nvSpPr>
          <p:cNvPr id="30" name="TextBox 29"/>
          <p:cNvSpPr txBox="1"/>
          <p:nvPr/>
        </p:nvSpPr>
        <p:spPr>
          <a:xfrm>
            <a:off x="566928" y="3018578"/>
            <a:ext cx="1207008" cy="237744"/>
          </a:xfrm>
          <a:prstGeom prst="rect">
            <a:avLst/>
          </a:prstGeom>
          <a:noFill/>
        </p:spPr>
        <p:txBody>
          <a:bodyPr wrap="square" lIns="0" rIns="0" tIns="0" bIns="0" anchor="ctr">
            <a:spAutoFit/>
          </a:bodyPr>
          <a:lstStyle/>
          <a:p>
            <a:pPr algn="r"/>
            <a:r>
              <a:rPr sz="1000" b="1">
                <a:solidFill>
                  <a:srgbClr val="232F3E"/>
                </a:solidFill>
                <a:latin typeface="Calibri"/>
              </a:rPr>
              <a:t>Frontend Dev</a:t>
            </a:r>
          </a:p>
        </p:txBody>
      </p:sp>
      <p:sp>
        <p:nvSpPr>
          <p:cNvPr id="31" name="TextBox 30"/>
          <p:cNvSpPr txBox="1"/>
          <p:nvPr/>
        </p:nvSpPr>
        <p:spPr>
          <a:xfrm>
            <a:off x="566928" y="3303981"/>
            <a:ext cx="1207008" cy="237744"/>
          </a:xfrm>
          <a:prstGeom prst="rect">
            <a:avLst/>
          </a:prstGeom>
          <a:noFill/>
        </p:spPr>
        <p:txBody>
          <a:bodyPr wrap="square" lIns="0" rIns="0" tIns="0" bIns="0" anchor="ctr">
            <a:spAutoFit/>
          </a:bodyPr>
          <a:lstStyle/>
          <a:p>
            <a:pPr algn="r"/>
            <a:r>
              <a:rPr sz="1000" b="1">
                <a:solidFill>
                  <a:srgbClr val="232F3E"/>
                </a:solidFill>
                <a:latin typeface="Calibri"/>
              </a:rPr>
              <a:t>Backend Dev</a:t>
            </a:r>
          </a:p>
        </p:txBody>
      </p:sp>
      <p:sp>
        <p:nvSpPr>
          <p:cNvPr id="32" name="TextBox 31"/>
          <p:cNvSpPr txBox="1"/>
          <p:nvPr/>
        </p:nvSpPr>
        <p:spPr>
          <a:xfrm>
            <a:off x="566928" y="3589383"/>
            <a:ext cx="1207008" cy="237744"/>
          </a:xfrm>
          <a:prstGeom prst="rect">
            <a:avLst/>
          </a:prstGeom>
          <a:noFill/>
        </p:spPr>
        <p:txBody>
          <a:bodyPr wrap="square" lIns="0" rIns="0" tIns="0" bIns="0" anchor="ctr">
            <a:spAutoFit/>
          </a:bodyPr>
          <a:lstStyle/>
          <a:p>
            <a:pPr algn="r"/>
            <a:r>
              <a:rPr sz="1000" b="1">
                <a:solidFill>
                  <a:srgbClr val="232F3E"/>
                </a:solidFill>
                <a:latin typeface="Calibri"/>
              </a:rPr>
              <a:t>UI Designer</a:t>
            </a:r>
          </a:p>
        </p:txBody>
      </p:sp>
      <p:sp>
        <p:nvSpPr>
          <p:cNvPr id="33" name="TextBox 32"/>
          <p:cNvSpPr txBox="1"/>
          <p:nvPr/>
        </p:nvSpPr>
        <p:spPr>
          <a:xfrm>
            <a:off x="566928" y="3874786"/>
            <a:ext cx="1207008" cy="237744"/>
          </a:xfrm>
          <a:prstGeom prst="rect">
            <a:avLst/>
          </a:prstGeom>
          <a:noFill/>
        </p:spPr>
        <p:txBody>
          <a:bodyPr wrap="square" lIns="0" rIns="0" tIns="0" bIns="0" anchor="ctr">
            <a:spAutoFit/>
          </a:bodyPr>
          <a:lstStyle/>
          <a:p>
            <a:pPr algn="r"/>
            <a:r>
              <a:rPr sz="1000" b="1">
                <a:solidFill>
                  <a:srgbClr val="232F3E"/>
                </a:solidFill>
                <a:latin typeface="Calibri"/>
              </a:rPr>
              <a:t>QA Agent</a:t>
            </a:r>
          </a:p>
        </p:txBody>
      </p:sp>
      <p:sp>
        <p:nvSpPr>
          <p:cNvPr id="34" name="TextBox 33"/>
          <p:cNvSpPr txBox="1"/>
          <p:nvPr/>
        </p:nvSpPr>
        <p:spPr>
          <a:xfrm>
            <a:off x="566928" y="4160189"/>
            <a:ext cx="1207008" cy="237744"/>
          </a:xfrm>
          <a:prstGeom prst="rect">
            <a:avLst/>
          </a:prstGeom>
          <a:noFill/>
        </p:spPr>
        <p:txBody>
          <a:bodyPr wrap="square" lIns="0" rIns="0" tIns="0" bIns="0" anchor="ctr">
            <a:spAutoFit/>
          </a:bodyPr>
          <a:lstStyle/>
          <a:p>
            <a:pPr algn="r"/>
            <a:r>
              <a:rPr sz="1000" b="1">
                <a:solidFill>
                  <a:srgbClr val="232F3E"/>
                </a:solidFill>
                <a:latin typeface="Calibri"/>
              </a:rPr>
              <a:t>Infra / Workflow</a:t>
            </a:r>
          </a:p>
        </p:txBody>
      </p:sp>
      <p:pic>
        <p:nvPicPr>
          <p:cNvPr id="3" name="Picture 2" descr="How I built it: the work. Every node is a real pull request, in the order it was opened, joined to where it merged."/>
          <p:cNvPicPr>
            <a:picLocks noChangeAspect="1"/>
          </p:cNvPicPr>
          <p:nvPr/>
        </p:nvPicPr>
        <p:blipFill>
          <a:blip r:embed="rId3"/>
          <a:srcRect l="18833" t="31361" r="12083" b="40385"/>
          <a:stretch>
            <a:fillRect/>
          </a:stretch>
        </p:blipFill>
        <p:spPr>
          <a:xfrm>
            <a:off x="1874519" y="2148840"/>
            <a:ext cx="9756648" cy="224791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969"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65760"/>
            <a:ext cx="594360" cy="594360"/>
          </a:xfrm>
          <a:prstGeom prst="rect">
            <a:avLst/>
          </a:prstGeom>
          <a:noFill/>
        </p:spPr>
        <p:txBody>
          <a:bodyPr wrap="square" lIns="0" tIns="0" rIns="0" bIns="0" anchor="ctr">
            <a:spAutoFit/>
          </a:bodyPr>
          <a:lstStyle/>
          <a:p>
            <a:pPr algn="ctr"/>
            <a:r>
              <a:rPr sz="2600" b="1">
                <a:solidFill>
                  <a:srgbClr val="FF9900"/>
                </a:solidFill>
                <a:latin typeface="Calibri"/>
              </a:rPr>
              <a:t>16</a:t>
            </a:r>
          </a:p>
        </p:txBody>
      </p:sp>
      <p:sp>
        <p:nvSpPr>
          <p:cNvPr id="5" name="TextBox 4"/>
          <p:cNvSpPr txBox="1"/>
          <p:nvPr/>
        </p:nvSpPr>
        <p:spPr>
          <a:xfrm>
            <a:off x="502920" y="6446520"/>
            <a:ext cx="8229600" cy="320040"/>
          </a:xfrm>
          <a:prstGeom prst="rect">
            <a:avLst/>
          </a:prstGeom>
          <a:noFill/>
        </p:spPr>
        <p:txBody>
          <a:bodyPr wrap="square" lIns="0" tIns="0" rIns="0" bIns="0" anchor="ctr">
            <a:spAutoFit/>
          </a:bodyPr>
          <a:lstStyle/>
          <a:p>
            <a:pPr algn="l"/>
            <a:r>
              <a:rPr sz="1000" b="1">
                <a:solidFill>
                  <a:srgbClr val="545B64"/>
                </a:solidFill>
                <a:latin typeface="Calibri"/>
              </a:rPr>
              <a:t>VALENTIN   ·   GenAI TFC Capstone Deep-Dive</a:t>
            </a:r>
          </a:p>
        </p:txBody>
      </p:sp>
      <p:sp>
        <p:nvSpPr>
          <p:cNvPr id="6" name="TextBox 5"/>
          <p:cNvSpPr txBox="1"/>
          <p:nvPr/>
        </p:nvSpPr>
        <p:spPr>
          <a:xfrm>
            <a:off x="10332720" y="6446520"/>
            <a:ext cx="1371600" cy="320040"/>
          </a:xfrm>
          <a:prstGeom prst="rect">
            <a:avLst/>
          </a:prstGeom>
          <a:noFill/>
        </p:spPr>
        <p:txBody>
          <a:bodyPr wrap="square" lIns="0" tIns="0" rIns="0" bIns="0" anchor="ctr">
            <a:spAutoFit/>
          </a:bodyPr>
          <a:lstStyle/>
          <a:p>
            <a:pPr algn="r"/>
            <a:r>
              <a:rPr sz="1000" b="0">
                <a:solidFill>
                  <a:srgbClr val="545B64"/>
                </a:solidFill>
                <a:latin typeface="Calibri"/>
              </a:rPr>
              <a:t>17 / 18</a:t>
            </a:r>
          </a:p>
        </p:txBody>
      </p:sp>
      <p:sp>
        <p:nvSpPr>
          <p:cNvPr id="7" name="TextBox 6"/>
          <p:cNvSpPr txBox="1"/>
          <p:nvPr/>
        </p:nvSpPr>
        <p:spPr>
          <a:xfrm>
            <a:off x="1280160" y="365760"/>
            <a:ext cx="10058400" cy="594360"/>
          </a:xfrm>
          <a:prstGeom prst="rect">
            <a:avLst/>
          </a:prstGeom>
          <a:noFill/>
        </p:spPr>
        <p:txBody>
          <a:bodyPr wrap="square" lIns="0" tIns="0" rIns="0" bIns="0" anchor="ctr">
            <a:spAutoFit/>
          </a:bodyPr>
          <a:lstStyle/>
          <a:p>
            <a:pPr algn="l"/>
            <a:r>
              <a:rPr sz="3000" b="1">
                <a:solidFill>
                  <a:srgbClr val="232F3E"/>
                </a:solidFill>
                <a:latin typeface="Calibri"/>
              </a:rPr>
              <a:t>What I learned</a:t>
            </a:r>
          </a:p>
        </p:txBody>
      </p:sp>
      <p:sp>
        <p:nvSpPr>
          <p:cNvPr id="8" name="Rectangle 7"/>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280160"/>
            <a:ext cx="11155680" cy="384048"/>
          </a:xfrm>
          <a:prstGeom prst="rect">
            <a:avLst/>
          </a:prstGeom>
          <a:noFill/>
        </p:spPr>
        <p:txBody>
          <a:bodyPr wrap="square" lIns="0" tIns="0" rIns="0" bIns="0" anchor="t">
            <a:spAutoFit/>
          </a:bodyPr>
          <a:lstStyle/>
          <a:p>
            <a:pPr algn="l"/>
            <a:r>
              <a:rPr sz="1400" b="0">
                <a:solidFill>
                  <a:srgbClr val="545B64"/>
                </a:solidFill>
                <a:latin typeface="Calibri"/>
              </a:rPr>
              <a:t>Five things I would tell the next person building one of these — three about the agent, two about building it.</a:t>
            </a:r>
          </a:p>
        </p:txBody>
      </p:sp>
      <p:sp>
        <p:nvSpPr>
          <p:cNvPr id="10" name="Rounded Rectangle 9"/>
          <p:cNvSpPr/>
          <p:nvPr/>
        </p:nvSpPr>
        <p:spPr>
          <a:xfrm>
            <a:off x="566928" y="1700784"/>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6928" y="1700784"/>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1700784"/>
            <a:ext cx="420624" cy="804672"/>
          </a:xfrm>
          <a:prstGeom prst="rect">
            <a:avLst/>
          </a:prstGeom>
          <a:noFill/>
        </p:spPr>
        <p:txBody>
          <a:bodyPr wrap="square" lIns="0" tIns="0" rIns="0" bIns="0" anchor="ctr">
            <a:spAutoFit/>
          </a:bodyPr>
          <a:lstStyle/>
          <a:p>
            <a:pPr algn="ctr"/>
            <a:r>
              <a:rPr sz="2000" b="1">
                <a:solidFill>
                  <a:srgbClr val="FF9900"/>
                </a:solidFill>
                <a:latin typeface="Calibri"/>
              </a:rPr>
              <a:t>1</a:t>
            </a:r>
          </a:p>
        </p:txBody>
      </p:sp>
      <p:sp>
        <p:nvSpPr>
          <p:cNvPr id="13" name="TextBox 12"/>
          <p:cNvSpPr txBox="1"/>
          <p:nvPr/>
        </p:nvSpPr>
        <p:spPr>
          <a:xfrm>
            <a:off x="1207008" y="1764792"/>
            <a:ext cx="10277856" cy="676656"/>
          </a:xfrm>
          <a:prstGeom prst="rect">
            <a:avLst/>
          </a:prstGeom>
          <a:noFill/>
        </p:spPr>
        <p:txBody>
          <a:bodyPr wrap="square" lIns="0" tIns="0" rIns="0" bIns="0" anchor="ctr">
            <a:spAutoFit/>
          </a:bodyPr>
          <a:lstStyle/>
          <a:p>
            <a:pPr algn="l"/>
            <a:r>
              <a:rPr sz="1250" b="1">
                <a:solidFill>
                  <a:srgbClr val="232F3E"/>
                </a:solidFill>
                <a:latin typeface="Calibri"/>
              </a:rPr>
              <a:t>An agent is a loop, not a chatbot.  </a:t>
            </a:r>
            <a:r>
              <a:rPr sz="1250" b="0">
                <a:solidFill>
                  <a:srgbClr val="16191F"/>
                </a:solidFill>
                <a:latin typeface="Calibri"/>
              </a:rPr>
              <a:t>The agentic part of Valentin isn’t Claude — it’s trigger → tools → propose → extract → re-schedule, and every pass rewrites the timeline that feeds the next one. EventBridge closes the loop, not the model.</a:t>
            </a:r>
          </a:p>
        </p:txBody>
      </p:sp>
      <p:sp>
        <p:nvSpPr>
          <p:cNvPr id="14" name="Rounded Rectangle 13"/>
          <p:cNvSpPr/>
          <p:nvPr/>
        </p:nvSpPr>
        <p:spPr>
          <a:xfrm>
            <a:off x="566928" y="2560320"/>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66928" y="2560320"/>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2560320"/>
            <a:ext cx="420624" cy="804672"/>
          </a:xfrm>
          <a:prstGeom prst="rect">
            <a:avLst/>
          </a:prstGeom>
          <a:noFill/>
        </p:spPr>
        <p:txBody>
          <a:bodyPr wrap="square" lIns="0" tIns="0" rIns="0" bIns="0" anchor="ctr">
            <a:spAutoFit/>
          </a:bodyPr>
          <a:lstStyle/>
          <a:p>
            <a:pPr algn="ctr"/>
            <a:r>
              <a:rPr sz="2000" b="1">
                <a:solidFill>
                  <a:srgbClr val="FF9900"/>
                </a:solidFill>
                <a:latin typeface="Calibri"/>
              </a:rPr>
              <a:t>2</a:t>
            </a:r>
          </a:p>
        </p:txBody>
      </p:sp>
      <p:sp>
        <p:nvSpPr>
          <p:cNvPr id="17" name="TextBox 16"/>
          <p:cNvSpPr txBox="1"/>
          <p:nvPr/>
        </p:nvSpPr>
        <p:spPr>
          <a:xfrm>
            <a:off x="1207008" y="2624327"/>
            <a:ext cx="10277856" cy="676656"/>
          </a:xfrm>
          <a:prstGeom prst="rect">
            <a:avLst/>
          </a:prstGeom>
          <a:noFill/>
        </p:spPr>
        <p:txBody>
          <a:bodyPr wrap="square" lIns="0" tIns="0" rIns="0" bIns="0" anchor="ctr">
            <a:spAutoFit/>
          </a:bodyPr>
          <a:lstStyle/>
          <a:p>
            <a:pPr algn="l"/>
            <a:r>
              <a:rPr sz="1250" b="1">
                <a:solidFill>
                  <a:srgbClr val="232F3E"/>
                </a:solidFill>
                <a:latin typeface="Calibri"/>
              </a:rPr>
              <a:t>When you and the agent are both stuck, the next prompt is not the answer.  </a:t>
            </a:r>
            <a:r>
              <a:rPr sz="1250" b="0">
                <a:solidFill>
                  <a:srgbClr val="16191F"/>
                </a:solidFill>
                <a:latin typeface="Calibri"/>
              </a:rPr>
              <a:t>Stop and spend five minutes with pen and paper. Every long débâcle in this project ended the moment I stopped prompting and drew the thing.</a:t>
            </a:r>
          </a:p>
        </p:txBody>
      </p:sp>
      <p:sp>
        <p:nvSpPr>
          <p:cNvPr id="18" name="Rounded Rectangle 17"/>
          <p:cNvSpPr/>
          <p:nvPr/>
        </p:nvSpPr>
        <p:spPr>
          <a:xfrm>
            <a:off x="566928" y="3419856"/>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66928" y="3419856"/>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3419856"/>
            <a:ext cx="420624" cy="804672"/>
          </a:xfrm>
          <a:prstGeom prst="rect">
            <a:avLst/>
          </a:prstGeom>
          <a:noFill/>
        </p:spPr>
        <p:txBody>
          <a:bodyPr wrap="square" lIns="0" tIns="0" rIns="0" bIns="0" anchor="ctr">
            <a:spAutoFit/>
          </a:bodyPr>
          <a:lstStyle/>
          <a:p>
            <a:pPr algn="ctr"/>
            <a:r>
              <a:rPr sz="2000" b="1">
                <a:solidFill>
                  <a:srgbClr val="FF9900"/>
                </a:solidFill>
                <a:latin typeface="Calibri"/>
              </a:rPr>
              <a:t>3</a:t>
            </a:r>
          </a:p>
        </p:txBody>
      </p:sp>
      <p:sp>
        <p:nvSpPr>
          <p:cNvPr id="21" name="TextBox 20"/>
          <p:cNvSpPr txBox="1"/>
          <p:nvPr/>
        </p:nvSpPr>
        <p:spPr>
          <a:xfrm>
            <a:off x="1207008" y="3483864"/>
            <a:ext cx="10277856" cy="676656"/>
          </a:xfrm>
          <a:prstGeom prst="rect">
            <a:avLst/>
          </a:prstGeom>
          <a:noFill/>
        </p:spPr>
        <p:txBody>
          <a:bodyPr wrap="square" lIns="0" tIns="0" rIns="0" bIns="0" anchor="ctr">
            <a:spAutoFit/>
          </a:bodyPr>
          <a:lstStyle/>
          <a:p>
            <a:pPr algn="l"/>
            <a:r>
              <a:rPr sz="1250" b="1">
                <a:solidFill>
                  <a:srgbClr val="232F3E"/>
                </a:solidFill>
                <a:latin typeface="Calibri"/>
              </a:rPr>
              <a:t>Most of the tokens went to the workflow, not the code.  </a:t>
            </a:r>
            <a:r>
              <a:rPr sz="1250" b="0">
                <a:solidFill>
                  <a:srgbClr val="16191F"/>
                </a:solidFill>
                <a:latin typeface="Calibri"/>
              </a:rPr>
              <a:t>31 of 56 PRs built the factory — specs, review loops, merge gates, regression tests for the automation itself. That is what made the other 25 safe to merge.</a:t>
            </a:r>
          </a:p>
        </p:txBody>
      </p:sp>
      <p:sp>
        <p:nvSpPr>
          <p:cNvPr id="22" name="Rounded Rectangle 21"/>
          <p:cNvSpPr/>
          <p:nvPr/>
        </p:nvSpPr>
        <p:spPr>
          <a:xfrm>
            <a:off x="566928" y="4279392"/>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66928" y="4279392"/>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3232" y="4279392"/>
            <a:ext cx="420624" cy="804672"/>
          </a:xfrm>
          <a:prstGeom prst="rect">
            <a:avLst/>
          </a:prstGeom>
          <a:noFill/>
        </p:spPr>
        <p:txBody>
          <a:bodyPr wrap="square" lIns="0" tIns="0" rIns="0" bIns="0" anchor="ctr">
            <a:spAutoFit/>
          </a:bodyPr>
          <a:lstStyle/>
          <a:p>
            <a:pPr algn="ctr"/>
            <a:r>
              <a:rPr sz="2000" b="1">
                <a:solidFill>
                  <a:srgbClr val="FF9900"/>
                </a:solidFill>
                <a:latin typeface="Calibri"/>
              </a:rPr>
              <a:t>4</a:t>
            </a:r>
          </a:p>
        </p:txBody>
      </p:sp>
      <p:sp>
        <p:nvSpPr>
          <p:cNvPr id="25" name="TextBox 24"/>
          <p:cNvSpPr txBox="1"/>
          <p:nvPr/>
        </p:nvSpPr>
        <p:spPr>
          <a:xfrm>
            <a:off x="1207008" y="4343400"/>
            <a:ext cx="10277856" cy="676656"/>
          </a:xfrm>
          <a:prstGeom prst="rect">
            <a:avLst/>
          </a:prstGeom>
          <a:noFill/>
        </p:spPr>
        <p:txBody>
          <a:bodyPr wrap="square" lIns="0" tIns="0" rIns="0" bIns="0" anchor="ctr">
            <a:spAutoFit/>
          </a:bodyPr>
          <a:lstStyle/>
          <a:p>
            <a:pPr algn="l"/>
            <a:r>
              <a:rPr sz="1250" b="1">
                <a:solidFill>
                  <a:srgbClr val="232F3E"/>
                </a:solidFill>
                <a:latin typeface="Calibri"/>
              </a:rPr>
              <a:t>The strongest case for AgentCore isn’t the bill, it’s the blast radius.  </a:t>
            </a:r>
            <a:r>
              <a:rPr sz="1250" b="0">
                <a:solidFill>
                  <a:srgbClr val="16191F"/>
                </a:solidFill>
                <a:latin typeface="Calibri"/>
              </a:rPr>
              <a:t>In-process, one crashed tool takes down all 40 sessions and one shared IAM role means a prompt injection can touch everything. Behind Gateway each tool is its own Lambda with its own role — a failure or a hijack is contained to 1-of-40.</a:t>
            </a:r>
          </a:p>
        </p:txBody>
      </p:sp>
      <p:sp>
        <p:nvSpPr>
          <p:cNvPr id="26" name="Rounded Rectangle 25"/>
          <p:cNvSpPr/>
          <p:nvPr/>
        </p:nvSpPr>
        <p:spPr>
          <a:xfrm>
            <a:off x="566928" y="5138928"/>
            <a:ext cx="11064240" cy="804672"/>
          </a:xfrm>
          <a:prstGeom prst="roundRect">
            <a:avLst>
              <a:gd name="adj" fmla="val 6818"/>
            </a:avLst>
          </a:prstGeom>
          <a:solidFill>
            <a:srgbClr val="F7F8FA"/>
          </a:solidFill>
          <a:ln w="12700">
            <a:solidFill>
              <a:srgbClr val="E4E7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66928" y="5138928"/>
            <a:ext cx="64008" cy="804672"/>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3232" y="5138928"/>
            <a:ext cx="420624" cy="804672"/>
          </a:xfrm>
          <a:prstGeom prst="rect">
            <a:avLst/>
          </a:prstGeom>
          <a:noFill/>
        </p:spPr>
        <p:txBody>
          <a:bodyPr wrap="square" lIns="0" tIns="0" rIns="0" bIns="0" anchor="ctr">
            <a:spAutoFit/>
          </a:bodyPr>
          <a:lstStyle/>
          <a:p>
            <a:pPr algn="ctr"/>
            <a:r>
              <a:rPr sz="2000" b="1">
                <a:solidFill>
                  <a:srgbClr val="FF9900"/>
                </a:solidFill>
                <a:latin typeface="Calibri"/>
              </a:rPr>
              <a:t>5</a:t>
            </a:r>
          </a:p>
        </p:txBody>
      </p:sp>
      <p:sp>
        <p:nvSpPr>
          <p:cNvPr id="29" name="TextBox 28"/>
          <p:cNvSpPr txBox="1"/>
          <p:nvPr/>
        </p:nvSpPr>
        <p:spPr>
          <a:xfrm>
            <a:off x="1207008" y="5202936"/>
            <a:ext cx="10277856" cy="676656"/>
          </a:xfrm>
          <a:prstGeom prst="rect">
            <a:avLst/>
          </a:prstGeom>
          <a:noFill/>
        </p:spPr>
        <p:txBody>
          <a:bodyPr wrap="square" lIns="0" tIns="0" rIns="0" bIns="0" anchor="ctr">
            <a:spAutoFit/>
          </a:bodyPr>
          <a:lstStyle/>
          <a:p>
            <a:pPr algn="l"/>
            <a:r>
              <a:rPr sz="1250" b="1">
                <a:solidFill>
                  <a:srgbClr val="232F3E"/>
                </a:solidFill>
                <a:latin typeface="Calibri"/>
              </a:rPr>
              <a:t>It’s easy to gate “the service is up,” hard to gate “the LLM works.”  </a:t>
            </a:r>
            <a:r>
              <a:rPr sz="1250" b="0">
                <a:solidFill>
                  <a:srgbClr val="16191F"/>
                </a:solidFill>
                <a:latin typeface="Calibri"/>
              </a:rPr>
              <a:t>A missing Bedrock permission returned a polite fallback with HTTP 200; a # in the actorId made Memory silently store nothing while chat kept chatting. The only gate that caught either was a live conversation asserting on what the agent remembered.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1E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126480"/>
            <a:ext cx="12191695" cy="7315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11247120" cy="1463040"/>
          </a:xfrm>
          <a:prstGeom prst="rect">
            <a:avLst/>
          </a:prstGeom>
          <a:noFill/>
        </p:spPr>
        <p:txBody>
          <a:bodyPr wrap="square" lIns="0" tIns="0" rIns="0" bIns="0" anchor="t">
            <a:spAutoFit/>
          </a:bodyPr>
          <a:lstStyle/>
          <a:p>
            <a:pPr algn="ctr"/>
            <a:r>
              <a:rPr sz="10000" b="1">
                <a:solidFill>
                  <a:srgbClr val="FFFFFF"/>
                </a:solidFill>
                <a:latin typeface="Calibri"/>
              </a:rPr>
              <a:t>Thank you.</a:t>
            </a:r>
          </a:p>
        </p:txBody>
      </p:sp>
      <p:sp>
        <p:nvSpPr>
          <p:cNvPr id="5" name="TextBox 4"/>
          <p:cNvSpPr txBox="1"/>
          <p:nvPr/>
        </p:nvSpPr>
        <p:spPr>
          <a:xfrm>
            <a:off x="457200" y="3931920"/>
            <a:ext cx="11247120" cy="457200"/>
          </a:xfrm>
          <a:prstGeom prst="rect">
            <a:avLst/>
          </a:prstGeom>
          <a:noFill/>
        </p:spPr>
        <p:txBody>
          <a:bodyPr wrap="square" lIns="0" tIns="0" rIns="0" bIns="0" anchor="t">
            <a:spAutoFit/>
          </a:bodyPr>
          <a:lstStyle/>
          <a:p>
            <a:pPr algn="ctr"/>
            <a:r>
              <a:rPr sz="2400" b="0">
                <a:solidFill>
                  <a:srgbClr val="FF9900"/>
                </a:solidFill>
                <a:latin typeface="Calibri"/>
              </a:rPr>
              <a:t>Questions?</a:t>
            </a:r>
          </a:p>
        </p:txBody>
      </p:sp>
      <p:sp>
        <p:nvSpPr>
          <p:cNvPr id="6" name="Rectangle 5"/>
          <p:cNvSpPr/>
          <p:nvPr/>
        </p:nvSpPr>
        <p:spPr>
          <a:xfrm>
            <a:off x="5120640" y="4892040"/>
            <a:ext cx="1920240" cy="4572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5029200"/>
            <a:ext cx="11247120" cy="457200"/>
          </a:xfrm>
          <a:prstGeom prst="rect">
            <a:avLst/>
          </a:prstGeom>
          <a:noFill/>
        </p:spPr>
        <p:txBody>
          <a:bodyPr wrap="square" lIns="0" tIns="0" rIns="0" bIns="0" anchor="t">
            <a:spAutoFit/>
          </a:bodyPr>
          <a:lstStyle/>
          <a:p>
            <a:pPr algn="ctr"/>
            <a:r>
              <a:rPr sz="2200" b="1">
                <a:solidFill>
                  <a:srgbClr val="FFFFFF"/>
                </a:solidFill>
                <a:latin typeface="Calibri"/>
              </a:rPr>
              <a:t>Coral Magen</a:t>
            </a:r>
          </a:p>
        </p:txBody>
      </p:sp>
      <p:sp>
        <p:nvSpPr>
          <p:cNvPr id="8" name="TextBox 7"/>
          <p:cNvSpPr txBox="1"/>
          <p:nvPr/>
        </p:nvSpPr>
        <p:spPr>
          <a:xfrm>
            <a:off x="457200" y="5532120"/>
            <a:ext cx="11247120" cy="365760"/>
          </a:xfrm>
          <a:prstGeom prst="rect">
            <a:avLst/>
          </a:prstGeom>
          <a:noFill/>
        </p:spPr>
        <p:txBody>
          <a:bodyPr wrap="square" lIns="0" tIns="0" rIns="0" bIns="0" anchor="t">
            <a:spAutoFit/>
          </a:bodyPr>
          <a:lstStyle/>
          <a:p>
            <a:pPr algn="ctr"/>
            <a:r>
              <a:rPr sz="1400" b="0">
                <a:solidFill>
                  <a:srgbClr val="879596"/>
                </a:solidFill>
                <a:latin typeface="Calibri"/>
              </a:rPr>
              <a:t>Technical Account Manager   ·   coralst@amazon.com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i="0">
                <a:solidFill>
                  <a:srgbClr val="FF9900"/>
                </a:solidFill>
                <a:latin typeface="Calibri"/>
              </a:rPr>
              <a:t>6</a:t>
            </a:r>
          </a:p>
        </p:txBody>
      </p:sp>
      <p:sp>
        <p:nvSpPr>
          <p:cNvPr id="5" name="TextBox 4"/>
          <p:cNvSpPr txBox="1"/>
          <p:nvPr/>
        </p:nvSpPr>
        <p:spPr>
          <a:xfrm>
            <a:off x="1280160" y="365760"/>
            <a:ext cx="10058400" cy="594360"/>
          </a:xfrm>
          <a:prstGeom prst="rect">
            <a:avLst/>
          </a:prstGeom>
          <a:noFill/>
        </p:spPr>
        <p:txBody>
          <a:bodyPr wrap="square" lIns="0" rIns="0" tIns="0" bIns="0" anchor="ctr">
            <a:spAutoFit/>
          </a:bodyPr>
          <a:lstStyle/>
          <a:p>
            <a:pPr algn="l"/>
            <a:r>
              <a:rPr sz="3000" b="1" i="0">
                <a:solidFill>
                  <a:srgbClr val="232F3E"/>
                </a:solidFill>
                <a:latin typeface="Calibri"/>
              </a:rPr>
              <a:t>Cost — the floor vs. the meter</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11155680" cy="475488"/>
          </a:xfrm>
          <a:prstGeom prst="rect">
            <a:avLst/>
          </a:prstGeom>
          <a:noFill/>
        </p:spPr>
        <p:txBody>
          <a:bodyPr wrap="square" lIns="0" rIns="0" tIns="0" bIns="0" anchor="t">
            <a:spAutoFit/>
          </a:bodyPr>
          <a:lstStyle/>
          <a:p>
            <a:pPr algn="l"/>
            <a:r>
              <a:rPr sz="1400" b="0" i="0">
                <a:solidFill>
                  <a:srgbClr val="545B64"/>
                </a:solidFill>
                <a:latin typeface="Calibri"/>
              </a:rPr>
              <a:t>Both axes are logarithmic — the bill spans seven orders of magnitude. Below ~13 users engine A's $18 floor is the bill; above it the lines run parallel at 13.5×.</a:t>
            </a:r>
          </a:p>
        </p:txBody>
      </p:sp>
      <p:sp>
        <p:nvSpPr>
          <p:cNvPr id="8" name="TextBox 7"/>
          <p:cNvSpPr txBox="1"/>
          <p:nvPr/>
        </p:nvSpPr>
        <p:spPr>
          <a:xfrm>
            <a:off x="502920" y="6446520"/>
            <a:ext cx="8229600" cy="320040"/>
          </a:xfrm>
          <a:prstGeom prst="rect">
            <a:avLst/>
          </a:prstGeom>
          <a:noFill/>
        </p:spPr>
        <p:txBody>
          <a:bodyPr wrap="square" lIns="0" rIns="0" t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rIns="0" tIns="0" bIns="0" anchor="t">
            <a:spAutoFit/>
          </a:bodyPr>
          <a:lstStyle/>
          <a:p>
            <a:pPr algn="r"/>
            <a:r>
              <a:rPr sz="1000" b="0" i="0">
                <a:solidFill>
                  <a:srgbClr val="545B64"/>
                </a:solidFill>
                <a:latin typeface="Calibri"/>
              </a:rPr>
              <a:t>7 / 18</a:t>
            </a:r>
          </a:p>
        </p:txBody>
      </p:sp>
      <p:sp>
        <p:nvSpPr>
          <p:cNvPr id="10" name="Rounded Rectangle 9"/>
          <p:cNvSpPr/>
          <p:nvPr/>
        </p:nvSpPr>
        <p:spPr>
          <a:xfrm>
            <a:off x="521207" y="1897380"/>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847088"/>
            <a:ext cx="2194560" cy="219456"/>
          </a:xfrm>
          <a:prstGeom prst="rect">
            <a:avLst/>
          </a:prstGeom>
          <a:noFill/>
        </p:spPr>
        <p:txBody>
          <a:bodyPr wrap="square" lIns="0" rIns="0" t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1897380"/>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16358" y="1847088"/>
            <a:ext cx="2194560" cy="219456"/>
          </a:xfrm>
          <a:prstGeom prst="rect">
            <a:avLst/>
          </a:prstGeom>
          <a:noFill/>
        </p:spPr>
        <p:txBody>
          <a:bodyPr wrap="square" lIns="0" rIns="0" tIns="0" bIns="0" anchor="t">
            <a:spAutoFit/>
          </a:bodyPr>
          <a:lstStyle/>
          <a:p>
            <a:pPr algn="l"/>
            <a:r>
              <a:rPr sz="1150" b="0" i="0">
                <a:solidFill>
                  <a:srgbClr val="545B64"/>
                </a:solidFill>
                <a:latin typeface="Calibri"/>
              </a:rPr>
              <a:t>Engine B · AgentCore</a:t>
            </a:r>
          </a:p>
        </p:txBody>
      </p:sp>
      <p:sp>
        <p:nvSpPr>
          <p:cNvPr id="14" name="Rectangle 13"/>
          <p:cNvSpPr/>
          <p:nvPr/>
        </p:nvSpPr>
        <p:spPr>
          <a:xfrm>
            <a:off x="1481328" y="2395728"/>
            <a:ext cx="1600883" cy="3364991"/>
          </a:xfrm>
          <a:prstGeom prst="rect">
            <a:avLst/>
          </a:prstGeom>
          <a:solidFill>
            <a:srgbClr val="F8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481328" y="5627891"/>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21208" y="5545595"/>
            <a:ext cx="868680" cy="164592"/>
          </a:xfrm>
          <a:prstGeom prst="rect">
            <a:avLst/>
          </a:prstGeom>
          <a:noFill/>
        </p:spPr>
        <p:txBody>
          <a:bodyPr wrap="square" lIns="0" rIns="0" tIns="0" bIns="0" anchor="ctr">
            <a:spAutoFit/>
          </a:bodyPr>
          <a:lstStyle/>
          <a:p>
            <a:pPr algn="r"/>
            <a:r>
              <a:rPr sz="1050" b="0" i="0">
                <a:solidFill>
                  <a:srgbClr val="8B949E"/>
                </a:solidFill>
                <a:latin typeface="Calibri"/>
              </a:rPr>
              <a:t>$0.10</a:t>
            </a:r>
          </a:p>
        </p:txBody>
      </p:sp>
      <p:cxnSp>
        <p:nvCxnSpPr>
          <p:cNvPr id="17" name="Connector 16"/>
          <p:cNvCxnSpPr/>
          <p:nvPr/>
        </p:nvCxnSpPr>
        <p:spPr>
          <a:xfrm>
            <a:off x="1481328" y="5185129"/>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21208" y="5102833"/>
            <a:ext cx="868680" cy="164592"/>
          </a:xfrm>
          <a:prstGeom prst="rect">
            <a:avLst/>
          </a:prstGeom>
          <a:noFill/>
        </p:spPr>
        <p:txBody>
          <a:bodyPr wrap="square" lIns="0" rIns="0" tIns="0" bIns="0" anchor="ctr">
            <a:spAutoFit/>
          </a:bodyPr>
          <a:lstStyle/>
          <a:p>
            <a:pPr algn="r"/>
            <a:r>
              <a:rPr sz="1050" b="0" i="0">
                <a:solidFill>
                  <a:srgbClr val="8B949E"/>
                </a:solidFill>
                <a:latin typeface="Calibri"/>
              </a:rPr>
              <a:t>$1</a:t>
            </a:r>
          </a:p>
        </p:txBody>
      </p:sp>
      <p:cxnSp>
        <p:nvCxnSpPr>
          <p:cNvPr id="19" name="Connector 18"/>
          <p:cNvCxnSpPr/>
          <p:nvPr/>
        </p:nvCxnSpPr>
        <p:spPr>
          <a:xfrm>
            <a:off x="1481328" y="4742367"/>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21208" y="4660071"/>
            <a:ext cx="868680" cy="164592"/>
          </a:xfrm>
          <a:prstGeom prst="rect">
            <a:avLst/>
          </a:prstGeom>
          <a:noFill/>
        </p:spPr>
        <p:txBody>
          <a:bodyPr wrap="square" lIns="0" rIns="0" tIns="0" bIns="0" anchor="ctr">
            <a:spAutoFit/>
          </a:bodyPr>
          <a:lstStyle/>
          <a:p>
            <a:pPr algn="r"/>
            <a:r>
              <a:rPr sz="1050" b="0" i="0">
                <a:solidFill>
                  <a:srgbClr val="8B949E"/>
                </a:solidFill>
                <a:latin typeface="Calibri"/>
              </a:rPr>
              <a:t>$10</a:t>
            </a:r>
          </a:p>
        </p:txBody>
      </p:sp>
      <p:cxnSp>
        <p:nvCxnSpPr>
          <p:cNvPr id="21" name="Connector 20"/>
          <p:cNvCxnSpPr/>
          <p:nvPr/>
        </p:nvCxnSpPr>
        <p:spPr>
          <a:xfrm>
            <a:off x="1481328" y="4299605"/>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21208" y="4217309"/>
            <a:ext cx="868680" cy="164592"/>
          </a:xfrm>
          <a:prstGeom prst="rect">
            <a:avLst/>
          </a:prstGeom>
          <a:noFill/>
        </p:spPr>
        <p:txBody>
          <a:bodyPr wrap="square" lIns="0" rIns="0" tIns="0" bIns="0" anchor="ctr">
            <a:spAutoFit/>
          </a:bodyPr>
          <a:lstStyle/>
          <a:p>
            <a:pPr algn="r"/>
            <a:r>
              <a:rPr sz="1050" b="0" i="0">
                <a:solidFill>
                  <a:srgbClr val="8B949E"/>
                </a:solidFill>
                <a:latin typeface="Calibri"/>
              </a:rPr>
              <a:t>$100</a:t>
            </a:r>
          </a:p>
        </p:txBody>
      </p:sp>
      <p:cxnSp>
        <p:nvCxnSpPr>
          <p:cNvPr id="23" name="Connector 22"/>
          <p:cNvCxnSpPr/>
          <p:nvPr/>
        </p:nvCxnSpPr>
        <p:spPr>
          <a:xfrm>
            <a:off x="1481328" y="3856842"/>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21208" y="3774546"/>
            <a:ext cx="868680" cy="164592"/>
          </a:xfrm>
          <a:prstGeom prst="rect">
            <a:avLst/>
          </a:prstGeom>
          <a:noFill/>
        </p:spPr>
        <p:txBody>
          <a:bodyPr wrap="square" lIns="0" rIns="0" tIns="0" bIns="0" anchor="ctr">
            <a:spAutoFit/>
          </a:bodyPr>
          <a:lstStyle/>
          <a:p>
            <a:pPr algn="r"/>
            <a:r>
              <a:rPr sz="1050" b="0" i="0">
                <a:solidFill>
                  <a:srgbClr val="8B949E"/>
                </a:solidFill>
                <a:latin typeface="Calibri"/>
              </a:rPr>
              <a:t>$1k</a:t>
            </a:r>
          </a:p>
        </p:txBody>
      </p:sp>
      <p:cxnSp>
        <p:nvCxnSpPr>
          <p:cNvPr id="25" name="Connector 24"/>
          <p:cNvCxnSpPr/>
          <p:nvPr/>
        </p:nvCxnSpPr>
        <p:spPr>
          <a:xfrm>
            <a:off x="1481328" y="3414080"/>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21208" y="3331784"/>
            <a:ext cx="868680" cy="164592"/>
          </a:xfrm>
          <a:prstGeom prst="rect">
            <a:avLst/>
          </a:prstGeom>
          <a:noFill/>
        </p:spPr>
        <p:txBody>
          <a:bodyPr wrap="square" lIns="0" rIns="0" tIns="0" bIns="0" anchor="ctr">
            <a:spAutoFit/>
          </a:bodyPr>
          <a:lstStyle/>
          <a:p>
            <a:pPr algn="r"/>
            <a:r>
              <a:rPr sz="1050" b="0" i="0">
                <a:solidFill>
                  <a:srgbClr val="8B949E"/>
                </a:solidFill>
                <a:latin typeface="Calibri"/>
              </a:rPr>
              <a:t>$10k</a:t>
            </a:r>
          </a:p>
        </p:txBody>
      </p:sp>
      <p:cxnSp>
        <p:nvCxnSpPr>
          <p:cNvPr id="27" name="Connector 26"/>
          <p:cNvCxnSpPr/>
          <p:nvPr/>
        </p:nvCxnSpPr>
        <p:spPr>
          <a:xfrm>
            <a:off x="1481328" y="2971318"/>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21208" y="2889022"/>
            <a:ext cx="868680" cy="164592"/>
          </a:xfrm>
          <a:prstGeom prst="rect">
            <a:avLst/>
          </a:prstGeom>
          <a:noFill/>
        </p:spPr>
        <p:txBody>
          <a:bodyPr wrap="square" lIns="0" rIns="0" tIns="0" bIns="0" anchor="ctr">
            <a:spAutoFit/>
          </a:bodyPr>
          <a:lstStyle/>
          <a:p>
            <a:pPr algn="r"/>
            <a:r>
              <a:rPr sz="1050" b="0" i="0">
                <a:solidFill>
                  <a:srgbClr val="8B949E"/>
                </a:solidFill>
                <a:latin typeface="Calibri"/>
              </a:rPr>
              <a:t>$100k</a:t>
            </a:r>
          </a:p>
        </p:txBody>
      </p:sp>
      <p:cxnSp>
        <p:nvCxnSpPr>
          <p:cNvPr id="29" name="Connector 28"/>
          <p:cNvCxnSpPr/>
          <p:nvPr/>
        </p:nvCxnSpPr>
        <p:spPr>
          <a:xfrm>
            <a:off x="1481328" y="2528556"/>
            <a:ext cx="86227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 y="2446260"/>
            <a:ext cx="868680" cy="164592"/>
          </a:xfrm>
          <a:prstGeom prst="rect">
            <a:avLst/>
          </a:prstGeom>
          <a:noFill/>
        </p:spPr>
        <p:txBody>
          <a:bodyPr wrap="square" lIns="0" rIns="0" tIns="0" bIns="0" anchor="ctr">
            <a:spAutoFit/>
          </a:bodyPr>
          <a:lstStyle/>
          <a:p>
            <a:pPr algn="r"/>
            <a:r>
              <a:rPr sz="1050" b="0" i="0">
                <a:solidFill>
                  <a:srgbClr val="8B949E"/>
                </a:solidFill>
                <a:latin typeface="Calibri"/>
              </a:rPr>
              <a:t>$1M</a:t>
            </a:r>
          </a:p>
        </p:txBody>
      </p:sp>
      <p:cxnSp>
        <p:nvCxnSpPr>
          <p:cNvPr id="31" name="Connector 30"/>
          <p:cNvCxnSpPr/>
          <p:nvPr/>
        </p:nvCxnSpPr>
        <p:spPr>
          <a:xfrm>
            <a:off x="148132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69848"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a:t>
            </a:r>
          </a:p>
        </p:txBody>
      </p:sp>
      <p:cxnSp>
        <p:nvCxnSpPr>
          <p:cNvPr id="33" name="Connector 32"/>
          <p:cNvCxnSpPr/>
          <p:nvPr/>
        </p:nvCxnSpPr>
        <p:spPr>
          <a:xfrm>
            <a:off x="291846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506979"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a:t>
            </a:r>
          </a:p>
        </p:txBody>
      </p:sp>
      <p:cxnSp>
        <p:nvCxnSpPr>
          <p:cNvPr id="35" name="Connector 34"/>
          <p:cNvCxnSpPr/>
          <p:nvPr/>
        </p:nvCxnSpPr>
        <p:spPr>
          <a:xfrm>
            <a:off x="4355592"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4112"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100</a:t>
            </a:r>
          </a:p>
        </p:txBody>
      </p:sp>
      <p:cxnSp>
        <p:nvCxnSpPr>
          <p:cNvPr id="37" name="Connector 36"/>
          <p:cNvCxnSpPr/>
          <p:nvPr/>
        </p:nvCxnSpPr>
        <p:spPr>
          <a:xfrm>
            <a:off x="5792724"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381244"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1k</a:t>
            </a:r>
          </a:p>
        </p:txBody>
      </p:sp>
      <p:cxnSp>
        <p:nvCxnSpPr>
          <p:cNvPr id="39" name="Connector 38"/>
          <p:cNvCxnSpPr/>
          <p:nvPr/>
        </p:nvCxnSpPr>
        <p:spPr>
          <a:xfrm>
            <a:off x="7229856"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18375"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10k</a:t>
            </a:r>
          </a:p>
        </p:txBody>
      </p:sp>
      <p:cxnSp>
        <p:nvCxnSpPr>
          <p:cNvPr id="41" name="Connector 40"/>
          <p:cNvCxnSpPr/>
          <p:nvPr/>
        </p:nvCxnSpPr>
        <p:spPr>
          <a:xfrm>
            <a:off x="8666988"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8255508"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100k</a:t>
            </a:r>
          </a:p>
        </p:txBody>
      </p:sp>
      <p:cxnSp>
        <p:nvCxnSpPr>
          <p:cNvPr id="43" name="Connector 42"/>
          <p:cNvCxnSpPr/>
          <p:nvPr/>
        </p:nvCxnSpPr>
        <p:spPr>
          <a:xfrm>
            <a:off x="10104120" y="2395728"/>
            <a:ext cx="0" cy="3364992"/>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92640"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1M</a:t>
            </a:r>
          </a:p>
        </p:txBody>
      </p:sp>
      <p:sp>
        <p:nvSpPr>
          <p:cNvPr id="45" name="TextBox 44"/>
          <p:cNvSpPr txBox="1"/>
          <p:nvPr/>
        </p:nvSpPr>
        <p:spPr>
          <a:xfrm>
            <a:off x="1481328" y="6089904"/>
            <a:ext cx="4572000" cy="201168"/>
          </a:xfrm>
          <a:prstGeom prst="rect">
            <a:avLst/>
          </a:prstGeom>
          <a:noFill/>
        </p:spPr>
        <p:txBody>
          <a:bodyPr wrap="square" lIns="0" rIns="0" tIns="0" bIns="0" anchor="t">
            <a:spAutoFit/>
          </a:bodyPr>
          <a:lstStyle/>
          <a:p>
            <a:pPr algn="l"/>
            <a:r>
              <a:rPr sz="950" b="1" i="0">
                <a:solidFill>
                  <a:srgbClr val="8B949E"/>
                </a:solidFill>
                <a:latin typeface="Calibri"/>
              </a:rPr>
              <a:t>USERS  →  EACH GRIDLINE IS 10×</a:t>
            </a:r>
          </a:p>
        </p:txBody>
      </p:sp>
      <p:sp>
        <p:nvSpPr>
          <p:cNvPr id="46" name="TextBox 45"/>
          <p:cNvSpPr txBox="1"/>
          <p:nvPr/>
        </p:nvSpPr>
        <p:spPr>
          <a:xfrm>
            <a:off x="521208" y="2084832"/>
            <a:ext cx="1463040" cy="201168"/>
          </a:xfrm>
          <a:prstGeom prst="rect">
            <a:avLst/>
          </a:prstGeom>
          <a:noFill/>
        </p:spPr>
        <p:txBody>
          <a:bodyPr wrap="square" lIns="0" rIns="0" tIns="0" bIns="0" anchor="t">
            <a:spAutoFit/>
          </a:bodyPr>
          <a:lstStyle/>
          <a:p>
            <a:pPr algn="l"/>
            <a:r>
              <a:rPr sz="950" b="1" i="0">
                <a:solidFill>
                  <a:srgbClr val="8B949E"/>
                </a:solidFill>
                <a:latin typeface="Calibri"/>
              </a:rPr>
              <a:t>$ / MONTH</a:t>
            </a:r>
          </a:p>
        </p:txBody>
      </p:sp>
      <p:sp>
        <p:nvSpPr>
          <p:cNvPr id="47" name="TextBox 46"/>
          <p:cNvSpPr txBox="1"/>
          <p:nvPr/>
        </p:nvSpPr>
        <p:spPr>
          <a:xfrm>
            <a:off x="1609344" y="3102245"/>
            <a:ext cx="2377440" cy="201168"/>
          </a:xfrm>
          <a:prstGeom prst="rect">
            <a:avLst/>
          </a:prstGeom>
          <a:noFill/>
        </p:spPr>
        <p:txBody>
          <a:bodyPr wrap="square" lIns="0" rIns="0" tIns="0" bIns="0" anchor="t">
            <a:spAutoFit/>
          </a:bodyPr>
          <a:lstStyle/>
          <a:p>
            <a:pPr algn="l"/>
            <a:r>
              <a:rPr sz="1050" b="0" i="0">
                <a:solidFill>
                  <a:srgbClr val="545B64"/>
                </a:solidFill>
                <a:latin typeface="Calibri"/>
              </a:rPr>
              <a:t>in here, engine A's</a:t>
            </a:r>
          </a:p>
        </p:txBody>
      </p:sp>
      <p:sp>
        <p:nvSpPr>
          <p:cNvPr id="48" name="TextBox 47"/>
          <p:cNvSpPr txBox="1"/>
          <p:nvPr/>
        </p:nvSpPr>
        <p:spPr>
          <a:xfrm>
            <a:off x="1609344" y="3285125"/>
            <a:ext cx="2377440" cy="201168"/>
          </a:xfrm>
          <a:prstGeom prst="rect">
            <a:avLst/>
          </a:prstGeom>
          <a:noFill/>
        </p:spPr>
        <p:txBody>
          <a:bodyPr wrap="square" lIns="0" rIns="0" tIns="0" bIns="0" anchor="t">
            <a:spAutoFit/>
          </a:bodyPr>
          <a:lstStyle/>
          <a:p>
            <a:pPr algn="l"/>
            <a:r>
              <a:rPr sz="1050" b="0" i="0">
                <a:solidFill>
                  <a:srgbClr val="545B64"/>
                </a:solidFill>
                <a:latin typeface="Calibri"/>
              </a:rPr>
              <a:t>$18 floor is most of the bill  ↓</a:t>
            </a:r>
          </a:p>
        </p:txBody>
      </p:sp>
      <p:cxnSp>
        <p:nvCxnSpPr>
          <p:cNvPr id="49" name="Connector 48"/>
          <p:cNvCxnSpPr/>
          <p:nvPr/>
        </p:nvCxnSpPr>
        <p:spPr>
          <a:xfrm flipV="1">
            <a:off x="1481328" y="4519428"/>
            <a:ext cx="1437132" cy="9545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2918460" y="4213334"/>
            <a:ext cx="1437132" cy="3060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355592" y="3791591"/>
            <a:ext cx="1437132" cy="4217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92724" y="3351063"/>
            <a:ext cx="1437132" cy="4405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229856" y="2908451"/>
            <a:ext cx="1437132" cy="44261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66988" y="2465711"/>
            <a:ext cx="1437132" cy="4427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428292" y="4561844"/>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865424" y="4466393"/>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302556" y="416029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739688" y="373855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176820" y="3298028"/>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8613952" y="285541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0051084" y="241267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10239451" y="2418162"/>
            <a:ext cx="95097" cy="95097"/>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396728" y="2360555"/>
            <a:ext cx="1737360" cy="201168"/>
          </a:xfrm>
          <a:prstGeom prst="rect">
            <a:avLst/>
          </a:prstGeom>
          <a:noFill/>
        </p:spPr>
        <p:txBody>
          <a:bodyPr wrap="square" lIns="0" rIns="0" tIns="0" bIns="0" anchor="t">
            <a:spAutoFit/>
          </a:bodyPr>
          <a:lstStyle/>
          <a:p>
            <a:pPr algn="l"/>
            <a:r>
              <a:rPr sz="1250" b="1" i="0">
                <a:solidFill>
                  <a:srgbClr val="232F3E"/>
                </a:solidFill>
                <a:latin typeface="Calibri"/>
              </a:rPr>
              <a:t>$1.387 M</a:t>
            </a:r>
          </a:p>
        </p:txBody>
      </p:sp>
      <p:sp>
        <p:nvSpPr>
          <p:cNvPr id="64" name="TextBox 63"/>
          <p:cNvSpPr txBox="1"/>
          <p:nvPr/>
        </p:nvSpPr>
        <p:spPr>
          <a:xfrm>
            <a:off x="10396728" y="2557151"/>
            <a:ext cx="1737360" cy="182880"/>
          </a:xfrm>
          <a:prstGeom prst="rect">
            <a:avLst/>
          </a:prstGeom>
          <a:noFill/>
        </p:spPr>
        <p:txBody>
          <a:bodyPr wrap="square" lIns="0" rIns="0" tIns="0" bIns="0" anchor="t">
            <a:spAutoFit/>
          </a:bodyPr>
          <a:lstStyle/>
          <a:p>
            <a:pPr algn="l"/>
            <a:r>
              <a:rPr sz="1100" b="0" i="0">
                <a:solidFill>
                  <a:srgbClr val="545B64"/>
                </a:solidFill>
                <a:latin typeface="Calibri"/>
              </a:rPr>
              <a:t>A  DIY</a:t>
            </a:r>
          </a:p>
        </p:txBody>
      </p:sp>
      <p:cxnSp>
        <p:nvCxnSpPr>
          <p:cNvPr id="65" name="Connector 64"/>
          <p:cNvCxnSpPr/>
          <p:nvPr/>
        </p:nvCxnSpPr>
        <p:spPr>
          <a:xfrm flipV="1">
            <a:off x="1481328" y="5179520"/>
            <a:ext cx="1437132" cy="441756"/>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2918460" y="4736858"/>
            <a:ext cx="1437132" cy="4426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55592" y="4294106"/>
            <a:ext cx="1437132" cy="44275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792724" y="3851345"/>
            <a:ext cx="1437132" cy="442761"/>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7229856" y="3408583"/>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666988" y="2965821"/>
            <a:ext cx="1437132" cy="442762"/>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1428292" y="556824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2865424" y="512648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302556" y="468382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739688" y="4241071"/>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7176820" y="3798310"/>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8613952" y="3355548"/>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10051084" y="291278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239451" y="291827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396728" y="2860665"/>
            <a:ext cx="1737360" cy="201168"/>
          </a:xfrm>
          <a:prstGeom prst="rect">
            <a:avLst/>
          </a:prstGeom>
          <a:noFill/>
        </p:spPr>
        <p:txBody>
          <a:bodyPr wrap="square" lIns="0" rIns="0" tIns="0" bIns="0" anchor="t">
            <a:spAutoFit/>
          </a:bodyPr>
          <a:lstStyle/>
          <a:p>
            <a:pPr algn="l"/>
            <a:r>
              <a:rPr sz="1250" b="1" i="0">
                <a:solidFill>
                  <a:srgbClr val="232F3E"/>
                </a:solidFill>
                <a:latin typeface="Calibri"/>
              </a:rPr>
              <a:t>$102,900</a:t>
            </a:r>
          </a:p>
        </p:txBody>
      </p:sp>
      <p:sp>
        <p:nvSpPr>
          <p:cNvPr id="80" name="TextBox 79"/>
          <p:cNvSpPr txBox="1"/>
          <p:nvPr/>
        </p:nvSpPr>
        <p:spPr>
          <a:xfrm>
            <a:off x="10396728" y="3057261"/>
            <a:ext cx="1737360" cy="182880"/>
          </a:xfrm>
          <a:prstGeom prst="rect">
            <a:avLst/>
          </a:prstGeom>
          <a:noFill/>
        </p:spPr>
        <p:txBody>
          <a:bodyPr wrap="square" lIns="0" rIns="0" tIns="0" bIns="0" anchor="t">
            <a:spAutoFit/>
          </a:bodyPr>
          <a:lstStyle/>
          <a:p>
            <a:pPr algn="l"/>
            <a:r>
              <a:rPr sz="1100" b="0" i="0">
                <a:solidFill>
                  <a:srgbClr val="545B64"/>
                </a:solidFill>
                <a:latin typeface="Calibri"/>
              </a:rPr>
              <a:t>B  AgentCore</a:t>
            </a:r>
          </a:p>
        </p:txBody>
      </p:sp>
      <p:cxnSp>
        <p:nvCxnSpPr>
          <p:cNvPr id="81" name="Connector 80"/>
          <p:cNvCxnSpPr/>
          <p:nvPr/>
        </p:nvCxnSpPr>
        <p:spPr>
          <a:xfrm flipV="1">
            <a:off x="1481328" y="4614879"/>
            <a:ext cx="0" cy="1006397"/>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1572768" y="5017494"/>
            <a:ext cx="914400" cy="201168"/>
          </a:xfrm>
          <a:prstGeom prst="rect">
            <a:avLst/>
          </a:prstGeom>
          <a:noFill/>
        </p:spPr>
        <p:txBody>
          <a:bodyPr wrap="square" lIns="0" rIns="0" tIns="0" bIns="0" anchor="t">
            <a:spAutoFit/>
          </a:bodyPr>
          <a:lstStyle/>
          <a:p>
            <a:pPr algn="l"/>
            <a:r>
              <a:rPr sz="1250" b="1" i="0">
                <a:solidFill>
                  <a:srgbClr val="232F3E"/>
                </a:solidFill>
                <a:latin typeface="Calibri"/>
              </a:rPr>
              <a:t>187.5×</a:t>
            </a:r>
          </a:p>
        </p:txBody>
      </p:sp>
      <p:cxnSp>
        <p:nvCxnSpPr>
          <p:cNvPr id="83" name="Connector 82"/>
          <p:cNvCxnSpPr/>
          <p:nvPr/>
        </p:nvCxnSpPr>
        <p:spPr>
          <a:xfrm flipV="1">
            <a:off x="10104120" y="2465711"/>
            <a:ext cx="0" cy="500110"/>
          </a:xfrm>
          <a:prstGeom prst="line">
            <a:avLst/>
          </a:prstGeom>
          <a:ln w="12700">
            <a:solidFill>
              <a:srgbClr val="8B949E"/>
            </a:solidFill>
            <a:prstDash val="dash"/>
          </a:ln>
          <a:effectLst/>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8823960" y="2615182"/>
            <a:ext cx="1097280" cy="201168"/>
          </a:xfrm>
          <a:prstGeom prst="rect">
            <a:avLst/>
          </a:prstGeom>
          <a:noFill/>
        </p:spPr>
        <p:txBody>
          <a:bodyPr wrap="square" lIns="0" rIns="0" tIns="0" bIns="0" anchor="t">
            <a:spAutoFit/>
          </a:bodyPr>
          <a:lstStyle/>
          <a:p>
            <a:pPr algn="r"/>
            <a:r>
              <a:rPr sz="1250" b="1" i="0">
                <a:solidFill>
                  <a:srgbClr val="232F3E"/>
                </a:solidFill>
                <a:latin typeface="Calibri"/>
              </a:rPr>
              <a:t>13.5×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i="0">
                <a:solidFill>
                  <a:srgbClr val="FF9900"/>
                </a:solidFill>
                <a:latin typeface="Calibri"/>
              </a:rPr>
              <a:t>7</a:t>
            </a:r>
          </a:p>
        </p:txBody>
      </p:sp>
      <p:sp>
        <p:nvSpPr>
          <p:cNvPr id="5" name="TextBox 4"/>
          <p:cNvSpPr txBox="1"/>
          <p:nvPr/>
        </p:nvSpPr>
        <p:spPr>
          <a:xfrm>
            <a:off x="1280160" y="365760"/>
            <a:ext cx="10058400" cy="594360"/>
          </a:xfrm>
          <a:prstGeom prst="rect">
            <a:avLst/>
          </a:prstGeom>
          <a:noFill/>
        </p:spPr>
        <p:txBody>
          <a:bodyPr wrap="square" lIns="0" rIns="0" tIns="0" bIns="0" anchor="ctr">
            <a:spAutoFit/>
          </a:bodyPr>
          <a:lstStyle/>
          <a:p>
            <a:pPr algn="l"/>
            <a:r>
              <a:rPr sz="3000" b="1" i="0">
                <a:solidFill>
                  <a:srgbClr val="232F3E"/>
                </a:solidFill>
                <a:latin typeface="Calibri"/>
              </a:rPr>
              <a:t>Cost per user — the floor amortises</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11155680" cy="475488"/>
          </a:xfrm>
          <a:prstGeom prst="rect">
            <a:avLst/>
          </a:prstGeom>
          <a:noFill/>
        </p:spPr>
        <p:txBody>
          <a:bodyPr wrap="square" lIns="0" rIns="0" tIns="0" bIns="0" anchor="t">
            <a:spAutoFit/>
          </a:bodyPr>
          <a:lstStyle/>
          <a:p>
            <a:pPr algn="l"/>
            <a:r>
              <a:rPr sz="1400" b="0" i="0">
                <a:solidFill>
                  <a:srgbClr val="545B64"/>
                </a:solidFill>
                <a:latin typeface="Calibri"/>
              </a:rPr>
              <a:t>The same two bills divided by the user count. Engine A falls from $19.41 toward a $1.386 asymptote as its fixed floor spreads out; engine B is flat at $0.1029 from the first user, having no floor to spread.</a:t>
            </a:r>
          </a:p>
        </p:txBody>
      </p:sp>
      <p:sp>
        <p:nvSpPr>
          <p:cNvPr id="8" name="TextBox 7"/>
          <p:cNvSpPr txBox="1"/>
          <p:nvPr/>
        </p:nvSpPr>
        <p:spPr>
          <a:xfrm>
            <a:off x="502920" y="6446520"/>
            <a:ext cx="8229600" cy="320040"/>
          </a:xfrm>
          <a:prstGeom prst="rect">
            <a:avLst/>
          </a:prstGeom>
          <a:noFill/>
        </p:spPr>
        <p:txBody>
          <a:bodyPr wrap="square" lIns="0" rIns="0" t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rIns="0" tIns="0" bIns="0" anchor="t">
            <a:spAutoFit/>
          </a:bodyPr>
          <a:lstStyle/>
          <a:p>
            <a:pPr algn="r"/>
            <a:r>
              <a:rPr sz="1000" b="0" i="0">
                <a:solidFill>
                  <a:srgbClr val="545B64"/>
                </a:solidFill>
                <a:latin typeface="Calibri"/>
              </a:rPr>
              <a:t>8 / 18</a:t>
            </a:r>
          </a:p>
        </p:txBody>
      </p:sp>
      <p:sp>
        <p:nvSpPr>
          <p:cNvPr id="10" name="Rounded Rectangle 9"/>
          <p:cNvSpPr/>
          <p:nvPr/>
        </p:nvSpPr>
        <p:spPr>
          <a:xfrm>
            <a:off x="521207" y="2025396"/>
            <a:ext cx="105156" cy="105156"/>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975104"/>
            <a:ext cx="2194560" cy="219456"/>
          </a:xfrm>
          <a:prstGeom prst="rect">
            <a:avLst/>
          </a:prstGeom>
          <a:noFill/>
        </p:spPr>
        <p:txBody>
          <a:bodyPr wrap="square" lIns="0" rIns="0" tIns="0" bIns="0" anchor="t">
            <a:spAutoFit/>
          </a:bodyPr>
          <a:lstStyle/>
          <a:p>
            <a:pPr algn="l"/>
            <a:r>
              <a:rPr sz="1150" b="0" i="0">
                <a:solidFill>
                  <a:srgbClr val="545B64"/>
                </a:solidFill>
                <a:latin typeface="Calibri"/>
              </a:rPr>
              <a:t>Engine A · DIY</a:t>
            </a:r>
          </a:p>
        </p:txBody>
      </p:sp>
      <p:sp>
        <p:nvSpPr>
          <p:cNvPr id="12" name="Rounded Rectangle 11"/>
          <p:cNvSpPr/>
          <p:nvPr/>
        </p:nvSpPr>
        <p:spPr>
          <a:xfrm>
            <a:off x="2133478" y="2025396"/>
            <a:ext cx="105156" cy="105156"/>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16358" y="1975104"/>
            <a:ext cx="2194560" cy="219456"/>
          </a:xfrm>
          <a:prstGeom prst="rect">
            <a:avLst/>
          </a:prstGeom>
          <a:noFill/>
        </p:spPr>
        <p:txBody>
          <a:bodyPr wrap="square" lIns="0" rIns="0" tIns="0" bIns="0" anchor="t">
            <a:spAutoFit/>
          </a:bodyPr>
          <a:lstStyle/>
          <a:p>
            <a:pPr algn="l"/>
            <a:r>
              <a:rPr sz="1150" b="0" i="0">
                <a:solidFill>
                  <a:srgbClr val="545B64"/>
                </a:solidFill>
                <a:latin typeface="Calibri"/>
              </a:rPr>
              <a:t>Engine B · AgentCore</a:t>
            </a:r>
          </a:p>
        </p:txBody>
      </p:sp>
      <p:cxnSp>
        <p:nvCxnSpPr>
          <p:cNvPr id="14" name="Connector 13"/>
          <p:cNvCxnSpPr/>
          <p:nvPr/>
        </p:nvCxnSpPr>
        <p:spPr>
          <a:xfrm>
            <a:off x="1481328" y="5504983"/>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21208" y="5422687"/>
            <a:ext cx="868680" cy="164592"/>
          </a:xfrm>
          <a:prstGeom prst="rect">
            <a:avLst/>
          </a:prstGeom>
          <a:noFill/>
        </p:spPr>
        <p:txBody>
          <a:bodyPr wrap="square" lIns="0" rIns="0" tIns="0" bIns="0" anchor="ctr">
            <a:spAutoFit/>
          </a:bodyPr>
          <a:lstStyle/>
          <a:p>
            <a:pPr algn="r"/>
            <a:r>
              <a:rPr sz="1050" b="0" i="0">
                <a:solidFill>
                  <a:srgbClr val="8B949E"/>
                </a:solidFill>
                <a:latin typeface="Calibri"/>
              </a:rPr>
              <a:t>$0.10</a:t>
            </a:r>
          </a:p>
        </p:txBody>
      </p:sp>
      <p:cxnSp>
        <p:nvCxnSpPr>
          <p:cNvPr id="16" name="Connector 15"/>
          <p:cNvCxnSpPr/>
          <p:nvPr/>
        </p:nvCxnSpPr>
        <p:spPr>
          <a:xfrm>
            <a:off x="1481328" y="49549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1208" y="4872685"/>
            <a:ext cx="868680" cy="164592"/>
          </a:xfrm>
          <a:prstGeom prst="rect">
            <a:avLst/>
          </a:prstGeom>
          <a:noFill/>
        </p:spPr>
        <p:txBody>
          <a:bodyPr wrap="square" lIns="0" rIns="0" tIns="0" bIns="0" anchor="ctr">
            <a:spAutoFit/>
          </a:bodyPr>
          <a:lstStyle/>
          <a:p>
            <a:pPr algn="r"/>
            <a:r>
              <a:rPr sz="1050" b="0" i="0">
                <a:solidFill>
                  <a:srgbClr val="8B949E"/>
                </a:solidFill>
                <a:latin typeface="Calibri"/>
              </a:rPr>
              <a:t>$0.30</a:t>
            </a:r>
          </a:p>
        </p:txBody>
      </p:sp>
      <p:cxnSp>
        <p:nvCxnSpPr>
          <p:cNvPr id="18" name="Connector 17"/>
          <p:cNvCxnSpPr/>
          <p:nvPr/>
        </p:nvCxnSpPr>
        <p:spPr>
          <a:xfrm>
            <a:off x="1481328" y="4352232"/>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21208" y="4269936"/>
            <a:ext cx="868680" cy="164592"/>
          </a:xfrm>
          <a:prstGeom prst="rect">
            <a:avLst/>
          </a:prstGeom>
          <a:noFill/>
        </p:spPr>
        <p:txBody>
          <a:bodyPr wrap="square" lIns="0" rIns="0" tIns="0" bIns="0" anchor="ctr">
            <a:spAutoFit/>
          </a:bodyPr>
          <a:lstStyle/>
          <a:p>
            <a:pPr algn="r"/>
            <a:r>
              <a:rPr sz="1050" b="0" i="0">
                <a:solidFill>
                  <a:srgbClr val="8B949E"/>
                </a:solidFill>
                <a:latin typeface="Calibri"/>
              </a:rPr>
              <a:t>$1</a:t>
            </a:r>
          </a:p>
        </p:txBody>
      </p:sp>
      <p:cxnSp>
        <p:nvCxnSpPr>
          <p:cNvPr id="20" name="Connector 19"/>
          <p:cNvCxnSpPr/>
          <p:nvPr/>
        </p:nvCxnSpPr>
        <p:spPr>
          <a:xfrm>
            <a:off x="1481328" y="3802230"/>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21208" y="3719934"/>
            <a:ext cx="868680" cy="164592"/>
          </a:xfrm>
          <a:prstGeom prst="rect">
            <a:avLst/>
          </a:prstGeom>
          <a:noFill/>
        </p:spPr>
        <p:txBody>
          <a:bodyPr wrap="square" lIns="0" rIns="0" tIns="0" bIns="0" anchor="ctr">
            <a:spAutoFit/>
          </a:bodyPr>
          <a:lstStyle/>
          <a:p>
            <a:pPr algn="r"/>
            <a:r>
              <a:rPr sz="1050" b="0" i="0">
                <a:solidFill>
                  <a:srgbClr val="8B949E"/>
                </a:solidFill>
                <a:latin typeface="Calibri"/>
              </a:rPr>
              <a:t>$3</a:t>
            </a:r>
          </a:p>
        </p:txBody>
      </p:sp>
      <p:cxnSp>
        <p:nvCxnSpPr>
          <p:cNvPr id="22" name="Connector 21"/>
          <p:cNvCxnSpPr/>
          <p:nvPr/>
        </p:nvCxnSpPr>
        <p:spPr>
          <a:xfrm>
            <a:off x="1481328" y="3199481"/>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21208" y="3117185"/>
            <a:ext cx="868680" cy="164592"/>
          </a:xfrm>
          <a:prstGeom prst="rect">
            <a:avLst/>
          </a:prstGeom>
          <a:noFill/>
        </p:spPr>
        <p:txBody>
          <a:bodyPr wrap="square" lIns="0" rIns="0" tIns="0" bIns="0" anchor="ctr">
            <a:spAutoFit/>
          </a:bodyPr>
          <a:lstStyle/>
          <a:p>
            <a:pPr algn="r"/>
            <a:r>
              <a:rPr sz="1050" b="0" i="0">
                <a:solidFill>
                  <a:srgbClr val="8B949E"/>
                </a:solidFill>
                <a:latin typeface="Calibri"/>
              </a:rPr>
              <a:t>$10</a:t>
            </a:r>
          </a:p>
        </p:txBody>
      </p:sp>
      <p:cxnSp>
        <p:nvCxnSpPr>
          <p:cNvPr id="24" name="Connector 23"/>
          <p:cNvCxnSpPr/>
          <p:nvPr/>
        </p:nvCxnSpPr>
        <p:spPr>
          <a:xfrm>
            <a:off x="1481328" y="2649479"/>
            <a:ext cx="8165592"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1208" y="2567183"/>
            <a:ext cx="868680" cy="164592"/>
          </a:xfrm>
          <a:prstGeom prst="rect">
            <a:avLst/>
          </a:prstGeom>
          <a:noFill/>
        </p:spPr>
        <p:txBody>
          <a:bodyPr wrap="square" lIns="0" rIns="0" tIns="0" bIns="0" anchor="ctr">
            <a:spAutoFit/>
          </a:bodyPr>
          <a:lstStyle/>
          <a:p>
            <a:pPr algn="r"/>
            <a:r>
              <a:rPr sz="1050" b="0" i="0">
                <a:solidFill>
                  <a:srgbClr val="8B949E"/>
                </a:solidFill>
                <a:latin typeface="Calibri"/>
              </a:rPr>
              <a:t>$30</a:t>
            </a:r>
          </a:p>
        </p:txBody>
      </p:sp>
      <p:cxnSp>
        <p:nvCxnSpPr>
          <p:cNvPr id="26" name="Connector 25"/>
          <p:cNvCxnSpPr/>
          <p:nvPr/>
        </p:nvCxnSpPr>
        <p:spPr>
          <a:xfrm>
            <a:off x="148132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9848"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a:t>
            </a:r>
          </a:p>
        </p:txBody>
      </p:sp>
      <p:cxnSp>
        <p:nvCxnSpPr>
          <p:cNvPr id="28" name="Connector 27"/>
          <p:cNvCxnSpPr/>
          <p:nvPr/>
        </p:nvCxnSpPr>
        <p:spPr>
          <a:xfrm>
            <a:off x="284226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2430780"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a:t>
            </a:r>
          </a:p>
        </p:txBody>
      </p:sp>
      <p:cxnSp>
        <p:nvCxnSpPr>
          <p:cNvPr id="30" name="Connector 29"/>
          <p:cNvCxnSpPr/>
          <p:nvPr/>
        </p:nvCxnSpPr>
        <p:spPr>
          <a:xfrm>
            <a:off x="4203192"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91712"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100</a:t>
            </a:r>
          </a:p>
        </p:txBody>
      </p:sp>
      <p:cxnSp>
        <p:nvCxnSpPr>
          <p:cNvPr id="32" name="Connector 31"/>
          <p:cNvCxnSpPr/>
          <p:nvPr/>
        </p:nvCxnSpPr>
        <p:spPr>
          <a:xfrm>
            <a:off x="5564124"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52644"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1k</a:t>
            </a:r>
          </a:p>
        </p:txBody>
      </p:sp>
      <p:cxnSp>
        <p:nvCxnSpPr>
          <p:cNvPr id="34" name="Connector 33"/>
          <p:cNvCxnSpPr/>
          <p:nvPr/>
        </p:nvCxnSpPr>
        <p:spPr>
          <a:xfrm>
            <a:off x="6925056"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13576"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10k</a:t>
            </a:r>
          </a:p>
        </p:txBody>
      </p:sp>
      <p:cxnSp>
        <p:nvCxnSpPr>
          <p:cNvPr id="36" name="Connector 35"/>
          <p:cNvCxnSpPr/>
          <p:nvPr/>
        </p:nvCxnSpPr>
        <p:spPr>
          <a:xfrm>
            <a:off x="8285988"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874508"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100k</a:t>
            </a:r>
          </a:p>
        </p:txBody>
      </p:sp>
      <p:cxnSp>
        <p:nvCxnSpPr>
          <p:cNvPr id="38" name="Connector 37"/>
          <p:cNvCxnSpPr/>
          <p:nvPr/>
        </p:nvCxnSpPr>
        <p:spPr>
          <a:xfrm>
            <a:off x="9646920" y="2505456"/>
            <a:ext cx="0" cy="3255264"/>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235440" y="5852159"/>
            <a:ext cx="822960" cy="182880"/>
          </a:xfrm>
          <a:prstGeom prst="rect">
            <a:avLst/>
          </a:prstGeom>
          <a:noFill/>
        </p:spPr>
        <p:txBody>
          <a:bodyPr wrap="square" lIns="0" rIns="0" tIns="0" bIns="0" anchor="t">
            <a:spAutoFit/>
          </a:bodyPr>
          <a:lstStyle/>
          <a:p>
            <a:pPr algn="ctr"/>
            <a:r>
              <a:rPr sz="1050" b="0" i="0">
                <a:solidFill>
                  <a:srgbClr val="8B949E"/>
                </a:solidFill>
                <a:latin typeface="Calibri"/>
              </a:rPr>
              <a:t>1M</a:t>
            </a:r>
          </a:p>
        </p:txBody>
      </p:sp>
      <p:sp>
        <p:nvSpPr>
          <p:cNvPr id="40" name="TextBox 39"/>
          <p:cNvSpPr txBox="1"/>
          <p:nvPr/>
        </p:nvSpPr>
        <p:spPr>
          <a:xfrm>
            <a:off x="1481328" y="6089904"/>
            <a:ext cx="3657600" cy="201168"/>
          </a:xfrm>
          <a:prstGeom prst="rect">
            <a:avLst/>
          </a:prstGeom>
          <a:noFill/>
        </p:spPr>
        <p:txBody>
          <a:bodyPr wrap="square" lIns="0" rIns="0" tIns="0" bIns="0" anchor="t">
            <a:spAutoFit/>
          </a:bodyPr>
          <a:lstStyle/>
          <a:p>
            <a:pPr algn="l"/>
            <a:r>
              <a:rPr sz="950" b="1" i="0">
                <a:solidFill>
                  <a:srgbClr val="8B949E"/>
                </a:solidFill>
                <a:latin typeface="Calibri"/>
              </a:rPr>
              <a:t>USERS  →</a:t>
            </a:r>
          </a:p>
        </p:txBody>
      </p:sp>
      <p:sp>
        <p:nvSpPr>
          <p:cNvPr id="41" name="TextBox 40"/>
          <p:cNvSpPr txBox="1"/>
          <p:nvPr/>
        </p:nvSpPr>
        <p:spPr>
          <a:xfrm>
            <a:off x="521208" y="2194560"/>
            <a:ext cx="2011680" cy="201168"/>
          </a:xfrm>
          <a:prstGeom prst="rect">
            <a:avLst/>
          </a:prstGeom>
          <a:noFill/>
        </p:spPr>
        <p:txBody>
          <a:bodyPr wrap="square" lIns="0" rIns="0" tIns="0" bIns="0" anchor="t">
            <a:spAutoFit/>
          </a:bodyPr>
          <a:lstStyle/>
          <a:p>
            <a:pPr algn="l"/>
            <a:r>
              <a:rPr sz="950" b="1" i="0">
                <a:solidFill>
                  <a:srgbClr val="8B949E"/>
                </a:solidFill>
                <a:latin typeface="Calibri"/>
              </a:rPr>
              <a:t>$ / USER / MONTH</a:t>
            </a:r>
          </a:p>
        </p:txBody>
      </p:sp>
      <p:cxnSp>
        <p:nvCxnSpPr>
          <p:cNvPr id="42" name="Connector 41"/>
          <p:cNvCxnSpPr/>
          <p:nvPr/>
        </p:nvCxnSpPr>
        <p:spPr>
          <a:xfrm>
            <a:off x="1481328" y="4188814"/>
            <a:ext cx="8165592" cy="0"/>
          </a:xfrm>
          <a:prstGeom prst="line">
            <a:avLst/>
          </a:prstGeom>
          <a:ln w="15875">
            <a:solidFill>
              <a:srgbClr val="8C2F45"/>
            </a:solidFill>
            <a:prstDash val="dash"/>
          </a:ln>
          <a:effectLst/>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774936" y="4097374"/>
            <a:ext cx="2103120" cy="182880"/>
          </a:xfrm>
          <a:prstGeom prst="rect">
            <a:avLst/>
          </a:prstGeom>
          <a:noFill/>
        </p:spPr>
        <p:txBody>
          <a:bodyPr wrap="square" lIns="0" rIns="0" tIns="0" bIns="0" anchor="t">
            <a:spAutoFit/>
          </a:bodyPr>
          <a:lstStyle/>
          <a:p>
            <a:pPr algn="l"/>
            <a:r>
              <a:rPr sz="1100" b="0" i="0">
                <a:solidFill>
                  <a:srgbClr val="545B64"/>
                </a:solidFill>
                <a:latin typeface="Calibri"/>
              </a:rPr>
              <a:t>$1.386 — the floor melts to this</a:t>
            </a:r>
          </a:p>
        </p:txBody>
      </p:sp>
      <p:cxnSp>
        <p:nvCxnSpPr>
          <p:cNvPr id="44" name="Connector 43"/>
          <p:cNvCxnSpPr/>
          <p:nvPr/>
        </p:nvCxnSpPr>
        <p:spPr>
          <a:xfrm>
            <a:off x="1481328" y="2867562"/>
            <a:ext cx="90728" cy="709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572056" y="2938515"/>
            <a:ext cx="90729" cy="7006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662785" y="3008575"/>
            <a:ext cx="90729" cy="6904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753514" y="3077624"/>
            <a:ext cx="90729" cy="679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44243" y="3145529"/>
            <a:ext cx="90729" cy="6661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934972" y="3212148"/>
            <a:ext cx="90728" cy="651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2025700" y="3277328"/>
            <a:ext cx="90729" cy="635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2116429" y="3340906"/>
            <a:ext cx="90729" cy="618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2207158" y="3402714"/>
            <a:ext cx="90729" cy="598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2297887" y="3462579"/>
            <a:ext cx="90729" cy="577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2388616" y="3520326"/>
            <a:ext cx="90728" cy="5546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2479344" y="3575788"/>
            <a:ext cx="90729" cy="5301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2570073" y="3628802"/>
            <a:ext cx="90729" cy="5042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660802" y="3679223"/>
            <a:ext cx="90729" cy="4770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1531" y="3726923"/>
            <a:ext cx="90729" cy="4487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2842260" y="3771801"/>
            <a:ext cx="90728" cy="419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2932988" y="3813782"/>
            <a:ext cx="90729" cy="3904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023717" y="3852826"/>
            <a:ext cx="90729" cy="360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114446" y="3888924"/>
            <a:ext cx="90729" cy="3318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205175" y="3922105"/>
            <a:ext cx="90729" cy="3032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295904" y="3952429"/>
            <a:ext cx="90728" cy="2755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386632" y="3979986"/>
            <a:ext cx="90729" cy="249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3477361" y="4004894"/>
            <a:ext cx="90729" cy="2239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3568090" y="4027291"/>
            <a:ext cx="90729" cy="2004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3658819" y="4047333"/>
            <a:ext cx="90728" cy="1785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749547" y="4065186"/>
            <a:ext cx="90729" cy="158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840276" y="4081023"/>
            <a:ext cx="90729" cy="1399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3931005" y="4095017"/>
            <a:ext cx="90729" cy="1232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021734" y="4107339"/>
            <a:ext cx="90729" cy="108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112463" y="4118155"/>
            <a:ext cx="90729" cy="94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203192" y="4127622"/>
            <a:ext cx="90728" cy="826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293920" y="4135886"/>
            <a:ext cx="90729" cy="7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384649" y="4143085"/>
            <a:ext cx="90729" cy="6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475378" y="4149343"/>
            <a:ext cx="90729" cy="543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566107" y="4154774"/>
            <a:ext cx="90729" cy="470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56836" y="4159479"/>
            <a:ext cx="90728" cy="40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47564" y="4163550"/>
            <a:ext cx="90729" cy="351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838293" y="4167068"/>
            <a:ext cx="90729" cy="30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929022" y="4170106"/>
            <a:ext cx="90729" cy="262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5019751" y="4172726"/>
            <a:ext cx="90729" cy="22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5110480" y="4174984"/>
            <a:ext cx="90728" cy="194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5201208" y="4176929"/>
            <a:ext cx="90729" cy="167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291937" y="4178603"/>
            <a:ext cx="90729" cy="144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382666" y="4180044"/>
            <a:ext cx="90729" cy="12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473395" y="4181282"/>
            <a:ext cx="90729" cy="106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564124" y="4182347"/>
            <a:ext cx="90728" cy="9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654852" y="4183262"/>
            <a:ext cx="90729" cy="78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745581" y="4184049"/>
            <a:ext cx="90729" cy="67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836310" y="4184724"/>
            <a:ext cx="90729" cy="5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927039" y="4185304"/>
            <a:ext cx="90729" cy="49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6017768" y="4185802"/>
            <a:ext cx="90728" cy="42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6108496" y="4186230"/>
            <a:ext cx="90729" cy="36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6199225" y="4186597"/>
            <a:ext cx="90729" cy="315"/>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6289954" y="4186912"/>
            <a:ext cx="90729" cy="27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380683" y="4187182"/>
            <a:ext cx="90729" cy="23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471412" y="4187414"/>
            <a:ext cx="90728" cy="19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562140" y="4187613"/>
            <a:ext cx="90729" cy="171"/>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652869" y="4187784"/>
            <a:ext cx="90729" cy="14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743598" y="4187930"/>
            <a:ext cx="90729" cy="12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834327" y="4188056"/>
            <a:ext cx="90729" cy="10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6925056" y="4188164"/>
            <a:ext cx="90728" cy="9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7015784" y="4188256"/>
            <a:ext cx="90729" cy="8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7106513" y="4188336"/>
            <a:ext cx="90729" cy="6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7197242" y="4188404"/>
            <a:ext cx="90729" cy="5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287971" y="4188462"/>
            <a:ext cx="90729" cy="5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378700" y="4188512"/>
            <a:ext cx="90728" cy="4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7469428" y="4188555"/>
            <a:ext cx="90729"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7560157" y="4188433"/>
            <a:ext cx="90729" cy="1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7650886" y="4188433"/>
            <a:ext cx="90729" cy="5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741615" y="4188487"/>
            <a:ext cx="90729" cy="4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832344" y="4188534"/>
            <a:ext cx="90728" cy="4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7923072" y="4188574"/>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8013801" y="4188549"/>
            <a:ext cx="90729" cy="5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8104530" y="4188549"/>
            <a:ext cx="90729" cy="38"/>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195259" y="4188554"/>
            <a:ext cx="90729" cy="3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285988" y="4188554"/>
            <a:ext cx="90728" cy="3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376716" y="4188575"/>
            <a:ext cx="90729" cy="1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467445" y="4188575"/>
            <a:ext cx="90729" cy="3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8558174" y="4188603"/>
            <a:ext cx="90729"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648903" y="4188603"/>
            <a:ext cx="90728" cy="0"/>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739631" y="4188603"/>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830360" y="4188607"/>
            <a:ext cx="90729" cy="7"/>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8921089" y="4188605"/>
            <a:ext cx="90729" cy="9"/>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011818" y="4188602"/>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02547" y="4188602"/>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193276" y="4188604"/>
            <a:ext cx="90728" cy="6"/>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284004" y="4188608"/>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74733" y="4188608"/>
            <a:ext cx="90729" cy="3"/>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65462" y="4188609"/>
            <a:ext cx="90729" cy="2"/>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556191" y="4188609"/>
            <a:ext cx="90729" cy="4"/>
          </a:xfrm>
          <a:prstGeom prst="line">
            <a:avLst/>
          </a:prstGeom>
          <a:ln w="28575">
            <a:solidFill>
              <a:srgbClr val="8C2F45"/>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481328" y="5487761"/>
            <a:ext cx="8165592" cy="0"/>
          </a:xfrm>
          <a:prstGeom prst="line">
            <a:avLst/>
          </a:prstGeom>
          <a:ln w="28575">
            <a:solidFill>
              <a:srgbClr val="6E8B3D"/>
            </a:solidFill>
          </a:ln>
          <a:effectLst/>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1428292" y="281452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1428292" y="5434725"/>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789224" y="3718765"/>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2789224" y="5437344"/>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4150156" y="4074586"/>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4150156" y="5437607"/>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5511088" y="4129312"/>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5511088" y="5437633"/>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6872020" y="413512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6872020"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8232952" y="4135519"/>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8232952"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9593884" y="4135577"/>
            <a:ext cx="106070" cy="106070"/>
          </a:xfrm>
          <a:prstGeom prst="ellipse">
            <a:avLst/>
          </a:prstGeom>
          <a:solidFill>
            <a:srgbClr val="8C2F45"/>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9593884" y="5437636"/>
            <a:ext cx="106070" cy="106070"/>
          </a:xfrm>
          <a:prstGeom prst="ellipse">
            <a:avLst/>
          </a:prstGeom>
          <a:solidFill>
            <a:srgbClr val="6E8B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627632" y="2593139"/>
            <a:ext cx="2194560" cy="201168"/>
          </a:xfrm>
          <a:prstGeom prst="rect">
            <a:avLst/>
          </a:prstGeom>
          <a:noFill/>
        </p:spPr>
        <p:txBody>
          <a:bodyPr wrap="square" lIns="0" rIns="0" tIns="0" bIns="0" anchor="t">
            <a:spAutoFit/>
          </a:bodyPr>
          <a:lstStyle/>
          <a:p>
            <a:pPr algn="l"/>
            <a:r>
              <a:rPr sz="1200" b="1" i="0">
                <a:solidFill>
                  <a:srgbClr val="232F3E"/>
                </a:solidFill>
                <a:latin typeface="Calibri"/>
              </a:rPr>
              <a:t>$19.41 at one user</a:t>
            </a:r>
          </a:p>
        </p:txBody>
      </p:sp>
      <p:sp>
        <p:nvSpPr>
          <p:cNvPr id="150" name="Oval 149"/>
          <p:cNvSpPr/>
          <p:nvPr/>
        </p:nvSpPr>
        <p:spPr>
          <a:xfrm>
            <a:off x="9654235" y="5443122"/>
            <a:ext cx="95097" cy="95097"/>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9793224" y="5385515"/>
            <a:ext cx="2286000" cy="201168"/>
          </a:xfrm>
          <a:prstGeom prst="rect">
            <a:avLst/>
          </a:prstGeom>
          <a:noFill/>
        </p:spPr>
        <p:txBody>
          <a:bodyPr wrap="square" lIns="0" rIns="0" tIns="0" bIns="0" anchor="t">
            <a:spAutoFit/>
          </a:bodyPr>
          <a:lstStyle/>
          <a:p>
            <a:pPr algn="l"/>
            <a:r>
              <a:rPr sz="1200" b="1" i="0">
                <a:solidFill>
                  <a:srgbClr val="232F3E"/>
                </a:solidFill>
                <a:latin typeface="Calibri"/>
              </a:rPr>
              <a:t>$0.1029 — flat from user one</a:t>
            </a:r>
          </a:p>
        </p:txBody>
      </p:sp>
      <p:sp>
        <p:nvSpPr>
          <p:cNvPr id="152" name="TextBox 151"/>
          <p:cNvSpPr txBox="1"/>
          <p:nvPr/>
        </p:nvSpPr>
        <p:spPr>
          <a:xfrm>
            <a:off x="9793224" y="5591255"/>
            <a:ext cx="2286000" cy="182880"/>
          </a:xfrm>
          <a:prstGeom prst="rect">
            <a:avLst/>
          </a:prstGeom>
          <a:noFill/>
        </p:spPr>
        <p:txBody>
          <a:bodyPr wrap="square" lIns="0" rIns="0" tIns="0" bIns="0" anchor="t">
            <a:spAutoFit/>
          </a:bodyPr>
          <a:lstStyle/>
          <a:p>
            <a:pPr algn="l"/>
            <a:r>
              <a:rPr sz="1100" b="0" i="0">
                <a:solidFill>
                  <a:srgbClr val="545B64"/>
                </a:solidFill>
                <a:latin typeface="Calibri"/>
              </a:rPr>
              <a:t>no floor to amortise</a:t>
            </a:r>
          </a:p>
        </p:txBody>
      </p:sp>
      <p:sp>
        <p:nvSpPr>
          <p:cNvPr id="153" name="TextBox 152"/>
          <p:cNvSpPr txBox="1"/>
          <p:nvPr/>
        </p:nvSpPr>
        <p:spPr>
          <a:xfrm>
            <a:off x="6105693" y="3854977"/>
            <a:ext cx="2743200" cy="201168"/>
          </a:xfrm>
          <a:prstGeom prst="rect">
            <a:avLst/>
          </a:prstGeom>
          <a:noFill/>
        </p:spPr>
        <p:txBody>
          <a:bodyPr wrap="square" lIns="0" rIns="0" tIns="0" bIns="0" anchor="t">
            <a:spAutoFit/>
          </a:bodyPr>
          <a:lstStyle/>
          <a:p>
            <a:pPr algn="l"/>
            <a:r>
              <a:rPr sz="1100" b="0" i="0">
                <a:solidFill>
                  <a:srgbClr val="545B64"/>
                </a:solidFill>
                <a:latin typeface="Calibri"/>
              </a:rPr>
              <a:t>the gap stops closing at 13.5×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2920" y="365760"/>
            <a:ext cx="594360" cy="594360"/>
          </a:xfrm>
          <a:prstGeom prst="ellipse">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65760"/>
            <a:ext cx="594360" cy="594360"/>
          </a:xfrm>
          <a:prstGeom prst="rect">
            <a:avLst/>
          </a:prstGeom>
          <a:noFill/>
        </p:spPr>
        <p:txBody>
          <a:bodyPr wrap="square" lIns="0" rIns="0" tIns="0" bIns="0" anchor="ctr">
            <a:spAutoFit/>
          </a:bodyPr>
          <a:lstStyle/>
          <a:p>
            <a:pPr algn="ctr"/>
            <a:r>
              <a:rPr sz="2600" b="1" i="0">
                <a:solidFill>
                  <a:srgbClr val="FF9900"/>
                </a:solidFill>
                <a:latin typeface="Calibri"/>
              </a:rPr>
              <a:t>8</a:t>
            </a:r>
          </a:p>
        </p:txBody>
      </p:sp>
      <p:sp>
        <p:nvSpPr>
          <p:cNvPr id="5" name="TextBox 4"/>
          <p:cNvSpPr txBox="1"/>
          <p:nvPr/>
        </p:nvSpPr>
        <p:spPr>
          <a:xfrm>
            <a:off x="1280160" y="365760"/>
            <a:ext cx="10058400" cy="594360"/>
          </a:xfrm>
          <a:prstGeom prst="rect">
            <a:avLst/>
          </a:prstGeom>
          <a:noFill/>
        </p:spPr>
        <p:txBody>
          <a:bodyPr wrap="square" lIns="0" rIns="0" tIns="0" bIns="0" anchor="ctr">
            <a:spAutoFit/>
          </a:bodyPr>
          <a:lstStyle/>
          <a:p>
            <a:pPr algn="l"/>
            <a:r>
              <a:rPr sz="3000" b="1" i="0">
                <a:solidFill>
                  <a:srgbClr val="232F3E"/>
                </a:solidFill>
                <a:latin typeface="Calibri"/>
              </a:rPr>
              <a:t>Cost — the bill, itemised</a:t>
            </a:r>
          </a:p>
        </p:txBody>
      </p:sp>
      <p:sp>
        <p:nvSpPr>
          <p:cNvPr id="6" name="Rectangle 5"/>
          <p:cNvSpPr/>
          <p:nvPr/>
        </p:nvSpPr>
        <p:spPr>
          <a:xfrm>
            <a:off x="502920" y="1051560"/>
            <a:ext cx="1371600" cy="3657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11155680" cy="475488"/>
          </a:xfrm>
          <a:prstGeom prst="rect">
            <a:avLst/>
          </a:prstGeom>
          <a:noFill/>
        </p:spPr>
        <p:txBody>
          <a:bodyPr wrap="square" lIns="0" rIns="0" tIns="0" bIns="0" anchor="t">
            <a:spAutoFit/>
          </a:bodyPr>
          <a:lstStyle/>
          <a:p>
            <a:pPr algn="l"/>
            <a:r>
              <a:rPr sz="1400" b="0" i="0">
                <a:solidFill>
                  <a:srgbClr val="545B64"/>
                </a:solidFill>
                <a:latin typeface="Calibri"/>
              </a:rPr>
              <a:t>Every rate from a vendor pricing page, every quantity counted out of this repo. The reply call to Bedrock is identical on both sides and excluded from both.</a:t>
            </a:r>
          </a:p>
        </p:txBody>
      </p:sp>
      <p:sp>
        <p:nvSpPr>
          <p:cNvPr id="8" name="TextBox 7"/>
          <p:cNvSpPr txBox="1"/>
          <p:nvPr/>
        </p:nvSpPr>
        <p:spPr>
          <a:xfrm>
            <a:off x="502920" y="6446520"/>
            <a:ext cx="8229600" cy="320040"/>
          </a:xfrm>
          <a:prstGeom prst="rect">
            <a:avLst/>
          </a:prstGeom>
          <a:noFill/>
        </p:spPr>
        <p:txBody>
          <a:bodyPr wrap="square" lIns="0" rIns="0" tIns="0" bIns="0" anchor="t">
            <a:spAutoFit/>
          </a:bodyPr>
          <a:lstStyle/>
          <a:p>
            <a:pPr algn="l"/>
            <a:r>
              <a:rPr sz="1000" b="1" i="0">
                <a:solidFill>
                  <a:srgbClr val="545B64"/>
                </a:solidFill>
                <a:latin typeface="Calibri"/>
              </a:rPr>
              <a:t>VALENTIN   ·   GenAI TFC Capstone Deep-Dive</a:t>
            </a:r>
          </a:p>
        </p:txBody>
      </p:sp>
      <p:sp>
        <p:nvSpPr>
          <p:cNvPr id="9" name="TextBox 8"/>
          <p:cNvSpPr txBox="1"/>
          <p:nvPr/>
        </p:nvSpPr>
        <p:spPr>
          <a:xfrm>
            <a:off x="10332720" y="6446520"/>
            <a:ext cx="1371600" cy="320040"/>
          </a:xfrm>
          <a:prstGeom prst="rect">
            <a:avLst/>
          </a:prstGeom>
          <a:noFill/>
        </p:spPr>
        <p:txBody>
          <a:bodyPr wrap="square" lIns="0" rIns="0" tIns="0" bIns="0" anchor="t">
            <a:spAutoFit/>
          </a:bodyPr>
          <a:lstStyle/>
          <a:p>
            <a:pPr algn="r"/>
            <a:r>
              <a:rPr sz="1000" b="0" i="0">
                <a:solidFill>
                  <a:srgbClr val="545B64"/>
                </a:solidFill>
                <a:latin typeface="Calibri"/>
              </a:rPr>
              <a:t>9 / 18</a:t>
            </a:r>
          </a:p>
        </p:txBody>
      </p:sp>
      <p:sp>
        <p:nvSpPr>
          <p:cNvPr id="10" name="TextBox 9"/>
          <p:cNvSpPr txBox="1"/>
          <p:nvPr/>
        </p:nvSpPr>
        <p:spPr>
          <a:xfrm>
            <a:off x="502920" y="1773936"/>
            <a:ext cx="3657600" cy="676656"/>
          </a:xfrm>
          <a:prstGeom prst="rect">
            <a:avLst/>
          </a:prstGeom>
          <a:noFill/>
        </p:spPr>
        <p:txBody>
          <a:bodyPr wrap="square" lIns="0" rIns="0" tIns="0" bIns="0" anchor="ctr">
            <a:spAutoFit/>
          </a:bodyPr>
          <a:lstStyle/>
          <a:p>
            <a:pPr algn="l"/>
            <a:r>
              <a:rPr sz="4400" b="1" i="0">
                <a:solidFill>
                  <a:srgbClr val="8C2F45"/>
                </a:solidFill>
                <a:latin typeface="Calibri"/>
              </a:rPr>
              <a:t>13.5×</a:t>
            </a:r>
          </a:p>
        </p:txBody>
      </p:sp>
      <p:sp>
        <p:nvSpPr>
          <p:cNvPr id="11" name="TextBox 10"/>
          <p:cNvSpPr txBox="1"/>
          <p:nvPr/>
        </p:nvSpPr>
        <p:spPr>
          <a:xfrm>
            <a:off x="548640" y="2487168"/>
            <a:ext cx="8686800" cy="237744"/>
          </a:xfrm>
          <a:prstGeom prst="rect">
            <a:avLst/>
          </a:prstGeom>
          <a:noFill/>
        </p:spPr>
        <p:txBody>
          <a:bodyPr wrap="square" lIns="0" rIns="0" tIns="0" bIns="0" anchor="t">
            <a:spAutoFit/>
          </a:bodyPr>
          <a:lstStyle/>
          <a:p>
            <a:pPr algn="l"/>
            <a:r>
              <a:rPr sz="1300" b="0">
                <a:solidFill>
                  <a:srgbClr val="545B64"/>
                </a:solidFill>
                <a:latin typeface="Calibri"/>
              </a:rPr>
              <a:t>cheaper at scale — and </a:t>
            </a:r>
            <a:r>
              <a:rPr sz="1300" b="1">
                <a:solidFill>
                  <a:srgbClr val="8C2F45"/>
                </a:solidFill>
                <a:latin typeface="Calibri"/>
              </a:rPr>
              <a:t>187.5×</a:t>
            </a:r>
            <a:r>
              <a:rPr sz="1300" b="0">
                <a:solidFill>
                  <a:srgbClr val="545B64"/>
                </a:solidFill>
                <a:latin typeface="Calibri"/>
              </a:rPr>
              <a:t> at one user, where only engine B has no floor</a:t>
            </a:r>
          </a:p>
        </p:txBody>
      </p:sp>
      <p:sp>
        <p:nvSpPr>
          <p:cNvPr id="12" name="Rounded Rectangle 11"/>
          <p:cNvSpPr/>
          <p:nvPr/>
        </p:nvSpPr>
        <p:spPr>
          <a:xfrm>
            <a:off x="502920"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871216"/>
            <a:ext cx="3227832" cy="182880"/>
          </a:xfrm>
          <a:prstGeom prst="rect">
            <a:avLst/>
          </a:prstGeom>
          <a:noFill/>
        </p:spPr>
        <p:txBody>
          <a:bodyPr wrap="square" lIns="0" rIns="0" tIns="0" bIns="0" anchor="t">
            <a:spAutoFit/>
          </a:bodyPr>
          <a:lstStyle/>
          <a:p>
            <a:pPr algn="l"/>
            <a:r>
              <a:rPr sz="1000" b="1" i="0">
                <a:solidFill>
                  <a:srgbClr val="8B949E"/>
                </a:solidFill>
                <a:latin typeface="Calibri"/>
              </a:rPr>
              <a:t>1 USER</a:t>
            </a:r>
          </a:p>
        </p:txBody>
      </p:sp>
      <p:sp>
        <p:nvSpPr>
          <p:cNvPr id="14" name="Rounded Rectangle 13"/>
          <p:cNvSpPr/>
          <p:nvPr/>
        </p:nvSpPr>
        <p:spPr>
          <a:xfrm>
            <a:off x="685800"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3090672"/>
            <a:ext cx="1417320" cy="228600"/>
          </a:xfrm>
          <a:prstGeom prst="rect">
            <a:avLst/>
          </a:prstGeom>
          <a:noFill/>
        </p:spPr>
        <p:txBody>
          <a:bodyPr wrap="square" lIns="0" rIns="0" tIns="0" bIns="0" anchor="ctr">
            <a:spAutoFit/>
          </a:bodyPr>
          <a:lstStyle/>
          <a:p>
            <a:pPr algn="l"/>
            <a:r>
              <a:rPr sz="1600" b="1" i="0">
                <a:solidFill>
                  <a:srgbClr val="232F3E"/>
                </a:solidFill>
                <a:latin typeface="Calibri"/>
              </a:rPr>
              <a:t>$19.41</a:t>
            </a:r>
          </a:p>
        </p:txBody>
      </p:sp>
      <p:sp>
        <p:nvSpPr>
          <p:cNvPr id="16" name="TextBox 15"/>
          <p:cNvSpPr txBox="1"/>
          <p:nvPr/>
        </p:nvSpPr>
        <p:spPr>
          <a:xfrm>
            <a:off x="2286000" y="3090672"/>
            <a:ext cx="1463040" cy="228600"/>
          </a:xfrm>
          <a:prstGeom prst="rect">
            <a:avLst/>
          </a:prstGeom>
          <a:noFill/>
        </p:spPr>
        <p:txBody>
          <a:bodyPr wrap="square" lIns="0" rIns="0" tIns="0" bIns="0" anchor="ctr">
            <a:spAutoFit/>
          </a:bodyPr>
          <a:lstStyle/>
          <a:p>
            <a:pPr algn="l"/>
            <a:r>
              <a:rPr sz="1050" b="0" i="0">
                <a:solidFill>
                  <a:srgbClr val="8B949E"/>
                </a:solidFill>
                <a:latin typeface="Calibri"/>
              </a:rPr>
              <a:t>DIY</a:t>
            </a:r>
          </a:p>
        </p:txBody>
      </p:sp>
      <p:sp>
        <p:nvSpPr>
          <p:cNvPr id="17" name="Rounded Rectangle 16"/>
          <p:cNvSpPr/>
          <p:nvPr/>
        </p:nvSpPr>
        <p:spPr>
          <a:xfrm>
            <a:off x="685800"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355848"/>
            <a:ext cx="1417320" cy="228600"/>
          </a:xfrm>
          <a:prstGeom prst="rect">
            <a:avLst/>
          </a:prstGeom>
          <a:noFill/>
        </p:spPr>
        <p:txBody>
          <a:bodyPr wrap="square" lIns="0" rIns="0" tIns="0" bIns="0" anchor="ctr">
            <a:spAutoFit/>
          </a:bodyPr>
          <a:lstStyle/>
          <a:p>
            <a:pPr algn="l"/>
            <a:r>
              <a:rPr sz="1600" b="1" i="0">
                <a:solidFill>
                  <a:srgbClr val="232F3E"/>
                </a:solidFill>
                <a:latin typeface="Calibri"/>
              </a:rPr>
              <a:t>$0.10</a:t>
            </a:r>
          </a:p>
        </p:txBody>
      </p:sp>
      <p:sp>
        <p:nvSpPr>
          <p:cNvPr id="19" name="TextBox 18"/>
          <p:cNvSpPr txBox="1"/>
          <p:nvPr/>
        </p:nvSpPr>
        <p:spPr>
          <a:xfrm>
            <a:off x="2286000" y="3355848"/>
            <a:ext cx="1463040" cy="228600"/>
          </a:xfrm>
          <a:prstGeom prst="rect">
            <a:avLst/>
          </a:prstGeom>
          <a:noFill/>
        </p:spPr>
        <p:txBody>
          <a:bodyPr wrap="square" lIns="0" rIns="0" tIns="0" bIns="0" anchor="ctr">
            <a:spAutoFit/>
          </a:bodyPr>
          <a:lstStyle/>
          <a:p>
            <a:pPr algn="l"/>
            <a:r>
              <a:rPr sz="1050" b="0" i="0">
                <a:solidFill>
                  <a:srgbClr val="8B949E"/>
                </a:solidFill>
                <a:latin typeface="Calibri"/>
              </a:rPr>
              <a:t>AgentCore</a:t>
            </a:r>
          </a:p>
        </p:txBody>
      </p:sp>
      <p:sp>
        <p:nvSpPr>
          <p:cNvPr id="20" name="TextBox 19"/>
          <p:cNvSpPr txBox="1"/>
          <p:nvPr/>
        </p:nvSpPr>
        <p:spPr>
          <a:xfrm>
            <a:off x="685800" y="3639312"/>
            <a:ext cx="3227832" cy="182880"/>
          </a:xfrm>
          <a:prstGeom prst="rect">
            <a:avLst/>
          </a:prstGeom>
          <a:noFill/>
        </p:spPr>
        <p:txBody>
          <a:bodyPr wrap="square" lIns="0" rIns="0" tIns="0" bIns="0" anchor="t">
            <a:spAutoFit/>
          </a:bodyPr>
          <a:lstStyle/>
          <a:p>
            <a:pPr algn="l"/>
            <a:r>
              <a:rPr sz="1100" b="0" i="0">
                <a:solidFill>
                  <a:srgbClr val="545B64"/>
                </a:solidFill>
                <a:latin typeface="Calibri"/>
              </a:rPr>
              <a:t>saves $19.30 / mo · 187.5×</a:t>
            </a:r>
          </a:p>
        </p:txBody>
      </p:sp>
      <p:sp>
        <p:nvSpPr>
          <p:cNvPr id="21" name="Rounded Rectangle 20"/>
          <p:cNvSpPr/>
          <p:nvPr/>
        </p:nvSpPr>
        <p:spPr>
          <a:xfrm>
            <a:off x="4279392"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62272" y="2871216"/>
            <a:ext cx="3227832" cy="182880"/>
          </a:xfrm>
          <a:prstGeom prst="rect">
            <a:avLst/>
          </a:prstGeom>
          <a:noFill/>
        </p:spPr>
        <p:txBody>
          <a:bodyPr wrap="square" lIns="0" rIns="0" tIns="0" bIns="0" anchor="t">
            <a:spAutoFit/>
          </a:bodyPr>
          <a:lstStyle/>
          <a:p>
            <a:pPr algn="l"/>
            <a:r>
              <a:rPr sz="1000" b="1" i="0">
                <a:solidFill>
                  <a:srgbClr val="8B949E"/>
                </a:solidFill>
                <a:latin typeface="Calibri"/>
              </a:rPr>
              <a:t>10,000 USERS</a:t>
            </a:r>
          </a:p>
        </p:txBody>
      </p:sp>
      <p:sp>
        <p:nvSpPr>
          <p:cNvPr id="23" name="Rounded Rectangle 22"/>
          <p:cNvSpPr/>
          <p:nvPr/>
        </p:nvSpPr>
        <p:spPr>
          <a:xfrm>
            <a:off x="4462272"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26864" y="3090672"/>
            <a:ext cx="1417320" cy="228600"/>
          </a:xfrm>
          <a:prstGeom prst="rect">
            <a:avLst/>
          </a:prstGeom>
          <a:noFill/>
        </p:spPr>
        <p:txBody>
          <a:bodyPr wrap="square" lIns="0" rIns="0" tIns="0" bIns="0" anchor="ctr">
            <a:spAutoFit/>
          </a:bodyPr>
          <a:lstStyle/>
          <a:p>
            <a:pPr algn="l"/>
            <a:r>
              <a:rPr sz="1600" b="1" i="0">
                <a:solidFill>
                  <a:srgbClr val="232F3E"/>
                </a:solidFill>
                <a:latin typeface="Calibri"/>
              </a:rPr>
              <a:t>$13,878</a:t>
            </a:r>
          </a:p>
        </p:txBody>
      </p:sp>
      <p:sp>
        <p:nvSpPr>
          <p:cNvPr id="25" name="TextBox 24"/>
          <p:cNvSpPr txBox="1"/>
          <p:nvPr/>
        </p:nvSpPr>
        <p:spPr>
          <a:xfrm>
            <a:off x="6062472" y="3090672"/>
            <a:ext cx="1463040" cy="228600"/>
          </a:xfrm>
          <a:prstGeom prst="rect">
            <a:avLst/>
          </a:prstGeom>
          <a:noFill/>
        </p:spPr>
        <p:txBody>
          <a:bodyPr wrap="square" lIns="0" rIns="0" tIns="0" bIns="0" anchor="ctr">
            <a:spAutoFit/>
          </a:bodyPr>
          <a:lstStyle/>
          <a:p>
            <a:pPr algn="l"/>
            <a:r>
              <a:rPr sz="1050" b="0" i="0">
                <a:solidFill>
                  <a:srgbClr val="8B949E"/>
                </a:solidFill>
                <a:latin typeface="Calibri"/>
              </a:rPr>
              <a:t>DIY</a:t>
            </a:r>
          </a:p>
        </p:txBody>
      </p:sp>
      <p:sp>
        <p:nvSpPr>
          <p:cNvPr id="26" name="Rounded Rectangle 25"/>
          <p:cNvSpPr/>
          <p:nvPr/>
        </p:nvSpPr>
        <p:spPr>
          <a:xfrm>
            <a:off x="4462272"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26864" y="3355848"/>
            <a:ext cx="1417320" cy="228600"/>
          </a:xfrm>
          <a:prstGeom prst="rect">
            <a:avLst/>
          </a:prstGeom>
          <a:noFill/>
        </p:spPr>
        <p:txBody>
          <a:bodyPr wrap="square" lIns="0" rIns="0" tIns="0" bIns="0" anchor="ctr">
            <a:spAutoFit/>
          </a:bodyPr>
          <a:lstStyle/>
          <a:p>
            <a:pPr algn="l"/>
            <a:r>
              <a:rPr sz="1600" b="1" i="0">
                <a:solidFill>
                  <a:srgbClr val="232F3E"/>
                </a:solidFill>
                <a:latin typeface="Calibri"/>
              </a:rPr>
              <a:t>$1,029</a:t>
            </a:r>
          </a:p>
        </p:txBody>
      </p:sp>
      <p:sp>
        <p:nvSpPr>
          <p:cNvPr id="28" name="TextBox 27"/>
          <p:cNvSpPr txBox="1"/>
          <p:nvPr/>
        </p:nvSpPr>
        <p:spPr>
          <a:xfrm>
            <a:off x="6062472" y="3355848"/>
            <a:ext cx="1463040" cy="228600"/>
          </a:xfrm>
          <a:prstGeom prst="rect">
            <a:avLst/>
          </a:prstGeom>
          <a:noFill/>
        </p:spPr>
        <p:txBody>
          <a:bodyPr wrap="square" lIns="0" rIns="0" tIns="0" bIns="0" anchor="ctr">
            <a:spAutoFit/>
          </a:bodyPr>
          <a:lstStyle/>
          <a:p>
            <a:pPr algn="l"/>
            <a:r>
              <a:rPr sz="1050" b="0" i="0">
                <a:solidFill>
                  <a:srgbClr val="8B949E"/>
                </a:solidFill>
                <a:latin typeface="Calibri"/>
              </a:rPr>
              <a:t>AgentCore</a:t>
            </a:r>
          </a:p>
        </p:txBody>
      </p:sp>
      <p:sp>
        <p:nvSpPr>
          <p:cNvPr id="29" name="TextBox 28"/>
          <p:cNvSpPr txBox="1"/>
          <p:nvPr/>
        </p:nvSpPr>
        <p:spPr>
          <a:xfrm>
            <a:off x="4462272" y="3639312"/>
            <a:ext cx="3227832" cy="182880"/>
          </a:xfrm>
          <a:prstGeom prst="rect">
            <a:avLst/>
          </a:prstGeom>
          <a:noFill/>
        </p:spPr>
        <p:txBody>
          <a:bodyPr wrap="square" lIns="0" rIns="0" tIns="0" bIns="0" anchor="t">
            <a:spAutoFit/>
          </a:bodyPr>
          <a:lstStyle/>
          <a:p>
            <a:pPr algn="l"/>
            <a:r>
              <a:rPr sz="1100" b="0" i="0">
                <a:solidFill>
                  <a:srgbClr val="545B64"/>
                </a:solidFill>
                <a:latin typeface="Calibri"/>
              </a:rPr>
              <a:t>saves $12,849 / mo · 13.5×</a:t>
            </a:r>
          </a:p>
        </p:txBody>
      </p:sp>
      <p:sp>
        <p:nvSpPr>
          <p:cNvPr id="30" name="Rounded Rectangle 29"/>
          <p:cNvSpPr/>
          <p:nvPr/>
        </p:nvSpPr>
        <p:spPr>
          <a:xfrm>
            <a:off x="8055864" y="2761488"/>
            <a:ext cx="3593592" cy="1115568"/>
          </a:xfrm>
          <a:prstGeom prst="roundRect">
            <a:avLst/>
          </a:prstGeom>
          <a:solidFill>
            <a:srgbClr val="F7F8FA"/>
          </a:solidFill>
          <a:ln w="9525">
            <a:solidFill>
              <a:srgbClr val="D5D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38744" y="2871216"/>
            <a:ext cx="3227832" cy="182880"/>
          </a:xfrm>
          <a:prstGeom prst="rect">
            <a:avLst/>
          </a:prstGeom>
          <a:noFill/>
        </p:spPr>
        <p:txBody>
          <a:bodyPr wrap="square" lIns="0" rIns="0" tIns="0" bIns="0" anchor="t">
            <a:spAutoFit/>
          </a:bodyPr>
          <a:lstStyle/>
          <a:p>
            <a:pPr algn="l"/>
            <a:r>
              <a:rPr sz="1000" b="1" i="0">
                <a:solidFill>
                  <a:srgbClr val="8B949E"/>
                </a:solidFill>
                <a:latin typeface="Calibri"/>
              </a:rPr>
              <a:t>1,000,000 USERS</a:t>
            </a:r>
          </a:p>
        </p:txBody>
      </p:sp>
      <p:sp>
        <p:nvSpPr>
          <p:cNvPr id="32" name="Rounded Rectangle 31"/>
          <p:cNvSpPr/>
          <p:nvPr/>
        </p:nvSpPr>
        <p:spPr>
          <a:xfrm>
            <a:off x="8238744" y="3159252"/>
            <a:ext cx="91440" cy="91440"/>
          </a:xfrm>
          <a:prstGeom prst="roundRect">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03336" y="3090672"/>
            <a:ext cx="1417320" cy="228600"/>
          </a:xfrm>
          <a:prstGeom prst="rect">
            <a:avLst/>
          </a:prstGeom>
          <a:noFill/>
        </p:spPr>
        <p:txBody>
          <a:bodyPr wrap="square" lIns="0" rIns="0" tIns="0" bIns="0" anchor="ctr">
            <a:spAutoFit/>
          </a:bodyPr>
          <a:lstStyle/>
          <a:p>
            <a:pPr algn="l"/>
            <a:r>
              <a:rPr sz="1600" b="1" i="0">
                <a:solidFill>
                  <a:srgbClr val="232F3E"/>
                </a:solidFill>
                <a:latin typeface="Calibri"/>
              </a:rPr>
              <a:t>$1.387 M</a:t>
            </a:r>
          </a:p>
        </p:txBody>
      </p:sp>
      <p:sp>
        <p:nvSpPr>
          <p:cNvPr id="34" name="TextBox 33"/>
          <p:cNvSpPr txBox="1"/>
          <p:nvPr/>
        </p:nvSpPr>
        <p:spPr>
          <a:xfrm>
            <a:off x="9838944" y="3090672"/>
            <a:ext cx="1463040" cy="228600"/>
          </a:xfrm>
          <a:prstGeom prst="rect">
            <a:avLst/>
          </a:prstGeom>
          <a:noFill/>
        </p:spPr>
        <p:txBody>
          <a:bodyPr wrap="square" lIns="0" rIns="0" tIns="0" bIns="0" anchor="ctr">
            <a:spAutoFit/>
          </a:bodyPr>
          <a:lstStyle/>
          <a:p>
            <a:pPr algn="l"/>
            <a:r>
              <a:rPr sz="1050" b="0" i="0">
                <a:solidFill>
                  <a:srgbClr val="8B949E"/>
                </a:solidFill>
                <a:latin typeface="Calibri"/>
              </a:rPr>
              <a:t>DIY</a:t>
            </a:r>
          </a:p>
        </p:txBody>
      </p:sp>
      <p:sp>
        <p:nvSpPr>
          <p:cNvPr id="35" name="Rounded Rectangle 34"/>
          <p:cNvSpPr/>
          <p:nvPr/>
        </p:nvSpPr>
        <p:spPr>
          <a:xfrm>
            <a:off x="8238744" y="3424428"/>
            <a:ext cx="91440" cy="91440"/>
          </a:xfrm>
          <a:prstGeom prst="round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03336" y="3355848"/>
            <a:ext cx="1417320" cy="228600"/>
          </a:xfrm>
          <a:prstGeom prst="rect">
            <a:avLst/>
          </a:prstGeom>
          <a:noFill/>
        </p:spPr>
        <p:txBody>
          <a:bodyPr wrap="square" lIns="0" rIns="0" tIns="0" bIns="0" anchor="ctr">
            <a:spAutoFit/>
          </a:bodyPr>
          <a:lstStyle/>
          <a:p>
            <a:pPr algn="l"/>
            <a:r>
              <a:rPr sz="1600" b="1" i="0">
                <a:solidFill>
                  <a:srgbClr val="232F3E"/>
                </a:solidFill>
                <a:latin typeface="Calibri"/>
              </a:rPr>
              <a:t>$102,900</a:t>
            </a:r>
          </a:p>
        </p:txBody>
      </p:sp>
      <p:sp>
        <p:nvSpPr>
          <p:cNvPr id="37" name="TextBox 36"/>
          <p:cNvSpPr txBox="1"/>
          <p:nvPr/>
        </p:nvSpPr>
        <p:spPr>
          <a:xfrm>
            <a:off x="9838944" y="3355848"/>
            <a:ext cx="1463040" cy="228600"/>
          </a:xfrm>
          <a:prstGeom prst="rect">
            <a:avLst/>
          </a:prstGeom>
          <a:noFill/>
        </p:spPr>
        <p:txBody>
          <a:bodyPr wrap="square" lIns="0" rIns="0" tIns="0" bIns="0" anchor="ctr">
            <a:spAutoFit/>
          </a:bodyPr>
          <a:lstStyle/>
          <a:p>
            <a:pPr algn="l"/>
            <a:r>
              <a:rPr sz="1050" b="0" i="0">
                <a:solidFill>
                  <a:srgbClr val="8B949E"/>
                </a:solidFill>
                <a:latin typeface="Calibri"/>
              </a:rPr>
              <a:t>AgentCore</a:t>
            </a:r>
          </a:p>
        </p:txBody>
      </p:sp>
      <p:sp>
        <p:nvSpPr>
          <p:cNvPr id="38" name="TextBox 37"/>
          <p:cNvSpPr txBox="1"/>
          <p:nvPr/>
        </p:nvSpPr>
        <p:spPr>
          <a:xfrm>
            <a:off x="8238744" y="3639312"/>
            <a:ext cx="3227832" cy="182880"/>
          </a:xfrm>
          <a:prstGeom prst="rect">
            <a:avLst/>
          </a:prstGeom>
          <a:noFill/>
        </p:spPr>
        <p:txBody>
          <a:bodyPr wrap="square" lIns="0" rIns="0" tIns="0" bIns="0" anchor="t">
            <a:spAutoFit/>
          </a:bodyPr>
          <a:lstStyle/>
          <a:p>
            <a:pPr algn="l"/>
            <a:r>
              <a:rPr sz="1100" b="0" i="0">
                <a:solidFill>
                  <a:srgbClr val="545B64"/>
                </a:solidFill>
                <a:latin typeface="Calibri"/>
              </a:rPr>
              <a:t>saves $1.284 M / mo · $15.4 M / yr</a:t>
            </a:r>
          </a:p>
        </p:txBody>
      </p:sp>
      <p:sp>
        <p:nvSpPr>
          <p:cNvPr id="39" name="TextBox 38"/>
          <p:cNvSpPr txBox="1"/>
          <p:nvPr/>
        </p:nvSpPr>
        <p:spPr>
          <a:xfrm>
            <a:off x="548640" y="4133087"/>
            <a:ext cx="3840480" cy="182880"/>
          </a:xfrm>
          <a:prstGeom prst="rect">
            <a:avLst/>
          </a:prstGeom>
          <a:noFill/>
        </p:spPr>
        <p:txBody>
          <a:bodyPr wrap="square" lIns="0" rIns="0" tIns="0" bIns="0" anchor="t">
            <a:spAutoFit/>
          </a:bodyPr>
          <a:lstStyle/>
          <a:p>
            <a:pPr algn="l"/>
            <a:r>
              <a:rPr sz="950" b="1" i="0">
                <a:solidFill>
                  <a:srgbClr val="8B949E"/>
                </a:solidFill>
                <a:latin typeface="Calibri"/>
              </a:rPr>
              <a:t>LINE ITEM</a:t>
            </a:r>
          </a:p>
        </p:txBody>
      </p:sp>
      <p:sp>
        <p:nvSpPr>
          <p:cNvPr id="40" name="TextBox 39"/>
          <p:cNvSpPr txBox="1"/>
          <p:nvPr/>
        </p:nvSpPr>
        <p:spPr>
          <a:xfrm>
            <a:off x="4480560" y="4133087"/>
            <a:ext cx="1737360" cy="182880"/>
          </a:xfrm>
          <a:prstGeom prst="rect">
            <a:avLst/>
          </a:prstGeom>
          <a:noFill/>
        </p:spPr>
        <p:txBody>
          <a:bodyPr wrap="square" lIns="0" rIns="0" tIns="0" bIns="0" anchor="t">
            <a:spAutoFit/>
          </a:bodyPr>
          <a:lstStyle/>
          <a:p>
            <a:pPr algn="l"/>
            <a:r>
              <a:rPr sz="950" b="1" i="0">
                <a:solidFill>
                  <a:srgbClr val="8B949E"/>
                </a:solidFill>
                <a:latin typeface="Calibri"/>
              </a:rPr>
              <a:t>ENGINE</a:t>
            </a:r>
          </a:p>
        </p:txBody>
      </p:sp>
      <p:sp>
        <p:nvSpPr>
          <p:cNvPr id="41" name="TextBox 40"/>
          <p:cNvSpPr txBox="1"/>
          <p:nvPr/>
        </p:nvSpPr>
        <p:spPr>
          <a:xfrm>
            <a:off x="6035040" y="4133087"/>
            <a:ext cx="1554480" cy="182880"/>
          </a:xfrm>
          <a:prstGeom prst="rect">
            <a:avLst/>
          </a:prstGeom>
          <a:noFill/>
        </p:spPr>
        <p:txBody>
          <a:bodyPr wrap="square" lIns="0" rIns="0" tIns="0" bIns="0" anchor="t">
            <a:spAutoFit/>
          </a:bodyPr>
          <a:lstStyle/>
          <a:p>
            <a:pPr algn="r"/>
            <a:r>
              <a:rPr sz="950" b="1" i="0">
                <a:solidFill>
                  <a:srgbClr val="8B949E"/>
                </a:solidFill>
                <a:latin typeface="Calibri"/>
              </a:rPr>
              <a:t>FIXED</a:t>
            </a:r>
          </a:p>
        </p:txBody>
      </p:sp>
      <p:sp>
        <p:nvSpPr>
          <p:cNvPr id="42" name="TextBox 41"/>
          <p:cNvSpPr txBox="1"/>
          <p:nvPr/>
        </p:nvSpPr>
        <p:spPr>
          <a:xfrm>
            <a:off x="7772400" y="4133087"/>
            <a:ext cx="1645920" cy="182880"/>
          </a:xfrm>
          <a:prstGeom prst="rect">
            <a:avLst/>
          </a:prstGeom>
          <a:noFill/>
        </p:spPr>
        <p:txBody>
          <a:bodyPr wrap="square" lIns="0" rIns="0" tIns="0" bIns="0" anchor="t">
            <a:spAutoFit/>
          </a:bodyPr>
          <a:lstStyle/>
          <a:p>
            <a:pPr algn="r"/>
            <a:r>
              <a:rPr sz="950" b="1" i="0">
                <a:solidFill>
                  <a:srgbClr val="8B949E"/>
                </a:solidFill>
                <a:latin typeface="Calibri"/>
              </a:rPr>
              <a:t>PER USER</a:t>
            </a:r>
          </a:p>
        </p:txBody>
      </p:sp>
      <p:sp>
        <p:nvSpPr>
          <p:cNvPr id="43" name="TextBox 42"/>
          <p:cNvSpPr txBox="1"/>
          <p:nvPr/>
        </p:nvSpPr>
        <p:spPr>
          <a:xfrm>
            <a:off x="9692640" y="4133087"/>
            <a:ext cx="1965960" cy="182880"/>
          </a:xfrm>
          <a:prstGeom prst="rect">
            <a:avLst/>
          </a:prstGeom>
          <a:noFill/>
        </p:spPr>
        <p:txBody>
          <a:bodyPr wrap="square" lIns="0" rIns="0" tIns="0" bIns="0" anchor="t">
            <a:spAutoFit/>
          </a:bodyPr>
          <a:lstStyle/>
          <a:p>
            <a:pPr algn="r"/>
            <a:r>
              <a:rPr sz="950" b="1" i="0">
                <a:solidFill>
                  <a:srgbClr val="8B949E"/>
                </a:solidFill>
                <a:latin typeface="Calibri"/>
              </a:rPr>
              <a:t>AT 1 USER</a:t>
            </a:r>
          </a:p>
        </p:txBody>
      </p:sp>
      <p:cxnSp>
        <p:nvCxnSpPr>
          <p:cNvPr id="44" name="Connector 43"/>
          <p:cNvCxnSpPr/>
          <p:nvPr/>
        </p:nvCxnSpPr>
        <p:spPr>
          <a:xfrm>
            <a:off x="548640" y="4370831"/>
            <a:ext cx="11109960" cy="0"/>
          </a:xfrm>
          <a:prstGeom prst="line">
            <a:avLst/>
          </a:prstGeom>
          <a:ln w="9525">
            <a:solidFill>
              <a:srgbClr val="D5DBE0"/>
            </a:solidFill>
          </a:ln>
          <a:effectLst/>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66928" y="4512564"/>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808" y="4443983"/>
            <a:ext cx="3639312" cy="219456"/>
          </a:xfrm>
          <a:prstGeom prst="rect">
            <a:avLst/>
          </a:prstGeom>
          <a:noFill/>
        </p:spPr>
        <p:txBody>
          <a:bodyPr wrap="square" lIns="0" rIns="0" tIns="0" bIns="0" anchor="ctr">
            <a:spAutoFit/>
          </a:bodyPr>
          <a:lstStyle/>
          <a:p>
            <a:pPr algn="l"/>
            <a:r>
              <a:rPr sz="1200" b="0" i="0">
                <a:solidFill>
                  <a:srgbClr val="545B64"/>
                </a:solidFill>
                <a:latin typeface="Calibri"/>
              </a:rPr>
              <a:t>AWS Fargate</a:t>
            </a:r>
          </a:p>
        </p:txBody>
      </p:sp>
      <p:sp>
        <p:nvSpPr>
          <p:cNvPr id="47" name="TextBox 46"/>
          <p:cNvSpPr txBox="1"/>
          <p:nvPr/>
        </p:nvSpPr>
        <p:spPr>
          <a:xfrm>
            <a:off x="4480560" y="4443983"/>
            <a:ext cx="1737360" cy="219456"/>
          </a:xfrm>
          <a:prstGeom prst="rect">
            <a:avLst/>
          </a:prstGeom>
          <a:noFill/>
        </p:spPr>
        <p:txBody>
          <a:bodyPr wrap="square" lIns="0" rIns="0" tIns="0" bIns="0" anchor="ctr">
            <a:spAutoFit/>
          </a:bodyPr>
          <a:lstStyle/>
          <a:p>
            <a:pPr algn="l"/>
            <a:r>
              <a:rPr sz="1150" b="0" i="0">
                <a:solidFill>
                  <a:srgbClr val="545B64"/>
                </a:solidFill>
                <a:latin typeface="Calibri"/>
              </a:rPr>
              <a:t>A · DIY</a:t>
            </a:r>
          </a:p>
        </p:txBody>
      </p:sp>
      <p:sp>
        <p:nvSpPr>
          <p:cNvPr id="48" name="TextBox 47"/>
          <p:cNvSpPr txBox="1"/>
          <p:nvPr/>
        </p:nvSpPr>
        <p:spPr>
          <a:xfrm>
            <a:off x="6035040" y="4443983"/>
            <a:ext cx="1554480" cy="219456"/>
          </a:xfrm>
          <a:prstGeom prst="rect">
            <a:avLst/>
          </a:prstGeom>
          <a:noFill/>
        </p:spPr>
        <p:txBody>
          <a:bodyPr wrap="square" lIns="0" rIns="0" tIns="0" bIns="0" anchor="ctr">
            <a:spAutoFit/>
          </a:bodyPr>
          <a:lstStyle/>
          <a:p>
            <a:pPr algn="r"/>
            <a:r>
              <a:rPr sz="1150" b="0" i="0">
                <a:solidFill>
                  <a:srgbClr val="545B64"/>
                </a:solidFill>
                <a:latin typeface="Calibri"/>
              </a:rPr>
              <a:t>$18.02</a:t>
            </a:r>
          </a:p>
        </p:txBody>
      </p:sp>
      <p:sp>
        <p:nvSpPr>
          <p:cNvPr id="49" name="TextBox 48"/>
          <p:cNvSpPr txBox="1"/>
          <p:nvPr/>
        </p:nvSpPr>
        <p:spPr>
          <a:xfrm>
            <a:off x="7772400" y="4443983"/>
            <a:ext cx="1645920" cy="219456"/>
          </a:xfrm>
          <a:prstGeom prst="rect">
            <a:avLst/>
          </a:prstGeom>
          <a:noFill/>
        </p:spPr>
        <p:txBody>
          <a:bodyPr wrap="square" lIns="0" rIns="0" tIns="0" bIns="0" anchor="ctr">
            <a:spAutoFit/>
          </a:bodyPr>
          <a:lstStyle/>
          <a:p>
            <a:pPr algn="r"/>
            <a:r>
              <a:rPr sz="1150" b="0" i="0">
                <a:solidFill>
                  <a:srgbClr val="545B64"/>
                </a:solidFill>
                <a:latin typeface="Calibri"/>
              </a:rPr>
              <a:t>—</a:t>
            </a:r>
          </a:p>
        </p:txBody>
      </p:sp>
      <p:sp>
        <p:nvSpPr>
          <p:cNvPr id="50" name="TextBox 49"/>
          <p:cNvSpPr txBox="1"/>
          <p:nvPr/>
        </p:nvSpPr>
        <p:spPr>
          <a:xfrm>
            <a:off x="9692640" y="4443983"/>
            <a:ext cx="1965960" cy="219456"/>
          </a:xfrm>
          <a:prstGeom prst="rect">
            <a:avLst/>
          </a:prstGeom>
          <a:noFill/>
        </p:spPr>
        <p:txBody>
          <a:bodyPr wrap="square" lIns="0" rIns="0" tIns="0" bIns="0" anchor="ctr">
            <a:spAutoFit/>
          </a:bodyPr>
          <a:lstStyle/>
          <a:p>
            <a:pPr algn="r"/>
            <a:r>
              <a:rPr sz="1150" b="0" i="0">
                <a:solidFill>
                  <a:srgbClr val="545B64"/>
                </a:solidFill>
                <a:latin typeface="Calibri"/>
              </a:rPr>
              <a:t>$18.02</a:t>
            </a:r>
          </a:p>
        </p:txBody>
      </p:sp>
      <p:cxnSp>
        <p:nvCxnSpPr>
          <p:cNvPr id="51" name="Connector 50"/>
          <p:cNvCxnSpPr/>
          <p:nvPr/>
        </p:nvCxnSpPr>
        <p:spPr>
          <a:xfrm>
            <a:off x="548640" y="4658868"/>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566928" y="4745736"/>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9808" y="4677155"/>
            <a:ext cx="3639312" cy="219456"/>
          </a:xfrm>
          <a:prstGeom prst="rect">
            <a:avLst/>
          </a:prstGeom>
          <a:noFill/>
        </p:spPr>
        <p:txBody>
          <a:bodyPr wrap="square" lIns="0" rIns="0" tIns="0" bIns="0" anchor="ctr">
            <a:spAutoFit/>
          </a:bodyPr>
          <a:lstStyle/>
          <a:p>
            <a:pPr algn="l"/>
            <a:r>
              <a:rPr sz="1200" b="0" i="0">
                <a:solidFill>
                  <a:srgbClr val="545B64"/>
                </a:solidFill>
                <a:latin typeface="Calibri"/>
              </a:rPr>
              <a:t>2nd Bedrock call · extraction</a:t>
            </a:r>
          </a:p>
        </p:txBody>
      </p:sp>
      <p:sp>
        <p:nvSpPr>
          <p:cNvPr id="54" name="TextBox 53"/>
          <p:cNvSpPr txBox="1"/>
          <p:nvPr/>
        </p:nvSpPr>
        <p:spPr>
          <a:xfrm>
            <a:off x="4480560" y="4677155"/>
            <a:ext cx="1737360" cy="219456"/>
          </a:xfrm>
          <a:prstGeom prst="rect">
            <a:avLst/>
          </a:prstGeom>
          <a:noFill/>
        </p:spPr>
        <p:txBody>
          <a:bodyPr wrap="square" lIns="0" rIns="0" tIns="0" bIns="0" anchor="ctr">
            <a:spAutoFit/>
          </a:bodyPr>
          <a:lstStyle/>
          <a:p>
            <a:pPr algn="l"/>
            <a:r>
              <a:rPr sz="1150" b="0" i="0">
                <a:solidFill>
                  <a:srgbClr val="545B64"/>
                </a:solidFill>
                <a:latin typeface="Calibri"/>
              </a:rPr>
              <a:t>A · DIY</a:t>
            </a:r>
          </a:p>
        </p:txBody>
      </p:sp>
      <p:sp>
        <p:nvSpPr>
          <p:cNvPr id="55" name="TextBox 54"/>
          <p:cNvSpPr txBox="1"/>
          <p:nvPr/>
        </p:nvSpPr>
        <p:spPr>
          <a:xfrm>
            <a:off x="6035040" y="4677155"/>
            <a:ext cx="1554480" cy="219456"/>
          </a:xfrm>
          <a:prstGeom prst="rect">
            <a:avLst/>
          </a:prstGeom>
          <a:noFill/>
        </p:spPr>
        <p:txBody>
          <a:bodyPr wrap="square" lIns="0" rIns="0" tIns="0" bIns="0" anchor="ctr">
            <a:spAutoFit/>
          </a:bodyPr>
          <a:lstStyle/>
          <a:p>
            <a:pPr algn="r"/>
            <a:r>
              <a:rPr sz="1150" b="0" i="0">
                <a:solidFill>
                  <a:srgbClr val="545B64"/>
                </a:solidFill>
                <a:latin typeface="Calibri"/>
              </a:rPr>
              <a:t>—</a:t>
            </a:r>
          </a:p>
        </p:txBody>
      </p:sp>
      <p:sp>
        <p:nvSpPr>
          <p:cNvPr id="56" name="TextBox 55"/>
          <p:cNvSpPr txBox="1"/>
          <p:nvPr/>
        </p:nvSpPr>
        <p:spPr>
          <a:xfrm>
            <a:off x="7772400" y="4677155"/>
            <a:ext cx="1645920" cy="219456"/>
          </a:xfrm>
          <a:prstGeom prst="rect">
            <a:avLst/>
          </a:prstGeom>
          <a:noFill/>
        </p:spPr>
        <p:txBody>
          <a:bodyPr wrap="square" lIns="0" rIns="0" tIns="0" bIns="0" anchor="ctr">
            <a:spAutoFit/>
          </a:bodyPr>
          <a:lstStyle/>
          <a:p>
            <a:pPr algn="r"/>
            <a:r>
              <a:rPr sz="1150" b="0" i="0">
                <a:solidFill>
                  <a:srgbClr val="545B64"/>
                </a:solidFill>
                <a:latin typeface="Calibri"/>
              </a:rPr>
              <a:t>$1.386</a:t>
            </a:r>
          </a:p>
        </p:txBody>
      </p:sp>
      <p:sp>
        <p:nvSpPr>
          <p:cNvPr id="57" name="TextBox 56"/>
          <p:cNvSpPr txBox="1"/>
          <p:nvPr/>
        </p:nvSpPr>
        <p:spPr>
          <a:xfrm>
            <a:off x="9692640" y="4677155"/>
            <a:ext cx="1965960" cy="219456"/>
          </a:xfrm>
          <a:prstGeom prst="rect">
            <a:avLst/>
          </a:prstGeom>
          <a:noFill/>
        </p:spPr>
        <p:txBody>
          <a:bodyPr wrap="square" lIns="0" rIns="0" tIns="0" bIns="0" anchor="ctr">
            <a:spAutoFit/>
          </a:bodyPr>
          <a:lstStyle/>
          <a:p>
            <a:pPr algn="r"/>
            <a:r>
              <a:rPr sz="1150" b="0" i="0">
                <a:solidFill>
                  <a:srgbClr val="545B64"/>
                </a:solidFill>
                <a:latin typeface="Calibri"/>
              </a:rPr>
              <a:t>$1.385</a:t>
            </a:r>
          </a:p>
        </p:txBody>
      </p:sp>
      <p:cxnSp>
        <p:nvCxnSpPr>
          <p:cNvPr id="58" name="Connector 57"/>
          <p:cNvCxnSpPr/>
          <p:nvPr/>
        </p:nvCxnSpPr>
        <p:spPr>
          <a:xfrm>
            <a:off x="548640" y="4892040"/>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566928" y="4978907"/>
            <a:ext cx="91440" cy="91440"/>
          </a:xfrm>
          <a:prstGeom prst="ellipse">
            <a:avLst/>
          </a:prstGeom>
          <a:solidFill>
            <a:srgbClr val="8C2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9808" y="4910327"/>
            <a:ext cx="3639312" cy="219456"/>
          </a:xfrm>
          <a:prstGeom prst="rect">
            <a:avLst/>
          </a:prstGeom>
          <a:noFill/>
        </p:spPr>
        <p:txBody>
          <a:bodyPr wrap="square" lIns="0" rIns="0" tIns="0" bIns="0" anchor="ctr">
            <a:spAutoFit/>
          </a:bodyPr>
          <a:lstStyle/>
          <a:p>
            <a:pPr algn="l"/>
            <a:r>
              <a:rPr sz="1200" b="0" i="0">
                <a:solidFill>
                  <a:srgbClr val="545B64"/>
                </a:solidFill>
                <a:latin typeface="Calibri"/>
              </a:rPr>
              <a:t>Amazon DynamoDB</a:t>
            </a:r>
          </a:p>
        </p:txBody>
      </p:sp>
      <p:sp>
        <p:nvSpPr>
          <p:cNvPr id="61" name="TextBox 60"/>
          <p:cNvSpPr txBox="1"/>
          <p:nvPr/>
        </p:nvSpPr>
        <p:spPr>
          <a:xfrm>
            <a:off x="4480560" y="4910327"/>
            <a:ext cx="1737360" cy="219456"/>
          </a:xfrm>
          <a:prstGeom prst="rect">
            <a:avLst/>
          </a:prstGeom>
          <a:noFill/>
        </p:spPr>
        <p:txBody>
          <a:bodyPr wrap="square" lIns="0" rIns="0" tIns="0" bIns="0" anchor="ctr">
            <a:spAutoFit/>
          </a:bodyPr>
          <a:lstStyle/>
          <a:p>
            <a:pPr algn="l"/>
            <a:r>
              <a:rPr sz="1150" b="0" i="0">
                <a:solidFill>
                  <a:srgbClr val="545B64"/>
                </a:solidFill>
                <a:latin typeface="Calibri"/>
              </a:rPr>
              <a:t>A · DIY</a:t>
            </a:r>
          </a:p>
        </p:txBody>
      </p:sp>
      <p:sp>
        <p:nvSpPr>
          <p:cNvPr id="62" name="TextBox 61"/>
          <p:cNvSpPr txBox="1"/>
          <p:nvPr/>
        </p:nvSpPr>
        <p:spPr>
          <a:xfrm>
            <a:off x="6035040" y="4910327"/>
            <a:ext cx="1554480" cy="219456"/>
          </a:xfrm>
          <a:prstGeom prst="rect">
            <a:avLst/>
          </a:prstGeom>
          <a:noFill/>
        </p:spPr>
        <p:txBody>
          <a:bodyPr wrap="square" lIns="0" rIns="0" tIns="0" bIns="0" anchor="ctr">
            <a:spAutoFit/>
          </a:bodyPr>
          <a:lstStyle/>
          <a:p>
            <a:pPr algn="r"/>
            <a:r>
              <a:rPr sz="1150" b="0" i="0">
                <a:solidFill>
                  <a:srgbClr val="545B64"/>
                </a:solidFill>
                <a:latin typeface="Calibri"/>
              </a:rPr>
              <a:t>—</a:t>
            </a:r>
          </a:p>
        </p:txBody>
      </p:sp>
      <p:sp>
        <p:nvSpPr>
          <p:cNvPr id="63" name="TextBox 62"/>
          <p:cNvSpPr txBox="1"/>
          <p:nvPr/>
        </p:nvSpPr>
        <p:spPr>
          <a:xfrm>
            <a:off x="7772400" y="4910327"/>
            <a:ext cx="1645920" cy="219456"/>
          </a:xfrm>
          <a:prstGeom prst="rect">
            <a:avLst/>
          </a:prstGeom>
          <a:noFill/>
        </p:spPr>
        <p:txBody>
          <a:bodyPr wrap="square" lIns="0" rIns="0" tIns="0" bIns="0" anchor="ctr">
            <a:spAutoFit/>
          </a:bodyPr>
          <a:lstStyle/>
          <a:p>
            <a:pPr algn="r"/>
            <a:r>
              <a:rPr sz="1150" b="0" i="0">
                <a:solidFill>
                  <a:srgbClr val="545B64"/>
                </a:solidFill>
                <a:latin typeface="Calibri"/>
              </a:rPr>
              <a:t>$0.0006</a:t>
            </a:r>
          </a:p>
        </p:txBody>
      </p:sp>
      <p:sp>
        <p:nvSpPr>
          <p:cNvPr id="64" name="TextBox 63"/>
          <p:cNvSpPr txBox="1"/>
          <p:nvPr/>
        </p:nvSpPr>
        <p:spPr>
          <a:xfrm>
            <a:off x="9692640" y="4910327"/>
            <a:ext cx="1965960" cy="219456"/>
          </a:xfrm>
          <a:prstGeom prst="rect">
            <a:avLst/>
          </a:prstGeom>
          <a:noFill/>
        </p:spPr>
        <p:txBody>
          <a:bodyPr wrap="square" lIns="0" rIns="0" tIns="0" bIns="0" anchor="ctr">
            <a:spAutoFit/>
          </a:bodyPr>
          <a:lstStyle/>
          <a:p>
            <a:pPr algn="r"/>
            <a:r>
              <a:rPr sz="1150" b="0" i="0">
                <a:solidFill>
                  <a:srgbClr val="545B64"/>
                </a:solidFill>
                <a:latin typeface="Calibri"/>
              </a:rPr>
              <a:t>$0.0006</a:t>
            </a:r>
          </a:p>
        </p:txBody>
      </p:sp>
      <p:cxnSp>
        <p:nvCxnSpPr>
          <p:cNvPr id="65" name="Connector 64"/>
          <p:cNvCxnSpPr/>
          <p:nvPr/>
        </p:nvCxnSpPr>
        <p:spPr>
          <a:xfrm>
            <a:off x="548640" y="5125212"/>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66928" y="5212079"/>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9808" y="5143499"/>
            <a:ext cx="3639312" cy="219456"/>
          </a:xfrm>
          <a:prstGeom prst="rect">
            <a:avLst/>
          </a:prstGeom>
          <a:noFill/>
        </p:spPr>
        <p:txBody>
          <a:bodyPr wrap="square" lIns="0" rIns="0" tIns="0" bIns="0" anchor="ctr">
            <a:spAutoFit/>
          </a:bodyPr>
          <a:lstStyle/>
          <a:p>
            <a:pPr algn="l"/>
            <a:r>
              <a:rPr sz="1200" b="0" i="0">
                <a:solidFill>
                  <a:srgbClr val="545B64"/>
                </a:solidFill>
                <a:latin typeface="Calibri"/>
              </a:rPr>
              <a:t>AgentCore Gateway</a:t>
            </a:r>
          </a:p>
        </p:txBody>
      </p:sp>
      <p:sp>
        <p:nvSpPr>
          <p:cNvPr id="68" name="TextBox 67"/>
          <p:cNvSpPr txBox="1"/>
          <p:nvPr/>
        </p:nvSpPr>
        <p:spPr>
          <a:xfrm>
            <a:off x="4480560" y="5143499"/>
            <a:ext cx="1737360" cy="219456"/>
          </a:xfrm>
          <a:prstGeom prst="rect">
            <a:avLst/>
          </a:prstGeom>
          <a:noFill/>
        </p:spPr>
        <p:txBody>
          <a:bodyPr wrap="square" lIns="0" rIns="0" tIns="0" bIns="0" anchor="ctr">
            <a:spAutoFit/>
          </a:bodyPr>
          <a:lstStyle/>
          <a:p>
            <a:pPr algn="l"/>
            <a:r>
              <a:rPr sz="1150" b="0" i="0">
                <a:solidFill>
                  <a:srgbClr val="545B64"/>
                </a:solidFill>
                <a:latin typeface="Calibri"/>
              </a:rPr>
              <a:t>B · AgentCore</a:t>
            </a:r>
          </a:p>
        </p:txBody>
      </p:sp>
      <p:sp>
        <p:nvSpPr>
          <p:cNvPr id="69" name="TextBox 68"/>
          <p:cNvSpPr txBox="1"/>
          <p:nvPr/>
        </p:nvSpPr>
        <p:spPr>
          <a:xfrm>
            <a:off x="6035040" y="5143499"/>
            <a:ext cx="1554480" cy="219456"/>
          </a:xfrm>
          <a:prstGeom prst="rect">
            <a:avLst/>
          </a:prstGeom>
          <a:noFill/>
        </p:spPr>
        <p:txBody>
          <a:bodyPr wrap="square" lIns="0" rIns="0" tIns="0" bIns="0" anchor="ctr">
            <a:spAutoFit/>
          </a:bodyPr>
          <a:lstStyle/>
          <a:p>
            <a:pPr algn="r"/>
            <a:r>
              <a:rPr sz="1150" b="0" i="0">
                <a:solidFill>
                  <a:srgbClr val="545B64"/>
                </a:solidFill>
                <a:latin typeface="Calibri"/>
              </a:rPr>
              <a:t>$0.0006</a:t>
            </a:r>
          </a:p>
        </p:txBody>
      </p:sp>
      <p:sp>
        <p:nvSpPr>
          <p:cNvPr id="70" name="TextBox 69"/>
          <p:cNvSpPr txBox="1"/>
          <p:nvPr/>
        </p:nvSpPr>
        <p:spPr>
          <a:xfrm>
            <a:off x="7772400" y="5143499"/>
            <a:ext cx="1645920" cy="219456"/>
          </a:xfrm>
          <a:prstGeom prst="rect">
            <a:avLst/>
          </a:prstGeom>
          <a:noFill/>
        </p:spPr>
        <p:txBody>
          <a:bodyPr wrap="square" lIns="0" rIns="0" tIns="0" bIns="0" anchor="ctr">
            <a:spAutoFit/>
          </a:bodyPr>
          <a:lstStyle/>
          <a:p>
            <a:pPr algn="r"/>
            <a:r>
              <a:rPr sz="1150" b="0" i="0">
                <a:solidFill>
                  <a:srgbClr val="545B64"/>
                </a:solidFill>
                <a:latin typeface="Calibri"/>
              </a:rPr>
              <a:t>—</a:t>
            </a:r>
          </a:p>
        </p:txBody>
      </p:sp>
      <p:sp>
        <p:nvSpPr>
          <p:cNvPr id="71" name="TextBox 70"/>
          <p:cNvSpPr txBox="1"/>
          <p:nvPr/>
        </p:nvSpPr>
        <p:spPr>
          <a:xfrm>
            <a:off x="9692640" y="5143499"/>
            <a:ext cx="1965960" cy="219456"/>
          </a:xfrm>
          <a:prstGeom prst="rect">
            <a:avLst/>
          </a:prstGeom>
          <a:noFill/>
        </p:spPr>
        <p:txBody>
          <a:bodyPr wrap="square" lIns="0" rIns="0" tIns="0" bIns="0" anchor="ctr">
            <a:spAutoFit/>
          </a:bodyPr>
          <a:lstStyle/>
          <a:p>
            <a:pPr algn="r"/>
            <a:r>
              <a:rPr sz="1150" b="0" i="0">
                <a:solidFill>
                  <a:srgbClr val="545B64"/>
                </a:solidFill>
                <a:latin typeface="Calibri"/>
              </a:rPr>
              <a:t>$0.0006</a:t>
            </a:r>
          </a:p>
        </p:txBody>
      </p:sp>
      <p:cxnSp>
        <p:nvCxnSpPr>
          <p:cNvPr id="72" name="Connector 71"/>
          <p:cNvCxnSpPr/>
          <p:nvPr/>
        </p:nvCxnSpPr>
        <p:spPr>
          <a:xfrm>
            <a:off x="548640" y="5358383"/>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566928" y="5445251"/>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49808" y="5376671"/>
            <a:ext cx="3639312" cy="219456"/>
          </a:xfrm>
          <a:prstGeom prst="rect">
            <a:avLst/>
          </a:prstGeom>
          <a:noFill/>
        </p:spPr>
        <p:txBody>
          <a:bodyPr wrap="square" lIns="0" rIns="0" tIns="0" bIns="0" anchor="ctr">
            <a:spAutoFit/>
          </a:bodyPr>
          <a:lstStyle/>
          <a:p>
            <a:pPr algn="l"/>
            <a:r>
              <a:rPr sz="1200" b="0" i="0">
                <a:solidFill>
                  <a:srgbClr val="545B64"/>
                </a:solidFill>
                <a:latin typeface="Calibri"/>
              </a:rPr>
              <a:t>AgentCore Memory</a:t>
            </a:r>
          </a:p>
        </p:txBody>
      </p:sp>
      <p:sp>
        <p:nvSpPr>
          <p:cNvPr id="75" name="TextBox 74"/>
          <p:cNvSpPr txBox="1"/>
          <p:nvPr/>
        </p:nvSpPr>
        <p:spPr>
          <a:xfrm>
            <a:off x="4480560" y="5376671"/>
            <a:ext cx="1737360" cy="219456"/>
          </a:xfrm>
          <a:prstGeom prst="rect">
            <a:avLst/>
          </a:prstGeom>
          <a:noFill/>
        </p:spPr>
        <p:txBody>
          <a:bodyPr wrap="square" lIns="0" rIns="0" tIns="0" bIns="0" anchor="ctr">
            <a:spAutoFit/>
          </a:bodyPr>
          <a:lstStyle/>
          <a:p>
            <a:pPr algn="l"/>
            <a:r>
              <a:rPr sz="1150" b="0" i="0">
                <a:solidFill>
                  <a:srgbClr val="545B64"/>
                </a:solidFill>
                <a:latin typeface="Calibri"/>
              </a:rPr>
              <a:t>B · AgentCore</a:t>
            </a:r>
          </a:p>
        </p:txBody>
      </p:sp>
      <p:sp>
        <p:nvSpPr>
          <p:cNvPr id="76" name="TextBox 75"/>
          <p:cNvSpPr txBox="1"/>
          <p:nvPr/>
        </p:nvSpPr>
        <p:spPr>
          <a:xfrm>
            <a:off x="6035040" y="5376671"/>
            <a:ext cx="1554480" cy="219456"/>
          </a:xfrm>
          <a:prstGeom prst="rect">
            <a:avLst/>
          </a:prstGeom>
          <a:noFill/>
        </p:spPr>
        <p:txBody>
          <a:bodyPr wrap="square" lIns="0" rIns="0" tIns="0" bIns="0" anchor="ctr">
            <a:spAutoFit/>
          </a:bodyPr>
          <a:lstStyle/>
          <a:p>
            <a:pPr algn="r"/>
            <a:r>
              <a:rPr sz="1150" b="0" i="0">
                <a:solidFill>
                  <a:srgbClr val="545B64"/>
                </a:solidFill>
                <a:latin typeface="Calibri"/>
              </a:rPr>
              <a:t>—</a:t>
            </a:r>
          </a:p>
        </p:txBody>
      </p:sp>
      <p:sp>
        <p:nvSpPr>
          <p:cNvPr id="77" name="TextBox 76"/>
          <p:cNvSpPr txBox="1"/>
          <p:nvPr/>
        </p:nvSpPr>
        <p:spPr>
          <a:xfrm>
            <a:off x="7772400" y="5376671"/>
            <a:ext cx="1645920" cy="219456"/>
          </a:xfrm>
          <a:prstGeom prst="rect">
            <a:avLst/>
          </a:prstGeom>
          <a:noFill/>
        </p:spPr>
        <p:txBody>
          <a:bodyPr wrap="square" lIns="0" rIns="0" tIns="0" bIns="0" anchor="ctr">
            <a:spAutoFit/>
          </a:bodyPr>
          <a:lstStyle/>
          <a:p>
            <a:pPr algn="r"/>
            <a:r>
              <a:rPr sz="1150" b="0" i="0">
                <a:solidFill>
                  <a:srgbClr val="545B64"/>
                </a:solidFill>
                <a:latin typeface="Calibri"/>
              </a:rPr>
              <a:t>$0.098</a:t>
            </a:r>
          </a:p>
        </p:txBody>
      </p:sp>
      <p:sp>
        <p:nvSpPr>
          <p:cNvPr id="78" name="TextBox 77"/>
          <p:cNvSpPr txBox="1"/>
          <p:nvPr/>
        </p:nvSpPr>
        <p:spPr>
          <a:xfrm>
            <a:off x="9692640" y="5376671"/>
            <a:ext cx="1965960" cy="219456"/>
          </a:xfrm>
          <a:prstGeom prst="rect">
            <a:avLst/>
          </a:prstGeom>
          <a:noFill/>
        </p:spPr>
        <p:txBody>
          <a:bodyPr wrap="square" lIns="0" rIns="0" tIns="0" bIns="0" anchor="ctr">
            <a:spAutoFit/>
          </a:bodyPr>
          <a:lstStyle/>
          <a:p>
            <a:pPr algn="r"/>
            <a:r>
              <a:rPr sz="1150" b="0" i="0">
                <a:solidFill>
                  <a:srgbClr val="545B64"/>
                </a:solidFill>
                <a:latin typeface="Calibri"/>
              </a:rPr>
              <a:t>$0.098</a:t>
            </a:r>
          </a:p>
        </p:txBody>
      </p:sp>
      <p:cxnSp>
        <p:nvCxnSpPr>
          <p:cNvPr id="79" name="Connector 78"/>
          <p:cNvCxnSpPr/>
          <p:nvPr/>
        </p:nvCxnSpPr>
        <p:spPr>
          <a:xfrm>
            <a:off x="548640" y="5591555"/>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566928" y="5678423"/>
            <a:ext cx="91440" cy="91440"/>
          </a:xfrm>
          <a:prstGeom prst="ellipse">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49808" y="5609843"/>
            <a:ext cx="3639312" cy="219456"/>
          </a:xfrm>
          <a:prstGeom prst="rect">
            <a:avLst/>
          </a:prstGeom>
          <a:noFill/>
        </p:spPr>
        <p:txBody>
          <a:bodyPr wrap="square" lIns="0" rIns="0" tIns="0" bIns="0" anchor="ctr">
            <a:spAutoFit/>
          </a:bodyPr>
          <a:lstStyle/>
          <a:p>
            <a:pPr algn="l"/>
            <a:r>
              <a:rPr sz="1200" b="0" i="0">
                <a:solidFill>
                  <a:srgbClr val="545B64"/>
                </a:solidFill>
                <a:latin typeface="Calibri"/>
              </a:rPr>
              <a:t>AgentCore Runtime</a:t>
            </a:r>
          </a:p>
        </p:txBody>
      </p:sp>
      <p:sp>
        <p:nvSpPr>
          <p:cNvPr id="82" name="TextBox 81"/>
          <p:cNvSpPr txBox="1"/>
          <p:nvPr/>
        </p:nvSpPr>
        <p:spPr>
          <a:xfrm>
            <a:off x="4480560" y="5609843"/>
            <a:ext cx="1737360" cy="219456"/>
          </a:xfrm>
          <a:prstGeom prst="rect">
            <a:avLst/>
          </a:prstGeom>
          <a:noFill/>
        </p:spPr>
        <p:txBody>
          <a:bodyPr wrap="square" lIns="0" rIns="0" tIns="0" bIns="0" anchor="ctr">
            <a:spAutoFit/>
          </a:bodyPr>
          <a:lstStyle/>
          <a:p>
            <a:pPr algn="l"/>
            <a:r>
              <a:rPr sz="1150" b="0" i="0">
                <a:solidFill>
                  <a:srgbClr val="545B64"/>
                </a:solidFill>
                <a:latin typeface="Calibri"/>
              </a:rPr>
              <a:t>B · AgentCore</a:t>
            </a:r>
          </a:p>
        </p:txBody>
      </p:sp>
      <p:sp>
        <p:nvSpPr>
          <p:cNvPr id="83" name="TextBox 82"/>
          <p:cNvSpPr txBox="1"/>
          <p:nvPr/>
        </p:nvSpPr>
        <p:spPr>
          <a:xfrm>
            <a:off x="6035040" y="5609843"/>
            <a:ext cx="1554480" cy="219456"/>
          </a:xfrm>
          <a:prstGeom prst="rect">
            <a:avLst/>
          </a:prstGeom>
          <a:noFill/>
        </p:spPr>
        <p:txBody>
          <a:bodyPr wrap="square" lIns="0" rIns="0" tIns="0" bIns="0" anchor="ctr">
            <a:spAutoFit/>
          </a:bodyPr>
          <a:lstStyle/>
          <a:p>
            <a:pPr algn="r"/>
            <a:r>
              <a:rPr sz="1150" b="0" i="0">
                <a:solidFill>
                  <a:srgbClr val="545B64"/>
                </a:solidFill>
                <a:latin typeface="Calibri"/>
              </a:rPr>
              <a:t>—</a:t>
            </a:r>
          </a:p>
        </p:txBody>
      </p:sp>
      <p:sp>
        <p:nvSpPr>
          <p:cNvPr id="84" name="TextBox 83"/>
          <p:cNvSpPr txBox="1"/>
          <p:nvPr/>
        </p:nvSpPr>
        <p:spPr>
          <a:xfrm>
            <a:off x="7772400" y="5609843"/>
            <a:ext cx="1645920" cy="219456"/>
          </a:xfrm>
          <a:prstGeom prst="rect">
            <a:avLst/>
          </a:prstGeom>
          <a:noFill/>
        </p:spPr>
        <p:txBody>
          <a:bodyPr wrap="square" lIns="0" rIns="0" tIns="0" bIns="0" anchor="ctr">
            <a:spAutoFit/>
          </a:bodyPr>
          <a:lstStyle/>
          <a:p>
            <a:pPr algn="r"/>
            <a:r>
              <a:rPr sz="1150" b="0" i="0">
                <a:solidFill>
                  <a:srgbClr val="545B64"/>
                </a:solidFill>
                <a:latin typeface="Calibri"/>
              </a:rPr>
              <a:t>$0.0047</a:t>
            </a:r>
          </a:p>
        </p:txBody>
      </p:sp>
      <p:sp>
        <p:nvSpPr>
          <p:cNvPr id="85" name="TextBox 84"/>
          <p:cNvSpPr txBox="1"/>
          <p:nvPr/>
        </p:nvSpPr>
        <p:spPr>
          <a:xfrm>
            <a:off x="9692640" y="5609843"/>
            <a:ext cx="1965960" cy="219456"/>
          </a:xfrm>
          <a:prstGeom prst="rect">
            <a:avLst/>
          </a:prstGeom>
          <a:noFill/>
        </p:spPr>
        <p:txBody>
          <a:bodyPr wrap="square" lIns="0" rIns="0" tIns="0" bIns="0" anchor="ctr">
            <a:spAutoFit/>
          </a:bodyPr>
          <a:lstStyle/>
          <a:p>
            <a:pPr algn="r"/>
            <a:r>
              <a:rPr sz="1150" b="0" i="0">
                <a:solidFill>
                  <a:srgbClr val="545B64"/>
                </a:solidFill>
                <a:latin typeface="Calibri"/>
              </a:rPr>
              <a:t>$0.0047</a:t>
            </a:r>
          </a:p>
        </p:txBody>
      </p:sp>
      <p:cxnSp>
        <p:nvCxnSpPr>
          <p:cNvPr id="86" name="Connector 85"/>
          <p:cNvCxnSpPr/>
          <p:nvPr/>
        </p:nvCxnSpPr>
        <p:spPr>
          <a:xfrm>
            <a:off x="548640" y="5824727"/>
            <a:ext cx="11109960" cy="0"/>
          </a:xfrm>
          <a:prstGeom prst="line">
            <a:avLst/>
          </a:prstGeom>
          <a:ln w="9525">
            <a:solidFill>
              <a:srgbClr val="E4E7EA"/>
            </a:solidFill>
          </a:ln>
          <a:effectLst/>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566928" y="5843015"/>
            <a:ext cx="3822191" cy="219456"/>
          </a:xfrm>
          <a:prstGeom prst="rect">
            <a:avLst/>
          </a:prstGeom>
          <a:noFill/>
        </p:spPr>
        <p:txBody>
          <a:bodyPr wrap="square" lIns="0" rIns="0" tIns="0" bIns="0" anchor="ctr">
            <a:spAutoFit/>
          </a:bodyPr>
          <a:lstStyle/>
          <a:p>
            <a:pPr algn="l"/>
            <a:r>
              <a:rPr sz="1200" b="1" i="0">
                <a:solidFill>
                  <a:srgbClr val="232F3E"/>
                </a:solidFill>
                <a:latin typeface="Calibri"/>
              </a:rPr>
              <a:t>Engine A total, one user</a:t>
            </a:r>
          </a:p>
        </p:txBody>
      </p:sp>
      <p:sp>
        <p:nvSpPr>
          <p:cNvPr id="88" name="TextBox 87"/>
          <p:cNvSpPr txBox="1"/>
          <p:nvPr/>
        </p:nvSpPr>
        <p:spPr>
          <a:xfrm>
            <a:off x="4480560" y="5843015"/>
            <a:ext cx="1737360" cy="219456"/>
          </a:xfrm>
          <a:prstGeom prst="rect">
            <a:avLst/>
          </a:prstGeom>
          <a:noFill/>
        </p:spPr>
        <p:txBody>
          <a:bodyPr wrap="square" lIns="0" rIns="0" tIns="0" bIns="0" anchor="ctr">
            <a:spAutoFit/>
          </a:bodyPr>
          <a:lstStyle/>
          <a:p>
            <a:pPr algn="l"/>
            <a:r>
              <a:rPr sz="1150" b="1" i="0">
                <a:solidFill>
                  <a:srgbClr val="232F3E"/>
                </a:solidFill>
                <a:latin typeface="Calibri"/>
              </a:rPr>
              <a:t>A · DIY</a:t>
            </a:r>
          </a:p>
        </p:txBody>
      </p:sp>
      <p:sp>
        <p:nvSpPr>
          <p:cNvPr id="89" name="TextBox 88"/>
          <p:cNvSpPr txBox="1"/>
          <p:nvPr/>
        </p:nvSpPr>
        <p:spPr>
          <a:xfrm>
            <a:off x="6035040" y="5843015"/>
            <a:ext cx="1554480" cy="219456"/>
          </a:xfrm>
          <a:prstGeom prst="rect">
            <a:avLst/>
          </a:prstGeom>
          <a:noFill/>
        </p:spPr>
        <p:txBody>
          <a:bodyPr wrap="square" lIns="0" rIns="0" tIns="0" bIns="0" anchor="ctr">
            <a:spAutoFit/>
          </a:bodyPr>
          <a:lstStyle/>
          <a:p>
            <a:pPr algn="r"/>
            <a:r>
              <a:rPr sz="1150" b="1" i="0">
                <a:solidFill>
                  <a:srgbClr val="232F3E"/>
                </a:solidFill>
                <a:latin typeface="Calibri"/>
              </a:rPr>
              <a:t>$18.02</a:t>
            </a:r>
          </a:p>
        </p:txBody>
      </p:sp>
      <p:sp>
        <p:nvSpPr>
          <p:cNvPr id="90" name="TextBox 89"/>
          <p:cNvSpPr txBox="1"/>
          <p:nvPr/>
        </p:nvSpPr>
        <p:spPr>
          <a:xfrm>
            <a:off x="7772400" y="5843015"/>
            <a:ext cx="1645920" cy="219456"/>
          </a:xfrm>
          <a:prstGeom prst="rect">
            <a:avLst/>
          </a:prstGeom>
          <a:noFill/>
        </p:spPr>
        <p:txBody>
          <a:bodyPr wrap="square" lIns="0" rIns="0" tIns="0" bIns="0" anchor="ctr">
            <a:spAutoFit/>
          </a:bodyPr>
          <a:lstStyle/>
          <a:p>
            <a:pPr algn="r"/>
            <a:r>
              <a:rPr sz="1150" b="1" i="0">
                <a:solidFill>
                  <a:srgbClr val="232F3E"/>
                </a:solidFill>
                <a:latin typeface="Calibri"/>
              </a:rPr>
              <a:t>$1.386</a:t>
            </a:r>
          </a:p>
        </p:txBody>
      </p:sp>
      <p:sp>
        <p:nvSpPr>
          <p:cNvPr id="91" name="TextBox 90"/>
          <p:cNvSpPr txBox="1"/>
          <p:nvPr/>
        </p:nvSpPr>
        <p:spPr>
          <a:xfrm>
            <a:off x="9692640" y="5843015"/>
            <a:ext cx="1965960" cy="219456"/>
          </a:xfrm>
          <a:prstGeom prst="rect">
            <a:avLst/>
          </a:prstGeom>
          <a:noFill/>
        </p:spPr>
        <p:txBody>
          <a:bodyPr wrap="square" lIns="0" rIns="0" tIns="0" bIns="0" anchor="ctr">
            <a:spAutoFit/>
          </a:bodyPr>
          <a:lstStyle/>
          <a:p>
            <a:pPr algn="r"/>
            <a:r>
              <a:rPr sz="1150" b="1" i="0">
                <a:solidFill>
                  <a:srgbClr val="232F3E"/>
                </a:solidFill>
                <a:latin typeface="Calibri"/>
              </a:rPr>
              <a:t>$19.41</a:t>
            </a:r>
          </a:p>
        </p:txBody>
      </p:sp>
      <p:cxnSp>
        <p:nvCxnSpPr>
          <p:cNvPr id="92" name="Connector 91"/>
          <p:cNvCxnSpPr/>
          <p:nvPr/>
        </p:nvCxnSpPr>
        <p:spPr>
          <a:xfrm>
            <a:off x="548640" y="6057899"/>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
        <p:nvSpPr>
          <p:cNvPr id="93" name="TextBox 92"/>
          <p:cNvSpPr txBox="1"/>
          <p:nvPr/>
        </p:nvSpPr>
        <p:spPr>
          <a:xfrm>
            <a:off x="566928" y="6076187"/>
            <a:ext cx="3822191" cy="219456"/>
          </a:xfrm>
          <a:prstGeom prst="rect">
            <a:avLst/>
          </a:prstGeom>
          <a:noFill/>
        </p:spPr>
        <p:txBody>
          <a:bodyPr wrap="square" lIns="0" rIns="0" tIns="0" bIns="0" anchor="ctr">
            <a:spAutoFit/>
          </a:bodyPr>
          <a:lstStyle/>
          <a:p>
            <a:pPr algn="l"/>
            <a:r>
              <a:rPr sz="1200" b="1" i="0">
                <a:solidFill>
                  <a:srgbClr val="232F3E"/>
                </a:solidFill>
                <a:latin typeface="Calibri"/>
              </a:rPr>
              <a:t>Engine B total, one user</a:t>
            </a:r>
          </a:p>
        </p:txBody>
      </p:sp>
      <p:sp>
        <p:nvSpPr>
          <p:cNvPr id="94" name="TextBox 93"/>
          <p:cNvSpPr txBox="1"/>
          <p:nvPr/>
        </p:nvSpPr>
        <p:spPr>
          <a:xfrm>
            <a:off x="4480560" y="6076187"/>
            <a:ext cx="1737360" cy="219456"/>
          </a:xfrm>
          <a:prstGeom prst="rect">
            <a:avLst/>
          </a:prstGeom>
          <a:noFill/>
        </p:spPr>
        <p:txBody>
          <a:bodyPr wrap="square" lIns="0" rIns="0" tIns="0" bIns="0" anchor="ctr">
            <a:spAutoFit/>
          </a:bodyPr>
          <a:lstStyle/>
          <a:p>
            <a:pPr algn="l"/>
            <a:r>
              <a:rPr sz="1150" b="1" i="0">
                <a:solidFill>
                  <a:srgbClr val="232F3E"/>
                </a:solidFill>
                <a:latin typeface="Calibri"/>
              </a:rPr>
              <a:t>B · AgentCore</a:t>
            </a:r>
          </a:p>
        </p:txBody>
      </p:sp>
      <p:sp>
        <p:nvSpPr>
          <p:cNvPr id="95" name="TextBox 94"/>
          <p:cNvSpPr txBox="1"/>
          <p:nvPr/>
        </p:nvSpPr>
        <p:spPr>
          <a:xfrm>
            <a:off x="6035040" y="6076187"/>
            <a:ext cx="1554480" cy="219456"/>
          </a:xfrm>
          <a:prstGeom prst="rect">
            <a:avLst/>
          </a:prstGeom>
          <a:noFill/>
        </p:spPr>
        <p:txBody>
          <a:bodyPr wrap="square" lIns="0" rIns="0" tIns="0" bIns="0" anchor="ctr">
            <a:spAutoFit/>
          </a:bodyPr>
          <a:lstStyle/>
          <a:p>
            <a:pPr algn="r"/>
            <a:r>
              <a:rPr sz="1150" b="1" i="0">
                <a:solidFill>
                  <a:srgbClr val="232F3E"/>
                </a:solidFill>
                <a:latin typeface="Calibri"/>
              </a:rPr>
              <a:t>$0.0006</a:t>
            </a:r>
          </a:p>
        </p:txBody>
      </p:sp>
      <p:sp>
        <p:nvSpPr>
          <p:cNvPr id="96" name="TextBox 95"/>
          <p:cNvSpPr txBox="1"/>
          <p:nvPr/>
        </p:nvSpPr>
        <p:spPr>
          <a:xfrm>
            <a:off x="7772400" y="6076187"/>
            <a:ext cx="1645920" cy="219456"/>
          </a:xfrm>
          <a:prstGeom prst="rect">
            <a:avLst/>
          </a:prstGeom>
          <a:noFill/>
        </p:spPr>
        <p:txBody>
          <a:bodyPr wrap="square" lIns="0" rIns="0" tIns="0" bIns="0" anchor="ctr">
            <a:spAutoFit/>
          </a:bodyPr>
          <a:lstStyle/>
          <a:p>
            <a:pPr algn="r"/>
            <a:r>
              <a:rPr sz="1150" b="1" i="0">
                <a:solidFill>
                  <a:srgbClr val="232F3E"/>
                </a:solidFill>
                <a:latin typeface="Calibri"/>
              </a:rPr>
              <a:t>$0.1029</a:t>
            </a:r>
          </a:p>
        </p:txBody>
      </p:sp>
      <p:sp>
        <p:nvSpPr>
          <p:cNvPr id="97" name="TextBox 96"/>
          <p:cNvSpPr txBox="1"/>
          <p:nvPr/>
        </p:nvSpPr>
        <p:spPr>
          <a:xfrm>
            <a:off x="9692640" y="6076187"/>
            <a:ext cx="1965960" cy="219456"/>
          </a:xfrm>
          <a:prstGeom prst="rect">
            <a:avLst/>
          </a:prstGeom>
          <a:noFill/>
        </p:spPr>
        <p:txBody>
          <a:bodyPr wrap="square" lIns="0" rIns="0" tIns="0" bIns="0" anchor="ctr">
            <a:spAutoFit/>
          </a:bodyPr>
          <a:lstStyle/>
          <a:p>
            <a:pPr algn="r"/>
            <a:r>
              <a:rPr sz="1150" b="1" i="0">
                <a:solidFill>
                  <a:srgbClr val="232F3E"/>
                </a:solidFill>
                <a:latin typeface="Calibri"/>
              </a:rPr>
              <a:t>$0.10</a:t>
            </a:r>
          </a:p>
        </p:txBody>
      </p:sp>
      <p:cxnSp>
        <p:nvCxnSpPr>
          <p:cNvPr id="98" name="Connector 97"/>
          <p:cNvCxnSpPr/>
          <p:nvPr/>
        </p:nvCxnSpPr>
        <p:spPr>
          <a:xfrm>
            <a:off x="548640" y="6291071"/>
            <a:ext cx="11109960" cy="0"/>
          </a:xfrm>
          <a:prstGeom prst="line">
            <a:avLst/>
          </a:prstGeom>
          <a:ln w="15875">
            <a:solidFill>
              <a:srgbClr val="232F3E"/>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2985</Words>
  <Application>Microsoft Macintosh PowerPoint</Application>
  <PresentationFormat>Widescreen</PresentationFormat>
  <Paragraphs>284</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Coral Steinberg</cp:lastModifiedBy>
  <cp:revision>3</cp:revision>
  <dcterms:created xsi:type="dcterms:W3CDTF">2013-01-27T09:14:16Z</dcterms:created>
  <dcterms:modified xsi:type="dcterms:W3CDTF">2026-09-06T11:42:30Z</dcterms:modified>
  <cp:category/>
</cp:coreProperties>
</file>