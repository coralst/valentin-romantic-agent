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Lato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F2A37"/>
                </a:solidFill>
                <a:latin typeface="Lato"/>
              </a:rPr>
              <a:t>What it actually cost —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37160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B03A2B"/>
                </a:solidFill>
                <a:latin typeface="Lato"/>
              </a:rPr>
              <a:t>FORMAT PREVIEW — every number on this slide is invented. Layout, units and sources are final; magnitudes are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11064240" cy="658368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1900" b="1" i="0">
                <a:solidFill>
                  <a:srgbClr val="1F2A37"/>
                </a:solidFill>
                <a:latin typeface="Lato"/>
              </a:rPr>
              <a:t>Engine B costs 30% less per turn — and 1.8x more per month. They cross over at ~20 users.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578608"/>
            <a:ext cx="5532120" cy="2788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578608"/>
            <a:ext cx="45720" cy="2788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724912"/>
            <a:ext cx="51206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2E7D32"/>
                </a:solidFill>
                <a:latin typeface="Lato"/>
              </a:rPr>
              <a:t>COST  ·  $ per user per month</a:t>
            </a:r>
          </a:p>
          <a:p>
            <a:pPr algn="l">
              <a:spcBef>
                <a:spcPts val="0"/>
              </a:spcBef>
            </a:pPr>
            <a:r>
              <a:rPr sz="500" b="0" i="0">
                <a:solidFill>
                  <a:srgbClr val="444C56"/>
                </a:solidFill>
                <a:latin typeface="Lato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7A8490"/>
                </a:solidFill>
                <a:latin typeface="Menlo"/>
              </a:rPr>
              <a:t>                                 ENGINE A   ENGINE B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Bedrock tokens                      $2.94      $1.71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AgentCore Memory                        —      $0.28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AgentCore Runtime                       —      $0.03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AgentCore Gateway                       —      $0.02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Tool Lambdas                            —      $0.01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DynamoDB                            $0.01      $0.01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Fargate rent (730 h)               $18.03     $36.06</a:t>
            </a:r>
          </a:p>
          <a:p>
            <a:pPr algn="l">
              <a:spcBef>
                <a:spcPts val="0"/>
              </a:spcBef>
            </a:pPr>
            <a:r>
              <a:rPr sz="400" b="0" i="0">
                <a:solidFill>
                  <a:srgbClr val="444C56"/>
                </a:solidFill>
                <a:latin typeface="Lato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F2A37"/>
                </a:solidFill>
                <a:latin typeface="Menlo"/>
              </a:rPr>
              <a:t>TOTAL                              $20.98     $38.12</a:t>
            </a:r>
          </a:p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2E7D32"/>
                </a:solidFill>
                <a:latin typeface="Menlo"/>
              </a:rPr>
              <a:t>variable, per turn                $0.0246    $0.0172</a:t>
            </a:r>
          </a:p>
          <a:p>
            <a:pPr algn="l">
              <a:spcBef>
                <a:spcPts val="600"/>
              </a:spcBef>
            </a:pPr>
            <a:r>
              <a:rPr sz="850" b="0" i="1">
                <a:solidFill>
                  <a:srgbClr val="7A8490"/>
                </a:solidFill>
                <a:latin typeface="Lato"/>
              </a:rPr>
              <a:t>Fargate is analytic — 730 h/month at any turn count. Everything else is measured at 120 turns, no extrapolation.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578608"/>
            <a:ext cx="5321808" cy="2788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309360" y="2578608"/>
            <a:ext cx="45720" cy="278892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65392" y="2724912"/>
            <a:ext cx="48920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F2A37"/>
                </a:solidFill>
                <a:latin typeface="Lato"/>
              </a:rPr>
              <a:t>LATENCY  ·  what the user waits</a:t>
            </a:r>
          </a:p>
          <a:p>
            <a:pPr algn="l">
              <a:spcBef>
                <a:spcPts val="0"/>
              </a:spcBef>
            </a:pPr>
            <a:r>
              <a:rPr sz="500" b="0" i="0">
                <a:solidFill>
                  <a:srgbClr val="444C56"/>
                </a:solidFill>
                <a:latin typeface="Lato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7A8490"/>
                </a:solidFill>
                <a:latin typeface="Menlo"/>
              </a:rPr>
              <a:t>                         ENGINE A   ENGINE B</a:t>
            </a:r>
          </a:p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1F2A37"/>
                </a:solidFill>
                <a:latin typeface="Menlo"/>
              </a:rPr>
              <a:t>median                     5.92 s     9.06 s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p90                       16.16 s    14.71 s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p99                       22.40 s    27.80 s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worst turn                24.30 s    29.40 s</a:t>
            </a:r>
          </a:p>
          <a:p>
            <a:pPr algn="l">
              <a:spcBef>
                <a:spcPts val="0"/>
              </a:spcBef>
            </a:pPr>
            <a:r>
              <a:rPr sz="400" b="0" i="0">
                <a:solidFill>
                  <a:srgbClr val="444C56"/>
                </a:solidFill>
                <a:latin typeface="Lato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model calls / turn            2.8        1.9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input tokens (120 turns)  1,607,000    934,000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Menlo"/>
              </a:rPr>
              <a:t>output tokens (120 turns)     96,000     71,000</a:t>
            </a:r>
          </a:p>
          <a:p>
            <a:pPr algn="l">
              <a:spcBef>
                <a:spcPts val="600"/>
              </a:spcBef>
            </a:pPr>
            <a:r>
              <a:rPr sz="850" b="0" i="1">
                <a:solidFill>
                  <a:srgbClr val="7A8490"/>
                </a:solidFill>
                <a:latin typeface="Lato"/>
              </a:rPr>
              <a:t>Engine A's median excludes the extraction call it defers past the reply — real for the user, still on the bill. Engine B is slower at the median and tighter in the tail.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532120"/>
            <a:ext cx="11064240" cy="786384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" y="5614416"/>
            <a:ext cx="10607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E8A33D"/>
                </a:solidFill>
                <a:latin typeface="Lato"/>
              </a:rPr>
              <a:t>WHAT WE ASSUMED  →  WHAT WE MEASURED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870448"/>
            <a:ext cx="16581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A8490"/>
                </a:solidFill>
                <a:latin typeface="Lato"/>
              </a:rPr>
              <a:t>Turn latency</a:t>
            </a:r>
          </a:p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Lato"/>
              </a:rPr>
              <a:t>~2.1 s / ~2.4 s  →  5.9 s / 9.1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2512" y="5870448"/>
            <a:ext cx="16581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A8490"/>
                </a:solidFill>
                <a:latin typeface="Lato"/>
              </a:rPr>
              <a:t>Always-on tasks (B)</a:t>
            </a:r>
          </a:p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Lato"/>
              </a:rPr>
              <a:t>none  →  1 Fargate 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0352" y="5870448"/>
            <a:ext cx="16581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A8490"/>
                </a:solidFill>
                <a:latin typeface="Lato"/>
              </a:rPr>
              <a:t>Tools indexed</a:t>
            </a:r>
          </a:p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Lato"/>
              </a:rPr>
              <a:t>3  →  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5870448"/>
            <a:ext cx="16581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A8490"/>
                </a:solidFill>
                <a:latin typeface="Lato"/>
              </a:rPr>
              <a:t>Runtime per turn</a:t>
            </a:r>
          </a:p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Lato"/>
              </a:rPr>
              <a:t>3 s assumed  →  182-1,449 s billed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6032" y="5870448"/>
            <a:ext cx="16581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A8490"/>
                </a:solidFill>
                <a:latin typeface="Lato"/>
              </a:rPr>
              <a:t>Writes per turn</a:t>
            </a:r>
          </a:p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8FD194"/>
                </a:solidFill>
                <a:latin typeface="Lato"/>
              </a:rPr>
              <a:t>9  →  11 WCU measured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872" y="5870448"/>
            <a:ext cx="16581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A8490"/>
                </a:solidFill>
                <a:latin typeface="Lato"/>
              </a:rPr>
              <a:t>Gateway overhead</a:t>
            </a:r>
          </a:p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8FD194"/>
                </a:solidFill>
                <a:latin typeface="Lato"/>
              </a:rPr>
              <a:t>~300 ms  →  47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55664"/>
            <a:ext cx="11064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7A8490"/>
                </a:solidFill>
                <a:latin typeface="Lato"/>
              </a:rPr>
              <a:t>VALENTIN  ·  GenAI TFC Capstone Deep-Dive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