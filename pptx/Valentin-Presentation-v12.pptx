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93" r:id="rId5"/>
    <p:sldId id="296" r:id="rId27"/>
    <p:sldId id="259" r:id="rId6"/>
    <p:sldId id="294" r:id="rId7"/>
    <p:sldId id="281" r:id="rId8"/>
    <p:sldId id="295" r:id="rId9"/>
    <p:sldId id="290" r:id="rId10"/>
    <p:sldId id="291" r:id="rId11"/>
    <p:sldId id="292" r:id="rId12"/>
    <p:sldId id="283" r:id="rId13"/>
    <p:sldId id="287" r:id="rId14"/>
    <p:sldId id="284" r:id="rId15"/>
    <p:sldId id="285" r:id="rId16"/>
    <p:sldId id="286" r:id="rId17"/>
    <p:sldId id="289" r:id="rId18"/>
    <p:sldId id="277" r:id="rId19"/>
    <p:sldId id="278" r:id="rId20"/>
    <p:sldId id="267"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654"/>
    <p:restoredTop sz="80830"/>
  </p:normalViewPr>
  <p:slideViewPr>
    <p:cSldViewPr snapToGrid="0" snapToObjects="1">
      <p:cViewPr varScale="1">
        <p:scale>
          <a:sx n="162" d="100"/>
          <a:sy n="162" d="100"/>
        </p:scale>
        <p:origin x="4272"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41706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L"/>
          </a:p>
        </p:txBody>
      </p:sp>
      <p:sp>
        <p:nvSpPr>
          <p:cNvPr id="3" name="Notes Placeholder 2"/>
          <p:cNvSpPr>
            <a:spLocks noGrp="1"/>
          </p:cNvSpPr>
          <p:nvPr>
            <p:ph type="body" sz="quarter" idx="3"/>
          </p:nvPr>
        </p:nvSpPr>
        <p:spPr/>
        <p:txBody>
          <a:bodyPr/>
          <a:lstStyle/>
          <a:p>
            <a:r>
              <a:t>[0:20 · cumulative 0:20 of 10:00]</a:t>
            </a:r>
          </a:p>
          <a:p>
            <a:endParaRPr/>
          </a:p>
          <a:p>
            <a:r>
              <a:t>Valentin is an agent that helps me be a better partner. Ten minutes: what it does, why the loop is the interesting part, then the decision I actually came to present — build the agent platform myself on Fargate, or buy AgentCore.</a:t>
            </a:r>
          </a:p>
        </p:txBody>
      </p:sp>
      <p:sp>
        <p:nvSpPr>
          <p:cNvPr id="4" name="Slide Number Placeholder 3"/>
          <p:cNvSpPr>
            <a:spLocks noGrp="1"/>
          </p:cNvSpPr>
          <p:nvPr>
            <p:ph type="sldNum" sz="quarter" idx="5"/>
          </p:nvPr>
        </p:nvSpPr>
        <p:spPr/>
        <p:txBody>
          <a:bodyPr/>
          <a:lstStyle/>
          <a:p>
            <a:endParaRPr lang="en-IL"/>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L"/>
          </a:p>
        </p:txBody>
      </p:sp>
      <p:sp>
        <p:nvSpPr>
          <p:cNvPr id="3" name="Notes Placeholder 2"/>
          <p:cNvSpPr>
            <a:spLocks noGrp="1"/>
          </p:cNvSpPr>
          <p:nvPr>
            <p:ph type="body" sz="quarter" idx="3"/>
          </p:nvPr>
        </p:nvSpPr>
        <p:spPr/>
        <p:txBody>
          <a:bodyPr/>
          <a:lstStyle/>
          <a:p>
            <a:r>
              <a:rPr dirty="0"/>
              <a:t>[0:45 · cumulative 1:05 of 10:00]</a:t>
            </a:r>
          </a:p>
          <a:p>
            <a:endParaRPr dirty="0"/>
          </a:p>
          <a:p>
            <a:r>
              <a:rPr dirty="0"/>
              <a:t>The problem is not that I forget her birthday. It is that being thoughtful is a background job: noticing an occasion is coming, remembering what she liked last time, and doing something about it before the day arrives. That is three different jobs, and a chat window only does the middle one.</a:t>
            </a:r>
          </a:p>
        </p:txBody>
      </p:sp>
      <p:sp>
        <p:nvSpPr>
          <p:cNvPr id="4" name="Slide Number Placeholder 3"/>
          <p:cNvSpPr>
            <a:spLocks noGrp="1"/>
          </p:cNvSpPr>
          <p:nvPr>
            <p:ph type="sldNum" sz="quarter" idx="5"/>
          </p:nvPr>
        </p:nvSpPr>
        <p:spPr/>
        <p:txBody>
          <a:bodyPr/>
          <a:lstStyle/>
          <a:p>
            <a:endParaRPr lang="en-IL"/>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L"/>
          </a:p>
        </p:txBody>
      </p:sp>
      <p:sp>
        <p:nvSpPr>
          <p:cNvPr id="3" name="Notes Placeholder 2"/>
          <p:cNvSpPr>
            <a:spLocks noGrp="1"/>
          </p:cNvSpPr>
          <p:nvPr>
            <p:ph type="body" sz="quarter" idx="3"/>
          </p:nvPr>
        </p:nvSpPr>
        <p:spPr/>
        <p:txBody>
          <a:bodyPr/>
          <a:lstStyle/>
          <a:p>
            <a:r>
              <a:rPr dirty="0"/>
              <a:t>[1:05 · cumulative 2:10 of 10:00]</a:t>
            </a:r>
          </a:p>
          <a:p>
            <a:endParaRPr dirty="0"/>
          </a:p>
          <a:p>
            <a:r>
              <a:rPr dirty="0"/>
              <a:t>This is the whole system in one picture, and it is the slide I would defend hardest. An event on the timeline triggers a planning pass — that is the arrow coming up from the calendar. The agent uses tools, proposes something, we talk, and it extracts what it learned about her. Then feedback after the event can set the next event, which is the arrow going back down to the timeline. Claude is one step in that ring. </a:t>
            </a:r>
            <a:r>
              <a:rPr dirty="0" err="1"/>
              <a:t>EventBridge</a:t>
            </a:r>
            <a:r>
              <a:rPr dirty="0"/>
              <a:t> is what closes it.</a:t>
            </a:r>
          </a:p>
        </p:txBody>
      </p:sp>
      <p:sp>
        <p:nvSpPr>
          <p:cNvPr id="4" name="Slide Number Placeholder 3"/>
          <p:cNvSpPr>
            <a:spLocks noGrp="1"/>
          </p:cNvSpPr>
          <p:nvPr>
            <p:ph type="sldNum" sz="quarter" idx="5"/>
          </p:nvPr>
        </p:nvSpPr>
        <p:spPr/>
        <p:txBody>
          <a:bodyPr/>
          <a:lstStyle/>
          <a:p>
            <a:endParaRPr lang="en-IL"/>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[0:25 · cumulative 3:50 of 10:00]</a:t>
            </a:r>
          </a:p>
          <a:p>
            <a:endParaRPr/>
          </a:p>
          <a:p>
            <a:r>
              <a:t>Now the real content. Same product, built twice: engine A is the DIY build I own on Fargate; engine B is the same model on AgentCore. Everything from here judges those two engines through six lenses.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L"/>
          </a:p>
        </p:txBody>
      </p:sp>
      <p:sp>
        <p:nvSpPr>
          <p:cNvPr id="3" name="Notes Placeholder 2"/>
          <p:cNvSpPr>
            <a:spLocks noGrp="1"/>
          </p:cNvSpPr>
          <p:nvPr>
            <p:ph type="body" sz="quarter" idx="3"/>
          </p:nvPr>
        </p:nvSpPr>
        <p:spPr/>
        <p:txBody>
          <a:bodyPr/>
          <a:lstStyle/>
          <a:p>
            <a:r>
              <a:t>[1:15 · cumulative 3:25 of 10:00]</a:t>
            </a:r>
          </a:p>
          <a:p>
            <a:endParaRPr/>
          </a:p>
          <a:p>
            <a:r>
              <a:t>Short demo. Watch two things: it opens with an occasion I never typed, and by the end it has written something into her file that changes what it says next time.</a:t>
            </a:r>
          </a:p>
        </p:txBody>
      </p:sp>
      <p:sp>
        <p:nvSpPr>
          <p:cNvPr id="4" name="Slide Number Placeholder 3"/>
          <p:cNvSpPr>
            <a:spLocks noGrp="1"/>
          </p:cNvSpPr>
          <p:nvPr>
            <p:ph type="sldNum" sz="quarter" idx="5"/>
          </p:nvPr>
        </p:nvSpPr>
        <p:spPr/>
        <p:txBody>
          <a:bodyPr/>
          <a:lstStyle/>
          <a:p>
            <a:endParaRPr lang="en-IL"/>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[0:50 · cumulative 4:40 of 10:00]</a:t>
            </a:r>
          </a:p>
          <a:p>
            <a:endParaRPr/>
          </a:p>
          <a:p>
            <a:r>
              <a:t>The whole section in one slide. Six lenses down the side; the four AgentCore components across the top, lit when they matter to that lens. Cost lights everything. Security is Runtime plus Gateway. Debuggability and latency go to DIY — four-two, and the two it loses are why this is a comparison and not a sales pitch.</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[0:30 · cumulative 6:05 of 10:00]</a:t>
            </a:r>
          </a:p>
          <a:p>
            <a:endParaRPr/>
          </a:p>
          <a:p>
            <a:r>
              <a:t>Resilience is Runtime plus Gateway. In-process, forty sessions share one Node process, one heap, one crash. A microVM per session and a Lambda per tool means a fault has nowhere to travel: one session lost, not forty.</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[0:25 · cumulative 6:30 of 10:00]</a:t>
            </a:r>
          </a:p>
          <a:p>
            <a:endParaRPr/>
          </a:p>
          <a:p>
            <a:r>
              <a:t>The same fault, injected on both engines. Engine A loses all forty sessions — the process is the blast radius. Engine B loses exactly one: the caller. Three fault classes, same outcome every time.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[0:30 · cumulative 7:00 of 10:00]</a:t>
            </a:r>
          </a:p>
          <a:p>
            <a:endParaRPr/>
          </a:p>
          <a:p>
            <a:r>
              <a:t>Security — same two components, different question: not what crashes, but what leaks. Engine A holds every user’s credentials in one heap behind one shared IAM role; an injection that pivots reaches everyone’s tokens. Behind Gateway, auth resolves per tool and a hijacked session reaches only its own.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[0:25 · cumulative 7:25 of 10:00]</a:t>
            </a:r>
          </a:p>
          <a:p>
            <a:endParaRPr/>
          </a:p>
          <a:p>
            <a:r>
              <a:t>Ownership and velocity — Memory plus Gateway. On engine A the extraction prompt is mine to maintain forever, and adding a tool is a deploy. On B, extraction is the service’s problem and the tool list is data. The give-up is real: I lose the extraction schema I designed.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[0:30 · cumulative 7:55 of 10:00]</a:t>
            </a:r>
          </a:p>
          <a:p>
            <a:endParaRPr/>
          </a:p>
          <a:p>
            <a:r>
              <a:t>Debuggability the DIY build wins, and I will not skip it. Hand-wired OTEL emits exactly the fields that decide an incident at two in the morning. AgentCore’s traces are free, but on its schema. Where I landed: its traces as the floor, my spans on top.</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[0:30 · cumulative 8:25 of 10:00]</a:t>
            </a:r>
          </a:p>
          <a:p>
            <a:endParaRPr/>
          </a:p>
          <a:p>
            <a:r>
              <a:t>A word on how this got built, because it is the part people ask about. I wrote none of the application code. Six agents did, each with a prompt file and an explicit do-not-touch list — disjoint ownership is what stops five agents editing at once from being a merge-conflict generator.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L"/>
          </a:p>
        </p:txBody>
      </p:sp>
      <p:sp>
        <p:nvSpPr>
          <p:cNvPr id="3" name="Notes Placeholder 2"/>
          <p:cNvSpPr>
            <a:spLocks noGrp="1"/>
          </p:cNvSpPr>
          <p:nvPr>
            <p:ph type="body" sz="quarter" idx="3"/>
          </p:nvPr>
        </p:nvSpPr>
        <p:spPr/>
        <p:txBody>
          <a:bodyPr/>
          <a:lstStyle/>
          <a:p>
            <a:r>
              <a:t>[0:25 · cumulative 8:50 of 10:00]</a:t>
            </a:r>
          </a:p>
          <a:p>
            <a:endParaRPr/>
          </a:p>
          <a:p>
            <a:r>
              <a:t>Every node here is a real pull request, in the order it was opened, connected to where it merged. Fifty-seven of them. The link opens the interactive version if you want to read any review thread.</a:t>
            </a:r>
          </a:p>
        </p:txBody>
      </p:sp>
      <p:sp>
        <p:nvSpPr>
          <p:cNvPr id="4" name="Slide Number Placeholder 3"/>
          <p:cNvSpPr>
            <a:spLocks noGrp="1"/>
          </p:cNvSpPr>
          <p:nvPr>
            <p:ph type="sldNum" sz="quarter" idx="5"/>
          </p:nvPr>
        </p:nvSpPr>
        <p:spPr/>
        <p:txBody>
          <a:bodyPr/>
          <a:lstStyle/>
          <a:p>
            <a:endParaRPr lang="en-IL"/>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L"/>
          </a:p>
        </p:txBody>
      </p:sp>
      <p:sp>
        <p:nvSpPr>
          <p:cNvPr id="3" name="Notes Placeholder 2"/>
          <p:cNvSpPr>
            <a:spLocks noGrp="1"/>
          </p:cNvSpPr>
          <p:nvPr>
            <p:ph type="body" sz="quarter" idx="3"/>
          </p:nvPr>
        </p:nvSpPr>
        <p:spPr/>
        <p:txBody>
          <a:bodyPr/>
          <a:lstStyle/>
          <a:p>
            <a:r>
              <a:t>[1:00 · cumulative 9:50 of 10:00]</a:t>
            </a:r>
          </a:p>
          <a:p>
            <a:endParaRPr/>
          </a:p>
          <a:p>
            <a:r>
              <a:t>Five things I would tell the next person. An agent is a loop, not a chatbot. When you and the agent are both stuck, stop prompting and pick up a pen. Most of my tokens went to the workflow, not the code — and that is what made the code safe to merge. The strongest case for AgentCore is blast radius, not the bill. And it is easy to gate that the service is up, hard to gate that the model still works — a missing permission returned a polite fallback with a two hundred.</a:t>
            </a:r>
          </a:p>
        </p:txBody>
      </p:sp>
      <p:sp>
        <p:nvSpPr>
          <p:cNvPr id="4" name="Slide Number Placeholder 3"/>
          <p:cNvSpPr>
            <a:spLocks noGrp="1"/>
          </p:cNvSpPr>
          <p:nvPr>
            <p:ph type="sldNum" sz="quarter" idx="5"/>
          </p:nvPr>
        </p:nvSpPr>
        <p:spPr/>
        <p:txBody>
          <a:bodyPr/>
          <a:lstStyle/>
          <a:p>
            <a:endParaRPr lang="en-IL"/>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L"/>
          </a:p>
        </p:txBody>
      </p:sp>
      <p:sp>
        <p:nvSpPr>
          <p:cNvPr id="3" name="Notes Placeholder 2"/>
          <p:cNvSpPr>
            <a:spLocks noGrp="1"/>
          </p:cNvSpPr>
          <p:nvPr>
            <p:ph type="body" sz="quarter" idx="3"/>
          </p:nvPr>
        </p:nvSpPr>
        <p:spPr/>
        <p:txBody>
          <a:bodyPr/>
          <a:lstStyle/>
          <a:p>
            <a:r>
              <a:t>[0:10 · cumulative 10:00 of 10:00]</a:t>
            </a:r>
          </a:p>
          <a:p>
            <a:endParaRPr/>
          </a:p>
          <a:p>
            <a:r>
              <a:t>That is Valentin. Happy to go deeper on any of the five lenses, or on the agent workflow that built it.</a:t>
            </a:r>
          </a:p>
        </p:txBody>
      </p:sp>
      <p:sp>
        <p:nvSpPr>
          <p:cNvPr id="4" name="Slide Number Placeholder 3"/>
          <p:cNvSpPr>
            <a:spLocks noGrp="1"/>
          </p:cNvSpPr>
          <p:nvPr>
            <p:ph type="sldNum" sz="quarter" idx="5"/>
          </p:nvPr>
        </p:nvSpPr>
        <p:spPr/>
        <p:txBody>
          <a:bodyPr/>
          <a:lstStyle/>
          <a:p>
            <a:endParaRPr lang="en-IL"/>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99"/>
          <p:cNvSpPr>
            <a:spLocks noGrp="1"/>
          </p:cNvSpPr>
          <p:nvPr>
            <p:ph type="body" idx="1"/>
          </p:nvPr>
        </p:nvSpPr>
        <p:spPr/>
        <p:txBody>
          <a:bodyPr/>
          <a:lstStyle/>
          <a:p>
            <a:r>
              <a:t>THE THREE KINDS OF NUMBER ON THIS SLIDE</a:t>
            </a:r>
          </a:p>
          <a:p>
            <a:r>
              <a:t>Everything in this cost comparison is one of exactly three things, and the slide is laid out in</a:t>
            </a:r>
          </a:p>
          <a:p>
            <a:r>
              <a:t>that order so nobody has to wonder which they are looking at.</a:t>
            </a:r>
          </a:p>
          <a:p/>
          <a:p>
            <a:r>
              <a:t>1. RAW PRICES - what AWS charges. Not ours, not negotiable, straight off the vendor pricing pages.</a:t>
            </a:r>
          </a:p>
          <a:p>
            <a:r>
              <a:t>   If one of these is wrong, AWS changed its price list (they do; re-check before presenting).</a:t>
            </a:r>
          </a:p>
          <a:p>
            <a:r>
              <a:t>2. QUANTITIES COUNTED FROM OUR OWN CODE - how much of each thing this system actually consumes.</a:t>
            </a:r>
          </a:p>
          <a:p>
            <a:r>
              <a:t>   Every one was read out of a source file in this repository, not estimated. If one of these is</a:t>
            </a:r>
          </a:p>
          <a:p>
            <a:r>
              <a:t>   wrong, the code is wrong, not the model.</a:t>
            </a:r>
          </a:p>
          <a:p>
            <a:r>
              <a:t>3. GUESSES - the handful of things no page and no file could tell us. Each is named, and each is</a:t>
            </a:r>
          </a:p>
          <a:p>
            <a:r>
              <a:t>   labelled with how much of the answer it can move.</a:t>
            </a:r>
          </a:p>
          <a:p/>
          <a:p>
            <a:r>
              <a:t>WHAT "COUNTED FROM OUR OWN CODE" MEANS, FILE BY FILE</a:t>
            </a:r>
          </a:p>
          <a:p>
            <a:r>
              <a:t>This is the card people ask about, so say it plainly: these are not estimates. Each one is a</a:t>
            </a:r>
          </a:p>
          <a:p>
            <a:r>
              <a:t>measurement taken by reading the repository.</a:t>
            </a:r>
          </a:p>
          <a:p>
            <a:r>
              <a:t>- 0.5 vCPU, 1 GiB - infra/config/environments.ts, dev: cpu 512, memoryLimitMiB 1024. That is</a:t>
            </a:r>
          </a:p>
          <a:p>
            <a:r>
              <a:t>  literally the container we deploy.</a:t>
            </a:r>
          </a:p>
          <a:p>
            <a:r>
              <a:t>- 7 reads, 9 write units per turn - counted in dynamodb-store.ts: a typical turn is 6 Query + 1</a:t>
            </a:r>
          </a:p>
          <a:p>
            <a:r>
              <a:t>  GetItem, and 2 Put + 1 BatchWrite + 3 Update, three of which replicate into the sparse GSI1.</a:t>
            </a:r>
          </a:p>
          <a:p>
            <a:r>
              <a:t>- 2,940 input, 300 output tokens - bedrock-client.ts:594, the forced-tool extraction call. It sends</a:t>
            </a:r>
          </a:p>
          <a:p>
            <a:r>
              <a:t>  the whole untrimmed history plus a 7,519-character tool schema and sets no maxTokens.</a:t>
            </a:r>
          </a:p>
          <a:p>
            <a:r>
              <a:t>- 26 profile fields - PROFILE_FIELD_IDS. One AgentCore Memory long-term record each.</a:t>
            </a:r>
          </a:p>
          <a:p>
            <a:r>
              <a:t>- 3 tools, 1.4 Gateway calls per turn - the three indexed tools are get_partner_profile,</a:t>
            </a:r>
          </a:p>
          <a:p>
            <a:r>
              <a:t>  save_preference, list_preferences; agentcore/agent.py:190 does one list_tools_sync per invoke</a:t>
            </a:r>
          </a:p>
          <a:p>
            <a:r>
              <a:t>  (1.0) plus the 0.4 of turns that really call a tool.</a:t>
            </a:r>
          </a:p>
          <a:p/>
          <a:p>
            <a:r>
              <a:t>THE RAW PRICE TABLE (the detail behind the left card)</a:t>
            </a:r>
          </a:p>
          <a:p>
            <a:r>
              <a:t>- Fargate: $0.04048 / vCPU-hour, $0.004446 / GB-hour. From the pricing page's own per-second</a:t>
            </a:r>
          </a:p>
          <a:p>
            <a:r>
              <a:t>  worked example, $0.000011244 / vCPU-s.</a:t>
            </a:r>
          </a:p>
          <a:p>
            <a:r>
              <a:t>- AgentCore Runtime: $0.0895 / vCPU-hour, $0.00945 / GB-hour. microVM compute type, billed per</a:t>
            </a:r>
          </a:p>
          <a:p>
            <a:r>
              <a:t>  second with a 1-second minimum. 2.2x dearer per hour than Fargate - the win is the idle floor,</a:t>
            </a:r>
          </a:p>
          <a:p>
            <a:r>
              <a:t>  not the rate.</a:t>
            </a:r>
          </a:p>
          <a:p>
            <a:r>
              <a:t>- AgentCore Memory: $0.25 / 1,000 new events, $0.50 / 1,000 retrievals, $0.75 / 1,000 long-term</a:t>
            </a:r>
          </a:p>
          <a:p>
            <a:r>
              <a:t>  records per month on the built-in strategy.</a:t>
            </a:r>
          </a:p>
          <a:p>
            <a:r>
              <a:t>- AgentCore Gateway: $0.005 / 1,000 API invocations, $0.02 / 100 tools indexed per month.</a:t>
            </a:r>
          </a:p>
          <a:p>
            <a:r>
              <a:t>- DynamoDB on-demand, us-east-1 standard: $0.625 / M WRU, $0.125 / M RRU. 1 WRU per 1 KB;</a:t>
            </a:r>
          </a:p>
          <a:p>
            <a:r>
              <a:t>  0.5 RRU per 4 KB eventually consistent.</a:t>
            </a:r>
          </a:p>
          <a:p>
            <a:r>
              <a:t>- Claude Sonnet 4.5: $3 / M input, $15 / M output - THIS ONE IS A GUESS. Bedrock's Anthropic</a:t>
            </a:r>
          </a:p>
          <a:p>
            <a:r>
              <a:t>  table is JS-rendered and never loaded. It sets 99.95% of engine A's per-turn cost, so it is the</a:t>
            </a:r>
          </a:p>
          <a:p>
            <a:r>
              <a:t>  single biggest citation gap in the whole deck. Re-verify it before you present.</a:t>
            </a:r>
          </a:p>
          <a:p/>
          <a:p>
            <a:r>
              <a:t>WHY THE MONTH IS FOUR WEEKS</a:t>
            </a:r>
          </a:p>
          <a:p>
            <a:r>
              <a:t>120 = 10 turns x 3 conversations a week x 4 weeks. A calendar month is 4.33 weeks, which would give</a:t>
            </a:r>
          </a:p>
          <a:p>
            <a:r>
              <a:t>130. Four is deliberate: the point of this line is that a listener can re-derive it in their head</a:t>
            </a:r>
          </a:p>
          <a:p>
            <a:r>
              <a:t>without trusting us. The 8% we round away is far smaller than the error in any of the three</a:t>
            </a:r>
          </a:p>
          <a:p>
            <a:r>
              <a:t>assumptions feeding it.</a:t>
            </a:r>
          </a:p>
          <a:p/>
          <a:p>
            <a:r>
              <a:t>IF ASKED ABOUT THE NAT GATEWAY</a:t>
            </a:r>
          </a:p>
          <a:p>
            <a:r>
              <a:t>The VPC's private subnets are PRIVATE_WITH_EGRESS (network-stack.ts:19-55), which means CDK creates</a:t>
            </a:r>
          </a:p>
          <a:p>
            <a:r>
              <a:t>a NAT by definition - one in dev, two in prod. It is NOT there for the data stores: DynamoDB and S3</a:t>
            </a:r>
          </a:p>
          <a:p>
            <a:r>
              <a:t>already have free gateway endpoints, and Bedrock Runtime and CloudWatch Logs have interface</a:t>
            </a:r>
          </a:p>
          <a:p>
            <a:r>
              <a:t>endpoints. What still leaves for the public internet is Secrets Manager, ECR image pulls, and the</a:t>
            </a:r>
          </a:p>
          <a:p>
            <a:r>
              <a:t>Google and Spotify APIs. It is excluded from both bills as shared infrastructure - and excluding it</a:t>
            </a:r>
          </a:p>
          <a:p>
            <a:r>
              <a:t>flatters engine A, which is the side that needs it.</a:t>
            </a:r>
          </a:p>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99"/>
          <p:cNvSpPr>
            <a:spLocks noGrp="1"/>
          </p:cNvSpPr>
          <p:nvPr>
            <p:ph type="body" idx="1"/>
          </p:nvPr>
        </p:nvSpPr>
        <p:spPr/>
        <p:txBody>
          <a:bodyPr/>
          <a:lstStyle/>
          <a:p>
            <a:r>
              <a:t>WHERE EVERY NUMBER COMES FROM</a:t>
            </a:r>
          </a:p>
          <a:p>
            <a:r>
              <a:t>Authority for this slide is scripts/cost-model.mjs. Run `node scripts/cost-model.mjs` and every</a:t>
            </a:r>
          </a:p>
          <a:p>
            <a:r>
              <a:t>figure below falls out. Rates were captured into that file from the vendor pricing pages; re-verify</a:t>
            </a:r>
          </a:p>
          <a:p>
            <a:r>
              <a:t>them against the live pages before presenting, because AWS prices change.</a:t>
            </a:r>
          </a:p>
          <a:p/>
          <a:p>
            <a:r>
              <a:t>RAW PRICES - STRAIGHT OFF THE VENDOR PRICING PAGES</a:t>
            </a:r>
          </a:p>
          <a:p>
            <a:r>
              <a:t>- AWS Fargate, $0.04048 / vCPU-hour and $0.004446 / GB-hour.</a:t>
            </a:r>
          </a:p>
          <a:p>
            <a:r>
              <a:t>  Source: AWS Fargate pricing page, from its own per-second worked example ($0.000011244/vCPU-s).</a:t>
            </a:r>
          </a:p>
          <a:p>
            <a:r>
              <a:t>  cost-model.mjs: FARGATE_VCPU_HR, FARGATE_GB_HR.</a:t>
            </a:r>
          </a:p>
          <a:p>
            <a:r>
              <a:t>- AgentCore Runtime, $0.0895 / vCPU-hour and $0.00945 / GB-hour, microVM compute type, billed per</a:t>
            </a:r>
          </a:p>
          <a:p>
            <a:r>
              <a:t>  second with a 1-second minimum.</a:t>
            </a:r>
          </a:p>
          <a:p>
            <a:r>
              <a:t>  Source: Amazon Bedrock AgentCore pricing page. cost-model.mjs: AC_VCPU_HR, AC_GB_HR.</a:t>
            </a:r>
          </a:p>
          <a:p>
            <a:r>
              <a:t>- AgentCore Memory, $0.25 per 1,000 new events; $0.50 per 1,000 retrievals; $0.75 per 1,000</a:t>
            </a:r>
          </a:p>
          <a:p>
            <a:r>
              <a:t>  long-term records per month on the built-in strategy.</a:t>
            </a:r>
          </a:p>
          <a:p>
            <a:r>
              <a:t>  Source: Amazon Bedrock AgentCore pricing page. cost-model.mjs: AC_EVENT, AC_RETRIEVAL, AC_RECORD_MO.</a:t>
            </a:r>
          </a:p>
          <a:p>
            <a:r>
              <a:t>- AgentCore Gateway, $0.005 per 1,000 API invocations (ListTools, InvokeTool, Ping); $0.02 per 100</a:t>
            </a:r>
          </a:p>
          <a:p>
            <a:r>
              <a:t>  tools indexed per month.</a:t>
            </a:r>
          </a:p>
          <a:p>
            <a:r>
              <a:t>  Source: Amazon Bedrock AgentCore pricing page. cost-model.mjs: AC_GATEWAY_INVOKE, AC_TOOL_INDEX_MO.</a:t>
            </a:r>
          </a:p>
          <a:p>
            <a:r>
              <a:t>- DynamoDB on-demand, $0.625 per million WRU and $0.125 per million RRU, us-east-1 standard table</a:t>
            </a:r>
          </a:p>
          <a:p>
            <a:r>
              <a:t>  class. 1 WRU per 1 KB; 0.5 RRU per 4 KB eventually consistent.</a:t>
            </a:r>
          </a:p>
          <a:p>
            <a:r>
              <a:t>  Source: DynamoDB on-demand pricing page. cost-model.mjs: DDB_WRU, DDB_RRU.</a:t>
            </a:r>
          </a:p>
          <a:p/>
          <a:p>
            <a:r>
              <a:t>TWO RAW PRICES WE COULD NOT READ - GUESSED, AND FLAGGED AS SUCH</a:t>
            </a:r>
          </a:p>
          <a:p>
            <a:r>
              <a:t>- Claude Sonnet $3 / M input and $15 / M output tokens. Bedrock's Anthropic pricing table is</a:t>
            </a:r>
          </a:p>
          <a:p>
            <a:r>
              <a:t>  JS-rendered and did not load when the model was built. Every extraction figure scales linearly</a:t>
            </a:r>
          </a:p>
          <a:p>
            <a:r>
              <a:t>  with these two numbers, so this is the single biggest citation gap on the slide.</a:t>
            </a:r>
          </a:p>
          <a:p>
            <a:r>
              <a:t>  cost-model.mjs: SONNET_IN, SONNET_OUT.</a:t>
            </a:r>
          </a:p>
          <a:p>
            <a:r>
              <a:t>- 3 seconds of Runtime compute per turn. No measurement exists; all durations in the repo are</a:t>
            </a:r>
          </a:p>
          <a:p>
            <a:r>
              <a:t>  authored, not observed. cost-model.mjs: SEC_PER_TURN.</a:t>
            </a:r>
          </a:p>
          <a:p/>
          <a:p>
            <a:r>
              <a:t>QUANTITIES COUNTED FROM OUR OWN CODE - i.e. read out of this repository's source files rather</a:t>
            </a:r>
          </a:p>
          <a:p>
            <a:r>
              <a:t>than assumed. If one of these is wrong, the code is wrong, not the model.</a:t>
            </a:r>
          </a:p>
          <a:p>
            <a:r>
              <a:t>- 0.5 vCPU, 1 GiB: infra/config/environments.ts, dev (cpu 512, memoryLimitMiB 1024).</a:t>
            </a:r>
          </a:p>
          <a:p>
            <a:r>
              <a:t>- 730 hours/month for one always-on task.</a:t>
            </a:r>
          </a:p>
          <a:p>
            <a:r>
              <a:t>- 7 reads and 9 write units per turn: dynamodb-store.ts - a typical turn is 6 Query + 1 GetItem</a:t>
            </a:r>
          </a:p>
          <a:p>
            <a:r>
              <a:t>  reads; 2 Put + 1 BatchWrite + 3 Update writes, three of which replicate into the ALL-projected</a:t>
            </a:r>
          </a:p>
          <a:p>
            <a:r>
              <a:t>  sparse GSI1.</a:t>
            </a:r>
          </a:p>
          <a:p>
            <a:r>
              <a:t>- 2,940 input and 300 output tokens per extraction call: bedrock-client.ts:594. That call sends the</a:t>
            </a:r>
          </a:p>
          <a:p>
            <a:r>
              <a:t>  full untrimmed history plus a 7,519-character tool schema and sets no maxTokens at all - which is</a:t>
            </a:r>
          </a:p>
          <a:p>
            <a:r>
              <a:t>  why it dominates, and why it is fixable.</a:t>
            </a:r>
          </a:p>
          <a:p>
            <a:r>
              <a:t>- 26 long-term records per user: the 26 fields in PROFILE_FIELD_IDS.</a:t>
            </a:r>
          </a:p>
          <a:p>
            <a:r>
              <a:t>- 3 tools indexed in Gateway: get_partner_profile, save_preference, list_preferences.</a:t>
            </a:r>
          </a:p>
          <a:p>
            <a:r>
              <a:t>- 1.4 Gateway invocations per turn: agentcore/agent.py:190 calls list_tools_sync() once per invoke</a:t>
            </a:r>
          </a:p>
          <a:p>
            <a:r>
              <a:t>  (1.0), plus an assumed 0.4 share of turns that actually call a tool.</a:t>
            </a:r>
          </a:p>
          <a:p>
            <a:r>
              <a:t>- 120 turns per user per month: 10 turns in a conversation x 3 conversations a week x 4 weeks</a:t>
            </a:r>
          </a:p>
          <a:p>
            <a:r>
              <a:t>  (USAGE in cost-model.mjs). ASSUMPTION - the only quantity here that is not read from code. The</a:t>
            </a:r>
          </a:p>
          <a:p>
            <a:r>
              <a:t>  month is deliberately 4 weeks, not 52/12 = 4.33, so the chain lands on a round, checkable number.</a:t>
            </a:r>
          </a:p>
          <a:p/>
          <a:p>
            <a:r>
              <a:t>HOW THE THREE COLUMNS ARE DERIVED</a:t>
            </a:r>
          </a:p>
          <a:p>
            <a:r>
              <a:t>- FIXED. A: fargatePerMonth = (0.5 x 0.04048 + 1 x 0.004446) x 730 = $18.02. B: toolIndexPerMonth</a:t>
            </a:r>
          </a:p>
          <a:p>
            <a:r>
              <a:t>  = 3 x $0.0002 = $0.0006. Ratio 18.02 / 0.0006 = 30,033x.</a:t>
            </a:r>
          </a:p>
          <a:p>
            <a:r>
              <a:t>- PER USER / MONTH. A: 0.00005 GB x ($0.25 storage + $0.20 PITR) = $0.000023 - the GB figure is an</a:t>
            </a:r>
          </a:p>
          <a:p>
            <a:r>
              <a:t>  assumption. B: 26 x $0.00075 = $0.0195. Ratio 0.0195 / 0.000023 = 848x, engine B dearer.</a:t>
            </a:r>
          </a:p>
          <a:p>
            <a:r>
              <a:t>- PER TURN. A: extraction (2,940 x $3/M + 300 x $15/M = $0.013320) + DynamoDB (7 x 0.5 x $0.125/M +</a:t>
            </a:r>
          </a:p>
          <a:p>
            <a:r>
              <a:t>  9 x $0.625/M = $0.0000061) = $0.013326. B: Memory ($0.00025 event + $0.0005 retrieval = $0.00075)</a:t>
            </a:r>
          </a:p>
          <a:p>
            <a:r>
              <a:t>  + Runtime (3 s x $1.5056e-5/s = $0.0000452) + Gateway (1.4 x $0.000005 = $0.000014) = $0.0008022.</a:t>
            </a:r>
          </a:p>
          <a:p>
            <a:r>
              <a:t>  Ratio 16.6x.</a:t>
            </a:r>
          </a:p>
          <a:p/>
          <a:p>
            <a:r>
              <a:t>THE HEADLINE CLAIM</a:t>
            </a:r>
          </a:p>
          <a:p>
            <a:r>
              <a:t>$0.013320 of engine A's $0.013326 per turn is the extraction call: 99.95%. Remove it and A's per-turn</a:t>
            </a:r>
          </a:p>
          <a:p>
            <a:r>
              <a:t>cost is the DynamoDB line alone, $0.0000061, which is 0.0008022 / 0.0000061 = 132x cheaper than</a:t>
            </a:r>
          </a:p>
          <a:p>
            <a:r>
              <a:t>engine B. So the 13.8x is a verdict on one unoptimised LLM call, not on Fargate vs AgentCore Runtime.</a:t>
            </a:r>
          </a:p>
          <a:p>
            <a:r>
              <a:t>Say this out loud - it is the honest reading, and it is also the cheapest thing on the roadmap to fix.</a:t>
            </a:r>
          </a:p>
          <a:p/>
          <a:p>
            <a:r>
              <a:t>THE SCALE ROW</a:t>
            </a:r>
          </a:p>
          <a:p>
            <a:r>
              <a:t>scaledA/scaledB in cost-model.mjs, which steps Fargate with peak concurrency (500 sessions per task,</a:t>
            </a:r>
          </a:p>
          <a:p>
            <a:r>
              <a:t>15-minute sessions, 70% of turns in a 4-hour evening window - all assumptions).</a:t>
            </a:r>
          </a:p>
          <a:p>
            <a:r>
              <a:t>1 user $19.62 vs $0.12 (168.6x). 10,000 users $16,009.52 vs $1,157.60 (13.8x). 1,000,000 users</a:t>
            </a:r>
          </a:p>
          <a:p>
            <a:r>
              <a:t>$1,599,780.73 vs $115,760.00 (13.8x), by which point engine A needs 35 tasks. Annual saving at 1M</a:t>
            </a:r>
          </a:p>
          <a:p>
            <a:r>
              <a:t>users $17,808,248.72.</a:t>
            </a:r>
          </a:p>
          <a:p/>
          <a:p>
            <a:r>
              <a:t>THE SENSITIVITY WARNING</a:t>
            </a:r>
          </a:p>
          <a:p>
            <a:r>
              <a:t>cost-model.mjs computes B_VAR_PER_RECORD: if a Memory "retrieval" bills per record returned rather</a:t>
            </a:r>
          </a:p>
          <a:p>
            <a:r>
              <a:t>than per retrieval call, and the adapter's cap of 100 records is hit (agentcore-adapter.ts:138), B's</a:t>
            </a:r>
          </a:p>
          <a:p>
            <a:r>
              <a:t>per-turn becomes $0.00025 + 100 x $0.0005 = $0.0503, i.e. 3.8x worse than engine A. The pricing page</a:t>
            </a:r>
          </a:p>
          <a:p>
            <a:r>
              <a:t>does not settle which it is. If asked which number you least trust, this is the one.</a:t>
            </a:r>
          </a:p>
          <a:p/>
          <a:p>
            <a:r>
              <a:t>NOT COUNTED, AND IT COUNTS AGAINST ENGINE B</a:t>
            </a:r>
          </a:p>
          <a:p>
            <a:r>
              <a:t>The Lambda behind Gateway bills requests and GB-seconds of its own. Rather than leave this as an</a:t>
            </a:r>
          </a:p>
          <a:p>
            <a:r>
              <a:t>open caveat, bound it from the real config (agentcore-stack.ts:144-168 - Node 22, arm64, 256 MB,</a:t>
            </a:r>
          </a:p>
          <a:p>
            <a:r>
              <a:t>10 s timeout): worst case 1.4 x (10 s x 0.25 GB x $0.0000133334 + $0.0000002) = $0.0000469 per turn,</a:t>
            </a:r>
          </a:p>
          <a:p>
            <a:r>
              <a:t>which is 5.9% of engine B's $0.0008022. So counting it would move engine B by under 6% - it cannot</a:t>
            </a:r>
          </a:p>
          <a:p>
            <a:r>
              <a:t>change any conclusion on the slide.</a:t>
            </a:r>
          </a:p>
          <a:p/>
          <a:p>
            <a:r>
              <a:t>EXCLUDED FROM BOTH SIDES</a:t>
            </a:r>
          </a:p>
          <a:p>
            <a:r>
              <a:t>The reply Converse call is identical on both engines and is excluded from both. ALB, NAT Gateway,</a:t>
            </a:r>
          </a:p>
          <a:p>
            <a:r>
              <a:t>CloudFront, S3 and Secrets Manager are excluded as shared/learning infrastructure - note that this</a:t>
            </a:r>
          </a:p>
          <a:p>
            <a:r>
              <a:t>is generous to engine A, since AgentCore Runtime is managed and needs neither NAT nor a load</a:t>
            </a:r>
          </a:p>
          <a:p>
            <a:r>
              <a:t>balancer. The deployed dev stack also runs a second Fargate service (compute-stack.ts:900), which</a:t>
            </a:r>
          </a:p>
          <a:p>
            <a:r>
              <a:t>this model does not count.</a:t>
            </a:r>
          </a: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1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14.png"/><Relationship Id="rId12" Type="http://schemas.openxmlformats.org/officeDocument/2006/relationships/image" Target="../media/image15.png"/><Relationship Id="rId13" Type="http://schemas.openxmlformats.org/officeDocument/2006/relationships/image" Target="../media/image16.png"/><Relationship Id="rId14" Type="http://schemas.openxmlformats.org/officeDocument/2006/relationships/image" Target="../media/image17.png"/><Relationship Id="rId15"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hyperlink" Target="https://amazon-my.sharepoint.com/personal/coralst_amazon_com/Lists/Natural%20Intelligence%20Support%20Planning%20Workshop/AllItems.aspx?sortField=Order0&amp;isAscending=false&amp;viewid=082e8a62%2D439c%2D4e01%2Da1d9%2D6bd9a85907a3&amp;env=WebViewList"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7.png"/><Relationship Id="rId6"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1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126480"/>
            <a:ext cx="12191695" cy="73152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685800"/>
            <a:ext cx="5486400" cy="365760"/>
          </a:xfrm>
          <a:prstGeom prst="rect">
            <a:avLst/>
          </a:prstGeom>
          <a:noFill/>
        </p:spPr>
        <p:txBody>
          <a:bodyPr wrap="square" lIns="0" tIns="0" rIns="0" bIns="0" anchor="t">
            <a:spAutoFit/>
          </a:bodyPr>
          <a:lstStyle/>
          <a:p>
            <a:pPr algn="l"/>
            <a:r>
              <a:rPr sz="1200" b="1">
                <a:solidFill>
                  <a:srgbClr val="FF9900"/>
                </a:solidFill>
                <a:latin typeface="Calibri"/>
              </a:rPr>
              <a:t>AWS ENTERPRISE SUPPORT · GenAI Core TFC</a:t>
            </a:r>
          </a:p>
        </p:txBody>
      </p:sp>
      <p:sp>
        <p:nvSpPr>
          <p:cNvPr id="5" name="TextBox 4"/>
          <p:cNvSpPr txBox="1"/>
          <p:nvPr/>
        </p:nvSpPr>
        <p:spPr>
          <a:xfrm>
            <a:off x="685800" y="2194560"/>
            <a:ext cx="10972800" cy="1371600"/>
          </a:xfrm>
          <a:prstGeom prst="rect">
            <a:avLst/>
          </a:prstGeom>
          <a:noFill/>
        </p:spPr>
        <p:txBody>
          <a:bodyPr wrap="square" lIns="0" tIns="0" rIns="0" bIns="0" anchor="t">
            <a:spAutoFit/>
          </a:bodyPr>
          <a:lstStyle/>
          <a:p>
            <a:pPr algn="l"/>
            <a:r>
              <a:rPr sz="7200" b="1">
                <a:solidFill>
                  <a:srgbClr val="FFFFFF"/>
                </a:solidFill>
                <a:latin typeface="Calibri"/>
              </a:rPr>
              <a:t>Valentin</a:t>
            </a:r>
          </a:p>
        </p:txBody>
      </p:sp>
      <p:sp>
        <p:nvSpPr>
          <p:cNvPr id="6" name="TextBox 5"/>
          <p:cNvSpPr txBox="1"/>
          <p:nvPr/>
        </p:nvSpPr>
        <p:spPr>
          <a:xfrm>
            <a:off x="685800" y="3383280"/>
            <a:ext cx="10972800" cy="731520"/>
          </a:xfrm>
          <a:prstGeom prst="rect">
            <a:avLst/>
          </a:prstGeom>
          <a:noFill/>
        </p:spPr>
        <p:txBody>
          <a:bodyPr wrap="square" lIns="0" tIns="0" rIns="0" bIns="0" anchor="t">
            <a:spAutoFit/>
          </a:bodyPr>
          <a:lstStyle/>
          <a:p>
            <a:pPr algn="l"/>
            <a:r>
              <a:rPr sz="2400" b="0">
                <a:solidFill>
                  <a:srgbClr val="FF9900"/>
                </a:solidFill>
                <a:latin typeface="Calibri"/>
              </a:rPr>
              <a:t>One product · Two agent platforms · Same model</a:t>
            </a:r>
          </a:p>
        </p:txBody>
      </p:sp>
      <p:sp>
        <p:nvSpPr>
          <p:cNvPr id="7" name="TextBox 6"/>
          <p:cNvSpPr txBox="1"/>
          <p:nvPr/>
        </p:nvSpPr>
        <p:spPr>
          <a:xfrm>
            <a:off x="685800" y="4754880"/>
            <a:ext cx="10972800" cy="457200"/>
          </a:xfrm>
          <a:prstGeom prst="rect">
            <a:avLst/>
          </a:prstGeom>
          <a:noFill/>
        </p:spPr>
        <p:txBody>
          <a:bodyPr wrap="square" lIns="0" tIns="0" rIns="0" bIns="0" anchor="t">
            <a:spAutoFit/>
          </a:bodyPr>
          <a:lstStyle/>
          <a:p>
            <a:pPr algn="l"/>
            <a:r>
              <a:rPr sz="1700" b="0" dirty="0">
                <a:solidFill>
                  <a:srgbClr val="879596"/>
                </a:solidFill>
                <a:latin typeface="Calibri"/>
              </a:rPr>
              <a:t>AgentCore vs Fargate + DynamoDB — a controlled A/B</a:t>
            </a:r>
          </a:p>
        </p:txBody>
      </p:sp>
      <p:sp>
        <p:nvSpPr>
          <p:cNvPr id="8" name="TextBox 7"/>
          <p:cNvSpPr txBox="1"/>
          <p:nvPr/>
        </p:nvSpPr>
        <p:spPr>
          <a:xfrm>
            <a:off x="685800" y="5440680"/>
            <a:ext cx="10972800" cy="365760"/>
          </a:xfrm>
          <a:prstGeom prst="rect">
            <a:avLst/>
          </a:prstGeom>
          <a:noFill/>
        </p:spPr>
        <p:txBody>
          <a:bodyPr wrap="square" lIns="0" tIns="0" rIns="0" bIns="0" anchor="t">
            <a:spAutoFit/>
          </a:bodyPr>
          <a:lstStyle/>
          <a:p>
            <a:pPr algn="l"/>
            <a:r>
              <a:rPr sz="1400" b="0">
                <a:solidFill>
                  <a:srgbClr val="FFFFFF"/>
                </a:solidFill>
                <a:latin typeface="Calibri"/>
              </a:rPr>
              <a:t>Coral Magen  ·  Technical Account Manager  ·  September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600" b="1">
                <a:solidFill>
                  <a:srgbClr val="FF9900"/>
                </a:solidFill>
                <a:latin typeface="Calibri"/>
              </a:rPr>
              <a:t>1</a:t>
            </a:r>
          </a:p>
        </p:txBody>
      </p:sp>
      <p:sp>
        <p:nvSpPr>
          <p:cNvPr id="4" name="TextBox 3"/>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The Business Problem and the Application</a:t>
            </a:r>
          </a:p>
        </p:txBody>
      </p:sp>
      <p:sp>
        <p:nvSpPr>
          <p:cNvPr id="5" name="Rectangle 4"/>
          <p:cNvSpPr/>
          <p:nvPr/>
        </p:nvSpPr>
        <p:spPr>
          <a:xfrm>
            <a:off x="502920" y="1051560"/>
            <a:ext cx="1371600" cy="3500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234440"/>
            <a:ext cx="11155680" cy="411480"/>
          </a:xfrm>
          <a:prstGeom prst="rect">
            <a:avLst/>
          </a:prstGeom>
          <a:noFill/>
        </p:spPr>
        <p:txBody>
          <a:bodyPr wrap="square" lIns="0" tIns="0" rIns="0" bIns="0" anchor="t">
            <a:spAutoFit/>
          </a:bodyPr>
          <a:lstStyle/>
          <a:p>
            <a:pPr algn="l"/>
            <a:r>
              <a:rPr sz="1700" b="0">
                <a:solidFill>
                  <a:srgbClr val="545B64"/>
                </a:solidFill>
                <a:latin typeface="Calibri"/>
              </a:rPr>
              <a:t>Small nudges over time — from a partner who's paying attention when you can't.</a:t>
            </a:r>
          </a:p>
        </p:txBody>
      </p:sp>
      <p:sp>
        <p:nvSpPr>
          <p:cNvPr id="7" name="Rounded Rectangle 6"/>
          <p:cNvSpPr/>
          <p:nvPr/>
        </p:nvSpPr>
        <p:spPr>
          <a:xfrm>
            <a:off x="502920" y="1783080"/>
            <a:ext cx="5532120" cy="164592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02920" y="1783080"/>
            <a:ext cx="5532120" cy="13716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057400"/>
            <a:ext cx="4983480" cy="411480"/>
          </a:xfrm>
          <a:prstGeom prst="rect">
            <a:avLst/>
          </a:prstGeom>
          <a:noFill/>
        </p:spPr>
        <p:txBody>
          <a:bodyPr wrap="square" lIns="0" tIns="0" rIns="0" bIns="0" anchor="t">
            <a:spAutoFit/>
          </a:bodyPr>
          <a:lstStyle/>
          <a:p>
            <a:pPr algn="l"/>
            <a:r>
              <a:rPr sz="1300" b="1">
                <a:solidFill>
                  <a:srgbClr val="C0392B"/>
                </a:solidFill>
                <a:latin typeface="Calibri"/>
              </a:rPr>
              <a:t>THE BUSINESS PROBLEM</a:t>
            </a:r>
          </a:p>
        </p:txBody>
      </p:sp>
      <p:sp>
        <p:nvSpPr>
          <p:cNvPr id="10" name="TextBox 9"/>
          <p:cNvSpPr txBox="1"/>
          <p:nvPr/>
        </p:nvSpPr>
        <p:spPr>
          <a:xfrm>
            <a:off x="822960" y="2560320"/>
            <a:ext cx="4983480" cy="777240"/>
          </a:xfrm>
          <a:prstGeom prst="rect">
            <a:avLst/>
          </a:prstGeom>
          <a:noFill/>
        </p:spPr>
        <p:txBody>
          <a:bodyPr wrap="square" lIns="0" tIns="0" rIns="0" bIns="0" anchor="t">
            <a:spAutoFit/>
          </a:bodyPr>
          <a:lstStyle/>
          <a:p>
            <a:pPr algn="l"/>
            <a:r>
              <a:rPr sz="1700" b="0">
                <a:solidFill>
                  <a:srgbClr val="16191F"/>
                </a:solidFill>
                <a:latin typeface="Calibri"/>
              </a:rPr>
              <a:t>We're busy. The little things that make our partner feel seen slip through the cracks — until we need them.</a:t>
            </a:r>
          </a:p>
        </p:txBody>
      </p:sp>
      <p:sp>
        <p:nvSpPr>
          <p:cNvPr id="11" name="Rounded Rectangle 10"/>
          <p:cNvSpPr/>
          <p:nvPr/>
        </p:nvSpPr>
        <p:spPr>
          <a:xfrm>
            <a:off x="6309360" y="1783080"/>
            <a:ext cx="5532120" cy="164592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309360" y="1783080"/>
            <a:ext cx="5532120" cy="137160"/>
          </a:xfrm>
          <a:prstGeom prst="roundRect">
            <a:avLst/>
          </a:prstGeom>
          <a:solidFill>
            <a:srgbClr val="1E7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29400" y="2057400"/>
            <a:ext cx="4983480" cy="411480"/>
          </a:xfrm>
          <a:prstGeom prst="rect">
            <a:avLst/>
          </a:prstGeom>
          <a:noFill/>
        </p:spPr>
        <p:txBody>
          <a:bodyPr wrap="square" lIns="0" tIns="0" rIns="0" bIns="0" anchor="t">
            <a:spAutoFit/>
          </a:bodyPr>
          <a:lstStyle/>
          <a:p>
            <a:pPr algn="l"/>
            <a:r>
              <a:rPr sz="1300" b="1">
                <a:solidFill>
                  <a:srgbClr val="1E7C3C"/>
                </a:solidFill>
                <a:latin typeface="Calibri"/>
              </a:rPr>
              <a:t>WHAT VALENTIN IS</a:t>
            </a:r>
          </a:p>
        </p:txBody>
      </p:sp>
      <p:sp>
        <p:nvSpPr>
          <p:cNvPr id="14" name="TextBox 13"/>
          <p:cNvSpPr txBox="1"/>
          <p:nvPr/>
        </p:nvSpPr>
        <p:spPr>
          <a:xfrm>
            <a:off x="6629400" y="2560320"/>
            <a:ext cx="4983480" cy="822960"/>
          </a:xfrm>
          <a:prstGeom prst="rect">
            <a:avLst/>
          </a:prstGeom>
          <a:noFill/>
        </p:spPr>
        <p:txBody>
          <a:bodyPr wrap="square" lIns="0" tIns="0" rIns="0" bIns="0" anchor="t">
            <a:spAutoFit/>
          </a:bodyPr>
          <a:lstStyle/>
          <a:p>
            <a:pPr algn="l"/>
            <a:r>
              <a:rPr sz="1700" b="0">
                <a:solidFill>
                  <a:srgbClr val="16191F"/>
                </a:solidFill>
                <a:latin typeface="Calibri"/>
              </a:rPr>
              <a:t>A personal AI assistant that listens, remembers per partner, and acts weeks early — with your final word.</a:t>
            </a:r>
          </a:p>
        </p:txBody>
      </p:sp>
      <p:sp>
        <p:nvSpPr>
          <p:cNvPr id="15" name="Rounded Rectangle 14"/>
          <p:cNvSpPr/>
          <p:nvPr/>
        </p:nvSpPr>
        <p:spPr>
          <a:xfrm>
            <a:off x="502920" y="3703320"/>
            <a:ext cx="2673019" cy="237744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02920" y="3703320"/>
            <a:ext cx="2673019" cy="137160"/>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31520" y="3977640"/>
            <a:ext cx="384048" cy="384048"/>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9900"/>
                </a:solidFill>
                <a:latin typeface="Calibri"/>
              </a:rPr>
              <a:t>1</a:t>
            </a:r>
          </a:p>
        </p:txBody>
      </p:sp>
      <p:pic>
        <p:nvPicPr>
          <p:cNvPr id="18" name="Picture 17" descr="bedrock.png"/>
          <p:cNvPicPr>
            <a:picLocks noChangeAspect="1"/>
          </p:cNvPicPr>
          <p:nvPr/>
        </p:nvPicPr>
        <p:blipFill>
          <a:blip r:embed="rId3"/>
          <a:stretch>
            <a:fillRect/>
          </a:stretch>
        </p:blipFill>
        <p:spPr>
          <a:xfrm>
            <a:off x="1085049" y="4390858"/>
            <a:ext cx="640080" cy="640080"/>
          </a:xfrm>
          <a:prstGeom prst="rect">
            <a:avLst/>
          </a:prstGeom>
        </p:spPr>
      </p:pic>
      <p:pic>
        <p:nvPicPr>
          <p:cNvPr id="20" name="Picture 19" descr="agentcore.png"/>
          <p:cNvPicPr>
            <a:picLocks noChangeAspect="1"/>
          </p:cNvPicPr>
          <p:nvPr/>
        </p:nvPicPr>
        <p:blipFill>
          <a:blip r:embed="rId4"/>
          <a:stretch>
            <a:fillRect/>
          </a:stretch>
        </p:blipFill>
        <p:spPr>
          <a:xfrm>
            <a:off x="2136609" y="4390858"/>
            <a:ext cx="640080" cy="640080"/>
          </a:xfrm>
          <a:prstGeom prst="rect">
            <a:avLst/>
          </a:prstGeom>
        </p:spPr>
      </p:pic>
      <p:sp>
        <p:nvSpPr>
          <p:cNvPr id="21" name="TextBox 20"/>
          <p:cNvSpPr txBox="1"/>
          <p:nvPr/>
        </p:nvSpPr>
        <p:spPr>
          <a:xfrm>
            <a:off x="685800" y="5120640"/>
            <a:ext cx="2307259" cy="411480"/>
          </a:xfrm>
          <a:prstGeom prst="rect">
            <a:avLst/>
          </a:prstGeom>
          <a:noFill/>
        </p:spPr>
        <p:txBody>
          <a:bodyPr wrap="square" lIns="0" tIns="0" rIns="0" bIns="0" anchor="t">
            <a:spAutoFit/>
          </a:bodyPr>
          <a:lstStyle/>
          <a:p>
            <a:pPr algn="ctr"/>
            <a:r>
              <a:rPr sz="1700" b="1">
                <a:solidFill>
                  <a:srgbClr val="232F3E"/>
                </a:solidFill>
                <a:latin typeface="Calibri"/>
              </a:rPr>
              <a:t>Chatbot</a:t>
            </a:r>
          </a:p>
        </p:txBody>
      </p:sp>
      <p:sp>
        <p:nvSpPr>
          <p:cNvPr id="22" name="TextBox 21"/>
          <p:cNvSpPr txBox="1"/>
          <p:nvPr/>
        </p:nvSpPr>
        <p:spPr>
          <a:xfrm>
            <a:off x="640080" y="5532120"/>
            <a:ext cx="2398699" cy="274320"/>
          </a:xfrm>
          <a:prstGeom prst="rect">
            <a:avLst/>
          </a:prstGeom>
          <a:noFill/>
        </p:spPr>
        <p:txBody>
          <a:bodyPr wrap="square" lIns="0" tIns="0" rIns="0" bIns="0" anchor="t">
            <a:spAutoFit/>
          </a:bodyPr>
          <a:lstStyle/>
          <a:p>
            <a:pPr algn="ctr"/>
            <a:r>
              <a:rPr sz="1000" b="1" dirty="0">
                <a:solidFill>
                  <a:srgbClr val="C07000"/>
                </a:solidFill>
                <a:latin typeface="Calibri"/>
              </a:rPr>
              <a:t>Amazon Bedrock  ·  AgentCore Runtime</a:t>
            </a:r>
          </a:p>
        </p:txBody>
      </p:sp>
      <p:sp>
        <p:nvSpPr>
          <p:cNvPr id="24" name="Right Arrow 23"/>
          <p:cNvSpPr/>
          <p:nvPr/>
        </p:nvSpPr>
        <p:spPr>
          <a:xfrm>
            <a:off x="3185939" y="4800600"/>
            <a:ext cx="144592" cy="182880"/>
          </a:xfrm>
          <a:prstGeom prst="rightArrow">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3340531" y="3703320"/>
            <a:ext cx="2673019" cy="237744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3340531" y="3703320"/>
            <a:ext cx="2673019" cy="137160"/>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3569131" y="3977640"/>
            <a:ext cx="384048" cy="384048"/>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9900"/>
                </a:solidFill>
                <a:latin typeface="Calibri"/>
              </a:rPr>
              <a:t>2</a:t>
            </a:r>
          </a:p>
        </p:txBody>
      </p:sp>
      <p:pic>
        <p:nvPicPr>
          <p:cNvPr id="28" name="Picture 27" descr="dynamodb.png"/>
          <p:cNvPicPr>
            <a:picLocks noChangeAspect="1"/>
          </p:cNvPicPr>
          <p:nvPr/>
        </p:nvPicPr>
        <p:blipFill>
          <a:blip r:embed="rId5"/>
          <a:stretch>
            <a:fillRect/>
          </a:stretch>
        </p:blipFill>
        <p:spPr>
          <a:xfrm>
            <a:off x="3922660" y="4390858"/>
            <a:ext cx="640080" cy="640080"/>
          </a:xfrm>
          <a:prstGeom prst="rect">
            <a:avLst/>
          </a:prstGeom>
        </p:spPr>
      </p:pic>
      <p:pic>
        <p:nvPicPr>
          <p:cNvPr id="30" name="Picture 29" descr="agentcore.png"/>
          <p:cNvPicPr>
            <a:picLocks noChangeAspect="1"/>
          </p:cNvPicPr>
          <p:nvPr/>
        </p:nvPicPr>
        <p:blipFill>
          <a:blip r:embed="rId4"/>
          <a:stretch>
            <a:fillRect/>
          </a:stretch>
        </p:blipFill>
        <p:spPr>
          <a:xfrm>
            <a:off x="4974220" y="4390858"/>
            <a:ext cx="640080" cy="640080"/>
          </a:xfrm>
          <a:prstGeom prst="rect">
            <a:avLst/>
          </a:prstGeom>
        </p:spPr>
      </p:pic>
      <p:sp>
        <p:nvSpPr>
          <p:cNvPr id="31" name="TextBox 30"/>
          <p:cNvSpPr txBox="1"/>
          <p:nvPr/>
        </p:nvSpPr>
        <p:spPr>
          <a:xfrm>
            <a:off x="3523411" y="5120640"/>
            <a:ext cx="2307259" cy="411480"/>
          </a:xfrm>
          <a:prstGeom prst="rect">
            <a:avLst/>
          </a:prstGeom>
          <a:noFill/>
        </p:spPr>
        <p:txBody>
          <a:bodyPr wrap="square" lIns="0" tIns="0" rIns="0" bIns="0" anchor="t">
            <a:spAutoFit/>
          </a:bodyPr>
          <a:lstStyle/>
          <a:p>
            <a:pPr algn="ctr"/>
            <a:r>
              <a:rPr sz="1700" b="1">
                <a:solidFill>
                  <a:srgbClr val="232F3E"/>
                </a:solidFill>
                <a:latin typeface="Calibri"/>
              </a:rPr>
              <a:t>Persistent Memory</a:t>
            </a:r>
          </a:p>
        </p:txBody>
      </p:sp>
      <p:sp>
        <p:nvSpPr>
          <p:cNvPr id="32" name="TextBox 31"/>
          <p:cNvSpPr txBox="1"/>
          <p:nvPr/>
        </p:nvSpPr>
        <p:spPr>
          <a:xfrm>
            <a:off x="3477691" y="5532120"/>
            <a:ext cx="2398699" cy="274320"/>
          </a:xfrm>
          <a:prstGeom prst="rect">
            <a:avLst/>
          </a:prstGeom>
          <a:noFill/>
        </p:spPr>
        <p:txBody>
          <a:bodyPr wrap="square" lIns="0" tIns="0" rIns="0" bIns="0" anchor="t">
            <a:spAutoFit/>
          </a:bodyPr>
          <a:lstStyle/>
          <a:p>
            <a:pPr algn="ctr"/>
            <a:r>
              <a:rPr sz="1000" b="1" dirty="0">
                <a:solidFill>
                  <a:srgbClr val="C07000"/>
                </a:solidFill>
                <a:latin typeface="Calibri"/>
              </a:rPr>
              <a:t>Amazon DynamoDB  ·  AgentCore Memory</a:t>
            </a:r>
          </a:p>
        </p:txBody>
      </p:sp>
      <p:sp>
        <p:nvSpPr>
          <p:cNvPr id="34" name="Right Arrow 33"/>
          <p:cNvSpPr/>
          <p:nvPr/>
        </p:nvSpPr>
        <p:spPr>
          <a:xfrm>
            <a:off x="6023551" y="4800600"/>
            <a:ext cx="144592" cy="182880"/>
          </a:xfrm>
          <a:prstGeom prst="rightArrow">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6178143" y="3703320"/>
            <a:ext cx="2673019" cy="237744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6178143" y="3703320"/>
            <a:ext cx="2673019" cy="137160"/>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6406743" y="3977640"/>
            <a:ext cx="384048" cy="384048"/>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9900"/>
                </a:solidFill>
                <a:latin typeface="Calibri"/>
              </a:rPr>
              <a:t>3</a:t>
            </a:r>
          </a:p>
        </p:txBody>
      </p:sp>
      <p:pic>
        <p:nvPicPr>
          <p:cNvPr id="38" name="Picture 37" descr="lambda.png"/>
          <p:cNvPicPr>
            <a:picLocks noChangeAspect="1"/>
          </p:cNvPicPr>
          <p:nvPr/>
        </p:nvPicPr>
        <p:blipFill>
          <a:blip r:embed="rId6"/>
          <a:stretch>
            <a:fillRect/>
          </a:stretch>
        </p:blipFill>
        <p:spPr>
          <a:xfrm>
            <a:off x="6670548" y="4389120"/>
            <a:ext cx="640080" cy="640080"/>
          </a:xfrm>
          <a:prstGeom prst="rect">
            <a:avLst/>
          </a:prstGeom>
        </p:spPr>
      </p:pic>
      <p:sp>
        <p:nvSpPr>
          <p:cNvPr id="39" name="TextBox 38"/>
          <p:cNvSpPr txBox="1"/>
          <p:nvPr/>
        </p:nvSpPr>
        <p:spPr>
          <a:xfrm>
            <a:off x="6361023" y="5120640"/>
            <a:ext cx="2307259" cy="411480"/>
          </a:xfrm>
          <a:prstGeom prst="rect">
            <a:avLst/>
          </a:prstGeom>
          <a:noFill/>
        </p:spPr>
        <p:txBody>
          <a:bodyPr wrap="square" lIns="0" tIns="0" rIns="0" bIns="0" anchor="t">
            <a:spAutoFit/>
          </a:bodyPr>
          <a:lstStyle/>
          <a:p>
            <a:pPr algn="ctr"/>
            <a:r>
              <a:rPr sz="1700" b="1" dirty="0">
                <a:solidFill>
                  <a:srgbClr val="232F3E"/>
                </a:solidFill>
                <a:latin typeface="Calibri"/>
              </a:rPr>
              <a:t>Tool Using</a:t>
            </a:r>
          </a:p>
        </p:txBody>
      </p:sp>
      <p:sp>
        <p:nvSpPr>
          <p:cNvPr id="40" name="TextBox 39"/>
          <p:cNvSpPr txBox="1"/>
          <p:nvPr/>
        </p:nvSpPr>
        <p:spPr>
          <a:xfrm>
            <a:off x="5623560" y="5532120"/>
            <a:ext cx="2926080" cy="274320"/>
          </a:xfrm>
          <a:prstGeom prst="rect">
            <a:avLst/>
          </a:prstGeom>
          <a:noFill/>
        </p:spPr>
        <p:txBody>
          <a:bodyPr wrap="square" lIns="0" tIns="0" rIns="0" bIns="0" anchor="t">
            <a:spAutoFit/>
          </a:bodyPr>
          <a:lstStyle/>
          <a:p>
            <a:pPr algn="ctr"/>
            <a:r>
              <a:rPr sz="1000" b="1">
                <a:solidFill>
                  <a:srgbClr val="C07000"/>
                </a:solidFill>
                <a:latin typeface="Calibri"/>
              </a:rPr>
              <a:t>AWS Lambda · MCP · AgentCore Gateway</a:t>
            </a:r>
          </a:p>
        </p:txBody>
      </p:sp>
      <p:sp>
        <p:nvSpPr>
          <p:cNvPr id="42" name="Right Arrow 41"/>
          <p:cNvSpPr/>
          <p:nvPr/>
        </p:nvSpPr>
        <p:spPr>
          <a:xfrm>
            <a:off x="8861163" y="4800600"/>
            <a:ext cx="144592" cy="182880"/>
          </a:xfrm>
          <a:prstGeom prst="rightArrow">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9015755" y="3703320"/>
            <a:ext cx="2673019" cy="237744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9015755" y="3703320"/>
            <a:ext cx="2673019" cy="137160"/>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9244355" y="3977640"/>
            <a:ext cx="384048" cy="384048"/>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9900"/>
                </a:solidFill>
                <a:latin typeface="Calibri"/>
              </a:rPr>
              <a:t>4</a:t>
            </a:r>
          </a:p>
        </p:txBody>
      </p:sp>
      <p:pic>
        <p:nvPicPr>
          <p:cNvPr id="46" name="Picture 45" descr="eventbridge.png"/>
          <p:cNvPicPr>
            <a:picLocks noChangeAspect="1"/>
          </p:cNvPicPr>
          <p:nvPr/>
        </p:nvPicPr>
        <p:blipFill>
          <a:blip r:embed="rId7"/>
          <a:stretch>
            <a:fillRect/>
          </a:stretch>
        </p:blipFill>
        <p:spPr>
          <a:xfrm>
            <a:off x="9849344" y="4023360"/>
            <a:ext cx="1005840" cy="1005840"/>
          </a:xfrm>
          <a:prstGeom prst="rect">
            <a:avLst/>
          </a:prstGeom>
        </p:spPr>
      </p:pic>
      <p:sp>
        <p:nvSpPr>
          <p:cNvPr id="47" name="TextBox 46"/>
          <p:cNvSpPr txBox="1"/>
          <p:nvPr/>
        </p:nvSpPr>
        <p:spPr>
          <a:xfrm>
            <a:off x="9198635" y="5120640"/>
            <a:ext cx="2307259" cy="411480"/>
          </a:xfrm>
          <a:prstGeom prst="rect">
            <a:avLst/>
          </a:prstGeom>
          <a:noFill/>
        </p:spPr>
        <p:txBody>
          <a:bodyPr wrap="square" lIns="0" tIns="0" rIns="0" bIns="0" anchor="t">
            <a:spAutoFit/>
          </a:bodyPr>
          <a:lstStyle/>
          <a:p>
            <a:pPr algn="ctr"/>
            <a:r>
              <a:rPr sz="1700" b="1">
                <a:solidFill>
                  <a:srgbClr val="232F3E"/>
                </a:solidFill>
                <a:latin typeface="Calibri"/>
              </a:rPr>
              <a:t>Triggers &amp; Loop</a:t>
            </a:r>
          </a:p>
        </p:txBody>
      </p:sp>
      <p:sp>
        <p:nvSpPr>
          <p:cNvPr id="48" name="TextBox 47"/>
          <p:cNvSpPr txBox="1"/>
          <p:nvPr/>
        </p:nvSpPr>
        <p:spPr>
          <a:xfrm>
            <a:off x="9152915" y="5532120"/>
            <a:ext cx="2398699" cy="274320"/>
          </a:xfrm>
          <a:prstGeom prst="rect">
            <a:avLst/>
          </a:prstGeom>
          <a:noFill/>
        </p:spPr>
        <p:txBody>
          <a:bodyPr wrap="square" lIns="0" tIns="0" rIns="0" bIns="0" anchor="t">
            <a:spAutoFit/>
          </a:bodyPr>
          <a:lstStyle/>
          <a:p>
            <a:pPr algn="ctr"/>
            <a:r>
              <a:rPr sz="1000" b="1">
                <a:solidFill>
                  <a:srgbClr val="C07000"/>
                </a:solidFill>
                <a:latin typeface="Calibri"/>
              </a:rPr>
              <a:t>EventBridge Scheduler</a:t>
            </a:r>
          </a:p>
        </p:txBody>
      </p:sp>
      <p:sp>
        <p:nvSpPr>
          <p:cNvPr id="50" name="TextBox 49"/>
          <p:cNvSpPr txBox="1"/>
          <p:nvPr/>
        </p:nvSpPr>
        <p:spPr>
          <a:xfrm>
            <a:off x="502920" y="6446520"/>
            <a:ext cx="8229600" cy="320040"/>
          </a:xfrm>
          <a:prstGeom prst="rect">
            <a:avLst/>
          </a:prstGeom>
          <a:noFill/>
        </p:spPr>
        <p:txBody>
          <a:bodyPr wrap="square" lIns="0" tIns="0" rIns="0" bIns="0" anchor="t">
            <a:spAutoFit/>
          </a:bodyPr>
          <a:lstStyle/>
          <a:p>
            <a:pPr algn="l"/>
            <a:r>
              <a:rPr sz="1000" b="1">
                <a:solidFill>
                  <a:srgbClr val="545B64"/>
                </a:solidFill>
                <a:latin typeface="Calibri"/>
              </a:rPr>
              <a:t>VALENTIN   ·   GenAI TFC Capstone Deep-Dive</a:t>
            </a:r>
          </a:p>
        </p:txBody>
      </p:sp>
      <p:sp>
        <p:nvSpPr>
          <p:cNvPr id="51" name="TextBox 50"/>
          <p:cNvSpPr txBox="1"/>
          <p:nvPr/>
        </p:nvSpPr>
        <p:spPr>
          <a:xfrm>
            <a:off x="10332720" y="6446520"/>
            <a:ext cx="1371600" cy="320040"/>
          </a:xfrm>
          <a:prstGeom prst="rect">
            <a:avLst/>
          </a:prstGeom>
          <a:noFill/>
        </p:spPr>
        <p:txBody>
          <a:bodyPr wrap="square" lIns="0" tIns="0" rIns="0" bIns="0" anchor="t">
            <a:spAutoFit/>
          </a:bodyPr>
          <a:lstStyle/>
          <a:p>
            <a:pPr algn="r"/>
            <a:r>
              <a:rPr sz="1000" b="0">
                <a:solidFill>
                  <a:srgbClr val="545B64"/>
                </a:solidFill>
                <a:latin typeface="Calibri"/>
              </a:rPr>
              <a:t>2 / 18</a:t>
            </a:r>
          </a:p>
        </p:txBody>
      </p:sp>
      <p:sp>
        <p:nvSpPr>
          <p:cNvPr id="52" name="Rounded Rectangle 51">
            <a:extLst>
              <a:ext uri="{FF2B5EF4-FFF2-40B4-BE49-F238E27FC236}">
                <a16:creationId xmlns:a16="http://schemas.microsoft.com/office/drawing/2014/main" id="{E2654708-F639-5849-7C26-89DF1D3C51E9}"/>
              </a:ext>
            </a:extLst>
          </p:cNvPr>
          <p:cNvSpPr/>
          <p:nvPr/>
        </p:nvSpPr>
        <p:spPr>
          <a:xfrm>
            <a:off x="7024249" y="3514725"/>
            <a:ext cx="180975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**Add </a:t>
            </a:r>
            <a:r>
              <a:rPr lang="en-US" dirty="0" err="1">
                <a:solidFill>
                  <a:srgbClr val="FF0000"/>
                </a:solidFill>
                <a:highlight>
                  <a:srgbClr val="FFFF00"/>
                </a:highlight>
              </a:rPr>
              <a:t>AgentGateWay</a:t>
            </a:r>
            <a:r>
              <a:rPr lang="en-US" dirty="0">
                <a:solidFill>
                  <a:srgbClr val="FF0000"/>
                </a:solidFill>
                <a:highlight>
                  <a:srgbClr val="FFFF00"/>
                </a:highlight>
              </a:rPr>
              <a:t> to symbols</a:t>
            </a:r>
            <a:endParaRPr dirty="0">
              <a:solidFill>
                <a:srgbClr val="FF0000"/>
              </a:solidFill>
              <a:highlight>
                <a:srgbClr val="FFFF00"/>
              </a:highlight>
            </a:endParaRPr>
          </a:p>
        </p:txBody>
      </p:sp>
      <p:sp>
        <p:nvSpPr>
          <p:cNvPr id="53" name="Rounded Rectangle 52">
            <a:extLst>
              <a:ext uri="{FF2B5EF4-FFF2-40B4-BE49-F238E27FC236}">
                <a16:creationId xmlns:a16="http://schemas.microsoft.com/office/drawing/2014/main" id="{D2E310E7-2F22-E565-EAD9-8CC5CFA99B37}"/>
              </a:ext>
            </a:extLst>
          </p:cNvPr>
          <p:cNvSpPr/>
          <p:nvPr/>
        </p:nvSpPr>
        <p:spPr>
          <a:xfrm>
            <a:off x="10200188" y="3606165"/>
            <a:ext cx="180975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To understand where do we exactly use it </a:t>
            </a:r>
            <a:r>
              <a:rPr lang="en-US" dirty="0" err="1">
                <a:solidFill>
                  <a:srgbClr val="FF0000"/>
                </a:solidFill>
                <a:highlight>
                  <a:srgbClr val="FFFF00"/>
                </a:highlight>
              </a:rPr>
              <a:t>EventBrdieg</a:t>
            </a:r>
            <a:endParaRPr dirty="0">
              <a:solidFill>
                <a:srgbClr val="FF0000"/>
              </a:solidFill>
              <a:highlight>
                <a:srgbClr val="FFFF00"/>
              </a:highlight>
            </a:endParaRPr>
          </a:p>
        </p:txBody>
      </p:sp>
      <p:pic>
        <p:nvPicPr>
          <p:cNvPr id="54" name="Picture 53" descr="image.png"/>
          <p:cNvPicPr>
            <a:picLocks noChangeAspect="1"/>
          </p:cNvPicPr>
          <p:nvPr/>
        </p:nvPicPr>
        <p:blipFill>
          <a:blip r:embed="rId8"/>
          <a:stretch>
            <a:fillRect/>
          </a:stretch>
        </p:blipFill>
        <p:spPr>
          <a:xfrm>
            <a:off x="7722108" y="4389120"/>
            <a:ext cx="640080" cy="6400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p:cNvSpPr/>
          <p:nvPr/>
        </p:nvSpPr>
        <p:spPr>
          <a:xfrm>
            <a:off x="504825" y="361950"/>
            <a:ext cx="590550" cy="59055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a:solidFill>
                  <a:srgbClr val="FF9900"/>
                </a:solidFill>
                <a:latin typeface="Calibri"/>
              </a:rPr>
              <a:t>2</a:t>
            </a:r>
          </a:p>
        </p:txBody>
      </p:sp>
      <p:sp>
        <p:nvSpPr>
          <p:cNvPr id="4" name="TextBox 3"/>
          <p:cNvSpPr txBox="1"/>
          <p:nvPr/>
        </p:nvSpPr>
        <p:spPr>
          <a:xfrm>
            <a:off x="1276350" y="400050"/>
            <a:ext cx="8572500" cy="450123"/>
          </a:xfrm>
          <a:prstGeom prst="rect">
            <a:avLst/>
          </a:prstGeom>
          <a:noFill/>
        </p:spPr>
        <p:txBody>
          <a:bodyPr wrap="square" lIns="0" tIns="0" rIns="0" bIns="0">
            <a:spAutoFit/>
          </a:bodyPr>
          <a:lstStyle/>
          <a:p>
            <a:pPr algn="l"/>
            <a:r>
              <a:rPr sz="2925" b="1" dirty="0">
                <a:solidFill>
                  <a:srgbClr val="232F3E"/>
                </a:solidFill>
                <a:latin typeface="Calibri"/>
              </a:rPr>
              <a:t>Valentin Workflow</a:t>
            </a:r>
            <a:r>
              <a:rPr lang="en-US" sz="2925" b="1" dirty="0">
                <a:solidFill>
                  <a:srgbClr val="232F3E"/>
                </a:solidFill>
                <a:latin typeface="Calibri"/>
              </a:rPr>
              <a:t> – what makes it agentic?</a:t>
            </a:r>
            <a:endParaRPr sz="2925" b="1" dirty="0">
              <a:solidFill>
                <a:srgbClr val="232F3E"/>
              </a:solidFill>
              <a:latin typeface="Calibri"/>
            </a:endParaRPr>
          </a:p>
        </p:txBody>
      </p:sp>
      <p:sp>
        <p:nvSpPr>
          <p:cNvPr id="5" name="Rectangle 4"/>
          <p:cNvSpPr/>
          <p:nvPr/>
        </p:nvSpPr>
        <p:spPr>
          <a:xfrm>
            <a:off x="504825" y="1047750"/>
            <a:ext cx="1371600" cy="3810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Oval 6"/>
          <p:cNvSpPr/>
          <p:nvPr/>
        </p:nvSpPr>
        <p:spPr>
          <a:xfrm>
            <a:off x="1597533" y="1666875"/>
            <a:ext cx="3662934" cy="3524250"/>
          </a:xfrm>
          <a:prstGeom prst="ellipse">
            <a:avLst/>
          </a:prstGeom>
          <a:noFill/>
          <a:ln w="133350">
            <a:solidFill>
              <a:srgbClr val="FFEFD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dirty="0"/>
          </a:p>
        </p:txBody>
      </p:sp>
      <p:sp>
        <p:nvSpPr>
          <p:cNvPr id="17" name="Rounded Rectangle 16"/>
          <p:cNvSpPr/>
          <p:nvPr/>
        </p:nvSpPr>
        <p:spPr>
          <a:xfrm>
            <a:off x="2666999" y="4834419"/>
            <a:ext cx="180975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TextBox 17"/>
          <p:cNvSpPr txBox="1"/>
          <p:nvPr/>
        </p:nvSpPr>
        <p:spPr>
          <a:xfrm>
            <a:off x="2639406" y="4929669"/>
            <a:ext cx="1581150" cy="492443"/>
          </a:xfrm>
          <a:prstGeom prst="rect">
            <a:avLst/>
          </a:prstGeom>
          <a:noFill/>
        </p:spPr>
        <p:txBody>
          <a:bodyPr wrap="square" lIns="0" tIns="0" rIns="0" bIns="0">
            <a:spAutoFit/>
          </a:bodyPr>
          <a:lstStyle/>
          <a:p>
            <a:pPr algn="ctr"/>
            <a:r>
              <a:rPr lang="en-US" sz="1600" b="1" dirty="0">
                <a:solidFill>
                  <a:srgbClr val="232F3E"/>
                </a:solidFill>
                <a:latin typeface="Calibri"/>
              </a:rPr>
              <a:t>Trigger and planning</a:t>
            </a:r>
            <a:endParaRPr sz="1600" b="1" dirty="0">
              <a:solidFill>
                <a:srgbClr val="232F3E"/>
              </a:solidFill>
              <a:latin typeface="Calibri"/>
            </a:endParaRPr>
          </a:p>
        </p:txBody>
      </p:sp>
      <p:sp>
        <p:nvSpPr>
          <p:cNvPr id="19" name="TextBox 18"/>
          <p:cNvSpPr txBox="1"/>
          <p:nvPr/>
        </p:nvSpPr>
        <p:spPr>
          <a:xfrm>
            <a:off x="2781299" y="5129694"/>
            <a:ext cx="1581150" cy="109645"/>
          </a:xfrm>
          <a:prstGeom prst="rect">
            <a:avLst/>
          </a:prstGeom>
          <a:noFill/>
        </p:spPr>
        <p:txBody>
          <a:bodyPr wrap="square" lIns="0" tIns="0" rIns="0" bIns="0">
            <a:spAutoFit/>
          </a:bodyPr>
          <a:lstStyle/>
          <a:p>
            <a:pPr algn="l">
              <a:lnSpc>
                <a:spcPct val="95000"/>
              </a:lnSpc>
            </a:pPr>
            <a:endParaRPr sz="750" b="0" dirty="0">
              <a:solidFill>
                <a:srgbClr val="545B64"/>
              </a:solidFill>
              <a:latin typeface="Calibri"/>
            </a:endParaRPr>
          </a:p>
        </p:txBody>
      </p:sp>
      <p:sp>
        <p:nvSpPr>
          <p:cNvPr id="20" name="Oval 19"/>
          <p:cNvSpPr/>
          <p:nvPr/>
        </p:nvSpPr>
        <p:spPr>
          <a:xfrm>
            <a:off x="2562224" y="4729644"/>
            <a:ext cx="209550" cy="2095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b="1">
                <a:solidFill>
                  <a:srgbClr val="232F3E"/>
                </a:solidFill>
                <a:latin typeface="Calibri"/>
              </a:rPr>
              <a:t>1</a:t>
            </a:r>
          </a:p>
        </p:txBody>
      </p:sp>
      <p:sp>
        <p:nvSpPr>
          <p:cNvPr id="21" name="Rounded Rectangle 20"/>
          <p:cNvSpPr/>
          <p:nvPr/>
        </p:nvSpPr>
        <p:spPr>
          <a:xfrm>
            <a:off x="557212" y="3541130"/>
            <a:ext cx="180975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2" name="TextBox 21"/>
          <p:cNvSpPr txBox="1"/>
          <p:nvPr/>
        </p:nvSpPr>
        <p:spPr>
          <a:xfrm>
            <a:off x="671512" y="3798426"/>
            <a:ext cx="1581150" cy="246221"/>
          </a:xfrm>
          <a:prstGeom prst="rect">
            <a:avLst/>
          </a:prstGeom>
          <a:noFill/>
        </p:spPr>
        <p:txBody>
          <a:bodyPr wrap="square" lIns="0" tIns="0" rIns="0" bIns="0">
            <a:spAutoFit/>
          </a:bodyPr>
          <a:lstStyle/>
          <a:p>
            <a:pPr algn="ctr"/>
            <a:r>
              <a:rPr sz="1600" b="1" dirty="0">
                <a:solidFill>
                  <a:srgbClr val="232F3E"/>
                </a:solidFill>
                <a:latin typeface="Calibri"/>
              </a:rPr>
              <a:t>Use tools</a:t>
            </a:r>
          </a:p>
        </p:txBody>
      </p:sp>
      <p:sp>
        <p:nvSpPr>
          <p:cNvPr id="23" name="TextBox 22"/>
          <p:cNvSpPr txBox="1"/>
          <p:nvPr/>
        </p:nvSpPr>
        <p:spPr>
          <a:xfrm>
            <a:off x="671512" y="3836405"/>
            <a:ext cx="1581150" cy="109645"/>
          </a:xfrm>
          <a:prstGeom prst="rect">
            <a:avLst/>
          </a:prstGeom>
          <a:noFill/>
        </p:spPr>
        <p:txBody>
          <a:bodyPr wrap="square" lIns="0" tIns="0" rIns="0" bIns="0">
            <a:spAutoFit/>
          </a:bodyPr>
          <a:lstStyle/>
          <a:p>
            <a:pPr algn="l">
              <a:lnSpc>
                <a:spcPct val="95000"/>
              </a:lnSpc>
            </a:pPr>
            <a:endParaRPr sz="750" b="0" dirty="0">
              <a:solidFill>
                <a:srgbClr val="545B64"/>
              </a:solidFill>
              <a:latin typeface="Calibri"/>
            </a:endParaRPr>
          </a:p>
        </p:txBody>
      </p:sp>
      <p:sp>
        <p:nvSpPr>
          <p:cNvPr id="24" name="Oval 23"/>
          <p:cNvSpPr/>
          <p:nvPr/>
        </p:nvSpPr>
        <p:spPr>
          <a:xfrm>
            <a:off x="452437" y="3436355"/>
            <a:ext cx="209550" cy="2095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b="1">
                <a:solidFill>
                  <a:srgbClr val="232F3E"/>
                </a:solidFill>
                <a:latin typeface="Calibri"/>
              </a:rPr>
              <a:t>2</a:t>
            </a:r>
          </a:p>
        </p:txBody>
      </p:sp>
      <p:sp>
        <p:nvSpPr>
          <p:cNvPr id="25" name="Rounded Rectangle 24"/>
          <p:cNvSpPr/>
          <p:nvPr/>
        </p:nvSpPr>
        <p:spPr>
          <a:xfrm>
            <a:off x="1273985" y="1738063"/>
            <a:ext cx="180975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6" name="TextBox 25"/>
          <p:cNvSpPr txBox="1"/>
          <p:nvPr/>
        </p:nvSpPr>
        <p:spPr>
          <a:xfrm>
            <a:off x="1388285" y="1995359"/>
            <a:ext cx="1581150" cy="246221"/>
          </a:xfrm>
          <a:prstGeom prst="rect">
            <a:avLst/>
          </a:prstGeom>
          <a:noFill/>
        </p:spPr>
        <p:txBody>
          <a:bodyPr wrap="square" lIns="0" tIns="0" rIns="0" bIns="0">
            <a:spAutoFit/>
          </a:bodyPr>
          <a:lstStyle/>
          <a:p>
            <a:pPr algn="ctr"/>
            <a:r>
              <a:rPr sz="1600" b="1" dirty="0">
                <a:solidFill>
                  <a:srgbClr val="232F3E"/>
                </a:solidFill>
                <a:latin typeface="Calibri"/>
              </a:rPr>
              <a:t>Propose</a:t>
            </a:r>
          </a:p>
        </p:txBody>
      </p:sp>
      <p:sp>
        <p:nvSpPr>
          <p:cNvPr id="27" name="TextBox 26"/>
          <p:cNvSpPr txBox="1"/>
          <p:nvPr/>
        </p:nvSpPr>
        <p:spPr>
          <a:xfrm>
            <a:off x="1388285" y="2033338"/>
            <a:ext cx="1581150" cy="109645"/>
          </a:xfrm>
          <a:prstGeom prst="rect">
            <a:avLst/>
          </a:prstGeom>
          <a:noFill/>
        </p:spPr>
        <p:txBody>
          <a:bodyPr wrap="square" lIns="0" tIns="0" rIns="0" bIns="0">
            <a:spAutoFit/>
          </a:bodyPr>
          <a:lstStyle/>
          <a:p>
            <a:pPr algn="l">
              <a:lnSpc>
                <a:spcPct val="95000"/>
              </a:lnSpc>
            </a:pPr>
            <a:endParaRPr sz="750" b="0" dirty="0">
              <a:solidFill>
                <a:srgbClr val="545B64"/>
              </a:solidFill>
              <a:latin typeface="Calibri"/>
            </a:endParaRPr>
          </a:p>
        </p:txBody>
      </p:sp>
      <p:sp>
        <p:nvSpPr>
          <p:cNvPr id="28" name="Oval 27"/>
          <p:cNvSpPr/>
          <p:nvPr/>
        </p:nvSpPr>
        <p:spPr>
          <a:xfrm>
            <a:off x="1169210" y="1633288"/>
            <a:ext cx="209550" cy="2095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b="1">
                <a:solidFill>
                  <a:srgbClr val="232F3E"/>
                </a:solidFill>
                <a:latin typeface="Calibri"/>
              </a:rPr>
              <a:t>3</a:t>
            </a:r>
          </a:p>
        </p:txBody>
      </p:sp>
      <p:sp>
        <p:nvSpPr>
          <p:cNvPr id="29" name="Rounded Rectangle 28"/>
          <p:cNvSpPr/>
          <p:nvPr/>
        </p:nvSpPr>
        <p:spPr>
          <a:xfrm>
            <a:off x="3771900" y="1738063"/>
            <a:ext cx="194310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0" name="TextBox 29"/>
          <p:cNvSpPr txBox="1"/>
          <p:nvPr/>
        </p:nvSpPr>
        <p:spPr>
          <a:xfrm>
            <a:off x="3693033" y="1833313"/>
            <a:ext cx="2100834" cy="492443"/>
          </a:xfrm>
          <a:prstGeom prst="rect">
            <a:avLst/>
          </a:prstGeom>
          <a:noFill/>
        </p:spPr>
        <p:txBody>
          <a:bodyPr wrap="square" lIns="0" tIns="0" rIns="0" bIns="0">
            <a:spAutoFit/>
          </a:bodyPr>
          <a:lstStyle/>
          <a:p>
            <a:pPr algn="ctr"/>
            <a:r>
              <a:rPr lang="en-US" sz="1600" b="1" dirty="0">
                <a:solidFill>
                  <a:srgbClr val="232F3E"/>
                </a:solidFill>
                <a:latin typeface="Calibri"/>
              </a:rPr>
              <a:t>Discussion and preference extraction</a:t>
            </a:r>
            <a:endParaRPr sz="1600" b="1" dirty="0">
              <a:solidFill>
                <a:srgbClr val="232F3E"/>
              </a:solidFill>
              <a:latin typeface="Calibri"/>
            </a:endParaRPr>
          </a:p>
        </p:txBody>
      </p:sp>
      <p:sp>
        <p:nvSpPr>
          <p:cNvPr id="32" name="Oval 31"/>
          <p:cNvSpPr/>
          <p:nvPr/>
        </p:nvSpPr>
        <p:spPr>
          <a:xfrm>
            <a:off x="3733800" y="1633288"/>
            <a:ext cx="209550" cy="2095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b="1">
                <a:solidFill>
                  <a:srgbClr val="232F3E"/>
                </a:solidFill>
                <a:latin typeface="Calibri"/>
              </a:rPr>
              <a:t>4</a:t>
            </a:r>
          </a:p>
        </p:txBody>
      </p:sp>
      <p:sp>
        <p:nvSpPr>
          <p:cNvPr id="33" name="Rounded Rectangle 32"/>
          <p:cNvSpPr/>
          <p:nvPr/>
        </p:nvSpPr>
        <p:spPr>
          <a:xfrm>
            <a:off x="4514216" y="3541130"/>
            <a:ext cx="180975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 name="TextBox 33"/>
          <p:cNvSpPr txBox="1"/>
          <p:nvPr/>
        </p:nvSpPr>
        <p:spPr>
          <a:xfrm>
            <a:off x="4628516" y="3636380"/>
            <a:ext cx="1581150" cy="492443"/>
          </a:xfrm>
          <a:prstGeom prst="rect">
            <a:avLst/>
          </a:prstGeom>
          <a:noFill/>
        </p:spPr>
        <p:txBody>
          <a:bodyPr wrap="square" lIns="0" tIns="0" rIns="0" bIns="0">
            <a:spAutoFit/>
          </a:bodyPr>
          <a:lstStyle/>
          <a:p>
            <a:pPr algn="ctr"/>
            <a:r>
              <a:rPr lang="en-US" sz="1600" b="1" dirty="0">
                <a:solidFill>
                  <a:srgbClr val="232F3E"/>
                </a:solidFill>
                <a:latin typeface="Calibri"/>
              </a:rPr>
              <a:t>Feedback after the Event</a:t>
            </a:r>
            <a:endParaRPr sz="1600" b="1" dirty="0">
              <a:solidFill>
                <a:srgbClr val="232F3E"/>
              </a:solidFill>
              <a:latin typeface="Calibri"/>
            </a:endParaRPr>
          </a:p>
        </p:txBody>
      </p:sp>
      <p:sp>
        <p:nvSpPr>
          <p:cNvPr id="35" name="TextBox 34"/>
          <p:cNvSpPr txBox="1"/>
          <p:nvPr/>
        </p:nvSpPr>
        <p:spPr>
          <a:xfrm>
            <a:off x="4628516" y="3836405"/>
            <a:ext cx="1581150" cy="109645"/>
          </a:xfrm>
          <a:prstGeom prst="rect">
            <a:avLst/>
          </a:prstGeom>
          <a:noFill/>
        </p:spPr>
        <p:txBody>
          <a:bodyPr wrap="square" lIns="0" tIns="0" rIns="0" bIns="0">
            <a:spAutoFit/>
          </a:bodyPr>
          <a:lstStyle/>
          <a:p>
            <a:pPr algn="l">
              <a:lnSpc>
                <a:spcPct val="95000"/>
              </a:lnSpc>
            </a:pPr>
            <a:endParaRPr sz="750" b="0" dirty="0">
              <a:solidFill>
                <a:srgbClr val="545B64"/>
              </a:solidFill>
              <a:latin typeface="Calibri"/>
            </a:endParaRPr>
          </a:p>
        </p:txBody>
      </p:sp>
      <p:sp>
        <p:nvSpPr>
          <p:cNvPr id="36" name="Oval 35"/>
          <p:cNvSpPr/>
          <p:nvPr/>
        </p:nvSpPr>
        <p:spPr>
          <a:xfrm>
            <a:off x="4409441" y="3436355"/>
            <a:ext cx="209550" cy="2095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b="1">
                <a:solidFill>
                  <a:srgbClr val="232F3E"/>
                </a:solidFill>
                <a:latin typeface="Calibri"/>
              </a:rPr>
              <a:t>5</a:t>
            </a:r>
          </a:p>
        </p:txBody>
      </p:sp>
      <p:sp>
        <p:nvSpPr>
          <p:cNvPr id="37" name="Oval 36"/>
          <p:cNvSpPr/>
          <p:nvPr/>
        </p:nvSpPr>
        <p:spPr>
          <a:xfrm>
            <a:off x="2714625" y="2714625"/>
            <a:ext cx="1428750" cy="142875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8" name="TextBox 37"/>
          <p:cNvSpPr txBox="1"/>
          <p:nvPr/>
        </p:nvSpPr>
        <p:spPr>
          <a:xfrm>
            <a:off x="2714625" y="3162300"/>
            <a:ext cx="1428750" cy="133350"/>
          </a:xfrm>
          <a:prstGeom prst="rect">
            <a:avLst/>
          </a:prstGeom>
          <a:noFill/>
        </p:spPr>
        <p:txBody>
          <a:bodyPr wrap="square" lIns="0" tIns="0" rIns="0" bIns="0">
            <a:spAutoFit/>
          </a:bodyPr>
          <a:lstStyle/>
          <a:p>
            <a:pPr algn="ctr"/>
            <a:r>
              <a:rPr sz="1000" b="1" spc="120">
                <a:solidFill>
                  <a:srgbClr val="FF9900"/>
                </a:solidFill>
                <a:latin typeface="Calibri"/>
              </a:rPr>
              <a:t>GOAL</a:t>
            </a:r>
          </a:p>
        </p:txBody>
      </p:sp>
      <p:sp>
        <p:nvSpPr>
          <p:cNvPr id="39" name="TextBox 38"/>
          <p:cNvSpPr txBox="1"/>
          <p:nvPr/>
        </p:nvSpPr>
        <p:spPr>
          <a:xfrm>
            <a:off x="2809875" y="3333750"/>
            <a:ext cx="1238250" cy="419100"/>
          </a:xfrm>
          <a:prstGeom prst="rect">
            <a:avLst/>
          </a:prstGeom>
          <a:noFill/>
        </p:spPr>
        <p:txBody>
          <a:bodyPr wrap="square" lIns="0" tIns="0" rIns="0" bIns="0">
            <a:spAutoFit/>
          </a:bodyPr>
          <a:lstStyle/>
          <a:p>
            <a:pPr algn="ctr">
              <a:lnSpc>
                <a:spcPct val="95000"/>
              </a:lnSpc>
            </a:pPr>
            <a:r>
              <a:rPr sz="1087" b="1">
                <a:solidFill>
                  <a:srgbClr val="FFFFFF"/>
                </a:solidFill>
                <a:latin typeface="Calibri"/>
              </a:rPr>
              <a:t>Make her feel seen</a:t>
            </a:r>
          </a:p>
        </p:txBody>
      </p:sp>
      <p:sp>
        <p:nvSpPr>
          <p:cNvPr id="40" name="Rounded Rectangle 39"/>
          <p:cNvSpPr/>
          <p:nvPr/>
        </p:nvSpPr>
        <p:spPr>
          <a:xfrm>
            <a:off x="6667500" y="2131189"/>
            <a:ext cx="5029200" cy="1676400"/>
          </a:xfrm>
          <a:prstGeom prst="roundRect">
            <a:avLst>
              <a:gd name="adj" fmla="val 7500"/>
            </a:avLst>
          </a:prstGeom>
          <a:solidFill>
            <a:srgbClr val="F7F8FA"/>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1" name="TextBox 40"/>
          <p:cNvSpPr txBox="1"/>
          <p:nvPr/>
        </p:nvSpPr>
        <p:spPr>
          <a:xfrm>
            <a:off x="6800088" y="2197423"/>
            <a:ext cx="4743450" cy="215444"/>
          </a:xfrm>
          <a:prstGeom prst="rect">
            <a:avLst/>
          </a:prstGeom>
          <a:noFill/>
        </p:spPr>
        <p:txBody>
          <a:bodyPr wrap="square" lIns="0" tIns="0" rIns="0" bIns="0">
            <a:spAutoFit/>
          </a:bodyPr>
          <a:lstStyle/>
          <a:p>
            <a:pPr algn="l"/>
            <a:r>
              <a:rPr sz="1400" b="1" spc="90" dirty="0">
                <a:solidFill>
                  <a:srgbClr val="C07000"/>
                </a:solidFill>
                <a:latin typeface="Calibri"/>
              </a:rPr>
              <a:t>TOOLS — THE LOOP’S HANDS</a:t>
            </a:r>
          </a:p>
        </p:txBody>
      </p:sp>
      <p:sp>
        <p:nvSpPr>
          <p:cNvPr id="42" name="Rounded Rectangle 41"/>
          <p:cNvSpPr/>
          <p:nvPr/>
        </p:nvSpPr>
        <p:spPr>
          <a:xfrm>
            <a:off x="6810375" y="2455039"/>
            <a:ext cx="918591" cy="200025"/>
          </a:xfrm>
          <a:prstGeom prst="roundRect">
            <a:avLst>
              <a:gd name="adj" fmla="val 50000"/>
            </a:avLst>
          </a:prstGeom>
          <a:solidFill>
            <a:srgbClr val="FFF7EC"/>
          </a:solidFill>
          <a:ln w="9525">
            <a:solidFill>
              <a:srgbClr val="FFD08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dirty="0" err="1">
                <a:solidFill>
                  <a:srgbClr val="C07000"/>
                </a:solidFill>
                <a:latin typeface="Consolas"/>
              </a:rPr>
              <a:t>check_shabbat</a:t>
            </a:r>
            <a:endParaRPr sz="800" dirty="0">
              <a:solidFill>
                <a:srgbClr val="C07000"/>
              </a:solidFill>
              <a:latin typeface="Consolas"/>
            </a:endParaRPr>
          </a:p>
        </p:txBody>
      </p:sp>
      <p:sp>
        <p:nvSpPr>
          <p:cNvPr id="43" name="Rounded Rectangle 42"/>
          <p:cNvSpPr/>
          <p:nvPr/>
        </p:nvSpPr>
        <p:spPr>
          <a:xfrm>
            <a:off x="7767066" y="2455039"/>
            <a:ext cx="1310640"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get_hebrew_occasions</a:t>
            </a:r>
          </a:p>
        </p:txBody>
      </p:sp>
      <p:sp>
        <p:nvSpPr>
          <p:cNvPr id="44" name="Rounded Rectangle 43"/>
          <p:cNvSpPr/>
          <p:nvPr/>
        </p:nvSpPr>
        <p:spPr>
          <a:xfrm>
            <a:off x="9115806" y="2455039"/>
            <a:ext cx="974598"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find_occasions</a:t>
            </a:r>
          </a:p>
        </p:txBody>
      </p:sp>
      <p:sp>
        <p:nvSpPr>
          <p:cNvPr id="45" name="Rounded Rectangle 44"/>
          <p:cNvSpPr/>
          <p:nvPr/>
        </p:nvSpPr>
        <p:spPr>
          <a:xfrm>
            <a:off x="10128504" y="2455039"/>
            <a:ext cx="1086612" cy="200025"/>
          </a:xfrm>
          <a:prstGeom prst="roundRect">
            <a:avLst>
              <a:gd name="adj" fmla="val 50000"/>
            </a:avLst>
          </a:prstGeom>
          <a:solidFill>
            <a:srgbClr val="FFF7EC"/>
          </a:solidFill>
          <a:ln w="9525">
            <a:solidFill>
              <a:srgbClr val="FFD08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dirty="0" err="1">
                <a:solidFill>
                  <a:srgbClr val="C07000"/>
                </a:solidFill>
                <a:latin typeface="Consolas"/>
              </a:rPr>
              <a:t>find_restaurants</a:t>
            </a:r>
            <a:endParaRPr sz="800" dirty="0">
              <a:solidFill>
                <a:srgbClr val="C07000"/>
              </a:solidFill>
              <a:latin typeface="Consolas"/>
            </a:endParaRPr>
          </a:p>
        </p:txBody>
      </p:sp>
      <p:sp>
        <p:nvSpPr>
          <p:cNvPr id="46" name="Rounded Rectangle 45"/>
          <p:cNvSpPr/>
          <p:nvPr/>
        </p:nvSpPr>
        <p:spPr>
          <a:xfrm>
            <a:off x="6810375" y="2678626"/>
            <a:ext cx="1198626"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check_availability</a:t>
            </a:r>
          </a:p>
        </p:txBody>
      </p:sp>
      <p:sp>
        <p:nvSpPr>
          <p:cNvPr id="47" name="Rounded Rectangle 46"/>
          <p:cNvSpPr/>
          <p:nvPr/>
        </p:nvSpPr>
        <p:spPr>
          <a:xfrm>
            <a:off x="8047101" y="2678626"/>
            <a:ext cx="1254633"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propose_reservation</a:t>
            </a:r>
          </a:p>
        </p:txBody>
      </p:sp>
      <p:sp>
        <p:nvSpPr>
          <p:cNvPr id="48" name="Rounded Rectangle 47"/>
          <p:cNvSpPr/>
          <p:nvPr/>
        </p:nvSpPr>
        <p:spPr>
          <a:xfrm>
            <a:off x="9339834" y="2678626"/>
            <a:ext cx="750570"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find_music</a:t>
            </a:r>
          </a:p>
        </p:txBody>
      </p:sp>
      <p:sp>
        <p:nvSpPr>
          <p:cNvPr id="49" name="Rounded Rectangle 48"/>
          <p:cNvSpPr/>
          <p:nvPr/>
        </p:nvSpPr>
        <p:spPr>
          <a:xfrm>
            <a:off x="10128504" y="2678626"/>
            <a:ext cx="1086612"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propose_playlist</a:t>
            </a:r>
          </a:p>
        </p:txBody>
      </p:sp>
      <p:sp>
        <p:nvSpPr>
          <p:cNvPr id="50" name="Rounded Rectangle 49"/>
          <p:cNvSpPr/>
          <p:nvPr/>
        </p:nvSpPr>
        <p:spPr>
          <a:xfrm>
            <a:off x="6810375" y="2902214"/>
            <a:ext cx="918591"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search_hotels</a:t>
            </a:r>
          </a:p>
        </p:txBody>
      </p:sp>
      <p:sp>
        <p:nvSpPr>
          <p:cNvPr id="51" name="Rounded Rectangle 50"/>
          <p:cNvSpPr/>
          <p:nvPr/>
        </p:nvSpPr>
        <p:spPr>
          <a:xfrm>
            <a:off x="7767066" y="2902214"/>
            <a:ext cx="1142619"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search_activities</a:t>
            </a:r>
          </a:p>
        </p:txBody>
      </p:sp>
      <p:sp>
        <p:nvSpPr>
          <p:cNvPr id="52" name="Rounded Rectangle 51"/>
          <p:cNvSpPr/>
          <p:nvPr/>
        </p:nvSpPr>
        <p:spPr>
          <a:xfrm>
            <a:off x="8947785" y="2902214"/>
            <a:ext cx="918591"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order_flowers</a:t>
            </a:r>
          </a:p>
        </p:txBody>
      </p:sp>
      <p:sp>
        <p:nvSpPr>
          <p:cNvPr id="53" name="Rounded Rectangle 52"/>
          <p:cNvSpPr/>
          <p:nvPr/>
        </p:nvSpPr>
        <p:spPr>
          <a:xfrm>
            <a:off x="9904476" y="2902214"/>
            <a:ext cx="918591"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propose_email</a:t>
            </a:r>
          </a:p>
        </p:txBody>
      </p:sp>
      <p:sp>
        <p:nvSpPr>
          <p:cNvPr id="54" name="Rounded Rectangle 53"/>
          <p:cNvSpPr/>
          <p:nvPr/>
        </p:nvSpPr>
        <p:spPr>
          <a:xfrm>
            <a:off x="6810375" y="3125801"/>
            <a:ext cx="1422654"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dirty="0" err="1">
                <a:solidFill>
                  <a:srgbClr val="232F3E"/>
                </a:solidFill>
                <a:latin typeface="Consolas"/>
              </a:rPr>
              <a:t>propose_whatsapp_nudge</a:t>
            </a:r>
            <a:endParaRPr sz="800" dirty="0">
              <a:solidFill>
                <a:srgbClr val="232F3E"/>
              </a:solidFill>
              <a:latin typeface="Consolas"/>
            </a:endParaRPr>
          </a:p>
        </p:txBody>
      </p:sp>
      <p:sp>
        <p:nvSpPr>
          <p:cNvPr id="55" name="Rounded Rectangle 54"/>
          <p:cNvSpPr/>
          <p:nvPr/>
        </p:nvSpPr>
        <p:spPr>
          <a:xfrm>
            <a:off x="8271129" y="3125801"/>
            <a:ext cx="862584" cy="200025"/>
          </a:xfrm>
          <a:prstGeom prst="roundRect">
            <a:avLst>
              <a:gd name="adj" fmla="val 50000"/>
            </a:avLst>
          </a:prstGeom>
          <a:solidFill>
            <a:srgbClr val="FFF7EC"/>
          </a:solidFill>
          <a:ln w="9525">
            <a:solidFill>
              <a:srgbClr val="FFD08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dirty="0" err="1">
                <a:solidFill>
                  <a:srgbClr val="C07000"/>
                </a:solidFill>
                <a:latin typeface="Consolas"/>
              </a:rPr>
              <a:t>set_reminder</a:t>
            </a:r>
            <a:endParaRPr sz="800" dirty="0">
              <a:solidFill>
                <a:srgbClr val="C07000"/>
              </a:solidFill>
              <a:latin typeface="Consolas"/>
            </a:endParaRPr>
          </a:p>
        </p:txBody>
      </p:sp>
      <p:sp>
        <p:nvSpPr>
          <p:cNvPr id="56" name="Rounded Rectangle 55"/>
          <p:cNvSpPr/>
          <p:nvPr/>
        </p:nvSpPr>
        <p:spPr>
          <a:xfrm>
            <a:off x="9171813" y="3125801"/>
            <a:ext cx="1422654"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propose_calendar_event</a:t>
            </a:r>
          </a:p>
        </p:txBody>
      </p:sp>
      <p:sp>
        <p:nvSpPr>
          <p:cNvPr id="57" name="TextBox 56"/>
          <p:cNvSpPr txBox="1"/>
          <p:nvPr/>
        </p:nvSpPr>
        <p:spPr>
          <a:xfrm>
            <a:off x="6810375" y="3402026"/>
            <a:ext cx="4743450" cy="369332"/>
          </a:xfrm>
          <a:prstGeom prst="rect">
            <a:avLst/>
          </a:prstGeom>
          <a:noFill/>
        </p:spPr>
        <p:txBody>
          <a:bodyPr wrap="square" lIns="0" tIns="0" rIns="0" bIns="0">
            <a:spAutoFit/>
          </a:bodyPr>
          <a:lstStyle/>
          <a:p>
            <a:pPr algn="l"/>
            <a:r>
              <a:rPr sz="1200" b="0" dirty="0">
                <a:solidFill>
                  <a:srgbClr val="545B64"/>
                </a:solidFill>
                <a:latin typeface="Calibri"/>
              </a:rPr>
              <a:t>21 registered tools · 6 live integrations. Every write leaves as a proposal, never as a fact.</a:t>
            </a:r>
          </a:p>
        </p:txBody>
      </p:sp>
      <p:sp>
        <p:nvSpPr>
          <p:cNvPr id="58" name="Rounded Rectangle 57"/>
          <p:cNvSpPr/>
          <p:nvPr/>
        </p:nvSpPr>
        <p:spPr>
          <a:xfrm>
            <a:off x="6667500" y="4073807"/>
            <a:ext cx="2457450" cy="1390650"/>
          </a:xfrm>
          <a:prstGeom prst="roundRect">
            <a:avLst>
              <a:gd name="adj" fmla="val 8500"/>
            </a:avLst>
          </a:prstGeom>
          <a:solidFill>
            <a:srgbClr val="F7F8FA"/>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9" name="TextBox 58"/>
          <p:cNvSpPr txBox="1"/>
          <p:nvPr/>
        </p:nvSpPr>
        <p:spPr>
          <a:xfrm>
            <a:off x="6810375" y="4197632"/>
            <a:ext cx="2171700" cy="215444"/>
          </a:xfrm>
          <a:prstGeom prst="rect">
            <a:avLst/>
          </a:prstGeom>
          <a:noFill/>
        </p:spPr>
        <p:txBody>
          <a:bodyPr wrap="square" lIns="0" tIns="0" rIns="0" bIns="0">
            <a:spAutoFit/>
          </a:bodyPr>
          <a:lstStyle/>
          <a:p>
            <a:pPr algn="l"/>
            <a:r>
              <a:rPr sz="1400" b="1" spc="90" dirty="0">
                <a:solidFill>
                  <a:srgbClr val="C07000"/>
                </a:solidFill>
                <a:latin typeface="Calibri"/>
              </a:rPr>
              <a:t>MEMORY</a:t>
            </a:r>
          </a:p>
        </p:txBody>
      </p:sp>
      <p:sp>
        <p:nvSpPr>
          <p:cNvPr id="60" name="TextBox 59"/>
          <p:cNvSpPr txBox="1"/>
          <p:nvPr/>
        </p:nvSpPr>
        <p:spPr>
          <a:xfrm>
            <a:off x="6810375" y="4424907"/>
            <a:ext cx="2171700" cy="190500"/>
          </a:xfrm>
          <a:prstGeom prst="rect">
            <a:avLst/>
          </a:prstGeom>
          <a:noFill/>
        </p:spPr>
        <p:txBody>
          <a:bodyPr wrap="square" lIns="0" tIns="0" rIns="0" bIns="0">
            <a:spAutoFit/>
          </a:bodyPr>
          <a:lstStyle/>
          <a:p>
            <a:pPr algn="l"/>
            <a:r>
              <a:rPr sz="1050" b="1" dirty="0">
                <a:solidFill>
                  <a:srgbClr val="232F3E"/>
                </a:solidFill>
                <a:latin typeface="Calibri"/>
              </a:rPr>
              <a:t>Her file, rewritten every turn</a:t>
            </a:r>
          </a:p>
        </p:txBody>
      </p:sp>
      <p:sp>
        <p:nvSpPr>
          <p:cNvPr id="61" name="TextBox 60"/>
          <p:cNvSpPr txBox="1"/>
          <p:nvPr/>
        </p:nvSpPr>
        <p:spPr>
          <a:xfrm>
            <a:off x="6810375" y="4653507"/>
            <a:ext cx="2171700" cy="571500"/>
          </a:xfrm>
          <a:prstGeom prst="rect">
            <a:avLst/>
          </a:prstGeom>
          <a:noFill/>
        </p:spPr>
        <p:txBody>
          <a:bodyPr wrap="square" lIns="0" tIns="0" rIns="0" bIns="0">
            <a:spAutoFit/>
          </a:bodyPr>
          <a:lstStyle/>
          <a:p>
            <a:pPr algn="l">
              <a:lnSpc>
                <a:spcPct val="95000"/>
              </a:lnSpc>
            </a:pPr>
            <a:r>
              <a:rPr sz="1000" b="0" dirty="0">
                <a:solidFill>
                  <a:srgbClr val="545B64"/>
                </a:solidFill>
                <a:latin typeface="Calibri"/>
              </a:rPr>
              <a:t>8 preference categories · past outings · pending reminders. DynamoDB / AgentCore Memory.</a:t>
            </a:r>
          </a:p>
        </p:txBody>
      </p:sp>
      <p:sp>
        <p:nvSpPr>
          <p:cNvPr id="62" name="Rounded Rectangle 61"/>
          <p:cNvSpPr/>
          <p:nvPr/>
        </p:nvSpPr>
        <p:spPr>
          <a:xfrm>
            <a:off x="9239250" y="4073807"/>
            <a:ext cx="2457450" cy="1390650"/>
          </a:xfrm>
          <a:prstGeom prst="roundRect">
            <a:avLst>
              <a:gd name="adj" fmla="val 8500"/>
            </a:avLst>
          </a:prstGeom>
          <a:solidFill>
            <a:srgbClr val="F7F8FA"/>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3" name="TextBox 62"/>
          <p:cNvSpPr txBox="1"/>
          <p:nvPr/>
        </p:nvSpPr>
        <p:spPr>
          <a:xfrm>
            <a:off x="9382125" y="4197632"/>
            <a:ext cx="2171700" cy="215444"/>
          </a:xfrm>
          <a:prstGeom prst="rect">
            <a:avLst/>
          </a:prstGeom>
          <a:noFill/>
        </p:spPr>
        <p:txBody>
          <a:bodyPr wrap="square" lIns="0" tIns="0" rIns="0" bIns="0">
            <a:spAutoFit/>
          </a:bodyPr>
          <a:lstStyle/>
          <a:p>
            <a:pPr algn="l"/>
            <a:r>
              <a:rPr sz="1400" b="1" spc="90" dirty="0">
                <a:solidFill>
                  <a:srgbClr val="C07000"/>
                </a:solidFill>
                <a:latin typeface="Calibri"/>
              </a:rPr>
              <a:t>LOOP</a:t>
            </a:r>
          </a:p>
        </p:txBody>
      </p:sp>
      <p:sp>
        <p:nvSpPr>
          <p:cNvPr id="64" name="TextBox 63"/>
          <p:cNvSpPr txBox="1"/>
          <p:nvPr/>
        </p:nvSpPr>
        <p:spPr>
          <a:xfrm>
            <a:off x="9382125" y="4424907"/>
            <a:ext cx="2171700" cy="190500"/>
          </a:xfrm>
          <a:prstGeom prst="rect">
            <a:avLst/>
          </a:prstGeom>
          <a:noFill/>
        </p:spPr>
        <p:txBody>
          <a:bodyPr wrap="square" lIns="0" tIns="0" rIns="0" bIns="0">
            <a:spAutoFit/>
          </a:bodyPr>
          <a:lstStyle/>
          <a:p>
            <a:pPr algn="l"/>
            <a:r>
              <a:rPr sz="1050" b="1">
                <a:solidFill>
                  <a:srgbClr val="232F3E"/>
                </a:solidFill>
                <a:latin typeface="Calibri"/>
              </a:rPr>
              <a:t>It never ends on a reply</a:t>
            </a:r>
          </a:p>
        </p:txBody>
      </p:sp>
      <p:sp>
        <p:nvSpPr>
          <p:cNvPr id="65" name="TextBox 64"/>
          <p:cNvSpPr txBox="1"/>
          <p:nvPr/>
        </p:nvSpPr>
        <p:spPr>
          <a:xfrm>
            <a:off x="9382125" y="4653507"/>
            <a:ext cx="2171700" cy="571500"/>
          </a:xfrm>
          <a:prstGeom prst="rect">
            <a:avLst/>
          </a:prstGeom>
          <a:noFill/>
        </p:spPr>
        <p:txBody>
          <a:bodyPr wrap="square" lIns="0" tIns="0" rIns="0" bIns="0">
            <a:spAutoFit/>
          </a:bodyPr>
          <a:lstStyle/>
          <a:p>
            <a:pPr algn="l">
              <a:lnSpc>
                <a:spcPct val="95000"/>
              </a:lnSpc>
            </a:pPr>
            <a:r>
              <a:rPr sz="1000" b="0">
                <a:solidFill>
                  <a:srgbClr val="545B64"/>
                </a:solidFill>
                <a:latin typeface="Calibri"/>
              </a:rPr>
              <a:t>Each pass reorganises the timeline: new dates land, stale ones fall off, reminders re-scheduled.</a:t>
            </a:r>
          </a:p>
        </p:txBody>
      </p:sp>
      <p:grpSp>
        <p:nvGrpSpPr>
          <p:cNvPr id="95" name="Group 94">
            <a:extLst>
              <a:ext uri="{FF2B5EF4-FFF2-40B4-BE49-F238E27FC236}">
                <a16:creationId xmlns:a16="http://schemas.microsoft.com/office/drawing/2014/main" id="{A0D98818-BC03-63C2-8438-EA6EF23603A0}"/>
              </a:ext>
            </a:extLst>
          </p:cNvPr>
          <p:cNvGrpSpPr/>
          <p:nvPr/>
        </p:nvGrpSpPr>
        <p:grpSpPr>
          <a:xfrm>
            <a:off x="6667808" y="1269273"/>
            <a:ext cx="3703107" cy="282320"/>
            <a:chOff x="6667809" y="1269273"/>
            <a:chExt cx="2522220" cy="228600"/>
          </a:xfrm>
        </p:grpSpPr>
        <p:sp>
          <p:nvSpPr>
            <p:cNvPr id="66" name="Rounded Rectangle 65"/>
            <p:cNvSpPr/>
            <p:nvPr/>
          </p:nvSpPr>
          <p:spPr>
            <a:xfrm>
              <a:off x="6667809" y="1269273"/>
              <a:ext cx="521970" cy="228600"/>
            </a:xfrm>
            <a:prstGeom prst="roundRect">
              <a:avLst>
                <a:gd name="adj" fmla="val 50000"/>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dirty="0">
                  <a:solidFill>
                    <a:srgbClr val="232F3E"/>
                  </a:solidFill>
                  <a:latin typeface="Calibri"/>
                </a:rPr>
                <a:t>GOAL</a:t>
              </a:r>
            </a:p>
          </p:txBody>
        </p:sp>
        <p:sp>
          <p:nvSpPr>
            <p:cNvPr id="67" name="Rounded Rectangle 66"/>
            <p:cNvSpPr/>
            <p:nvPr/>
          </p:nvSpPr>
          <p:spPr>
            <a:xfrm>
              <a:off x="7265979" y="1269273"/>
              <a:ext cx="521970" cy="228600"/>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dirty="0">
                  <a:solidFill>
                    <a:srgbClr val="FFFFFF"/>
                  </a:solidFill>
                  <a:latin typeface="Calibri"/>
                </a:rPr>
                <a:t>LOOP</a:t>
              </a:r>
            </a:p>
          </p:txBody>
        </p:sp>
        <p:sp>
          <p:nvSpPr>
            <p:cNvPr id="68" name="Rounded Rectangle 67"/>
            <p:cNvSpPr/>
            <p:nvPr/>
          </p:nvSpPr>
          <p:spPr>
            <a:xfrm>
              <a:off x="7864149" y="1269273"/>
              <a:ext cx="659130" cy="228600"/>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dirty="0">
                  <a:solidFill>
                    <a:srgbClr val="FFFFFF"/>
                  </a:solidFill>
                  <a:latin typeface="Calibri"/>
                </a:rPr>
                <a:t>MEMORY</a:t>
              </a:r>
            </a:p>
          </p:txBody>
        </p:sp>
        <p:sp>
          <p:nvSpPr>
            <p:cNvPr id="69" name="Rounded Rectangle 68"/>
            <p:cNvSpPr/>
            <p:nvPr/>
          </p:nvSpPr>
          <p:spPr>
            <a:xfrm>
              <a:off x="8599479" y="1269273"/>
              <a:ext cx="590550" cy="228600"/>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TOOLS</a:t>
              </a:r>
            </a:p>
          </p:txBody>
        </p:sp>
      </p:grpSp>
      <p:sp>
        <p:nvSpPr>
          <p:cNvPr id="72" name="Rounded Rectangle 71"/>
          <p:cNvSpPr/>
          <p:nvPr/>
        </p:nvSpPr>
        <p:spPr>
          <a:xfrm>
            <a:off x="504825" y="5991827"/>
            <a:ext cx="11182350" cy="47625"/>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3" name="Oval 72"/>
          <p:cNvSpPr/>
          <p:nvPr/>
        </p:nvSpPr>
        <p:spPr>
          <a:xfrm>
            <a:off x="1323975" y="5915627"/>
            <a:ext cx="171450" cy="171450"/>
          </a:xfrm>
          <a:prstGeom prst="ellipse">
            <a:avLst/>
          </a:prstGeom>
          <a:solidFill>
            <a:srgbClr val="FFFFFF"/>
          </a:solidFill>
          <a:ln w="1905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4" name="Oval 73"/>
          <p:cNvSpPr/>
          <p:nvPr/>
        </p:nvSpPr>
        <p:spPr>
          <a:xfrm>
            <a:off x="1362075" y="5953727"/>
            <a:ext cx="95250" cy="952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5" name="TextBox 74"/>
          <p:cNvSpPr txBox="1"/>
          <p:nvPr/>
        </p:nvSpPr>
        <p:spPr>
          <a:xfrm>
            <a:off x="552450" y="6144227"/>
            <a:ext cx="1714500" cy="133350"/>
          </a:xfrm>
          <a:prstGeom prst="rect">
            <a:avLst/>
          </a:prstGeom>
          <a:noFill/>
        </p:spPr>
        <p:txBody>
          <a:bodyPr wrap="square" lIns="0" tIns="0" rIns="0" bIns="0">
            <a:spAutoFit/>
          </a:bodyPr>
          <a:lstStyle/>
          <a:p>
            <a:pPr algn="ctr"/>
            <a:r>
              <a:rPr sz="1000" b="1" spc="60">
                <a:solidFill>
                  <a:srgbClr val="C07000"/>
                </a:solidFill>
                <a:latin typeface="Calibri"/>
              </a:rPr>
              <a:t>EVERY FRIDAY</a:t>
            </a:r>
          </a:p>
        </p:txBody>
      </p:sp>
      <p:sp>
        <p:nvSpPr>
          <p:cNvPr id="76" name="TextBox 75"/>
          <p:cNvSpPr txBox="1"/>
          <p:nvPr/>
        </p:nvSpPr>
        <p:spPr>
          <a:xfrm>
            <a:off x="552450" y="6277577"/>
            <a:ext cx="1714500" cy="171450"/>
          </a:xfrm>
          <a:prstGeom prst="rect">
            <a:avLst/>
          </a:prstGeom>
          <a:noFill/>
        </p:spPr>
        <p:txBody>
          <a:bodyPr wrap="square" lIns="0" tIns="0" rIns="0" bIns="0">
            <a:spAutoFit/>
          </a:bodyPr>
          <a:lstStyle/>
          <a:p>
            <a:pPr algn="ctr"/>
            <a:r>
              <a:rPr sz="1000" b="1">
                <a:solidFill>
                  <a:srgbClr val="232F3E"/>
                </a:solidFill>
                <a:latin typeface="Calibri"/>
              </a:rPr>
              <a:t>Shabbat dinner</a:t>
            </a:r>
          </a:p>
        </p:txBody>
      </p:sp>
      <p:sp>
        <p:nvSpPr>
          <p:cNvPr id="77" name="Oval 76"/>
          <p:cNvSpPr/>
          <p:nvPr/>
        </p:nvSpPr>
        <p:spPr>
          <a:xfrm>
            <a:off x="3914775" y="5915627"/>
            <a:ext cx="171450" cy="171450"/>
          </a:xfrm>
          <a:prstGeom prst="ellipse">
            <a:avLst/>
          </a:prstGeom>
          <a:solidFill>
            <a:srgbClr val="FFFFFF"/>
          </a:solidFill>
          <a:ln w="1905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8" name="Oval 77"/>
          <p:cNvSpPr/>
          <p:nvPr/>
        </p:nvSpPr>
        <p:spPr>
          <a:xfrm>
            <a:off x="3952875" y="5953727"/>
            <a:ext cx="95250" cy="952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9" name="TextBox 78"/>
          <p:cNvSpPr txBox="1"/>
          <p:nvPr/>
        </p:nvSpPr>
        <p:spPr>
          <a:xfrm>
            <a:off x="3143250" y="6144227"/>
            <a:ext cx="1714500" cy="133350"/>
          </a:xfrm>
          <a:prstGeom prst="rect">
            <a:avLst/>
          </a:prstGeom>
          <a:noFill/>
        </p:spPr>
        <p:txBody>
          <a:bodyPr wrap="square" lIns="0" tIns="0" rIns="0" bIns="0">
            <a:spAutoFit/>
          </a:bodyPr>
          <a:lstStyle/>
          <a:p>
            <a:pPr algn="ctr"/>
            <a:r>
              <a:rPr sz="1000" b="1" spc="60">
                <a:solidFill>
                  <a:srgbClr val="C07000"/>
                </a:solidFill>
                <a:latin typeface="Calibri"/>
              </a:rPr>
              <a:t>3 NOV</a:t>
            </a:r>
          </a:p>
        </p:txBody>
      </p:sp>
      <p:sp>
        <p:nvSpPr>
          <p:cNvPr id="80" name="TextBox 79"/>
          <p:cNvSpPr txBox="1"/>
          <p:nvPr/>
        </p:nvSpPr>
        <p:spPr>
          <a:xfrm>
            <a:off x="3143250" y="6277577"/>
            <a:ext cx="1714500" cy="171450"/>
          </a:xfrm>
          <a:prstGeom prst="rect">
            <a:avLst/>
          </a:prstGeom>
          <a:noFill/>
        </p:spPr>
        <p:txBody>
          <a:bodyPr wrap="square" lIns="0" tIns="0" rIns="0" bIns="0">
            <a:spAutoFit/>
          </a:bodyPr>
          <a:lstStyle/>
          <a:p>
            <a:pPr algn="ctr"/>
            <a:r>
              <a:rPr sz="1000" b="1">
                <a:solidFill>
                  <a:srgbClr val="232F3E"/>
                </a:solidFill>
                <a:latin typeface="Calibri"/>
              </a:rPr>
              <a:t>Anniversary</a:t>
            </a:r>
          </a:p>
        </p:txBody>
      </p:sp>
      <p:sp>
        <p:nvSpPr>
          <p:cNvPr id="81" name="Oval 80"/>
          <p:cNvSpPr/>
          <p:nvPr/>
        </p:nvSpPr>
        <p:spPr>
          <a:xfrm>
            <a:off x="6486525" y="5915627"/>
            <a:ext cx="171450" cy="171450"/>
          </a:xfrm>
          <a:prstGeom prst="ellipse">
            <a:avLst/>
          </a:prstGeom>
          <a:solidFill>
            <a:srgbClr val="FFFFFF"/>
          </a:solidFill>
          <a:ln w="1905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2" name="Oval 81"/>
          <p:cNvSpPr/>
          <p:nvPr/>
        </p:nvSpPr>
        <p:spPr>
          <a:xfrm>
            <a:off x="6524625" y="5953727"/>
            <a:ext cx="95250" cy="952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3" name="TextBox 82"/>
          <p:cNvSpPr txBox="1"/>
          <p:nvPr/>
        </p:nvSpPr>
        <p:spPr>
          <a:xfrm>
            <a:off x="5715000" y="6144227"/>
            <a:ext cx="1714500" cy="133350"/>
          </a:xfrm>
          <a:prstGeom prst="rect">
            <a:avLst/>
          </a:prstGeom>
          <a:noFill/>
        </p:spPr>
        <p:txBody>
          <a:bodyPr wrap="square" lIns="0" tIns="0" rIns="0" bIns="0">
            <a:spAutoFit/>
          </a:bodyPr>
          <a:lstStyle/>
          <a:p>
            <a:pPr algn="ctr"/>
            <a:r>
              <a:rPr sz="1000" b="1" spc="60">
                <a:solidFill>
                  <a:srgbClr val="C07000"/>
                </a:solidFill>
                <a:latin typeface="Calibri"/>
              </a:rPr>
              <a:t>14 FEB</a:t>
            </a:r>
          </a:p>
        </p:txBody>
      </p:sp>
      <p:sp>
        <p:nvSpPr>
          <p:cNvPr id="84" name="TextBox 83"/>
          <p:cNvSpPr txBox="1"/>
          <p:nvPr/>
        </p:nvSpPr>
        <p:spPr>
          <a:xfrm>
            <a:off x="5715000" y="6277577"/>
            <a:ext cx="1714500" cy="171450"/>
          </a:xfrm>
          <a:prstGeom prst="rect">
            <a:avLst/>
          </a:prstGeom>
          <a:noFill/>
        </p:spPr>
        <p:txBody>
          <a:bodyPr wrap="square" lIns="0" tIns="0" rIns="0" bIns="0">
            <a:spAutoFit/>
          </a:bodyPr>
          <a:lstStyle/>
          <a:p>
            <a:pPr algn="ctr"/>
            <a:r>
              <a:rPr sz="1000" b="1">
                <a:solidFill>
                  <a:srgbClr val="232F3E"/>
                </a:solidFill>
                <a:latin typeface="Calibri"/>
              </a:rPr>
              <a:t>Her birthday</a:t>
            </a:r>
          </a:p>
        </p:txBody>
      </p:sp>
      <p:sp>
        <p:nvSpPr>
          <p:cNvPr id="85" name="Oval 84"/>
          <p:cNvSpPr/>
          <p:nvPr/>
        </p:nvSpPr>
        <p:spPr>
          <a:xfrm>
            <a:off x="8943975" y="5915627"/>
            <a:ext cx="171450" cy="171450"/>
          </a:xfrm>
          <a:prstGeom prst="ellipse">
            <a:avLst/>
          </a:prstGeom>
          <a:solidFill>
            <a:srgbClr val="FFFFFF"/>
          </a:solidFill>
          <a:ln w="1905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6" name="Oval 85"/>
          <p:cNvSpPr/>
          <p:nvPr/>
        </p:nvSpPr>
        <p:spPr>
          <a:xfrm>
            <a:off x="8982075" y="5953727"/>
            <a:ext cx="95250" cy="952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7" name="TextBox 86"/>
          <p:cNvSpPr txBox="1"/>
          <p:nvPr/>
        </p:nvSpPr>
        <p:spPr>
          <a:xfrm>
            <a:off x="8172450" y="6144227"/>
            <a:ext cx="1714500" cy="133350"/>
          </a:xfrm>
          <a:prstGeom prst="rect">
            <a:avLst/>
          </a:prstGeom>
          <a:noFill/>
        </p:spPr>
        <p:txBody>
          <a:bodyPr wrap="square" lIns="0" tIns="0" rIns="0" bIns="0">
            <a:spAutoFit/>
          </a:bodyPr>
          <a:lstStyle/>
          <a:p>
            <a:pPr algn="ctr"/>
            <a:r>
              <a:rPr sz="1000" b="1" spc="60">
                <a:solidFill>
                  <a:srgbClr val="C07000"/>
                </a:solidFill>
                <a:latin typeface="Calibri"/>
              </a:rPr>
              <a:t>21 MAR</a:t>
            </a:r>
          </a:p>
        </p:txBody>
      </p:sp>
      <p:sp>
        <p:nvSpPr>
          <p:cNvPr id="88" name="TextBox 87"/>
          <p:cNvSpPr txBox="1"/>
          <p:nvPr/>
        </p:nvSpPr>
        <p:spPr>
          <a:xfrm>
            <a:off x="8172450" y="6277577"/>
            <a:ext cx="1714500" cy="171450"/>
          </a:xfrm>
          <a:prstGeom prst="rect">
            <a:avLst/>
          </a:prstGeom>
          <a:noFill/>
        </p:spPr>
        <p:txBody>
          <a:bodyPr wrap="square" lIns="0" tIns="0" rIns="0" bIns="0">
            <a:spAutoFit/>
          </a:bodyPr>
          <a:lstStyle/>
          <a:p>
            <a:pPr algn="ctr"/>
            <a:r>
              <a:rPr sz="1000" b="1">
                <a:solidFill>
                  <a:srgbClr val="232F3E"/>
                </a:solidFill>
                <a:latin typeface="Calibri"/>
              </a:rPr>
              <a:t>Bat mitzvah</a:t>
            </a:r>
          </a:p>
        </p:txBody>
      </p:sp>
      <p:sp>
        <p:nvSpPr>
          <p:cNvPr id="89" name="Oval 88"/>
          <p:cNvSpPr/>
          <p:nvPr/>
        </p:nvSpPr>
        <p:spPr>
          <a:xfrm>
            <a:off x="11182350" y="5915627"/>
            <a:ext cx="171450" cy="171450"/>
          </a:xfrm>
          <a:prstGeom prst="ellipse">
            <a:avLst/>
          </a:prstGeom>
          <a:solidFill>
            <a:srgbClr val="FFFFFF"/>
          </a:solidFill>
          <a:ln w="1905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0" name="Oval 89"/>
          <p:cNvSpPr/>
          <p:nvPr/>
        </p:nvSpPr>
        <p:spPr>
          <a:xfrm>
            <a:off x="11220450" y="5953727"/>
            <a:ext cx="95250" cy="952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1" name="TextBox 90"/>
          <p:cNvSpPr txBox="1"/>
          <p:nvPr/>
        </p:nvSpPr>
        <p:spPr>
          <a:xfrm>
            <a:off x="10410825" y="6144227"/>
            <a:ext cx="1714500" cy="133350"/>
          </a:xfrm>
          <a:prstGeom prst="rect">
            <a:avLst/>
          </a:prstGeom>
          <a:noFill/>
        </p:spPr>
        <p:txBody>
          <a:bodyPr wrap="square" lIns="0" tIns="0" rIns="0" bIns="0">
            <a:spAutoFit/>
          </a:bodyPr>
          <a:lstStyle/>
          <a:p>
            <a:pPr algn="ctr"/>
            <a:r>
              <a:rPr sz="1000" b="1" spc="60">
                <a:solidFill>
                  <a:srgbClr val="C07000"/>
                </a:solidFill>
                <a:latin typeface="Calibri"/>
              </a:rPr>
              <a:t>JUNE</a:t>
            </a:r>
          </a:p>
        </p:txBody>
      </p:sp>
      <p:sp>
        <p:nvSpPr>
          <p:cNvPr id="92" name="TextBox 91"/>
          <p:cNvSpPr txBox="1"/>
          <p:nvPr/>
        </p:nvSpPr>
        <p:spPr>
          <a:xfrm>
            <a:off x="10410825" y="6277577"/>
            <a:ext cx="1714500" cy="171450"/>
          </a:xfrm>
          <a:prstGeom prst="rect">
            <a:avLst/>
          </a:prstGeom>
          <a:noFill/>
        </p:spPr>
        <p:txBody>
          <a:bodyPr wrap="square" lIns="0" tIns="0" rIns="0" bIns="0">
            <a:spAutoFit/>
          </a:bodyPr>
          <a:lstStyle/>
          <a:p>
            <a:pPr algn="ctr"/>
            <a:r>
              <a:rPr sz="1000" b="1">
                <a:solidFill>
                  <a:srgbClr val="232F3E"/>
                </a:solidFill>
                <a:latin typeface="Calibri"/>
              </a:rPr>
              <a:t>Anniversary trip</a:t>
            </a:r>
          </a:p>
        </p:txBody>
      </p:sp>
      <p:sp>
        <p:nvSpPr>
          <p:cNvPr id="93" name="TextBox 92"/>
          <p:cNvSpPr txBox="1"/>
          <p:nvPr/>
        </p:nvSpPr>
        <p:spPr>
          <a:xfrm>
            <a:off x="504825" y="6534150"/>
            <a:ext cx="5715000" cy="152400"/>
          </a:xfrm>
          <a:prstGeom prst="rect">
            <a:avLst/>
          </a:prstGeom>
          <a:noFill/>
        </p:spPr>
        <p:txBody>
          <a:bodyPr wrap="square" lIns="0" tIns="0" rIns="0" bIns="0">
            <a:spAutoFit/>
          </a:bodyPr>
          <a:lstStyle/>
          <a:p>
            <a:pPr algn="l"/>
            <a:r>
              <a:rPr sz="1000" b="1" dirty="0">
                <a:solidFill>
                  <a:srgbClr val="545B64"/>
                </a:solidFill>
                <a:latin typeface="Calibri"/>
              </a:rPr>
              <a:t>VALENTIN   ·   GenAI TFC Capstone Deep-Dive</a:t>
            </a:r>
          </a:p>
        </p:txBody>
      </p:sp>
      <p:sp>
        <p:nvSpPr>
          <p:cNvPr id="94" name="TextBox 93"/>
          <p:cNvSpPr txBox="1"/>
          <p:nvPr/>
        </p:nvSpPr>
        <p:spPr>
          <a:xfrm>
            <a:off x="10258425" y="6534150"/>
            <a:ext cx="1428750" cy="152400"/>
          </a:xfrm>
          <a:prstGeom prst="rect">
            <a:avLst/>
          </a:prstGeom>
          <a:noFill/>
        </p:spPr>
        <p:txBody>
          <a:bodyPr wrap="square" lIns="0" tIns="0" rIns="0" bIns="0">
            <a:spAutoFit/>
          </a:bodyPr>
          <a:lstStyle/>
          <a:p>
            <a:pPr algn="r"/>
            <a:r>
              <a:rPr sz="1000" b="0">
                <a:solidFill>
                  <a:srgbClr val="545B64"/>
                </a:solidFill>
                <a:latin typeface="Calibri"/>
              </a:rPr>
              <a:t>3 / 18</a:t>
            </a:r>
          </a:p>
        </p:txBody>
      </p:sp>
      <p:sp>
        <p:nvSpPr>
          <p:cNvPr id="1078" name="Arc 1078"/>
          <p:cNvSpPr/>
          <p:nvPr/>
        </p:nvSpPr>
        <p:spPr>
          <a:xfrm>
            <a:off x="1600200" y="1664208"/>
            <a:ext cx="3666744" cy="3520440"/>
          </a:xfrm>
          <a:prstGeom prst="arc">
            <a:avLst>
              <a:gd name="adj1" fmla="val 6600000"/>
              <a:gd name="adj2" fmla="val 8880000"/>
            </a:avLst>
          </a:prstGeom>
          <a:noFill/>
          <a:ln w="38100" cap="rnd">
            <a:solidFill>
              <a:srgbClr val="FF9900"/>
            </a:solidFill>
            <a:tailEnd type="triangle" w="med" len="med"/>
          </a:ln>
        </p:spPr>
        <p:txBody>
          <a:bodyPr/>
          <a:lstStyle/>
          <a:p>
            <a:endParaRPr/>
          </a:p>
        </p:txBody>
      </p:sp>
      <p:sp>
        <p:nvSpPr>
          <p:cNvPr id="1079" name="Arc 1079"/>
          <p:cNvSpPr/>
          <p:nvPr/>
        </p:nvSpPr>
        <p:spPr>
          <a:xfrm>
            <a:off x="1600200" y="1664208"/>
            <a:ext cx="3666744" cy="3520440"/>
          </a:xfrm>
          <a:prstGeom prst="arc">
            <a:avLst>
              <a:gd name="adj1" fmla="val 11100000"/>
              <a:gd name="adj2" fmla="val 12600000"/>
            </a:avLst>
          </a:prstGeom>
          <a:noFill/>
          <a:ln w="38100" cap="rnd">
            <a:solidFill>
              <a:srgbClr val="FF9900"/>
            </a:solidFill>
            <a:tailEnd type="triangle" w="med" len="med"/>
          </a:ln>
        </p:spPr>
        <p:txBody>
          <a:bodyPr/>
          <a:lstStyle/>
          <a:p>
            <a:endParaRPr/>
          </a:p>
        </p:txBody>
      </p:sp>
      <p:sp>
        <p:nvSpPr>
          <p:cNvPr id="1080" name="Arc 1080"/>
          <p:cNvSpPr/>
          <p:nvPr/>
        </p:nvSpPr>
        <p:spPr>
          <a:xfrm>
            <a:off x="1600200" y="1664208"/>
            <a:ext cx="3666744" cy="3520440"/>
          </a:xfrm>
          <a:prstGeom prst="arc">
            <a:avLst>
              <a:gd name="adj1" fmla="val 14760000"/>
              <a:gd name="adj2" fmla="val 17760000"/>
            </a:avLst>
          </a:prstGeom>
          <a:noFill/>
          <a:ln w="38100" cap="rnd">
            <a:solidFill>
              <a:srgbClr val="FF9900"/>
            </a:solidFill>
            <a:tailEnd type="triangle" w="med" len="med"/>
          </a:ln>
        </p:spPr>
        <p:txBody>
          <a:bodyPr/>
          <a:lstStyle/>
          <a:p>
            <a:endParaRPr/>
          </a:p>
        </p:txBody>
      </p:sp>
      <p:sp>
        <p:nvSpPr>
          <p:cNvPr id="1081" name="Arc 1081"/>
          <p:cNvSpPr/>
          <p:nvPr/>
        </p:nvSpPr>
        <p:spPr>
          <a:xfrm>
            <a:off x="1600200" y="1664208"/>
            <a:ext cx="3666744" cy="3520440"/>
          </a:xfrm>
          <a:prstGeom prst="arc">
            <a:avLst>
              <a:gd name="adj1" fmla="val 19980000"/>
              <a:gd name="adj2" fmla="val 21300000"/>
            </a:avLst>
          </a:prstGeom>
          <a:noFill/>
          <a:ln w="38100" cap="rnd">
            <a:solidFill>
              <a:srgbClr val="FF9900"/>
            </a:solidFill>
            <a:tailEnd type="triangle" w="med" len="med"/>
          </a:ln>
        </p:spPr>
        <p:txBody>
          <a:bodyPr/>
          <a:lstStyle/>
          <a:p>
            <a:endParaRPr/>
          </a:p>
        </p:txBody>
      </p:sp>
      <p:sp>
        <p:nvSpPr>
          <p:cNvPr id="1082" name="Arc 1082"/>
          <p:cNvSpPr/>
          <p:nvPr/>
        </p:nvSpPr>
        <p:spPr>
          <a:xfrm>
            <a:off x="1600200" y="1664208"/>
            <a:ext cx="3666744" cy="3520440"/>
          </a:xfrm>
          <a:prstGeom prst="arc">
            <a:avLst>
              <a:gd name="adj1" fmla="val 1920000"/>
              <a:gd name="adj2" fmla="val 4320000"/>
            </a:avLst>
          </a:prstGeom>
          <a:noFill/>
          <a:ln w="38100" cap="rnd">
            <a:solidFill>
              <a:srgbClr val="FF9900"/>
            </a:solidFill>
            <a:tailEnd type="triangle" w="med" len="med"/>
          </a:ln>
        </p:spPr>
        <p:txBody>
          <a:bodyPr/>
          <a:lstStyle/>
          <a:p>
            <a:endParaRPr/>
          </a:p>
        </p:txBody>
      </p:sp>
      <p:cxnSp>
        <p:nvCxnSpPr>
          <p:cNvPr id="1083" name="Connector 1082"/>
          <p:cNvCxnSpPr/>
          <p:nvPr/>
        </p:nvCxnSpPr>
        <p:spPr>
          <a:xfrm flipV="1">
            <a:off x="4000500" y="5632703"/>
            <a:ext cx="0" cy="256033"/>
          </a:xfrm>
          <a:prstGeom prst="line">
            <a:avLst/>
          </a:prstGeom>
          <a:ln w="38100">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84" name="Connector 1083"/>
          <p:cNvCxnSpPr/>
          <p:nvPr/>
        </p:nvCxnSpPr>
        <p:spPr>
          <a:xfrm>
            <a:off x="6327648" y="3913632"/>
            <a:ext cx="242316" cy="0"/>
          </a:xfrm>
          <a:prstGeom prst="line">
            <a:avLst/>
          </a:prstGeom>
          <a:ln w="38100">
            <a:solidFill>
              <a:srgbClr val="FF9900"/>
            </a:solidFill>
          </a:ln>
        </p:spPr>
        <p:style>
          <a:lnRef idx="2">
            <a:schemeClr val="accent1"/>
          </a:lnRef>
          <a:fillRef idx="0">
            <a:schemeClr val="accent1"/>
          </a:fillRef>
          <a:effectRef idx="1">
            <a:schemeClr val="accent1"/>
          </a:effectRef>
          <a:fontRef idx="minor">
            <a:schemeClr val="tx1"/>
          </a:fontRef>
        </p:style>
      </p:cxnSp>
      <p:cxnSp>
        <p:nvCxnSpPr>
          <p:cNvPr id="1085" name="Connector 1084"/>
          <p:cNvCxnSpPr/>
          <p:nvPr/>
        </p:nvCxnSpPr>
        <p:spPr>
          <a:xfrm>
            <a:off x="6569964" y="3913632"/>
            <a:ext cx="0" cy="1956816"/>
          </a:xfrm>
          <a:prstGeom prst="line">
            <a:avLst/>
          </a:prstGeom>
          <a:ln w="38100">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86" name="TextBox 1085"/>
          <p:cNvSpPr txBox="1"/>
          <p:nvPr/>
        </p:nvSpPr>
        <p:spPr>
          <a:xfrm>
            <a:off x="4663440" y="4956048"/>
            <a:ext cx="1737360" cy="219456"/>
          </a:xfrm>
          <a:prstGeom prst="rect">
            <a:avLst/>
          </a:prstGeom>
          <a:noFill/>
        </p:spPr>
        <p:txBody>
          <a:bodyPr wrap="square" lIns="0" tIns="0" rIns="0" bIns="0" anchor="ctr">
            <a:spAutoFit/>
          </a:bodyPr>
          <a:lstStyle/>
          <a:p>
            <a:pPr algn="r"/>
            <a:r>
              <a:rPr sz="1000" b="1">
                <a:solidFill>
                  <a:srgbClr val="FF9900"/>
                </a:solidFill>
                <a:latin typeface="Calibri"/>
              </a:rPr>
              <a:t>sets a new event</a:t>
            </a:r>
          </a:p>
        </p:txBody>
      </p:sp>
      <p:sp>
        <p:nvSpPr>
          <p:cNvPr id="2" name="Rounded Rectangle 1">
            <a:extLst>
              <a:ext uri="{FF2B5EF4-FFF2-40B4-BE49-F238E27FC236}">
                <a16:creationId xmlns:a16="http://schemas.microsoft.com/office/drawing/2014/main" id="{90B4E51F-9A15-9CC9-00A7-2E5EF0EC482F}"/>
              </a:ext>
            </a:extLst>
          </p:cNvPr>
          <p:cNvSpPr/>
          <p:nvPr/>
        </p:nvSpPr>
        <p:spPr>
          <a:xfrm>
            <a:off x="8943975" y="1850969"/>
            <a:ext cx="180975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Deep dive to different definitions of what is an </a:t>
            </a:r>
            <a:r>
              <a:rPr lang="en-US" dirty="0" err="1">
                <a:solidFill>
                  <a:srgbClr val="FF0000"/>
                </a:solidFill>
                <a:highlight>
                  <a:srgbClr val="FFFF00"/>
                </a:highlight>
              </a:rPr>
              <a:t>Agnet</a:t>
            </a:r>
            <a:r>
              <a:rPr lang="en-US" dirty="0">
                <a:solidFill>
                  <a:srgbClr val="FF0000"/>
                </a:solidFill>
                <a:highlight>
                  <a:srgbClr val="FFFF00"/>
                </a:highlight>
              </a:rPr>
              <a:t> exactly</a:t>
            </a:r>
            <a:endParaRPr dirty="0">
              <a:solidFill>
                <a:srgbClr val="FF0000"/>
              </a:solidFill>
              <a:highlight>
                <a:srgbClr val="FFFF00"/>
              </a:highligh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FB8C9FB7-A2FF-782A-D490-C1538A5BAB64}"/>
              </a:ext>
            </a:extLst>
          </p:cNvPr>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F72D50C0-9D66-26EE-1205-FC111A25DF37}"/>
              </a:ext>
            </a:extLst>
          </p:cNvPr>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4</a:t>
            </a:r>
          </a:p>
        </p:txBody>
      </p:sp>
      <p:sp>
        <p:nvSpPr>
          <p:cNvPr id="7" name="TextBox 6">
            <a:extLst>
              <a:ext uri="{FF2B5EF4-FFF2-40B4-BE49-F238E27FC236}">
                <a16:creationId xmlns:a16="http://schemas.microsoft.com/office/drawing/2014/main" id="{E9C4E456-3B3E-C842-4CEC-16C9CB606914}"/>
              </a:ext>
            </a:extLst>
          </p:cNvPr>
          <p:cNvSpPr txBox="1"/>
          <p:nvPr/>
        </p:nvSpPr>
        <p:spPr>
          <a:xfrm>
            <a:off x="1280160" y="478274"/>
            <a:ext cx="10058400" cy="369332"/>
          </a:xfrm>
          <a:prstGeom prst="rect">
            <a:avLst/>
          </a:prstGeom>
          <a:noFill/>
        </p:spPr>
        <p:txBody>
          <a:bodyPr wrap="square" lIns="0" tIns="0" rIns="0" bIns="0" anchor="ctr">
            <a:spAutoFit/>
          </a:bodyPr>
          <a:lstStyle/>
          <a:p>
            <a:pPr algn="l"/>
            <a:r>
              <a:rPr sz="2400" b="1" dirty="0">
                <a:solidFill>
                  <a:srgbClr val="232F3E"/>
                </a:solidFill>
                <a:latin typeface="Calibri"/>
              </a:rPr>
              <a:t>Architecture</a:t>
            </a:r>
          </a:p>
        </p:txBody>
      </p:sp>
      <p:sp>
        <p:nvSpPr>
          <p:cNvPr id="8" name="Rectangle 7">
            <a:extLst>
              <a:ext uri="{FF2B5EF4-FFF2-40B4-BE49-F238E27FC236}">
                <a16:creationId xmlns:a16="http://schemas.microsoft.com/office/drawing/2014/main" id="{C6F24A49-16D2-FFEA-53A1-A5952FDE03C1}"/>
              </a:ext>
            </a:extLst>
          </p:cNvPr>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5 / 17</a:t>
            </a:r>
          </a:p>
        </p:txBody>
      </p:sp>
      <p:sp>
        <p:nvSpPr>
          <p:cNvPr id="3" name="TextBox 2">
            <a:extLst>
              <a:ext uri="{FF2B5EF4-FFF2-40B4-BE49-F238E27FC236}">
                <a16:creationId xmlns:a16="http://schemas.microsoft.com/office/drawing/2014/main" id="{6BB02DB8-2FD8-196B-CF8F-F2FEDBB1C9A2}"/>
              </a:ext>
            </a:extLst>
          </p:cNvPr>
          <p:cNvSpPr txBox="1"/>
          <p:nvPr/>
        </p:nvSpPr>
        <p:spPr>
          <a:xfrm>
            <a:off x="10332720" y="6515795"/>
            <a:ext cx="1371600" cy="320040"/>
          </a:xfrm>
          <a:prstGeom prst="rect">
            <a:avLst/>
          </a:prstGeom>
          <a:noFill/>
        </p:spPr>
        <p:txBody>
          <a:bodyPr wrap="square" lIns="0" tIns="0" rIns="0" bIns="0" anchor="ctr">
            <a:spAutoFit/>
          </a:bodyPr>
          <a:lstStyle/>
          <a:p>
            <a:pPr algn="r"/>
            <a:r>
              <a:rPr sz="1000" b="0">
                <a:solidFill>
                  <a:srgbClr val="545B64"/>
                </a:solidFill>
                <a:latin typeface="Calibri"/>
              </a:rPr>
              <a:t>5 / 17</a:t>
            </a:r>
          </a:p>
        </p:txBody>
      </p:sp>
      <p:sp>
        <p:nvSpPr>
          <p:cNvPr id="4" name="TextBox 3">
            <a:extLst>
              <a:ext uri="{FF2B5EF4-FFF2-40B4-BE49-F238E27FC236}">
                <a16:creationId xmlns:a16="http://schemas.microsoft.com/office/drawing/2014/main" id="{0BC841D3-41D4-DCD2-CA41-7A0617FEE132}"/>
              </a:ext>
            </a:extLst>
          </p:cNvPr>
          <p:cNvSpPr txBox="1"/>
          <p:nvPr/>
        </p:nvSpPr>
        <p:spPr>
          <a:xfrm>
            <a:off x="502920" y="6488363"/>
            <a:ext cx="8229600" cy="347472"/>
          </a:xfrm>
          <a:prstGeom prst="rect">
            <a:avLst/>
          </a:prstGeom>
          <a:noFill/>
        </p:spPr>
        <p:txBody>
          <a:bodyPr wrap="square" lIns="0" tIns="0" rIns="0" bIns="0" anchor="ctr">
            <a:spAutoFit/>
          </a:bodyPr>
          <a:lstStyle/>
          <a:p>
            <a:pPr algn="l"/>
            <a:r>
              <a:rPr sz="1400" b="1">
                <a:solidFill>
                  <a:srgbClr val="545B64"/>
                </a:solidFill>
                <a:latin typeface="Calibri"/>
              </a:rPr>
              <a:t>VALENTIN   ·   GenAI TFC Capstone Deep-Dive</a:t>
            </a:r>
          </a:p>
        </p:txBody>
      </p:sp>
      <p:sp>
        <p:nvSpPr>
          <p:cNvPr id="10" name="TextBox 9">
            <a:extLst>
              <a:ext uri="{FF2B5EF4-FFF2-40B4-BE49-F238E27FC236}">
                <a16:creationId xmlns:a16="http://schemas.microsoft.com/office/drawing/2014/main" id="{324F32A4-D7EB-B535-8E43-DFE1C5FCC53B}"/>
              </a:ext>
            </a:extLst>
          </p:cNvPr>
          <p:cNvSpPr txBox="1"/>
          <p:nvPr/>
        </p:nvSpPr>
        <p:spPr>
          <a:xfrm>
            <a:off x="384048" y="1203131"/>
            <a:ext cx="4160520" cy="237744"/>
          </a:xfrm>
          <a:prstGeom prst="rect">
            <a:avLst/>
          </a:prstGeom>
          <a:noFill/>
        </p:spPr>
        <p:txBody>
          <a:bodyPr wrap="square" lIns="0" tIns="0" rIns="0" bIns="0" anchor="ctr">
            <a:spAutoFit/>
          </a:bodyPr>
          <a:lstStyle/>
          <a:p>
            <a:pPr algn="l"/>
            <a:r>
              <a:rPr sz="1400" b="1">
                <a:solidFill>
                  <a:srgbClr val="545B64"/>
                </a:solidFill>
                <a:latin typeface="Calibri"/>
              </a:rPr>
              <a:t>SHARED FRONT DOOR</a:t>
            </a:r>
          </a:p>
        </p:txBody>
      </p:sp>
      <p:sp>
        <p:nvSpPr>
          <p:cNvPr id="11" name="TextBox 10">
            <a:extLst>
              <a:ext uri="{FF2B5EF4-FFF2-40B4-BE49-F238E27FC236}">
                <a16:creationId xmlns:a16="http://schemas.microsoft.com/office/drawing/2014/main" id="{E70D775F-A371-DCB2-FCE8-CC20E5FC4C2D}"/>
              </a:ext>
            </a:extLst>
          </p:cNvPr>
          <p:cNvSpPr txBox="1"/>
          <p:nvPr/>
        </p:nvSpPr>
        <p:spPr>
          <a:xfrm>
            <a:off x="4672584" y="1203131"/>
            <a:ext cx="3099816" cy="237744"/>
          </a:xfrm>
          <a:prstGeom prst="rect">
            <a:avLst/>
          </a:prstGeom>
          <a:noFill/>
        </p:spPr>
        <p:txBody>
          <a:bodyPr wrap="square" lIns="0" tIns="0" rIns="0" bIns="0" anchor="ctr">
            <a:spAutoFit/>
          </a:bodyPr>
          <a:lstStyle/>
          <a:p>
            <a:pPr algn="l"/>
            <a:r>
              <a:rPr sz="1400" b="1" dirty="0">
                <a:solidFill>
                  <a:srgbClr val="232F3E"/>
                </a:solidFill>
                <a:latin typeface="Calibri"/>
              </a:rPr>
              <a:t>ENGINE A · GLUE CODE</a:t>
            </a:r>
          </a:p>
        </p:txBody>
      </p:sp>
      <p:sp>
        <p:nvSpPr>
          <p:cNvPr id="12" name="TextBox 11">
            <a:extLst>
              <a:ext uri="{FF2B5EF4-FFF2-40B4-BE49-F238E27FC236}">
                <a16:creationId xmlns:a16="http://schemas.microsoft.com/office/drawing/2014/main" id="{75BDD028-8D4A-C3C5-C3ED-387ECE395153}"/>
              </a:ext>
            </a:extLst>
          </p:cNvPr>
          <p:cNvSpPr txBox="1"/>
          <p:nvPr/>
        </p:nvSpPr>
        <p:spPr>
          <a:xfrm>
            <a:off x="8138160" y="1203131"/>
            <a:ext cx="3694176" cy="237744"/>
          </a:xfrm>
          <a:prstGeom prst="rect">
            <a:avLst/>
          </a:prstGeom>
          <a:noFill/>
        </p:spPr>
        <p:txBody>
          <a:bodyPr wrap="square" lIns="0" tIns="0" rIns="0" bIns="0" anchor="ctr">
            <a:spAutoFit/>
          </a:bodyPr>
          <a:lstStyle/>
          <a:p>
            <a:pPr algn="l"/>
            <a:r>
              <a:rPr sz="1400" b="1" dirty="0">
                <a:solidFill>
                  <a:srgbClr val="545B64"/>
                </a:solidFill>
                <a:latin typeface="Calibri"/>
              </a:rPr>
              <a:t>SHARED BY BOTH ENGINES</a:t>
            </a:r>
          </a:p>
        </p:txBody>
      </p:sp>
      <p:sp>
        <p:nvSpPr>
          <p:cNvPr id="13" name="TextBox 12">
            <a:extLst>
              <a:ext uri="{FF2B5EF4-FFF2-40B4-BE49-F238E27FC236}">
                <a16:creationId xmlns:a16="http://schemas.microsoft.com/office/drawing/2014/main" id="{DB47A9C6-66E6-3823-FE0F-C19E947F69E0}"/>
              </a:ext>
            </a:extLst>
          </p:cNvPr>
          <p:cNvSpPr txBox="1"/>
          <p:nvPr/>
        </p:nvSpPr>
        <p:spPr>
          <a:xfrm>
            <a:off x="384048" y="4138355"/>
            <a:ext cx="2926080" cy="237744"/>
          </a:xfrm>
          <a:prstGeom prst="rect">
            <a:avLst/>
          </a:prstGeom>
          <a:noFill/>
        </p:spPr>
        <p:txBody>
          <a:bodyPr wrap="square" lIns="0" tIns="0" rIns="0" bIns="0" anchor="ctr">
            <a:spAutoFit/>
          </a:bodyPr>
          <a:lstStyle/>
          <a:p>
            <a:pPr algn="l"/>
            <a:r>
              <a:rPr sz="1400" b="1" dirty="0">
                <a:solidFill>
                  <a:srgbClr val="1E7C3C"/>
                </a:solidFill>
                <a:latin typeface="Calibri"/>
              </a:rPr>
              <a:t>ENGINE B · AGENTCORE</a:t>
            </a:r>
          </a:p>
        </p:txBody>
      </p:sp>
      <p:sp>
        <p:nvSpPr>
          <p:cNvPr id="14" name="Rounded Rectangle 13">
            <a:extLst>
              <a:ext uri="{FF2B5EF4-FFF2-40B4-BE49-F238E27FC236}">
                <a16:creationId xmlns:a16="http://schemas.microsoft.com/office/drawing/2014/main" id="{B588D894-9337-EB85-361C-443EC8C31F72}"/>
              </a:ext>
            </a:extLst>
          </p:cNvPr>
          <p:cNvSpPr/>
          <p:nvPr/>
        </p:nvSpPr>
        <p:spPr>
          <a:xfrm>
            <a:off x="384048" y="1459163"/>
            <a:ext cx="4160520" cy="1709928"/>
          </a:xfrm>
          <a:prstGeom prst="roundRect">
            <a:avLst>
              <a:gd name="adj" fmla="val 4278"/>
            </a:avLst>
          </a:prstGeom>
          <a:noFill/>
          <a:ln w="15875">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a:extLst>
              <a:ext uri="{FF2B5EF4-FFF2-40B4-BE49-F238E27FC236}">
                <a16:creationId xmlns:a16="http://schemas.microsoft.com/office/drawing/2014/main" id="{48D7DF11-F5EB-AB55-A6BF-34CF181BD99F}"/>
              </a:ext>
            </a:extLst>
          </p:cNvPr>
          <p:cNvSpPr/>
          <p:nvPr/>
        </p:nvSpPr>
        <p:spPr>
          <a:xfrm>
            <a:off x="4672584" y="1472879"/>
            <a:ext cx="3099816" cy="850391"/>
          </a:xfrm>
          <a:prstGeom prst="roundRect">
            <a:avLst>
              <a:gd name="adj" fmla="val 8602"/>
            </a:avLst>
          </a:prstGeom>
          <a:noFill/>
          <a:ln w="22225">
            <a:solidFill>
              <a:srgbClr val="232F3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a:extLst>
              <a:ext uri="{FF2B5EF4-FFF2-40B4-BE49-F238E27FC236}">
                <a16:creationId xmlns:a16="http://schemas.microsoft.com/office/drawing/2014/main" id="{F86C7E28-B0BD-ADE0-E8BC-2612B513AB2C}"/>
              </a:ext>
            </a:extLst>
          </p:cNvPr>
          <p:cNvSpPr/>
          <p:nvPr/>
        </p:nvSpPr>
        <p:spPr>
          <a:xfrm>
            <a:off x="8138160" y="1459163"/>
            <a:ext cx="3694176" cy="2569464"/>
          </a:xfrm>
          <a:prstGeom prst="roundRect">
            <a:avLst>
              <a:gd name="adj" fmla="val 2846"/>
            </a:avLst>
          </a:prstGeom>
          <a:noFill/>
          <a:ln w="15875">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a:extLst>
              <a:ext uri="{FF2B5EF4-FFF2-40B4-BE49-F238E27FC236}">
                <a16:creationId xmlns:a16="http://schemas.microsoft.com/office/drawing/2014/main" id="{0EB73FF7-DDB9-3CA7-79FF-639717CDD1DB}"/>
              </a:ext>
            </a:extLst>
          </p:cNvPr>
          <p:cNvSpPr/>
          <p:nvPr/>
        </p:nvSpPr>
        <p:spPr>
          <a:xfrm>
            <a:off x="384048" y="4394387"/>
            <a:ext cx="11448288" cy="1609343"/>
          </a:xfrm>
          <a:prstGeom prst="roundRect">
            <a:avLst>
              <a:gd name="adj" fmla="val 4545"/>
            </a:avLst>
          </a:prstGeom>
          <a:noFill/>
          <a:ln w="22225">
            <a:solidFill>
              <a:srgbClr val="1E7C3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a:extLst>
              <a:ext uri="{FF2B5EF4-FFF2-40B4-BE49-F238E27FC236}">
                <a16:creationId xmlns:a16="http://schemas.microsoft.com/office/drawing/2014/main" id="{590C25A0-E9B4-84CC-7E1C-AD1C1955C897}"/>
              </a:ext>
            </a:extLst>
          </p:cNvPr>
          <p:cNvSpPr/>
          <p:nvPr/>
        </p:nvSpPr>
        <p:spPr>
          <a:xfrm>
            <a:off x="484632" y="1587179"/>
            <a:ext cx="1915668"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Browser icon">
            <a:extLst>
              <a:ext uri="{FF2B5EF4-FFF2-40B4-BE49-F238E27FC236}">
                <a16:creationId xmlns:a16="http://schemas.microsoft.com/office/drawing/2014/main" id="{5BE99B3B-38D2-1444-2C22-473BBAA1B97E}"/>
              </a:ext>
            </a:extLst>
          </p:cNvPr>
          <p:cNvPicPr>
            <a:picLocks noChangeAspect="1"/>
          </p:cNvPicPr>
          <p:nvPr/>
        </p:nvPicPr>
        <p:blipFill>
          <a:blip r:embed="rId3"/>
          <a:stretch>
            <a:fillRect/>
          </a:stretch>
        </p:blipFill>
        <p:spPr>
          <a:xfrm>
            <a:off x="585216" y="1706051"/>
            <a:ext cx="384048" cy="384048"/>
          </a:xfrm>
          <a:prstGeom prst="rect">
            <a:avLst/>
          </a:prstGeom>
        </p:spPr>
      </p:pic>
      <p:sp>
        <p:nvSpPr>
          <p:cNvPr id="20" name="TextBox 19">
            <a:extLst>
              <a:ext uri="{FF2B5EF4-FFF2-40B4-BE49-F238E27FC236}">
                <a16:creationId xmlns:a16="http://schemas.microsoft.com/office/drawing/2014/main" id="{1A2D3A9F-BCDE-7F47-1223-9E422A2EEAF3}"/>
              </a:ext>
            </a:extLst>
          </p:cNvPr>
          <p:cNvSpPr txBox="1"/>
          <p:nvPr/>
        </p:nvSpPr>
        <p:spPr>
          <a:xfrm>
            <a:off x="1069848" y="1642043"/>
            <a:ext cx="1248156" cy="246888"/>
          </a:xfrm>
          <a:prstGeom prst="rect">
            <a:avLst/>
          </a:prstGeom>
          <a:noFill/>
        </p:spPr>
        <p:txBody>
          <a:bodyPr wrap="square" lIns="0" tIns="0" rIns="0" bIns="0" anchor="t">
            <a:spAutoFit/>
          </a:bodyPr>
          <a:lstStyle/>
          <a:p>
            <a:pPr algn="l"/>
            <a:r>
              <a:rPr sz="1500" b="1">
                <a:solidFill>
                  <a:srgbClr val="232F3E"/>
                </a:solidFill>
                <a:latin typeface="Calibri"/>
              </a:rPr>
              <a:t>Browser</a:t>
            </a:r>
          </a:p>
        </p:txBody>
      </p:sp>
      <p:sp>
        <p:nvSpPr>
          <p:cNvPr id="21" name="TextBox 20">
            <a:extLst>
              <a:ext uri="{FF2B5EF4-FFF2-40B4-BE49-F238E27FC236}">
                <a16:creationId xmlns:a16="http://schemas.microsoft.com/office/drawing/2014/main" id="{7B462E29-790F-BB38-0450-4A0116AB691C}"/>
              </a:ext>
            </a:extLst>
          </p:cNvPr>
          <p:cNvSpPr txBox="1"/>
          <p:nvPr/>
        </p:nvSpPr>
        <p:spPr>
          <a:xfrm>
            <a:off x="1069848" y="1898075"/>
            <a:ext cx="1248156" cy="274320"/>
          </a:xfrm>
          <a:prstGeom prst="rect">
            <a:avLst/>
          </a:prstGeom>
          <a:noFill/>
        </p:spPr>
        <p:txBody>
          <a:bodyPr wrap="square" lIns="0" tIns="0" rIns="0" bIns="0" anchor="t">
            <a:spAutoFit/>
          </a:bodyPr>
          <a:lstStyle/>
          <a:p>
            <a:pPr algn="l"/>
            <a:r>
              <a:rPr sz="1400" b="0">
                <a:solidFill>
                  <a:srgbClr val="545B64"/>
                </a:solidFill>
                <a:latin typeface="Calibri"/>
              </a:rPr>
              <a:t>the chat UI</a:t>
            </a:r>
          </a:p>
        </p:txBody>
      </p:sp>
      <p:sp>
        <p:nvSpPr>
          <p:cNvPr id="22" name="Rounded Rectangle 21">
            <a:extLst>
              <a:ext uri="{FF2B5EF4-FFF2-40B4-BE49-F238E27FC236}">
                <a16:creationId xmlns:a16="http://schemas.microsoft.com/office/drawing/2014/main" id="{393D84D6-882D-AF08-1275-BF1BA932DEE1}"/>
              </a:ext>
            </a:extLst>
          </p:cNvPr>
          <p:cNvSpPr/>
          <p:nvPr/>
        </p:nvSpPr>
        <p:spPr>
          <a:xfrm>
            <a:off x="2528316" y="1587179"/>
            <a:ext cx="1915668"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CloudFront icon">
            <a:extLst>
              <a:ext uri="{FF2B5EF4-FFF2-40B4-BE49-F238E27FC236}">
                <a16:creationId xmlns:a16="http://schemas.microsoft.com/office/drawing/2014/main" id="{8E1BFA6D-92B4-1CF3-04F4-90A7A4E18781}"/>
              </a:ext>
            </a:extLst>
          </p:cNvPr>
          <p:cNvPicPr>
            <a:picLocks noChangeAspect="1"/>
          </p:cNvPicPr>
          <p:nvPr/>
        </p:nvPicPr>
        <p:blipFill>
          <a:blip r:embed="rId4"/>
          <a:stretch>
            <a:fillRect/>
          </a:stretch>
        </p:blipFill>
        <p:spPr>
          <a:xfrm>
            <a:off x="2628900" y="1706051"/>
            <a:ext cx="384048" cy="384048"/>
          </a:xfrm>
          <a:prstGeom prst="rect">
            <a:avLst/>
          </a:prstGeom>
        </p:spPr>
      </p:pic>
      <p:sp>
        <p:nvSpPr>
          <p:cNvPr id="24" name="TextBox 23">
            <a:extLst>
              <a:ext uri="{FF2B5EF4-FFF2-40B4-BE49-F238E27FC236}">
                <a16:creationId xmlns:a16="http://schemas.microsoft.com/office/drawing/2014/main" id="{1D8F3174-34ED-09C3-FF63-0E05F54F1AED}"/>
              </a:ext>
            </a:extLst>
          </p:cNvPr>
          <p:cNvSpPr txBox="1"/>
          <p:nvPr/>
        </p:nvSpPr>
        <p:spPr>
          <a:xfrm>
            <a:off x="3113532" y="1642043"/>
            <a:ext cx="1248156" cy="246888"/>
          </a:xfrm>
          <a:prstGeom prst="rect">
            <a:avLst/>
          </a:prstGeom>
          <a:noFill/>
        </p:spPr>
        <p:txBody>
          <a:bodyPr wrap="square" lIns="0" tIns="0" rIns="0" bIns="0" anchor="t">
            <a:spAutoFit/>
          </a:bodyPr>
          <a:lstStyle/>
          <a:p>
            <a:pPr algn="l"/>
            <a:r>
              <a:rPr sz="1500" b="1">
                <a:solidFill>
                  <a:srgbClr val="232F3E"/>
                </a:solidFill>
                <a:latin typeface="Calibri"/>
              </a:rPr>
              <a:t>CloudFront</a:t>
            </a:r>
          </a:p>
        </p:txBody>
      </p:sp>
      <p:sp>
        <p:nvSpPr>
          <p:cNvPr id="25" name="TextBox 24">
            <a:extLst>
              <a:ext uri="{FF2B5EF4-FFF2-40B4-BE49-F238E27FC236}">
                <a16:creationId xmlns:a16="http://schemas.microsoft.com/office/drawing/2014/main" id="{F1700249-882F-A87D-3A46-CF1F9BFEFFDF}"/>
              </a:ext>
            </a:extLst>
          </p:cNvPr>
          <p:cNvSpPr txBox="1"/>
          <p:nvPr/>
        </p:nvSpPr>
        <p:spPr>
          <a:xfrm>
            <a:off x="3113532" y="1898075"/>
            <a:ext cx="1248156" cy="274320"/>
          </a:xfrm>
          <a:prstGeom prst="rect">
            <a:avLst/>
          </a:prstGeom>
          <a:noFill/>
        </p:spPr>
        <p:txBody>
          <a:bodyPr wrap="square" lIns="0" tIns="0" rIns="0" bIns="0" anchor="t">
            <a:spAutoFit/>
          </a:bodyPr>
          <a:lstStyle/>
          <a:p>
            <a:pPr algn="l"/>
            <a:r>
              <a:rPr sz="1400" b="0">
                <a:solidFill>
                  <a:srgbClr val="545B64"/>
                </a:solidFill>
                <a:latin typeface="Calibri"/>
              </a:rPr>
              <a:t>one origin</a:t>
            </a:r>
          </a:p>
        </p:txBody>
      </p:sp>
      <p:sp>
        <p:nvSpPr>
          <p:cNvPr id="26" name="Rounded Rectangle 25">
            <a:extLst>
              <a:ext uri="{FF2B5EF4-FFF2-40B4-BE49-F238E27FC236}">
                <a16:creationId xmlns:a16="http://schemas.microsoft.com/office/drawing/2014/main" id="{0FDF2217-4D85-25D5-C9CE-9D511A808C6C}"/>
              </a:ext>
            </a:extLst>
          </p:cNvPr>
          <p:cNvSpPr/>
          <p:nvPr/>
        </p:nvSpPr>
        <p:spPr>
          <a:xfrm>
            <a:off x="484632" y="2446715"/>
            <a:ext cx="1915668" cy="621792"/>
          </a:xfrm>
          <a:prstGeom prst="roundRect">
            <a:avLst>
              <a:gd name="adj" fmla="val 11764"/>
            </a:avLst>
          </a:prstGeom>
          <a:solidFill>
            <a:srgbClr val="FFFFFF"/>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S3 icon">
            <a:extLst>
              <a:ext uri="{FF2B5EF4-FFF2-40B4-BE49-F238E27FC236}">
                <a16:creationId xmlns:a16="http://schemas.microsoft.com/office/drawing/2014/main" id="{C42EDD12-059A-2FC3-63B7-317E11F44CD3}"/>
              </a:ext>
            </a:extLst>
          </p:cNvPr>
          <p:cNvPicPr>
            <a:picLocks noChangeAspect="1"/>
          </p:cNvPicPr>
          <p:nvPr/>
        </p:nvPicPr>
        <p:blipFill>
          <a:blip r:embed="rId5"/>
          <a:stretch>
            <a:fillRect/>
          </a:stretch>
        </p:blipFill>
        <p:spPr>
          <a:xfrm>
            <a:off x="585216" y="2565587"/>
            <a:ext cx="384048" cy="384048"/>
          </a:xfrm>
          <a:prstGeom prst="rect">
            <a:avLst/>
          </a:prstGeom>
        </p:spPr>
      </p:pic>
      <p:sp>
        <p:nvSpPr>
          <p:cNvPr id="28" name="TextBox 27">
            <a:extLst>
              <a:ext uri="{FF2B5EF4-FFF2-40B4-BE49-F238E27FC236}">
                <a16:creationId xmlns:a16="http://schemas.microsoft.com/office/drawing/2014/main" id="{E44BDB06-8834-3D3E-F1BB-46F52595E58E}"/>
              </a:ext>
            </a:extLst>
          </p:cNvPr>
          <p:cNvSpPr txBox="1"/>
          <p:nvPr/>
        </p:nvSpPr>
        <p:spPr>
          <a:xfrm>
            <a:off x="1069848" y="2501579"/>
            <a:ext cx="1248156" cy="246888"/>
          </a:xfrm>
          <a:prstGeom prst="rect">
            <a:avLst/>
          </a:prstGeom>
          <a:noFill/>
        </p:spPr>
        <p:txBody>
          <a:bodyPr wrap="square" lIns="0" tIns="0" rIns="0" bIns="0" anchor="t">
            <a:spAutoFit/>
          </a:bodyPr>
          <a:lstStyle/>
          <a:p>
            <a:pPr algn="l"/>
            <a:r>
              <a:rPr sz="1500" b="1">
                <a:solidFill>
                  <a:srgbClr val="545B64"/>
                </a:solidFill>
                <a:latin typeface="Calibri"/>
              </a:rPr>
              <a:t>S3</a:t>
            </a:r>
          </a:p>
        </p:txBody>
      </p:sp>
      <p:sp>
        <p:nvSpPr>
          <p:cNvPr id="29" name="TextBox 28">
            <a:extLst>
              <a:ext uri="{FF2B5EF4-FFF2-40B4-BE49-F238E27FC236}">
                <a16:creationId xmlns:a16="http://schemas.microsoft.com/office/drawing/2014/main" id="{64A8C0AF-F0F9-73E6-80F6-99B77CAC5004}"/>
              </a:ext>
            </a:extLst>
          </p:cNvPr>
          <p:cNvSpPr txBox="1"/>
          <p:nvPr/>
        </p:nvSpPr>
        <p:spPr>
          <a:xfrm>
            <a:off x="1069848" y="2757611"/>
            <a:ext cx="1248156" cy="274320"/>
          </a:xfrm>
          <a:prstGeom prst="rect">
            <a:avLst/>
          </a:prstGeom>
          <a:noFill/>
        </p:spPr>
        <p:txBody>
          <a:bodyPr wrap="square" lIns="0" tIns="0" rIns="0" bIns="0" anchor="t">
            <a:spAutoFit/>
          </a:bodyPr>
          <a:lstStyle/>
          <a:p>
            <a:pPr algn="l"/>
            <a:r>
              <a:rPr sz="1400" b="0">
                <a:solidFill>
                  <a:srgbClr val="545B64"/>
                </a:solidFill>
                <a:latin typeface="Calibri"/>
              </a:rPr>
              <a:t>app bundle</a:t>
            </a:r>
          </a:p>
        </p:txBody>
      </p:sp>
      <p:sp>
        <p:nvSpPr>
          <p:cNvPr id="30" name="Rounded Rectangle 29">
            <a:extLst>
              <a:ext uri="{FF2B5EF4-FFF2-40B4-BE49-F238E27FC236}">
                <a16:creationId xmlns:a16="http://schemas.microsoft.com/office/drawing/2014/main" id="{46724EAA-2194-9CE1-8DDE-F3592FC4CA68}"/>
              </a:ext>
            </a:extLst>
          </p:cNvPr>
          <p:cNvSpPr/>
          <p:nvPr/>
        </p:nvSpPr>
        <p:spPr>
          <a:xfrm>
            <a:off x="2528316" y="2446715"/>
            <a:ext cx="1915668"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ALB icon">
            <a:extLst>
              <a:ext uri="{FF2B5EF4-FFF2-40B4-BE49-F238E27FC236}">
                <a16:creationId xmlns:a16="http://schemas.microsoft.com/office/drawing/2014/main" id="{EB83EC53-9981-E971-1B75-8F076E1AD6BC}"/>
              </a:ext>
            </a:extLst>
          </p:cNvPr>
          <p:cNvPicPr>
            <a:picLocks noChangeAspect="1"/>
          </p:cNvPicPr>
          <p:nvPr/>
        </p:nvPicPr>
        <p:blipFill>
          <a:blip r:embed="rId6"/>
          <a:stretch>
            <a:fillRect/>
          </a:stretch>
        </p:blipFill>
        <p:spPr>
          <a:xfrm>
            <a:off x="2628900" y="2565587"/>
            <a:ext cx="384048" cy="384048"/>
          </a:xfrm>
          <a:prstGeom prst="rect">
            <a:avLst/>
          </a:prstGeom>
        </p:spPr>
      </p:pic>
      <p:sp>
        <p:nvSpPr>
          <p:cNvPr id="32" name="TextBox 31">
            <a:extLst>
              <a:ext uri="{FF2B5EF4-FFF2-40B4-BE49-F238E27FC236}">
                <a16:creationId xmlns:a16="http://schemas.microsoft.com/office/drawing/2014/main" id="{29F73C16-C03B-A3B1-B21E-7D4DDDDE32ED}"/>
              </a:ext>
            </a:extLst>
          </p:cNvPr>
          <p:cNvSpPr txBox="1"/>
          <p:nvPr/>
        </p:nvSpPr>
        <p:spPr>
          <a:xfrm>
            <a:off x="3113532" y="2501579"/>
            <a:ext cx="1248156" cy="246888"/>
          </a:xfrm>
          <a:prstGeom prst="rect">
            <a:avLst/>
          </a:prstGeom>
          <a:noFill/>
        </p:spPr>
        <p:txBody>
          <a:bodyPr wrap="square" lIns="0" tIns="0" rIns="0" bIns="0" anchor="t">
            <a:spAutoFit/>
          </a:bodyPr>
          <a:lstStyle/>
          <a:p>
            <a:pPr algn="l"/>
            <a:r>
              <a:rPr sz="1500" b="1">
                <a:solidFill>
                  <a:srgbClr val="232F3E"/>
                </a:solidFill>
                <a:latin typeface="Calibri"/>
              </a:rPr>
              <a:t>ALB</a:t>
            </a:r>
          </a:p>
        </p:txBody>
      </p:sp>
      <p:sp>
        <p:nvSpPr>
          <p:cNvPr id="33" name="TextBox 32">
            <a:extLst>
              <a:ext uri="{FF2B5EF4-FFF2-40B4-BE49-F238E27FC236}">
                <a16:creationId xmlns:a16="http://schemas.microsoft.com/office/drawing/2014/main" id="{30EFF3F0-CCDE-1F09-4AA5-051F878D0049}"/>
              </a:ext>
            </a:extLst>
          </p:cNvPr>
          <p:cNvSpPr txBox="1"/>
          <p:nvPr/>
        </p:nvSpPr>
        <p:spPr>
          <a:xfrm>
            <a:off x="3113532" y="2757611"/>
            <a:ext cx="1248156" cy="274320"/>
          </a:xfrm>
          <a:prstGeom prst="rect">
            <a:avLst/>
          </a:prstGeom>
          <a:noFill/>
        </p:spPr>
        <p:txBody>
          <a:bodyPr wrap="square" lIns="0" tIns="0" rIns="0" bIns="0" anchor="t">
            <a:spAutoFit/>
          </a:bodyPr>
          <a:lstStyle/>
          <a:p>
            <a:pPr algn="l"/>
            <a:r>
              <a:rPr sz="1400" b="0">
                <a:solidFill>
                  <a:srgbClr val="545B64"/>
                </a:solidFill>
                <a:latin typeface="Calibri"/>
              </a:rPr>
              <a:t>/api/* · /ws</a:t>
            </a:r>
          </a:p>
        </p:txBody>
      </p:sp>
      <p:sp>
        <p:nvSpPr>
          <p:cNvPr id="34" name="Rounded Rectangle 33">
            <a:extLst>
              <a:ext uri="{FF2B5EF4-FFF2-40B4-BE49-F238E27FC236}">
                <a16:creationId xmlns:a16="http://schemas.microsoft.com/office/drawing/2014/main" id="{EE8AF2B8-9DEA-775F-A4BD-C669F9A669B0}"/>
              </a:ext>
            </a:extLst>
          </p:cNvPr>
          <p:cNvSpPr/>
          <p:nvPr/>
        </p:nvSpPr>
        <p:spPr>
          <a:xfrm>
            <a:off x="4773168" y="1587179"/>
            <a:ext cx="2898648"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5" name="Picture 34" descr="Fargate icon">
            <a:extLst>
              <a:ext uri="{FF2B5EF4-FFF2-40B4-BE49-F238E27FC236}">
                <a16:creationId xmlns:a16="http://schemas.microsoft.com/office/drawing/2014/main" id="{2C6B3231-1075-4492-7DDE-210EB3182522}"/>
              </a:ext>
            </a:extLst>
          </p:cNvPr>
          <p:cNvPicPr>
            <a:picLocks noChangeAspect="1"/>
          </p:cNvPicPr>
          <p:nvPr/>
        </p:nvPicPr>
        <p:blipFill>
          <a:blip r:embed="rId7"/>
          <a:stretch>
            <a:fillRect/>
          </a:stretch>
        </p:blipFill>
        <p:spPr>
          <a:xfrm>
            <a:off x="4873752" y="1706051"/>
            <a:ext cx="384048" cy="384048"/>
          </a:xfrm>
          <a:prstGeom prst="rect">
            <a:avLst/>
          </a:prstGeom>
        </p:spPr>
      </p:pic>
      <p:sp>
        <p:nvSpPr>
          <p:cNvPr id="36" name="TextBox 35">
            <a:extLst>
              <a:ext uri="{FF2B5EF4-FFF2-40B4-BE49-F238E27FC236}">
                <a16:creationId xmlns:a16="http://schemas.microsoft.com/office/drawing/2014/main" id="{BC80B77B-D9B8-14A0-973F-82F4B3E8CF65}"/>
              </a:ext>
            </a:extLst>
          </p:cNvPr>
          <p:cNvSpPr txBox="1"/>
          <p:nvPr/>
        </p:nvSpPr>
        <p:spPr>
          <a:xfrm>
            <a:off x="5358384" y="1642043"/>
            <a:ext cx="2231135" cy="246888"/>
          </a:xfrm>
          <a:prstGeom prst="rect">
            <a:avLst/>
          </a:prstGeom>
          <a:noFill/>
        </p:spPr>
        <p:txBody>
          <a:bodyPr wrap="square" lIns="0" tIns="0" rIns="0" bIns="0" anchor="t">
            <a:spAutoFit/>
          </a:bodyPr>
          <a:lstStyle/>
          <a:p>
            <a:pPr algn="l"/>
            <a:r>
              <a:rPr sz="1500" b="1">
                <a:solidFill>
                  <a:srgbClr val="232F3E"/>
                </a:solidFill>
                <a:latin typeface="Calibri"/>
              </a:rPr>
              <a:t>Fargate</a:t>
            </a:r>
          </a:p>
        </p:txBody>
      </p:sp>
      <p:sp>
        <p:nvSpPr>
          <p:cNvPr id="37" name="TextBox 36">
            <a:extLst>
              <a:ext uri="{FF2B5EF4-FFF2-40B4-BE49-F238E27FC236}">
                <a16:creationId xmlns:a16="http://schemas.microsoft.com/office/drawing/2014/main" id="{D5226F65-46AF-8096-CF7B-18E31AB00C9D}"/>
              </a:ext>
            </a:extLst>
          </p:cNvPr>
          <p:cNvSpPr txBox="1"/>
          <p:nvPr/>
        </p:nvSpPr>
        <p:spPr>
          <a:xfrm>
            <a:off x="5358384" y="1898075"/>
            <a:ext cx="2231135" cy="274320"/>
          </a:xfrm>
          <a:prstGeom prst="rect">
            <a:avLst/>
          </a:prstGeom>
          <a:noFill/>
        </p:spPr>
        <p:txBody>
          <a:bodyPr wrap="square" lIns="0" tIns="0" rIns="0" bIns="0" anchor="t">
            <a:spAutoFit/>
          </a:bodyPr>
          <a:lstStyle/>
          <a:p>
            <a:pPr algn="l"/>
            <a:r>
              <a:rPr sz="1400" b="0">
                <a:solidFill>
                  <a:srgbClr val="545B64"/>
                </a:solidFill>
                <a:latin typeface="Calibri"/>
              </a:rPr>
              <a:t>valentin-service-dev</a:t>
            </a:r>
          </a:p>
        </p:txBody>
      </p:sp>
      <p:sp>
        <p:nvSpPr>
          <p:cNvPr id="38" name="Rounded Rectangle 37">
            <a:extLst>
              <a:ext uri="{FF2B5EF4-FFF2-40B4-BE49-F238E27FC236}">
                <a16:creationId xmlns:a16="http://schemas.microsoft.com/office/drawing/2014/main" id="{EFA5807A-271E-3F5A-CDEE-7AA04F7B434E}"/>
              </a:ext>
            </a:extLst>
          </p:cNvPr>
          <p:cNvSpPr/>
          <p:nvPr/>
        </p:nvSpPr>
        <p:spPr>
          <a:xfrm>
            <a:off x="8238744" y="1587179"/>
            <a:ext cx="3493008"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9" name="Picture 38" descr="Bedrock icon">
            <a:extLst>
              <a:ext uri="{FF2B5EF4-FFF2-40B4-BE49-F238E27FC236}">
                <a16:creationId xmlns:a16="http://schemas.microsoft.com/office/drawing/2014/main" id="{AC4CB1CB-577A-4EC9-7D2F-6FEBDA9068D8}"/>
              </a:ext>
            </a:extLst>
          </p:cNvPr>
          <p:cNvPicPr>
            <a:picLocks noChangeAspect="1"/>
          </p:cNvPicPr>
          <p:nvPr/>
        </p:nvPicPr>
        <p:blipFill>
          <a:blip r:embed="rId8"/>
          <a:stretch>
            <a:fillRect/>
          </a:stretch>
        </p:blipFill>
        <p:spPr>
          <a:xfrm>
            <a:off x="8339327" y="1706051"/>
            <a:ext cx="384048" cy="384048"/>
          </a:xfrm>
          <a:prstGeom prst="rect">
            <a:avLst/>
          </a:prstGeom>
        </p:spPr>
      </p:pic>
      <p:sp>
        <p:nvSpPr>
          <p:cNvPr id="40" name="TextBox 39">
            <a:extLst>
              <a:ext uri="{FF2B5EF4-FFF2-40B4-BE49-F238E27FC236}">
                <a16:creationId xmlns:a16="http://schemas.microsoft.com/office/drawing/2014/main" id="{08F45306-048B-1AC1-ADBB-34D78091B5BD}"/>
              </a:ext>
            </a:extLst>
          </p:cNvPr>
          <p:cNvSpPr txBox="1"/>
          <p:nvPr/>
        </p:nvSpPr>
        <p:spPr>
          <a:xfrm>
            <a:off x="8823959" y="1642043"/>
            <a:ext cx="2825496" cy="246888"/>
          </a:xfrm>
          <a:prstGeom prst="rect">
            <a:avLst/>
          </a:prstGeom>
          <a:noFill/>
        </p:spPr>
        <p:txBody>
          <a:bodyPr wrap="square" lIns="0" tIns="0" rIns="0" bIns="0" anchor="t">
            <a:spAutoFit/>
          </a:bodyPr>
          <a:lstStyle/>
          <a:p>
            <a:pPr algn="l"/>
            <a:r>
              <a:rPr sz="1500" b="1">
                <a:solidFill>
                  <a:srgbClr val="232F3E"/>
                </a:solidFill>
                <a:latin typeface="Calibri"/>
              </a:rPr>
              <a:t>Bedrock</a:t>
            </a:r>
          </a:p>
        </p:txBody>
      </p:sp>
      <p:sp>
        <p:nvSpPr>
          <p:cNvPr id="41" name="TextBox 40">
            <a:extLst>
              <a:ext uri="{FF2B5EF4-FFF2-40B4-BE49-F238E27FC236}">
                <a16:creationId xmlns:a16="http://schemas.microsoft.com/office/drawing/2014/main" id="{2C08F902-6A20-2688-5D7C-445682418029}"/>
              </a:ext>
            </a:extLst>
          </p:cNvPr>
          <p:cNvSpPr txBox="1"/>
          <p:nvPr/>
        </p:nvSpPr>
        <p:spPr>
          <a:xfrm>
            <a:off x="8823959" y="1898075"/>
            <a:ext cx="2825496" cy="274320"/>
          </a:xfrm>
          <a:prstGeom prst="rect">
            <a:avLst/>
          </a:prstGeom>
          <a:noFill/>
        </p:spPr>
        <p:txBody>
          <a:bodyPr wrap="square" lIns="0" tIns="0" rIns="0" bIns="0" anchor="t">
            <a:spAutoFit/>
          </a:bodyPr>
          <a:lstStyle/>
          <a:p>
            <a:pPr algn="l"/>
            <a:r>
              <a:rPr sz="1400" b="0">
                <a:solidFill>
                  <a:srgbClr val="545B64"/>
                </a:solidFill>
                <a:latin typeface="Calibri"/>
              </a:rPr>
              <a:t>Claude Sonnet 4.5</a:t>
            </a:r>
          </a:p>
        </p:txBody>
      </p:sp>
      <p:sp>
        <p:nvSpPr>
          <p:cNvPr id="42" name="Rounded Rectangle 41">
            <a:extLst>
              <a:ext uri="{FF2B5EF4-FFF2-40B4-BE49-F238E27FC236}">
                <a16:creationId xmlns:a16="http://schemas.microsoft.com/office/drawing/2014/main" id="{3A80D245-F757-7BEA-0D15-523D7CAB75EE}"/>
              </a:ext>
            </a:extLst>
          </p:cNvPr>
          <p:cNvSpPr/>
          <p:nvPr/>
        </p:nvSpPr>
        <p:spPr>
          <a:xfrm>
            <a:off x="8214360" y="2446715"/>
            <a:ext cx="3493008"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3" name="Picture 42" descr="CloudWatch icon">
            <a:extLst>
              <a:ext uri="{FF2B5EF4-FFF2-40B4-BE49-F238E27FC236}">
                <a16:creationId xmlns:a16="http://schemas.microsoft.com/office/drawing/2014/main" id="{0B2FBCE3-755D-A3BC-99C1-CBF8E4B8D880}"/>
              </a:ext>
            </a:extLst>
          </p:cNvPr>
          <p:cNvPicPr>
            <a:picLocks noChangeAspect="1"/>
          </p:cNvPicPr>
          <p:nvPr/>
        </p:nvPicPr>
        <p:blipFill>
          <a:blip r:embed="rId9"/>
          <a:stretch>
            <a:fillRect/>
          </a:stretch>
        </p:blipFill>
        <p:spPr>
          <a:xfrm>
            <a:off x="8314943" y="2565587"/>
            <a:ext cx="384048" cy="384048"/>
          </a:xfrm>
          <a:prstGeom prst="rect">
            <a:avLst/>
          </a:prstGeom>
        </p:spPr>
      </p:pic>
      <p:sp>
        <p:nvSpPr>
          <p:cNvPr id="44" name="TextBox 43">
            <a:extLst>
              <a:ext uri="{FF2B5EF4-FFF2-40B4-BE49-F238E27FC236}">
                <a16:creationId xmlns:a16="http://schemas.microsoft.com/office/drawing/2014/main" id="{28DF0C5B-7E62-611A-3A2E-12608D386D45}"/>
              </a:ext>
            </a:extLst>
          </p:cNvPr>
          <p:cNvSpPr txBox="1"/>
          <p:nvPr/>
        </p:nvSpPr>
        <p:spPr>
          <a:xfrm>
            <a:off x="8799575" y="2501579"/>
            <a:ext cx="2825496" cy="246888"/>
          </a:xfrm>
          <a:prstGeom prst="rect">
            <a:avLst/>
          </a:prstGeom>
          <a:noFill/>
        </p:spPr>
        <p:txBody>
          <a:bodyPr wrap="square" lIns="0" tIns="0" rIns="0" bIns="0" anchor="t">
            <a:spAutoFit/>
          </a:bodyPr>
          <a:lstStyle/>
          <a:p>
            <a:pPr algn="l"/>
            <a:r>
              <a:rPr sz="1500" b="1">
                <a:solidFill>
                  <a:srgbClr val="232F3E"/>
                </a:solidFill>
                <a:latin typeface="Calibri"/>
              </a:rPr>
              <a:t>CloudWatch</a:t>
            </a:r>
          </a:p>
        </p:txBody>
      </p:sp>
      <p:sp>
        <p:nvSpPr>
          <p:cNvPr id="45" name="TextBox 44">
            <a:extLst>
              <a:ext uri="{FF2B5EF4-FFF2-40B4-BE49-F238E27FC236}">
                <a16:creationId xmlns:a16="http://schemas.microsoft.com/office/drawing/2014/main" id="{57A74078-3F09-9BD9-FE90-268C2EC61EA3}"/>
              </a:ext>
            </a:extLst>
          </p:cNvPr>
          <p:cNvSpPr txBox="1"/>
          <p:nvPr/>
        </p:nvSpPr>
        <p:spPr>
          <a:xfrm>
            <a:off x="8799575" y="2757611"/>
            <a:ext cx="2825496" cy="274320"/>
          </a:xfrm>
          <a:prstGeom prst="rect">
            <a:avLst/>
          </a:prstGeom>
          <a:noFill/>
        </p:spPr>
        <p:txBody>
          <a:bodyPr wrap="square" lIns="0" tIns="0" rIns="0" bIns="0" anchor="t">
            <a:spAutoFit/>
          </a:bodyPr>
          <a:lstStyle/>
          <a:p>
            <a:pPr algn="l"/>
            <a:r>
              <a:rPr sz="1400" b="0" dirty="0">
                <a:solidFill>
                  <a:srgbClr val="545B64"/>
                </a:solidFill>
                <a:latin typeface="Calibri"/>
              </a:rPr>
              <a:t>one dashboard, both engines</a:t>
            </a:r>
          </a:p>
        </p:txBody>
      </p:sp>
      <p:sp>
        <p:nvSpPr>
          <p:cNvPr id="46" name="Rounded Rectangle 45">
            <a:extLst>
              <a:ext uri="{FF2B5EF4-FFF2-40B4-BE49-F238E27FC236}">
                <a16:creationId xmlns:a16="http://schemas.microsoft.com/office/drawing/2014/main" id="{E91FA248-A40A-E408-AF14-505C6F096AB8}"/>
              </a:ext>
            </a:extLst>
          </p:cNvPr>
          <p:cNvSpPr/>
          <p:nvPr/>
        </p:nvSpPr>
        <p:spPr>
          <a:xfrm>
            <a:off x="8238744" y="3306251"/>
            <a:ext cx="3493008"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7" name="Picture 46" descr="DynamoDB icon">
            <a:extLst>
              <a:ext uri="{FF2B5EF4-FFF2-40B4-BE49-F238E27FC236}">
                <a16:creationId xmlns:a16="http://schemas.microsoft.com/office/drawing/2014/main" id="{99E4B1DD-64E9-4FC1-F8AD-75AC9A64C395}"/>
              </a:ext>
            </a:extLst>
          </p:cNvPr>
          <p:cNvPicPr>
            <a:picLocks noChangeAspect="1"/>
          </p:cNvPicPr>
          <p:nvPr/>
        </p:nvPicPr>
        <p:blipFill>
          <a:blip r:embed="rId10"/>
          <a:stretch>
            <a:fillRect/>
          </a:stretch>
        </p:blipFill>
        <p:spPr>
          <a:xfrm>
            <a:off x="8339327" y="3425123"/>
            <a:ext cx="384048" cy="384048"/>
          </a:xfrm>
          <a:prstGeom prst="rect">
            <a:avLst/>
          </a:prstGeom>
        </p:spPr>
      </p:pic>
      <p:sp>
        <p:nvSpPr>
          <p:cNvPr id="48" name="TextBox 47">
            <a:extLst>
              <a:ext uri="{FF2B5EF4-FFF2-40B4-BE49-F238E27FC236}">
                <a16:creationId xmlns:a16="http://schemas.microsoft.com/office/drawing/2014/main" id="{2D9D8D90-32D8-8338-16EB-39D7ABF43545}"/>
              </a:ext>
            </a:extLst>
          </p:cNvPr>
          <p:cNvSpPr txBox="1"/>
          <p:nvPr/>
        </p:nvSpPr>
        <p:spPr>
          <a:xfrm>
            <a:off x="8823959" y="3361115"/>
            <a:ext cx="2037329" cy="230832"/>
          </a:xfrm>
          <a:prstGeom prst="rect">
            <a:avLst/>
          </a:prstGeom>
          <a:noFill/>
        </p:spPr>
        <p:txBody>
          <a:bodyPr wrap="square" lIns="0" tIns="0" rIns="0" bIns="0" anchor="t">
            <a:spAutoFit/>
          </a:bodyPr>
          <a:lstStyle/>
          <a:p>
            <a:pPr algn="l"/>
            <a:r>
              <a:rPr sz="1500" b="1">
                <a:solidFill>
                  <a:srgbClr val="232F3E"/>
                </a:solidFill>
                <a:latin typeface="Calibri"/>
              </a:rPr>
              <a:t>DynamoDB</a:t>
            </a:r>
          </a:p>
        </p:txBody>
      </p:sp>
      <p:sp>
        <p:nvSpPr>
          <p:cNvPr id="49" name="TextBox 48">
            <a:extLst>
              <a:ext uri="{FF2B5EF4-FFF2-40B4-BE49-F238E27FC236}">
                <a16:creationId xmlns:a16="http://schemas.microsoft.com/office/drawing/2014/main" id="{66257748-63A0-DD2F-16A9-7DCD81627473}"/>
              </a:ext>
            </a:extLst>
          </p:cNvPr>
          <p:cNvSpPr txBox="1"/>
          <p:nvPr/>
        </p:nvSpPr>
        <p:spPr>
          <a:xfrm>
            <a:off x="8823959" y="3617147"/>
            <a:ext cx="2825496" cy="274320"/>
          </a:xfrm>
          <a:prstGeom prst="rect">
            <a:avLst/>
          </a:prstGeom>
          <a:noFill/>
        </p:spPr>
        <p:txBody>
          <a:bodyPr wrap="square" lIns="0" tIns="0" rIns="0" bIns="0" anchor="t">
            <a:spAutoFit/>
          </a:bodyPr>
          <a:lstStyle/>
          <a:p>
            <a:pPr algn="l"/>
            <a:r>
              <a:rPr sz="1400" b="0">
                <a:solidFill>
                  <a:srgbClr val="545B64"/>
                </a:solidFill>
                <a:latin typeface="Calibri"/>
              </a:rPr>
              <a:t>ValentinTable-dev · shared</a:t>
            </a:r>
          </a:p>
        </p:txBody>
      </p:sp>
      <p:sp>
        <p:nvSpPr>
          <p:cNvPr id="50" name="Rounded Rectangle 49">
            <a:extLst>
              <a:ext uri="{FF2B5EF4-FFF2-40B4-BE49-F238E27FC236}">
                <a16:creationId xmlns:a16="http://schemas.microsoft.com/office/drawing/2014/main" id="{E385E9D8-62B3-319F-3584-8294F0C1155D}"/>
              </a:ext>
            </a:extLst>
          </p:cNvPr>
          <p:cNvSpPr/>
          <p:nvPr/>
        </p:nvSpPr>
        <p:spPr>
          <a:xfrm>
            <a:off x="484632" y="4494971"/>
            <a:ext cx="3328416"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1" name="Picture 50" descr="Fargate icon">
            <a:extLst>
              <a:ext uri="{FF2B5EF4-FFF2-40B4-BE49-F238E27FC236}">
                <a16:creationId xmlns:a16="http://schemas.microsoft.com/office/drawing/2014/main" id="{13207643-4B4B-D94E-A8B7-8711C03D71AD}"/>
              </a:ext>
            </a:extLst>
          </p:cNvPr>
          <p:cNvPicPr>
            <a:picLocks noChangeAspect="1"/>
          </p:cNvPicPr>
          <p:nvPr/>
        </p:nvPicPr>
        <p:blipFill>
          <a:blip r:embed="rId7"/>
          <a:stretch>
            <a:fillRect/>
          </a:stretch>
        </p:blipFill>
        <p:spPr>
          <a:xfrm>
            <a:off x="585216" y="4613843"/>
            <a:ext cx="384048" cy="384048"/>
          </a:xfrm>
          <a:prstGeom prst="rect">
            <a:avLst/>
          </a:prstGeom>
        </p:spPr>
      </p:pic>
      <p:sp>
        <p:nvSpPr>
          <p:cNvPr id="52" name="TextBox 51">
            <a:extLst>
              <a:ext uri="{FF2B5EF4-FFF2-40B4-BE49-F238E27FC236}">
                <a16:creationId xmlns:a16="http://schemas.microsoft.com/office/drawing/2014/main" id="{CCA4DB43-7280-8D46-06A8-C70B822E7063}"/>
              </a:ext>
            </a:extLst>
          </p:cNvPr>
          <p:cNvSpPr txBox="1"/>
          <p:nvPr/>
        </p:nvSpPr>
        <p:spPr>
          <a:xfrm>
            <a:off x="1069848" y="4549834"/>
            <a:ext cx="2996488" cy="246888"/>
          </a:xfrm>
          <a:prstGeom prst="rect">
            <a:avLst/>
          </a:prstGeom>
          <a:noFill/>
        </p:spPr>
        <p:txBody>
          <a:bodyPr wrap="square" lIns="0" tIns="0" rIns="0" bIns="0" anchor="t">
            <a:spAutoFit/>
          </a:bodyPr>
          <a:lstStyle/>
          <a:p>
            <a:pPr algn="l"/>
            <a:r>
              <a:rPr sz="1500" b="1">
                <a:solidFill>
                  <a:srgbClr val="232F3E"/>
                </a:solidFill>
                <a:latin typeface="Calibri"/>
              </a:rPr>
              <a:t>Fargate</a:t>
            </a:r>
          </a:p>
        </p:txBody>
      </p:sp>
      <p:sp>
        <p:nvSpPr>
          <p:cNvPr id="53" name="TextBox 52">
            <a:extLst>
              <a:ext uri="{FF2B5EF4-FFF2-40B4-BE49-F238E27FC236}">
                <a16:creationId xmlns:a16="http://schemas.microsoft.com/office/drawing/2014/main" id="{748D5690-A8A5-576E-7E2F-64298742B042}"/>
              </a:ext>
            </a:extLst>
          </p:cNvPr>
          <p:cNvSpPr txBox="1"/>
          <p:nvPr/>
        </p:nvSpPr>
        <p:spPr>
          <a:xfrm>
            <a:off x="1069848" y="4805867"/>
            <a:ext cx="2996488" cy="274320"/>
          </a:xfrm>
          <a:prstGeom prst="rect">
            <a:avLst/>
          </a:prstGeom>
          <a:noFill/>
        </p:spPr>
        <p:txBody>
          <a:bodyPr wrap="square" lIns="0" tIns="0" rIns="0" bIns="0" anchor="t">
            <a:spAutoFit/>
          </a:bodyPr>
          <a:lstStyle/>
          <a:p>
            <a:pPr algn="l"/>
            <a:r>
              <a:rPr sz="1400" b="0">
                <a:solidFill>
                  <a:srgbClr val="545B64"/>
                </a:solidFill>
                <a:latin typeface="Calibri"/>
              </a:rPr>
              <a:t>valentin-ac-proxy-dev</a:t>
            </a:r>
          </a:p>
        </p:txBody>
      </p:sp>
      <p:sp>
        <p:nvSpPr>
          <p:cNvPr id="54" name="Rounded Rectangle 53">
            <a:extLst>
              <a:ext uri="{FF2B5EF4-FFF2-40B4-BE49-F238E27FC236}">
                <a16:creationId xmlns:a16="http://schemas.microsoft.com/office/drawing/2014/main" id="{6CADBBD7-613E-3808-8052-55CEA985F76F}"/>
              </a:ext>
            </a:extLst>
          </p:cNvPr>
          <p:cNvSpPr/>
          <p:nvPr/>
        </p:nvSpPr>
        <p:spPr>
          <a:xfrm>
            <a:off x="4276648" y="4494971"/>
            <a:ext cx="3664000"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5" name="Picture 54" descr="Runtime icon">
            <a:extLst>
              <a:ext uri="{FF2B5EF4-FFF2-40B4-BE49-F238E27FC236}">
                <a16:creationId xmlns:a16="http://schemas.microsoft.com/office/drawing/2014/main" id="{BF0AE213-06C0-6260-44C6-197D194F8B24}"/>
              </a:ext>
            </a:extLst>
          </p:cNvPr>
          <p:cNvPicPr>
            <a:picLocks noChangeAspect="1"/>
          </p:cNvPicPr>
          <p:nvPr/>
        </p:nvPicPr>
        <p:blipFill>
          <a:blip r:embed="rId11"/>
          <a:stretch>
            <a:fillRect/>
          </a:stretch>
        </p:blipFill>
        <p:spPr>
          <a:xfrm>
            <a:off x="4377232" y="4613843"/>
            <a:ext cx="384048" cy="384048"/>
          </a:xfrm>
          <a:prstGeom prst="rect">
            <a:avLst/>
          </a:prstGeom>
        </p:spPr>
      </p:pic>
      <p:sp>
        <p:nvSpPr>
          <p:cNvPr id="56" name="TextBox 55">
            <a:extLst>
              <a:ext uri="{FF2B5EF4-FFF2-40B4-BE49-F238E27FC236}">
                <a16:creationId xmlns:a16="http://schemas.microsoft.com/office/drawing/2014/main" id="{C26CC816-F035-0D8C-53CB-1018763CBDC8}"/>
              </a:ext>
            </a:extLst>
          </p:cNvPr>
          <p:cNvSpPr txBox="1"/>
          <p:nvPr/>
        </p:nvSpPr>
        <p:spPr>
          <a:xfrm>
            <a:off x="4861864" y="4549834"/>
            <a:ext cx="2996488" cy="246888"/>
          </a:xfrm>
          <a:prstGeom prst="rect">
            <a:avLst/>
          </a:prstGeom>
          <a:noFill/>
        </p:spPr>
        <p:txBody>
          <a:bodyPr wrap="square" lIns="0" tIns="0" rIns="0" bIns="0" anchor="t">
            <a:spAutoFit/>
          </a:bodyPr>
          <a:lstStyle/>
          <a:p>
            <a:pPr algn="l"/>
            <a:r>
              <a:rPr sz="1500" b="1">
                <a:solidFill>
                  <a:srgbClr val="232F3E"/>
                </a:solidFill>
                <a:latin typeface="Calibri"/>
              </a:rPr>
              <a:t>Runtime</a:t>
            </a:r>
          </a:p>
        </p:txBody>
      </p:sp>
      <p:sp>
        <p:nvSpPr>
          <p:cNvPr id="57" name="TextBox 56">
            <a:extLst>
              <a:ext uri="{FF2B5EF4-FFF2-40B4-BE49-F238E27FC236}">
                <a16:creationId xmlns:a16="http://schemas.microsoft.com/office/drawing/2014/main" id="{1F850EE8-D071-3ED8-3A16-32A5ECF1ACF9}"/>
              </a:ext>
            </a:extLst>
          </p:cNvPr>
          <p:cNvSpPr txBox="1"/>
          <p:nvPr/>
        </p:nvSpPr>
        <p:spPr>
          <a:xfrm>
            <a:off x="4861864" y="4805867"/>
            <a:ext cx="2996488" cy="274320"/>
          </a:xfrm>
          <a:prstGeom prst="rect">
            <a:avLst/>
          </a:prstGeom>
          <a:noFill/>
        </p:spPr>
        <p:txBody>
          <a:bodyPr wrap="square" lIns="0" tIns="0" rIns="0" bIns="0" anchor="t">
            <a:spAutoFit/>
          </a:bodyPr>
          <a:lstStyle/>
          <a:p>
            <a:pPr algn="l"/>
            <a:r>
              <a:rPr sz="1400" b="0">
                <a:solidFill>
                  <a:srgbClr val="545B64"/>
                </a:solidFill>
                <a:latin typeface="Calibri"/>
              </a:rPr>
              <a:t>valentin_agent_dev</a:t>
            </a:r>
          </a:p>
        </p:txBody>
      </p:sp>
      <p:sp>
        <p:nvSpPr>
          <p:cNvPr id="58" name="Rounded Rectangle 57">
            <a:extLst>
              <a:ext uri="{FF2B5EF4-FFF2-40B4-BE49-F238E27FC236}">
                <a16:creationId xmlns:a16="http://schemas.microsoft.com/office/drawing/2014/main" id="{76AF5DD0-0B5B-3A22-B46E-4547A45B7201}"/>
              </a:ext>
            </a:extLst>
          </p:cNvPr>
          <p:cNvSpPr/>
          <p:nvPr/>
        </p:nvSpPr>
        <p:spPr>
          <a:xfrm>
            <a:off x="8068665" y="4494971"/>
            <a:ext cx="3664000"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9" name="Picture 58" descr="Memory icon">
            <a:extLst>
              <a:ext uri="{FF2B5EF4-FFF2-40B4-BE49-F238E27FC236}">
                <a16:creationId xmlns:a16="http://schemas.microsoft.com/office/drawing/2014/main" id="{F2F2E4D4-4460-5209-5795-E33070FEDA76}"/>
              </a:ext>
            </a:extLst>
          </p:cNvPr>
          <p:cNvPicPr>
            <a:picLocks noChangeAspect="1"/>
          </p:cNvPicPr>
          <p:nvPr/>
        </p:nvPicPr>
        <p:blipFill>
          <a:blip r:embed="rId12"/>
          <a:stretch>
            <a:fillRect/>
          </a:stretch>
        </p:blipFill>
        <p:spPr>
          <a:xfrm>
            <a:off x="8169249" y="4613843"/>
            <a:ext cx="384048" cy="384048"/>
          </a:xfrm>
          <a:prstGeom prst="rect">
            <a:avLst/>
          </a:prstGeom>
        </p:spPr>
      </p:pic>
      <p:sp>
        <p:nvSpPr>
          <p:cNvPr id="60" name="TextBox 59">
            <a:extLst>
              <a:ext uri="{FF2B5EF4-FFF2-40B4-BE49-F238E27FC236}">
                <a16:creationId xmlns:a16="http://schemas.microsoft.com/office/drawing/2014/main" id="{AC51B26E-5FBA-9C7D-4922-D5F60DE3CB03}"/>
              </a:ext>
            </a:extLst>
          </p:cNvPr>
          <p:cNvSpPr txBox="1"/>
          <p:nvPr/>
        </p:nvSpPr>
        <p:spPr>
          <a:xfrm>
            <a:off x="8653881" y="4549834"/>
            <a:ext cx="2996488" cy="246888"/>
          </a:xfrm>
          <a:prstGeom prst="rect">
            <a:avLst/>
          </a:prstGeom>
          <a:noFill/>
        </p:spPr>
        <p:txBody>
          <a:bodyPr wrap="square" lIns="0" tIns="0" rIns="0" bIns="0" anchor="t">
            <a:spAutoFit/>
          </a:bodyPr>
          <a:lstStyle/>
          <a:p>
            <a:pPr algn="l"/>
            <a:r>
              <a:rPr sz="1500" b="1">
                <a:solidFill>
                  <a:srgbClr val="232F3E"/>
                </a:solidFill>
                <a:latin typeface="Calibri"/>
              </a:rPr>
              <a:t>Memory</a:t>
            </a:r>
          </a:p>
        </p:txBody>
      </p:sp>
      <p:sp>
        <p:nvSpPr>
          <p:cNvPr id="61" name="TextBox 60">
            <a:extLst>
              <a:ext uri="{FF2B5EF4-FFF2-40B4-BE49-F238E27FC236}">
                <a16:creationId xmlns:a16="http://schemas.microsoft.com/office/drawing/2014/main" id="{2466A223-3636-1606-0F81-F9E439F8F847}"/>
              </a:ext>
            </a:extLst>
          </p:cNvPr>
          <p:cNvSpPr txBox="1"/>
          <p:nvPr/>
        </p:nvSpPr>
        <p:spPr>
          <a:xfrm>
            <a:off x="8653881" y="4805867"/>
            <a:ext cx="2996488" cy="274320"/>
          </a:xfrm>
          <a:prstGeom prst="rect">
            <a:avLst/>
          </a:prstGeom>
          <a:noFill/>
        </p:spPr>
        <p:txBody>
          <a:bodyPr wrap="square" lIns="0" tIns="0" rIns="0" bIns="0" anchor="t">
            <a:spAutoFit/>
          </a:bodyPr>
          <a:lstStyle/>
          <a:p>
            <a:pPr algn="l"/>
            <a:r>
              <a:rPr sz="1400" b="0">
                <a:solidFill>
                  <a:srgbClr val="545B64"/>
                </a:solidFill>
                <a:latin typeface="Calibri"/>
              </a:rPr>
              <a:t>valentin_memory_dev</a:t>
            </a:r>
          </a:p>
        </p:txBody>
      </p:sp>
      <p:sp>
        <p:nvSpPr>
          <p:cNvPr id="62" name="Rounded Rectangle 61">
            <a:extLst>
              <a:ext uri="{FF2B5EF4-FFF2-40B4-BE49-F238E27FC236}">
                <a16:creationId xmlns:a16="http://schemas.microsoft.com/office/drawing/2014/main" id="{1ECB9BC3-16E8-B555-5FE6-E00360AE8B6B}"/>
              </a:ext>
            </a:extLst>
          </p:cNvPr>
          <p:cNvSpPr/>
          <p:nvPr/>
        </p:nvSpPr>
        <p:spPr>
          <a:xfrm>
            <a:off x="484632" y="5281355"/>
            <a:ext cx="3328416"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3" name="Picture 62" descr="Observability icon">
            <a:extLst>
              <a:ext uri="{FF2B5EF4-FFF2-40B4-BE49-F238E27FC236}">
                <a16:creationId xmlns:a16="http://schemas.microsoft.com/office/drawing/2014/main" id="{9DD709B5-D6DC-1FFD-A4E6-56D55311892F}"/>
              </a:ext>
            </a:extLst>
          </p:cNvPr>
          <p:cNvPicPr>
            <a:picLocks noChangeAspect="1"/>
          </p:cNvPicPr>
          <p:nvPr/>
        </p:nvPicPr>
        <p:blipFill>
          <a:blip r:embed="rId13"/>
          <a:stretch>
            <a:fillRect/>
          </a:stretch>
        </p:blipFill>
        <p:spPr>
          <a:xfrm>
            <a:off x="585216" y="5400227"/>
            <a:ext cx="384048" cy="384048"/>
          </a:xfrm>
          <a:prstGeom prst="rect">
            <a:avLst/>
          </a:prstGeom>
        </p:spPr>
      </p:pic>
      <p:sp>
        <p:nvSpPr>
          <p:cNvPr id="64" name="TextBox 63">
            <a:extLst>
              <a:ext uri="{FF2B5EF4-FFF2-40B4-BE49-F238E27FC236}">
                <a16:creationId xmlns:a16="http://schemas.microsoft.com/office/drawing/2014/main" id="{7588979E-450A-7FDC-1ED6-8CBD252643E0}"/>
              </a:ext>
            </a:extLst>
          </p:cNvPr>
          <p:cNvSpPr txBox="1"/>
          <p:nvPr/>
        </p:nvSpPr>
        <p:spPr>
          <a:xfrm>
            <a:off x="1069848" y="5336219"/>
            <a:ext cx="2203704" cy="237744"/>
          </a:xfrm>
          <a:prstGeom prst="rect">
            <a:avLst/>
          </a:prstGeom>
          <a:noFill/>
        </p:spPr>
        <p:txBody>
          <a:bodyPr wrap="square" lIns="0" tIns="0" rIns="0" bIns="0" anchor="t">
            <a:spAutoFit/>
          </a:bodyPr>
          <a:lstStyle/>
          <a:p>
            <a:pPr algn="l"/>
            <a:r>
              <a:rPr sz="1500" b="1">
                <a:solidFill>
                  <a:srgbClr val="232F3E"/>
                </a:solidFill>
                <a:latin typeface="Calibri"/>
              </a:rPr>
              <a:t>Observability</a:t>
            </a:r>
          </a:p>
        </p:txBody>
      </p:sp>
      <p:sp>
        <p:nvSpPr>
          <p:cNvPr id="65" name="TextBox 64">
            <a:extLst>
              <a:ext uri="{FF2B5EF4-FFF2-40B4-BE49-F238E27FC236}">
                <a16:creationId xmlns:a16="http://schemas.microsoft.com/office/drawing/2014/main" id="{E9C8831A-74BE-4842-51CA-A5CCE8751267}"/>
              </a:ext>
            </a:extLst>
          </p:cNvPr>
          <p:cNvSpPr txBox="1"/>
          <p:nvPr/>
        </p:nvSpPr>
        <p:spPr>
          <a:xfrm>
            <a:off x="1069848" y="5592251"/>
            <a:ext cx="2043684" cy="215444"/>
          </a:xfrm>
          <a:prstGeom prst="rect">
            <a:avLst/>
          </a:prstGeom>
          <a:noFill/>
        </p:spPr>
        <p:txBody>
          <a:bodyPr wrap="square" lIns="0" tIns="0" rIns="0" bIns="0" anchor="t">
            <a:spAutoFit/>
          </a:bodyPr>
          <a:lstStyle/>
          <a:p>
            <a:pPr algn="l"/>
            <a:r>
              <a:rPr sz="1400" b="0">
                <a:solidFill>
                  <a:srgbClr val="545B64"/>
                </a:solidFill>
                <a:latin typeface="Calibri"/>
              </a:rPr>
              <a:t>session traces</a:t>
            </a:r>
          </a:p>
        </p:txBody>
      </p:sp>
      <p:sp>
        <p:nvSpPr>
          <p:cNvPr id="66" name="Rounded Rectangle 65">
            <a:extLst>
              <a:ext uri="{FF2B5EF4-FFF2-40B4-BE49-F238E27FC236}">
                <a16:creationId xmlns:a16="http://schemas.microsoft.com/office/drawing/2014/main" id="{CB77FD2C-5144-23F4-D0B1-20C619D5B63E}"/>
              </a:ext>
            </a:extLst>
          </p:cNvPr>
          <p:cNvSpPr/>
          <p:nvPr/>
        </p:nvSpPr>
        <p:spPr>
          <a:xfrm>
            <a:off x="4276648" y="5281355"/>
            <a:ext cx="3664000"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7" name="Picture 66" descr="Gateway icon">
            <a:extLst>
              <a:ext uri="{FF2B5EF4-FFF2-40B4-BE49-F238E27FC236}">
                <a16:creationId xmlns:a16="http://schemas.microsoft.com/office/drawing/2014/main" id="{35EFC596-3463-A497-7069-36FE715DD426}"/>
              </a:ext>
            </a:extLst>
          </p:cNvPr>
          <p:cNvPicPr>
            <a:picLocks noChangeAspect="1"/>
          </p:cNvPicPr>
          <p:nvPr/>
        </p:nvPicPr>
        <p:blipFill>
          <a:blip r:embed="rId14"/>
          <a:stretch>
            <a:fillRect/>
          </a:stretch>
        </p:blipFill>
        <p:spPr>
          <a:xfrm>
            <a:off x="4377232" y="5400227"/>
            <a:ext cx="384048" cy="384048"/>
          </a:xfrm>
          <a:prstGeom prst="rect">
            <a:avLst/>
          </a:prstGeom>
        </p:spPr>
      </p:pic>
      <p:sp>
        <p:nvSpPr>
          <p:cNvPr id="68" name="TextBox 67">
            <a:extLst>
              <a:ext uri="{FF2B5EF4-FFF2-40B4-BE49-F238E27FC236}">
                <a16:creationId xmlns:a16="http://schemas.microsoft.com/office/drawing/2014/main" id="{9D4BC0DB-A450-C673-D86C-5F6206BAE170}"/>
              </a:ext>
            </a:extLst>
          </p:cNvPr>
          <p:cNvSpPr txBox="1"/>
          <p:nvPr/>
        </p:nvSpPr>
        <p:spPr>
          <a:xfrm>
            <a:off x="4861864" y="5336219"/>
            <a:ext cx="2996488" cy="246888"/>
          </a:xfrm>
          <a:prstGeom prst="rect">
            <a:avLst/>
          </a:prstGeom>
          <a:noFill/>
        </p:spPr>
        <p:txBody>
          <a:bodyPr wrap="square" lIns="0" tIns="0" rIns="0" bIns="0" anchor="t">
            <a:spAutoFit/>
          </a:bodyPr>
          <a:lstStyle/>
          <a:p>
            <a:pPr algn="l"/>
            <a:r>
              <a:rPr sz="1500" b="1">
                <a:solidFill>
                  <a:srgbClr val="232F3E"/>
                </a:solidFill>
                <a:latin typeface="Calibri"/>
              </a:rPr>
              <a:t>Gateway</a:t>
            </a:r>
          </a:p>
        </p:txBody>
      </p:sp>
      <p:sp>
        <p:nvSpPr>
          <p:cNvPr id="69" name="TextBox 68">
            <a:extLst>
              <a:ext uri="{FF2B5EF4-FFF2-40B4-BE49-F238E27FC236}">
                <a16:creationId xmlns:a16="http://schemas.microsoft.com/office/drawing/2014/main" id="{498A4003-7463-EF0B-997F-A44545D01C3F}"/>
              </a:ext>
            </a:extLst>
          </p:cNvPr>
          <p:cNvSpPr txBox="1"/>
          <p:nvPr/>
        </p:nvSpPr>
        <p:spPr>
          <a:xfrm>
            <a:off x="4861864" y="5592251"/>
            <a:ext cx="2996488" cy="274320"/>
          </a:xfrm>
          <a:prstGeom prst="rect">
            <a:avLst/>
          </a:prstGeom>
          <a:noFill/>
        </p:spPr>
        <p:txBody>
          <a:bodyPr wrap="square" lIns="0" tIns="0" rIns="0" bIns="0" anchor="t">
            <a:spAutoFit/>
          </a:bodyPr>
          <a:lstStyle/>
          <a:p>
            <a:pPr algn="l"/>
            <a:r>
              <a:rPr sz="1400" b="0">
                <a:solidFill>
                  <a:srgbClr val="545B64"/>
                </a:solidFill>
                <a:latin typeface="Calibri"/>
              </a:rPr>
              <a:t>MCP · CUSTOM_JWT</a:t>
            </a:r>
          </a:p>
        </p:txBody>
      </p:sp>
      <p:sp>
        <p:nvSpPr>
          <p:cNvPr id="70" name="Rounded Rectangle 69">
            <a:extLst>
              <a:ext uri="{FF2B5EF4-FFF2-40B4-BE49-F238E27FC236}">
                <a16:creationId xmlns:a16="http://schemas.microsoft.com/office/drawing/2014/main" id="{9B04AEEA-CF18-A0B4-4C6F-CDAA571202BC}"/>
              </a:ext>
            </a:extLst>
          </p:cNvPr>
          <p:cNvSpPr/>
          <p:nvPr/>
        </p:nvSpPr>
        <p:spPr>
          <a:xfrm>
            <a:off x="8068665" y="5281355"/>
            <a:ext cx="3664000"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1" name="Picture 70" descr="Lambda icon">
            <a:extLst>
              <a:ext uri="{FF2B5EF4-FFF2-40B4-BE49-F238E27FC236}">
                <a16:creationId xmlns:a16="http://schemas.microsoft.com/office/drawing/2014/main" id="{AFA201F7-E1A8-E3BC-B7AB-2C06CA1D4C8B}"/>
              </a:ext>
            </a:extLst>
          </p:cNvPr>
          <p:cNvPicPr>
            <a:picLocks noChangeAspect="1"/>
          </p:cNvPicPr>
          <p:nvPr/>
        </p:nvPicPr>
        <p:blipFill>
          <a:blip r:embed="rId15"/>
          <a:stretch>
            <a:fillRect/>
          </a:stretch>
        </p:blipFill>
        <p:spPr>
          <a:xfrm>
            <a:off x="8169249" y="5400227"/>
            <a:ext cx="384048" cy="384048"/>
          </a:xfrm>
          <a:prstGeom prst="rect">
            <a:avLst/>
          </a:prstGeom>
        </p:spPr>
      </p:pic>
      <p:sp>
        <p:nvSpPr>
          <p:cNvPr id="72" name="TextBox 71">
            <a:extLst>
              <a:ext uri="{FF2B5EF4-FFF2-40B4-BE49-F238E27FC236}">
                <a16:creationId xmlns:a16="http://schemas.microsoft.com/office/drawing/2014/main" id="{82D5506C-8F17-C286-4CD2-250289104540}"/>
              </a:ext>
            </a:extLst>
          </p:cNvPr>
          <p:cNvSpPr txBox="1"/>
          <p:nvPr/>
        </p:nvSpPr>
        <p:spPr>
          <a:xfrm>
            <a:off x="8653881" y="5336219"/>
            <a:ext cx="2996488" cy="246888"/>
          </a:xfrm>
          <a:prstGeom prst="rect">
            <a:avLst/>
          </a:prstGeom>
          <a:noFill/>
        </p:spPr>
        <p:txBody>
          <a:bodyPr wrap="square" lIns="0" tIns="0" rIns="0" bIns="0" anchor="t">
            <a:spAutoFit/>
          </a:bodyPr>
          <a:lstStyle/>
          <a:p>
            <a:pPr algn="l"/>
            <a:r>
              <a:rPr sz="1500" b="1">
                <a:solidFill>
                  <a:srgbClr val="232F3E"/>
                </a:solidFill>
                <a:latin typeface="Calibri"/>
              </a:rPr>
              <a:t>Lambda</a:t>
            </a:r>
          </a:p>
        </p:txBody>
      </p:sp>
      <p:sp>
        <p:nvSpPr>
          <p:cNvPr id="73" name="TextBox 72">
            <a:extLst>
              <a:ext uri="{FF2B5EF4-FFF2-40B4-BE49-F238E27FC236}">
                <a16:creationId xmlns:a16="http://schemas.microsoft.com/office/drawing/2014/main" id="{15846E44-8355-40AF-6E11-F8EBB73074D8}"/>
              </a:ext>
            </a:extLst>
          </p:cNvPr>
          <p:cNvSpPr txBox="1"/>
          <p:nvPr/>
        </p:nvSpPr>
        <p:spPr>
          <a:xfrm>
            <a:off x="8653881" y="5592251"/>
            <a:ext cx="2996488" cy="274320"/>
          </a:xfrm>
          <a:prstGeom prst="rect">
            <a:avLst/>
          </a:prstGeom>
          <a:noFill/>
        </p:spPr>
        <p:txBody>
          <a:bodyPr wrap="square" lIns="0" tIns="0" rIns="0" bIns="0" anchor="t">
            <a:spAutoFit/>
          </a:bodyPr>
          <a:lstStyle/>
          <a:p>
            <a:pPr algn="l"/>
            <a:r>
              <a:rPr sz="1400" b="0">
                <a:solidFill>
                  <a:srgbClr val="545B64"/>
                </a:solidFill>
                <a:latin typeface="Calibri"/>
              </a:rPr>
              <a:t>valentin-profile-tools-dev</a:t>
            </a:r>
          </a:p>
        </p:txBody>
      </p:sp>
      <p:cxnSp>
        <p:nvCxnSpPr>
          <p:cNvPr id="74" name="Connector 69">
            <a:extLst>
              <a:ext uri="{FF2B5EF4-FFF2-40B4-BE49-F238E27FC236}">
                <a16:creationId xmlns:a16="http://schemas.microsoft.com/office/drawing/2014/main" id="{F62525F7-403C-D95D-6093-3ABE491DFB28}"/>
              </a:ext>
            </a:extLst>
          </p:cNvPr>
          <p:cNvCxnSpPr/>
          <p:nvPr/>
        </p:nvCxnSpPr>
        <p:spPr>
          <a:xfrm>
            <a:off x="502920" y="6278051"/>
            <a:ext cx="502920" cy="0"/>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5" name="TextBox 74">
            <a:extLst>
              <a:ext uri="{FF2B5EF4-FFF2-40B4-BE49-F238E27FC236}">
                <a16:creationId xmlns:a16="http://schemas.microsoft.com/office/drawing/2014/main" id="{9CA7A883-53A0-138B-2C5D-4F666E7868BD}"/>
              </a:ext>
            </a:extLst>
          </p:cNvPr>
          <p:cNvSpPr txBox="1"/>
          <p:nvPr/>
        </p:nvSpPr>
        <p:spPr>
          <a:xfrm>
            <a:off x="1124712" y="6113459"/>
            <a:ext cx="2148840" cy="329184"/>
          </a:xfrm>
          <a:prstGeom prst="rect">
            <a:avLst/>
          </a:prstGeom>
          <a:noFill/>
        </p:spPr>
        <p:txBody>
          <a:bodyPr wrap="square" lIns="0" tIns="0" rIns="0" bIns="0" anchor="ctr">
            <a:spAutoFit/>
          </a:bodyPr>
          <a:lstStyle/>
          <a:p>
            <a:pPr algn="l"/>
            <a:r>
              <a:rPr sz="1400" b="0">
                <a:solidFill>
                  <a:srgbClr val="16191F"/>
                </a:solidFill>
                <a:latin typeface="Calibri"/>
              </a:rPr>
              <a:t>the request path</a:t>
            </a:r>
          </a:p>
        </p:txBody>
      </p:sp>
      <p:sp>
        <p:nvSpPr>
          <p:cNvPr id="76" name="Rounded Rectangle 75">
            <a:extLst>
              <a:ext uri="{FF2B5EF4-FFF2-40B4-BE49-F238E27FC236}">
                <a16:creationId xmlns:a16="http://schemas.microsoft.com/office/drawing/2014/main" id="{3D8F36A9-0203-C26D-D641-716B9F1BA4FF}"/>
              </a:ext>
            </a:extLst>
          </p:cNvPr>
          <p:cNvSpPr/>
          <p:nvPr/>
        </p:nvSpPr>
        <p:spPr>
          <a:xfrm>
            <a:off x="3310128" y="6159179"/>
            <a:ext cx="502920" cy="237744"/>
          </a:xfrm>
          <a:prstGeom prst="roundRect">
            <a:avLst>
              <a:gd name="adj" fmla="val 15384"/>
            </a:avLst>
          </a:prstGeom>
          <a:solidFill>
            <a:srgbClr val="F7F8FA"/>
          </a:solidFill>
          <a:ln w="22225">
            <a:solidFill>
              <a:srgbClr val="232F3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a:extLst>
              <a:ext uri="{FF2B5EF4-FFF2-40B4-BE49-F238E27FC236}">
                <a16:creationId xmlns:a16="http://schemas.microsoft.com/office/drawing/2014/main" id="{BE0B10EF-5851-3850-466C-5940922129D2}"/>
              </a:ext>
            </a:extLst>
          </p:cNvPr>
          <p:cNvSpPr txBox="1"/>
          <p:nvPr/>
        </p:nvSpPr>
        <p:spPr>
          <a:xfrm>
            <a:off x="3931920" y="6113459"/>
            <a:ext cx="2148840" cy="329184"/>
          </a:xfrm>
          <a:prstGeom prst="rect">
            <a:avLst/>
          </a:prstGeom>
          <a:noFill/>
        </p:spPr>
        <p:txBody>
          <a:bodyPr wrap="square" lIns="0" tIns="0" rIns="0" bIns="0" anchor="ctr">
            <a:spAutoFit/>
          </a:bodyPr>
          <a:lstStyle/>
          <a:p>
            <a:pPr algn="l"/>
            <a:r>
              <a:rPr sz="1400" b="0">
                <a:solidFill>
                  <a:srgbClr val="16191F"/>
                </a:solidFill>
                <a:latin typeface="Calibri"/>
              </a:rPr>
              <a:t>engine A · my code</a:t>
            </a:r>
          </a:p>
        </p:txBody>
      </p:sp>
      <p:sp>
        <p:nvSpPr>
          <p:cNvPr id="78" name="Rounded Rectangle 77">
            <a:extLst>
              <a:ext uri="{FF2B5EF4-FFF2-40B4-BE49-F238E27FC236}">
                <a16:creationId xmlns:a16="http://schemas.microsoft.com/office/drawing/2014/main" id="{F3B40E0D-FC87-70CF-6FD0-7818E4D58932}"/>
              </a:ext>
            </a:extLst>
          </p:cNvPr>
          <p:cNvSpPr/>
          <p:nvPr/>
        </p:nvSpPr>
        <p:spPr>
          <a:xfrm>
            <a:off x="6117336" y="6159179"/>
            <a:ext cx="502920" cy="237744"/>
          </a:xfrm>
          <a:prstGeom prst="roundRect">
            <a:avLst>
              <a:gd name="adj" fmla="val 15384"/>
            </a:avLst>
          </a:prstGeom>
          <a:solidFill>
            <a:srgbClr val="F7F8FA"/>
          </a:solidFill>
          <a:ln w="22225">
            <a:solidFill>
              <a:srgbClr val="1E7C3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a:extLst>
              <a:ext uri="{FF2B5EF4-FFF2-40B4-BE49-F238E27FC236}">
                <a16:creationId xmlns:a16="http://schemas.microsoft.com/office/drawing/2014/main" id="{99EE8193-42BF-C869-00BF-DC638D8639A7}"/>
              </a:ext>
            </a:extLst>
          </p:cNvPr>
          <p:cNvSpPr txBox="1"/>
          <p:nvPr/>
        </p:nvSpPr>
        <p:spPr>
          <a:xfrm>
            <a:off x="6739127" y="6113459"/>
            <a:ext cx="2148840" cy="329184"/>
          </a:xfrm>
          <a:prstGeom prst="rect">
            <a:avLst/>
          </a:prstGeom>
          <a:noFill/>
        </p:spPr>
        <p:txBody>
          <a:bodyPr wrap="square" lIns="0" tIns="0" rIns="0" bIns="0" anchor="ctr">
            <a:spAutoFit/>
          </a:bodyPr>
          <a:lstStyle/>
          <a:p>
            <a:pPr algn="l"/>
            <a:r>
              <a:rPr sz="1400" b="0">
                <a:solidFill>
                  <a:srgbClr val="16191F"/>
                </a:solidFill>
                <a:latin typeface="Calibri"/>
              </a:rPr>
              <a:t>engine B · AgentCore</a:t>
            </a:r>
          </a:p>
        </p:txBody>
      </p:sp>
      <p:sp>
        <p:nvSpPr>
          <p:cNvPr id="80" name="Rounded Rectangle 79">
            <a:extLst>
              <a:ext uri="{FF2B5EF4-FFF2-40B4-BE49-F238E27FC236}">
                <a16:creationId xmlns:a16="http://schemas.microsoft.com/office/drawing/2014/main" id="{71F33B3A-7ED1-3B42-2134-12E4D785D3DE}"/>
              </a:ext>
            </a:extLst>
          </p:cNvPr>
          <p:cNvSpPr/>
          <p:nvPr/>
        </p:nvSpPr>
        <p:spPr>
          <a:xfrm>
            <a:off x="8924544" y="6159179"/>
            <a:ext cx="502920" cy="237744"/>
          </a:xfrm>
          <a:prstGeom prst="roundRect">
            <a:avLst>
              <a:gd name="adj" fmla="val 15384"/>
            </a:avLst>
          </a:prstGeom>
          <a:solidFill>
            <a:srgbClr val="F7F8FA"/>
          </a:solidFill>
          <a:ln w="22225">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a:extLst>
              <a:ext uri="{FF2B5EF4-FFF2-40B4-BE49-F238E27FC236}">
                <a16:creationId xmlns:a16="http://schemas.microsoft.com/office/drawing/2014/main" id="{CBD85F31-15B6-B520-891F-31404183B476}"/>
              </a:ext>
            </a:extLst>
          </p:cNvPr>
          <p:cNvSpPr txBox="1"/>
          <p:nvPr/>
        </p:nvSpPr>
        <p:spPr>
          <a:xfrm>
            <a:off x="9546336" y="6113459"/>
            <a:ext cx="2148840" cy="329184"/>
          </a:xfrm>
          <a:prstGeom prst="rect">
            <a:avLst/>
          </a:prstGeom>
          <a:noFill/>
        </p:spPr>
        <p:txBody>
          <a:bodyPr wrap="square" lIns="0" tIns="0" rIns="0" bIns="0" anchor="ctr">
            <a:spAutoFit/>
          </a:bodyPr>
          <a:lstStyle/>
          <a:p>
            <a:pPr algn="l"/>
            <a:r>
              <a:rPr sz="1400" b="0">
                <a:solidFill>
                  <a:srgbClr val="16191F"/>
                </a:solidFill>
                <a:latin typeface="Calibri"/>
              </a:rPr>
              <a:t>shared · both engines</a:t>
            </a:r>
          </a:p>
        </p:txBody>
      </p:sp>
      <p:cxnSp>
        <p:nvCxnSpPr>
          <p:cNvPr id="82" name="Connector 77">
            <a:extLst>
              <a:ext uri="{FF2B5EF4-FFF2-40B4-BE49-F238E27FC236}">
                <a16:creationId xmlns:a16="http://schemas.microsoft.com/office/drawing/2014/main" id="{86785538-F13E-1A7F-546E-C8151307D93B}"/>
              </a:ext>
            </a:extLst>
          </p:cNvPr>
          <p:cNvCxnSpPr/>
          <p:nvPr/>
        </p:nvCxnSpPr>
        <p:spPr>
          <a:xfrm>
            <a:off x="2400300" y="1898075"/>
            <a:ext cx="128016" cy="0"/>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3" name="Connector 78">
            <a:extLst>
              <a:ext uri="{FF2B5EF4-FFF2-40B4-BE49-F238E27FC236}">
                <a16:creationId xmlns:a16="http://schemas.microsoft.com/office/drawing/2014/main" id="{CB9EDD0E-DC4A-A6AA-D255-B941C4058CF5}"/>
              </a:ext>
            </a:extLst>
          </p:cNvPr>
          <p:cNvCxnSpPr/>
          <p:nvPr/>
        </p:nvCxnSpPr>
        <p:spPr>
          <a:xfrm>
            <a:off x="3486150" y="2208971"/>
            <a:ext cx="0" cy="237744"/>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4" name="Connector 79">
            <a:extLst>
              <a:ext uri="{FF2B5EF4-FFF2-40B4-BE49-F238E27FC236}">
                <a16:creationId xmlns:a16="http://schemas.microsoft.com/office/drawing/2014/main" id="{C140B896-168D-7EFD-059D-9C21EEAFCD6A}"/>
              </a:ext>
            </a:extLst>
          </p:cNvPr>
          <p:cNvCxnSpPr/>
          <p:nvPr/>
        </p:nvCxnSpPr>
        <p:spPr>
          <a:xfrm>
            <a:off x="2784348" y="2208971"/>
            <a:ext cx="0" cy="118872"/>
          </a:xfrm>
          <a:prstGeom prst="line">
            <a:avLst/>
          </a:prstGeom>
          <a:ln w="19050">
            <a:solidFill>
              <a:srgbClr val="545B64"/>
            </a:solidFill>
          </a:ln>
        </p:spPr>
        <p:style>
          <a:lnRef idx="2">
            <a:schemeClr val="accent1"/>
          </a:lnRef>
          <a:fillRef idx="0">
            <a:schemeClr val="accent1"/>
          </a:fillRef>
          <a:effectRef idx="1">
            <a:schemeClr val="accent1"/>
          </a:effectRef>
          <a:fontRef idx="minor">
            <a:schemeClr val="tx1"/>
          </a:fontRef>
        </p:style>
      </p:cxnSp>
      <p:cxnSp>
        <p:nvCxnSpPr>
          <p:cNvPr id="85" name="Connector 80">
            <a:extLst>
              <a:ext uri="{FF2B5EF4-FFF2-40B4-BE49-F238E27FC236}">
                <a16:creationId xmlns:a16="http://schemas.microsoft.com/office/drawing/2014/main" id="{2427965A-8896-6F50-2274-0AE9D1582B8B}"/>
              </a:ext>
            </a:extLst>
          </p:cNvPr>
          <p:cNvCxnSpPr/>
          <p:nvPr/>
        </p:nvCxnSpPr>
        <p:spPr>
          <a:xfrm flipH="1">
            <a:off x="1442466" y="2327843"/>
            <a:ext cx="1341882" cy="0"/>
          </a:xfrm>
          <a:prstGeom prst="line">
            <a:avLst/>
          </a:prstGeom>
          <a:ln w="19050">
            <a:solidFill>
              <a:srgbClr val="545B64"/>
            </a:solidFill>
          </a:ln>
        </p:spPr>
        <p:style>
          <a:lnRef idx="2">
            <a:schemeClr val="accent1"/>
          </a:lnRef>
          <a:fillRef idx="0">
            <a:schemeClr val="accent1"/>
          </a:fillRef>
          <a:effectRef idx="1">
            <a:schemeClr val="accent1"/>
          </a:effectRef>
          <a:fontRef idx="minor">
            <a:schemeClr val="tx1"/>
          </a:fontRef>
        </p:style>
      </p:cxnSp>
      <p:cxnSp>
        <p:nvCxnSpPr>
          <p:cNvPr id="86" name="Connector 81">
            <a:extLst>
              <a:ext uri="{FF2B5EF4-FFF2-40B4-BE49-F238E27FC236}">
                <a16:creationId xmlns:a16="http://schemas.microsoft.com/office/drawing/2014/main" id="{666ABABF-B2B3-74C6-08BC-17CC328F2DF4}"/>
              </a:ext>
            </a:extLst>
          </p:cNvPr>
          <p:cNvCxnSpPr/>
          <p:nvPr/>
        </p:nvCxnSpPr>
        <p:spPr>
          <a:xfrm>
            <a:off x="1442466" y="2327843"/>
            <a:ext cx="0" cy="118872"/>
          </a:xfrm>
          <a:prstGeom prst="line">
            <a:avLst/>
          </a:prstGeom>
          <a:ln w="19050">
            <a:solidFill>
              <a:srgbClr val="545B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7" name="Connector 82">
            <a:extLst>
              <a:ext uri="{FF2B5EF4-FFF2-40B4-BE49-F238E27FC236}">
                <a16:creationId xmlns:a16="http://schemas.microsoft.com/office/drawing/2014/main" id="{BD6DEF2A-5407-4DCC-9E95-C94166B82BA2}"/>
              </a:ext>
            </a:extLst>
          </p:cNvPr>
          <p:cNvCxnSpPr/>
          <p:nvPr/>
        </p:nvCxnSpPr>
        <p:spPr>
          <a:xfrm>
            <a:off x="4443984" y="2757611"/>
            <a:ext cx="164592" cy="0"/>
          </a:xfrm>
          <a:prstGeom prst="line">
            <a:avLst/>
          </a:prstGeom>
          <a:ln w="28575">
            <a:solidFill>
              <a:srgbClr val="FF9900"/>
            </a:solidFill>
          </a:ln>
        </p:spPr>
        <p:style>
          <a:lnRef idx="2">
            <a:schemeClr val="accent1"/>
          </a:lnRef>
          <a:fillRef idx="0">
            <a:schemeClr val="accent1"/>
          </a:fillRef>
          <a:effectRef idx="1">
            <a:schemeClr val="accent1"/>
          </a:effectRef>
          <a:fontRef idx="minor">
            <a:schemeClr val="tx1"/>
          </a:fontRef>
        </p:style>
      </p:cxnSp>
      <p:cxnSp>
        <p:nvCxnSpPr>
          <p:cNvPr id="88" name="Connector 83">
            <a:extLst>
              <a:ext uri="{FF2B5EF4-FFF2-40B4-BE49-F238E27FC236}">
                <a16:creationId xmlns:a16="http://schemas.microsoft.com/office/drawing/2014/main" id="{41FDCD60-154B-B076-AAAC-095789EFB9EE}"/>
              </a:ext>
            </a:extLst>
          </p:cNvPr>
          <p:cNvCxnSpPr/>
          <p:nvPr/>
        </p:nvCxnSpPr>
        <p:spPr>
          <a:xfrm flipV="1">
            <a:off x="4608576" y="1898075"/>
            <a:ext cx="0" cy="859536"/>
          </a:xfrm>
          <a:prstGeom prst="line">
            <a:avLst/>
          </a:prstGeom>
          <a:ln w="28575">
            <a:solidFill>
              <a:srgbClr val="FF9900"/>
            </a:solidFill>
          </a:ln>
        </p:spPr>
        <p:style>
          <a:lnRef idx="2">
            <a:schemeClr val="accent1"/>
          </a:lnRef>
          <a:fillRef idx="0">
            <a:schemeClr val="accent1"/>
          </a:fillRef>
          <a:effectRef idx="1">
            <a:schemeClr val="accent1"/>
          </a:effectRef>
          <a:fontRef idx="minor">
            <a:schemeClr val="tx1"/>
          </a:fontRef>
        </p:style>
      </p:cxnSp>
      <p:cxnSp>
        <p:nvCxnSpPr>
          <p:cNvPr id="89" name="Connector 84">
            <a:extLst>
              <a:ext uri="{FF2B5EF4-FFF2-40B4-BE49-F238E27FC236}">
                <a16:creationId xmlns:a16="http://schemas.microsoft.com/office/drawing/2014/main" id="{AFC48D9C-990E-3695-C8A0-396039650229}"/>
              </a:ext>
            </a:extLst>
          </p:cNvPr>
          <p:cNvCxnSpPr/>
          <p:nvPr/>
        </p:nvCxnSpPr>
        <p:spPr>
          <a:xfrm>
            <a:off x="4608576" y="1898075"/>
            <a:ext cx="164592" cy="0"/>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 name="Connector 85">
            <a:extLst>
              <a:ext uri="{FF2B5EF4-FFF2-40B4-BE49-F238E27FC236}">
                <a16:creationId xmlns:a16="http://schemas.microsoft.com/office/drawing/2014/main" id="{446DA898-5874-9F20-C426-3103CDE3EE4A}"/>
              </a:ext>
            </a:extLst>
          </p:cNvPr>
          <p:cNvCxnSpPr/>
          <p:nvPr/>
        </p:nvCxnSpPr>
        <p:spPr>
          <a:xfrm>
            <a:off x="3486150" y="3068507"/>
            <a:ext cx="0" cy="1325880"/>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1" name="Connector 86">
            <a:extLst>
              <a:ext uri="{FF2B5EF4-FFF2-40B4-BE49-F238E27FC236}">
                <a16:creationId xmlns:a16="http://schemas.microsoft.com/office/drawing/2014/main" id="{18FD3414-A26D-E797-C48D-0360C954EADE}"/>
              </a:ext>
            </a:extLst>
          </p:cNvPr>
          <p:cNvCxnSpPr/>
          <p:nvPr/>
        </p:nvCxnSpPr>
        <p:spPr>
          <a:xfrm>
            <a:off x="7671816" y="1806635"/>
            <a:ext cx="566928" cy="0"/>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2" name="Connector 87">
            <a:extLst>
              <a:ext uri="{FF2B5EF4-FFF2-40B4-BE49-F238E27FC236}">
                <a16:creationId xmlns:a16="http://schemas.microsoft.com/office/drawing/2014/main" id="{6B294470-428C-CE19-FE9E-B40F1D503230}"/>
              </a:ext>
            </a:extLst>
          </p:cNvPr>
          <p:cNvCxnSpPr/>
          <p:nvPr/>
        </p:nvCxnSpPr>
        <p:spPr>
          <a:xfrm>
            <a:off x="7498080" y="2208971"/>
            <a:ext cx="0" cy="1408176"/>
          </a:xfrm>
          <a:prstGeom prst="line">
            <a:avLst/>
          </a:prstGeom>
          <a:ln w="28575">
            <a:solidFill>
              <a:srgbClr val="FF9900"/>
            </a:solidFill>
          </a:ln>
        </p:spPr>
        <p:style>
          <a:lnRef idx="2">
            <a:schemeClr val="accent1"/>
          </a:lnRef>
          <a:fillRef idx="0">
            <a:schemeClr val="accent1"/>
          </a:fillRef>
          <a:effectRef idx="1">
            <a:schemeClr val="accent1"/>
          </a:effectRef>
          <a:fontRef idx="minor">
            <a:schemeClr val="tx1"/>
          </a:fontRef>
        </p:style>
      </p:cxnSp>
      <p:cxnSp>
        <p:nvCxnSpPr>
          <p:cNvPr id="93" name="Connector 88">
            <a:extLst>
              <a:ext uri="{FF2B5EF4-FFF2-40B4-BE49-F238E27FC236}">
                <a16:creationId xmlns:a16="http://schemas.microsoft.com/office/drawing/2014/main" id="{9E56131B-D3E3-BE6F-74A9-914DD4986652}"/>
              </a:ext>
            </a:extLst>
          </p:cNvPr>
          <p:cNvCxnSpPr/>
          <p:nvPr/>
        </p:nvCxnSpPr>
        <p:spPr>
          <a:xfrm>
            <a:off x="7498080" y="3617147"/>
            <a:ext cx="740664" cy="0"/>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4" name="Connector 89">
            <a:extLst>
              <a:ext uri="{FF2B5EF4-FFF2-40B4-BE49-F238E27FC236}">
                <a16:creationId xmlns:a16="http://schemas.microsoft.com/office/drawing/2014/main" id="{A48EDD06-F84C-B7DC-09B0-5EB4BB5FFBA2}"/>
              </a:ext>
            </a:extLst>
          </p:cNvPr>
          <p:cNvCxnSpPr>
            <a:cxnSpLocks/>
          </p:cNvCxnSpPr>
          <p:nvPr/>
        </p:nvCxnSpPr>
        <p:spPr>
          <a:xfrm>
            <a:off x="3813048" y="4805867"/>
            <a:ext cx="463600" cy="0"/>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5" name="Connector 90">
            <a:extLst>
              <a:ext uri="{FF2B5EF4-FFF2-40B4-BE49-F238E27FC236}">
                <a16:creationId xmlns:a16="http://schemas.microsoft.com/office/drawing/2014/main" id="{06566D52-374B-BD7E-FA13-7C546950E907}"/>
              </a:ext>
            </a:extLst>
          </p:cNvPr>
          <p:cNvCxnSpPr/>
          <p:nvPr/>
        </p:nvCxnSpPr>
        <p:spPr>
          <a:xfrm>
            <a:off x="7940649" y="4805867"/>
            <a:ext cx="128016" cy="0"/>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6" name="Connector 91">
            <a:extLst>
              <a:ext uri="{FF2B5EF4-FFF2-40B4-BE49-F238E27FC236}">
                <a16:creationId xmlns:a16="http://schemas.microsoft.com/office/drawing/2014/main" id="{E8F9B5CF-50E4-ED38-661D-12DFC643532C}"/>
              </a:ext>
            </a:extLst>
          </p:cNvPr>
          <p:cNvCxnSpPr/>
          <p:nvPr/>
        </p:nvCxnSpPr>
        <p:spPr>
          <a:xfrm flipV="1">
            <a:off x="7882127" y="2035235"/>
            <a:ext cx="0" cy="2459736"/>
          </a:xfrm>
          <a:prstGeom prst="line">
            <a:avLst/>
          </a:prstGeom>
          <a:ln w="28575">
            <a:solidFill>
              <a:srgbClr val="FF9900"/>
            </a:solidFill>
          </a:ln>
        </p:spPr>
        <p:style>
          <a:lnRef idx="2">
            <a:schemeClr val="accent1"/>
          </a:lnRef>
          <a:fillRef idx="0">
            <a:schemeClr val="accent1"/>
          </a:fillRef>
          <a:effectRef idx="1">
            <a:schemeClr val="accent1"/>
          </a:effectRef>
          <a:fontRef idx="minor">
            <a:schemeClr val="tx1"/>
          </a:fontRef>
        </p:style>
      </p:cxnSp>
      <p:cxnSp>
        <p:nvCxnSpPr>
          <p:cNvPr id="97" name="Connector 92">
            <a:extLst>
              <a:ext uri="{FF2B5EF4-FFF2-40B4-BE49-F238E27FC236}">
                <a16:creationId xmlns:a16="http://schemas.microsoft.com/office/drawing/2014/main" id="{1C5826F0-A93E-A510-7B94-C6C0AADFDE43}"/>
              </a:ext>
            </a:extLst>
          </p:cNvPr>
          <p:cNvCxnSpPr/>
          <p:nvPr/>
        </p:nvCxnSpPr>
        <p:spPr>
          <a:xfrm>
            <a:off x="7882127" y="2035235"/>
            <a:ext cx="356617" cy="0"/>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8" name="Connector 93">
            <a:extLst>
              <a:ext uri="{FF2B5EF4-FFF2-40B4-BE49-F238E27FC236}">
                <a16:creationId xmlns:a16="http://schemas.microsoft.com/office/drawing/2014/main" id="{54D6827B-1EBC-7F1A-E7A5-E57FFCBAA6A0}"/>
              </a:ext>
            </a:extLst>
          </p:cNvPr>
          <p:cNvCxnSpPr/>
          <p:nvPr/>
        </p:nvCxnSpPr>
        <p:spPr>
          <a:xfrm>
            <a:off x="6108649" y="5116763"/>
            <a:ext cx="0" cy="164592"/>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9" name="Connector 94">
            <a:extLst>
              <a:ext uri="{FF2B5EF4-FFF2-40B4-BE49-F238E27FC236}">
                <a16:creationId xmlns:a16="http://schemas.microsoft.com/office/drawing/2014/main" id="{C9C0F088-5C66-98D7-3369-73DF5ABB48C6}"/>
              </a:ext>
            </a:extLst>
          </p:cNvPr>
          <p:cNvCxnSpPr/>
          <p:nvPr/>
        </p:nvCxnSpPr>
        <p:spPr>
          <a:xfrm>
            <a:off x="7940649" y="5592251"/>
            <a:ext cx="128016" cy="0"/>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0" name="Connector 95">
            <a:extLst>
              <a:ext uri="{FF2B5EF4-FFF2-40B4-BE49-F238E27FC236}">
                <a16:creationId xmlns:a16="http://schemas.microsoft.com/office/drawing/2014/main" id="{5D30BBD8-9F5E-1E8E-26EB-498BF07C100F}"/>
              </a:ext>
            </a:extLst>
          </p:cNvPr>
          <p:cNvCxnSpPr/>
          <p:nvPr/>
        </p:nvCxnSpPr>
        <p:spPr>
          <a:xfrm flipV="1">
            <a:off x="9900666" y="3928043"/>
            <a:ext cx="0" cy="566928"/>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1" name="Connector 96">
            <a:extLst>
              <a:ext uri="{FF2B5EF4-FFF2-40B4-BE49-F238E27FC236}">
                <a16:creationId xmlns:a16="http://schemas.microsoft.com/office/drawing/2014/main" id="{10B4B3FE-2DCA-69DF-ADCB-8CBB809EE0B8}"/>
              </a:ext>
            </a:extLst>
          </p:cNvPr>
          <p:cNvCxnSpPr/>
          <p:nvPr/>
        </p:nvCxnSpPr>
        <p:spPr>
          <a:xfrm flipH="1">
            <a:off x="4148632" y="4970458"/>
            <a:ext cx="128016" cy="0"/>
          </a:xfrm>
          <a:prstGeom prst="line">
            <a:avLst/>
          </a:prstGeom>
          <a:ln w="19050">
            <a:solidFill>
              <a:srgbClr val="545B64"/>
            </a:solidFill>
          </a:ln>
        </p:spPr>
        <p:style>
          <a:lnRef idx="2">
            <a:schemeClr val="accent1"/>
          </a:lnRef>
          <a:fillRef idx="0">
            <a:schemeClr val="accent1"/>
          </a:fillRef>
          <a:effectRef idx="1">
            <a:schemeClr val="accent1"/>
          </a:effectRef>
          <a:fontRef idx="minor">
            <a:schemeClr val="tx1"/>
          </a:fontRef>
        </p:style>
      </p:cxnSp>
      <p:cxnSp>
        <p:nvCxnSpPr>
          <p:cNvPr id="102" name="Connector 97">
            <a:extLst>
              <a:ext uri="{FF2B5EF4-FFF2-40B4-BE49-F238E27FC236}">
                <a16:creationId xmlns:a16="http://schemas.microsoft.com/office/drawing/2014/main" id="{3E35032C-022D-262F-36EB-FFC5B6FE02F1}"/>
              </a:ext>
            </a:extLst>
          </p:cNvPr>
          <p:cNvCxnSpPr>
            <a:cxnSpLocks/>
          </p:cNvCxnSpPr>
          <p:nvPr/>
        </p:nvCxnSpPr>
        <p:spPr>
          <a:xfrm>
            <a:off x="4151569" y="4961314"/>
            <a:ext cx="0" cy="621793"/>
          </a:xfrm>
          <a:prstGeom prst="line">
            <a:avLst/>
          </a:prstGeom>
          <a:ln w="19050">
            <a:solidFill>
              <a:srgbClr val="545B64"/>
            </a:solidFill>
          </a:ln>
        </p:spPr>
        <p:style>
          <a:lnRef idx="2">
            <a:schemeClr val="accent1"/>
          </a:lnRef>
          <a:fillRef idx="0">
            <a:schemeClr val="accent1"/>
          </a:fillRef>
          <a:effectRef idx="1">
            <a:schemeClr val="accent1"/>
          </a:effectRef>
          <a:fontRef idx="minor">
            <a:schemeClr val="tx1"/>
          </a:fontRef>
        </p:style>
      </p:cxnSp>
      <p:cxnSp>
        <p:nvCxnSpPr>
          <p:cNvPr id="103" name="Connector 98">
            <a:extLst>
              <a:ext uri="{FF2B5EF4-FFF2-40B4-BE49-F238E27FC236}">
                <a16:creationId xmlns:a16="http://schemas.microsoft.com/office/drawing/2014/main" id="{D8925AD3-6CDF-8612-8117-F311166D35E9}"/>
              </a:ext>
            </a:extLst>
          </p:cNvPr>
          <p:cNvCxnSpPr/>
          <p:nvPr/>
        </p:nvCxnSpPr>
        <p:spPr>
          <a:xfrm>
            <a:off x="4148632" y="5592251"/>
            <a:ext cx="0" cy="0"/>
          </a:xfrm>
          <a:prstGeom prst="line">
            <a:avLst/>
          </a:prstGeom>
          <a:ln w="19050">
            <a:solidFill>
              <a:srgbClr val="545B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 name="Rounded Rectangle 1">
            <a:extLst>
              <a:ext uri="{FF2B5EF4-FFF2-40B4-BE49-F238E27FC236}">
                <a16:creationId xmlns:a16="http://schemas.microsoft.com/office/drawing/2014/main" id="{61BEA13F-270E-89EB-4D72-C62DAC1371E4}"/>
              </a:ext>
            </a:extLst>
          </p:cNvPr>
          <p:cNvSpPr/>
          <p:nvPr/>
        </p:nvSpPr>
        <p:spPr>
          <a:xfrm>
            <a:off x="8342375" y="2969067"/>
            <a:ext cx="180975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To </a:t>
            </a:r>
            <a:r>
              <a:rPr lang="en-US" dirty="0" err="1">
                <a:solidFill>
                  <a:srgbClr val="FF0000"/>
                </a:solidFill>
                <a:highlight>
                  <a:srgbClr val="FFFF00"/>
                </a:highlight>
              </a:rPr>
              <a:t>emphasie</a:t>
            </a:r>
            <a:r>
              <a:rPr lang="en-US" dirty="0">
                <a:solidFill>
                  <a:srgbClr val="FF0000"/>
                </a:solidFill>
                <a:highlight>
                  <a:srgbClr val="FFFF00"/>
                </a:highlight>
              </a:rPr>
              <a:t> to myself why the DynamoDB is shared (to distinguish demo reasons </a:t>
            </a:r>
            <a:r>
              <a:rPr lang="en-US" dirty="0" err="1">
                <a:solidFill>
                  <a:srgbClr val="FF0000"/>
                </a:solidFill>
                <a:highlight>
                  <a:srgbClr val="FFFF00"/>
                </a:highlight>
              </a:rPr>
              <a:t>tha</a:t>
            </a:r>
            <a:r>
              <a:rPr lang="en-US" dirty="0">
                <a:solidFill>
                  <a:srgbClr val="FF0000"/>
                </a:solidFill>
                <a:highlight>
                  <a:srgbClr val="FFFF00"/>
                </a:highlight>
              </a:rPr>
              <a:t> </a:t>
            </a:r>
            <a:r>
              <a:rPr lang="en-US" dirty="0" err="1">
                <a:solidFill>
                  <a:srgbClr val="FF0000"/>
                </a:solidFill>
                <a:highlight>
                  <a:srgbClr val="FFFF00"/>
                </a:highlight>
              </a:rPr>
              <a:t>tcmes</a:t>
            </a:r>
            <a:r>
              <a:rPr lang="en-US" dirty="0">
                <a:solidFill>
                  <a:srgbClr val="FF0000"/>
                </a:solidFill>
                <a:highlight>
                  <a:srgbClr val="FFFF00"/>
                </a:highlight>
              </a:rPr>
              <a:t> from the two architecture, to real reason why we may want both DynamoDB and AgentCore Memory (list to </a:t>
            </a:r>
            <a:r>
              <a:rPr lang="en-US" dirty="0" err="1">
                <a:solidFill>
                  <a:srgbClr val="FF0000"/>
                </a:solidFill>
                <a:highlight>
                  <a:srgbClr val="FFFF00"/>
                </a:highlight>
              </a:rPr>
              <a:t>myxelf</a:t>
            </a:r>
            <a:r>
              <a:rPr lang="en-US" dirty="0">
                <a:solidFill>
                  <a:srgbClr val="FF0000"/>
                </a:solidFill>
                <a:highlight>
                  <a:srgbClr val="FFFF00"/>
                </a:highlight>
              </a:rPr>
              <a:t> exactly what is </a:t>
            </a:r>
            <a:r>
              <a:rPr lang="en-US" dirty="0" err="1">
                <a:solidFill>
                  <a:srgbClr val="FF0000"/>
                </a:solidFill>
                <a:highlight>
                  <a:srgbClr val="FFFF00"/>
                </a:highlight>
              </a:rPr>
              <a:t>aved</a:t>
            </a:r>
            <a:r>
              <a:rPr lang="en-US" dirty="0">
                <a:solidFill>
                  <a:srgbClr val="FF0000"/>
                </a:solidFill>
                <a:highlight>
                  <a:srgbClr val="FFFF00"/>
                </a:highlight>
              </a:rPr>
              <a:t> where: conversation, preference, more </a:t>
            </a:r>
            <a:r>
              <a:rPr lang="en-US" dirty="0" err="1">
                <a:solidFill>
                  <a:srgbClr val="FF0000"/>
                </a:solidFill>
                <a:highlight>
                  <a:srgbClr val="FFFF00"/>
                </a:highlight>
              </a:rPr>
              <a:t>thigns</a:t>
            </a:r>
            <a:r>
              <a:rPr lang="en-US" dirty="0">
                <a:solidFill>
                  <a:srgbClr val="FF0000"/>
                </a:solidFill>
                <a:highlight>
                  <a:srgbClr val="FFFF00"/>
                </a:highlight>
              </a:rPr>
              <a:t>?, dates? Does Observability </a:t>
            </a:r>
            <a:r>
              <a:rPr lang="en-US" dirty="0" err="1">
                <a:solidFill>
                  <a:srgbClr val="FF0000"/>
                </a:solidFill>
                <a:highlight>
                  <a:srgbClr val="FFFF00"/>
                </a:highlight>
              </a:rPr>
              <a:t>seeesiosn</a:t>
            </a:r>
            <a:r>
              <a:rPr lang="en-US" dirty="0">
                <a:solidFill>
                  <a:srgbClr val="FF0000"/>
                </a:solidFill>
                <a:highlight>
                  <a:srgbClr val="FFFF00"/>
                </a:highlight>
              </a:rPr>
              <a:t> really </a:t>
            </a:r>
            <a:r>
              <a:rPr lang="en-US" dirty="0" err="1">
                <a:solidFill>
                  <a:srgbClr val="FF0000"/>
                </a:solidFill>
                <a:highlight>
                  <a:srgbClr val="FFFF00"/>
                </a:highlight>
              </a:rPr>
              <a:t>sved</a:t>
            </a:r>
            <a:r>
              <a:rPr lang="en-US" dirty="0">
                <a:solidFill>
                  <a:srgbClr val="FF0000"/>
                </a:solidFill>
                <a:highlight>
                  <a:srgbClr val="FFFF00"/>
                </a:highlight>
              </a:rPr>
              <a:t>? I think not?</a:t>
            </a:r>
            <a:endParaRPr dirty="0">
              <a:solidFill>
                <a:srgbClr val="FF0000"/>
              </a:solidFill>
              <a:highlight>
                <a:srgbClr val="FFFF00"/>
              </a:highlight>
            </a:endParaRPr>
          </a:p>
        </p:txBody>
      </p:sp>
    </p:spTree>
    <p:extLst>
      <p:ext uri="{BB962C8B-B14F-4D97-AF65-F5344CB8AC3E}">
        <p14:creationId xmlns:p14="http://schemas.microsoft.com/office/powerpoint/2010/main" val="6948190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600" b="1">
                <a:solidFill>
                  <a:srgbClr val="FF9900"/>
                </a:solidFill>
                <a:latin typeface="Calibri"/>
              </a:rPr>
              <a:t>3</a:t>
            </a:r>
          </a:p>
        </p:txBody>
      </p:sp>
      <p:sp>
        <p:nvSpPr>
          <p:cNvPr id="4" name="TextBox 3"/>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Demo</a:t>
            </a:r>
          </a:p>
        </p:txBody>
      </p:sp>
      <p:sp>
        <p:nvSpPr>
          <p:cNvPr id="5" name="Rectangle 4"/>
          <p:cNvSpPr/>
          <p:nvPr/>
        </p:nvSpPr>
        <p:spPr>
          <a:xfrm>
            <a:off x="502920" y="1051560"/>
            <a:ext cx="1371600" cy="3500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828800"/>
            <a:ext cx="11155680" cy="548640"/>
          </a:xfrm>
          <a:prstGeom prst="rect">
            <a:avLst/>
          </a:prstGeom>
          <a:noFill/>
        </p:spPr>
        <p:txBody>
          <a:bodyPr wrap="square" lIns="0" tIns="0" rIns="0" bIns="0" anchor="t">
            <a:spAutoFit/>
          </a:bodyPr>
          <a:lstStyle/>
          <a:p>
            <a:pPr algn="ctr"/>
            <a:r>
              <a:rPr sz="1800" b="0">
                <a:solidFill>
                  <a:srgbClr val="545B64"/>
                </a:solidFill>
                <a:latin typeface="Calibri"/>
              </a:rPr>
              <a:t>Live product · deployed on AWS · 6 real integrations</a:t>
            </a:r>
          </a:p>
        </p:txBody>
      </p:sp>
      <p:sp>
        <p:nvSpPr>
          <p:cNvPr id="7" name="Rounded Rectangle 6">
            <a:hlinkClick r:id="rId3"/>
          </p:cNvPr>
          <p:cNvSpPr/>
          <p:nvPr/>
        </p:nvSpPr>
        <p:spPr>
          <a:xfrm>
            <a:off x="2209647" y="2926080"/>
            <a:ext cx="7772400" cy="1828800"/>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209647" y="3246120"/>
            <a:ext cx="7772400" cy="365760"/>
          </a:xfrm>
          <a:prstGeom prst="rect">
            <a:avLst/>
          </a:prstGeom>
          <a:noFill/>
        </p:spPr>
        <p:txBody>
          <a:bodyPr wrap="square" lIns="0" tIns="0" rIns="0" bIns="0" anchor="t">
            <a:spAutoFit/>
          </a:bodyPr>
          <a:lstStyle/>
          <a:p>
            <a:pPr algn="ctr"/>
            <a:r>
              <a:rPr sz="1300" b="1">
                <a:solidFill>
                  <a:srgbClr val="232F3E"/>
                </a:solidFill>
                <a:latin typeface="Calibri"/>
              </a:rPr>
              <a:t>OPEN THE DEMO</a:t>
            </a:r>
          </a:p>
        </p:txBody>
      </p:sp>
      <p:sp>
        <p:nvSpPr>
          <p:cNvPr id="9" name="TextBox 8"/>
          <p:cNvSpPr txBox="1"/>
          <p:nvPr/>
        </p:nvSpPr>
        <p:spPr>
          <a:xfrm>
            <a:off x="2483967" y="3657600"/>
            <a:ext cx="7223760" cy="594360"/>
          </a:xfrm>
          <a:prstGeom prst="rect">
            <a:avLst/>
          </a:prstGeom>
          <a:noFill/>
        </p:spPr>
        <p:txBody>
          <a:bodyPr wrap="square" lIns="0" rIns="0" anchor="ctr">
            <a:spAutoFit/>
          </a:bodyPr>
          <a:lstStyle/>
          <a:p>
            <a:pPr algn="ctr"/>
            <a:r>
              <a:rPr sz="2600" b="1">
                <a:solidFill>
                  <a:srgbClr val="232F3E"/>
                </a:solidFill>
                <a:latin typeface="Calibri"/>
                <a:hlinkClick r:id="rId3"/>
              </a:rPr>
              <a:t>Valentin — Live Demo  ↗</a:t>
            </a:r>
          </a:p>
        </p:txBody>
      </p:sp>
      <p:sp>
        <p:nvSpPr>
          <p:cNvPr id="10" name="TextBox 9"/>
          <p:cNvSpPr txBox="1"/>
          <p:nvPr/>
        </p:nvSpPr>
        <p:spPr>
          <a:xfrm>
            <a:off x="2209647" y="4297680"/>
            <a:ext cx="7772400" cy="365760"/>
          </a:xfrm>
          <a:prstGeom prst="rect">
            <a:avLst/>
          </a:prstGeom>
          <a:noFill/>
        </p:spPr>
        <p:txBody>
          <a:bodyPr wrap="square" lIns="0" tIns="0" rIns="0" bIns="0" anchor="t">
            <a:spAutoFit/>
          </a:bodyPr>
          <a:lstStyle/>
          <a:p>
            <a:pPr algn="ctr"/>
            <a:r>
              <a:rPr sz="1200" b="0">
                <a:solidFill>
                  <a:srgbClr val="232F3E"/>
                </a:solidFill>
                <a:latin typeface="Calibri"/>
              </a:rPr>
              <a:t>The four beats: extract · remember · decide · act</a:t>
            </a:r>
          </a:p>
        </p:txBody>
      </p:sp>
      <p:sp>
        <p:nvSpPr>
          <p:cNvPr id="11" name="TextBox 10"/>
          <p:cNvSpPr txBox="1"/>
          <p:nvPr/>
        </p:nvSpPr>
        <p:spPr>
          <a:xfrm>
            <a:off x="502920" y="6446520"/>
            <a:ext cx="8229600" cy="320040"/>
          </a:xfrm>
          <a:prstGeom prst="rect">
            <a:avLst/>
          </a:prstGeom>
          <a:noFill/>
        </p:spPr>
        <p:txBody>
          <a:bodyPr wrap="square" lIns="0" tIns="0" rIns="0" bIns="0" anchor="t">
            <a:spAutoFit/>
          </a:bodyPr>
          <a:lstStyle/>
          <a:p>
            <a:pPr algn="l"/>
            <a:r>
              <a:rPr sz="1000" b="1">
                <a:solidFill>
                  <a:srgbClr val="545B64"/>
                </a:solidFill>
                <a:latin typeface="Calibri"/>
              </a:rPr>
              <a:t>VALENTIN   ·   GenAI TFC Capstone Deep-Dive</a:t>
            </a:r>
          </a:p>
        </p:txBody>
      </p:sp>
      <p:sp>
        <p:nvSpPr>
          <p:cNvPr id="12" name="TextBox 11"/>
          <p:cNvSpPr txBox="1"/>
          <p:nvPr/>
        </p:nvSpPr>
        <p:spPr>
          <a:xfrm>
            <a:off x="10332720" y="6446520"/>
            <a:ext cx="1371600" cy="320040"/>
          </a:xfrm>
          <a:prstGeom prst="rect">
            <a:avLst/>
          </a:prstGeom>
          <a:noFill/>
        </p:spPr>
        <p:txBody>
          <a:bodyPr wrap="square" lIns="0" tIns="0" rIns="0" bIns="0" anchor="t">
            <a:spAutoFit/>
          </a:bodyPr>
          <a:lstStyle/>
          <a:p>
            <a:pPr algn="r"/>
            <a:r>
              <a:rPr sz="1000" b="0">
                <a:solidFill>
                  <a:srgbClr val="545B64"/>
                </a:solidFill>
                <a:latin typeface="Calibri"/>
              </a:rPr>
              <a:t>4 / 18</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B41C5-56F3-08D7-5164-11DCA311F85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34AD547-A3A1-445F-C483-150D3D289BD5}"/>
              </a:ext>
            </a:extLst>
          </p:cNvPr>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a:extLst>
              <a:ext uri="{FF2B5EF4-FFF2-40B4-BE49-F238E27FC236}">
                <a16:creationId xmlns:a16="http://schemas.microsoft.com/office/drawing/2014/main" id="{83344538-721D-C585-4D9A-8CD2287FF73B}"/>
              </a:ext>
            </a:extLst>
          </p:cNvPr>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F9818B36-4EA8-2094-D58C-C026A897EFD2}"/>
              </a:ext>
            </a:extLst>
          </p:cNvPr>
          <p:cNvSpPr txBox="1"/>
          <p:nvPr/>
        </p:nvSpPr>
        <p:spPr>
          <a:xfrm>
            <a:off x="502920" y="365760"/>
            <a:ext cx="594360" cy="594360"/>
          </a:xfrm>
          <a:prstGeom prst="rect">
            <a:avLst/>
          </a:prstGeom>
          <a:noFill/>
        </p:spPr>
        <p:txBody>
          <a:bodyPr wrap="square" lIns="0" tIns="0" rIns="0" bIns="0" anchor="ctr">
            <a:spAutoFit/>
          </a:bodyPr>
          <a:lstStyle/>
          <a:p>
            <a:pPr algn="ctr"/>
            <a:r>
              <a:rPr sz="2600" b="1" i="0">
                <a:solidFill>
                  <a:srgbClr val="FF9900"/>
                </a:solidFill>
                <a:latin typeface="Calibri"/>
              </a:rPr>
              <a:t>6</a:t>
            </a:r>
          </a:p>
        </p:txBody>
      </p:sp>
      <p:sp>
        <p:nvSpPr>
          <p:cNvPr id="5" name="TextBox 4">
            <a:extLst>
              <a:ext uri="{FF2B5EF4-FFF2-40B4-BE49-F238E27FC236}">
                <a16:creationId xmlns:a16="http://schemas.microsoft.com/office/drawing/2014/main" id="{2FCEF234-DD22-2A97-0B3B-39628ACE33E7}"/>
              </a:ext>
            </a:extLst>
          </p:cNvPr>
          <p:cNvSpPr txBox="1"/>
          <p:nvPr/>
        </p:nvSpPr>
        <p:spPr>
          <a:xfrm>
            <a:off x="1280160" y="432107"/>
            <a:ext cx="10058400" cy="461665"/>
          </a:xfrm>
          <a:prstGeom prst="rect">
            <a:avLst/>
          </a:prstGeom>
          <a:noFill/>
        </p:spPr>
        <p:txBody>
          <a:bodyPr wrap="square" lIns="0" tIns="0" rIns="0" bIns="0" anchor="ctr">
            <a:spAutoFit/>
          </a:bodyPr>
          <a:lstStyle/>
          <a:p>
            <a:pPr algn="l"/>
            <a:r>
              <a:rPr lang="en-US" sz="3000" b="1" i="0" dirty="0">
                <a:solidFill>
                  <a:srgbClr val="232F3E"/>
                </a:solidFill>
                <a:latin typeface="Calibri"/>
              </a:rPr>
              <a:t>What we assumed — and why</a:t>
            </a:r>
            <a:endParaRPr sz="3000" b="1" i="0" dirty="0">
              <a:solidFill>
                <a:srgbClr val="232F3E"/>
              </a:solidFill>
              <a:highlight>
                <a:srgbClr val="FFFF00"/>
              </a:highlight>
              <a:latin typeface="Calibri"/>
            </a:endParaRPr>
          </a:p>
        </p:txBody>
      </p:sp>
      <p:sp>
        <p:nvSpPr>
          <p:cNvPr id="6" name="Rectangle 5">
            <a:extLst>
              <a:ext uri="{FF2B5EF4-FFF2-40B4-BE49-F238E27FC236}">
                <a16:creationId xmlns:a16="http://schemas.microsoft.com/office/drawing/2014/main" id="{F28B510D-DE17-48CD-232D-07B926FBD7A2}"/>
              </a:ext>
            </a:extLst>
          </p:cNvPr>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AD866167-30CB-503E-9569-C3D9EBA3B9CB}"/>
              </a:ext>
            </a:extLst>
          </p:cNvPr>
          <p:cNvSpPr txBox="1"/>
          <p:nvPr/>
        </p:nvSpPr>
        <p:spPr>
          <a:xfrm>
            <a:off x="502920" y="1280160"/>
            <a:ext cx="11155680" cy="475488"/>
          </a:xfrm>
          <a:prstGeom prst="rect">
            <a:avLst/>
          </a:prstGeom>
          <a:noFill/>
        </p:spPr>
        <p:txBody>
          <a:bodyPr wrap="square" lIns="0" tIns="0" rIns="0" bIns="0" anchor="t">
            <a:spAutoFit/>
          </a:bodyPr>
          <a:lstStyle/>
          <a:p>
            <a:pPr algn="l"/>
            <a:r>
              <a:rPr sz="1400" b="0" i="0">
                <a:solidFill>
                  <a:srgbClr val="545B64"/>
                </a:solidFill>
                <a:latin typeface="Calibri"/>
              </a:rPr>
              <a:t>Same model, same hours up, same user on both sides. Four numbers do all the work — here they are, and here is where each one comes from.</a:t>
            </a:r>
          </a:p>
        </p:txBody>
      </p:sp>
      <p:sp>
        <p:nvSpPr>
          <p:cNvPr id="8" name="TextBox 7">
            <a:extLst>
              <a:ext uri="{FF2B5EF4-FFF2-40B4-BE49-F238E27FC236}">
                <a16:creationId xmlns:a16="http://schemas.microsoft.com/office/drawing/2014/main" id="{6A93E0AC-09E2-4970-AC01-1511AA7D0230}"/>
              </a:ext>
            </a:extLst>
          </p:cNvPr>
          <p:cNvSpPr txBox="1"/>
          <p:nvPr/>
        </p:nvSpPr>
        <p:spPr>
          <a:xfrm>
            <a:off x="502920" y="6446520"/>
            <a:ext cx="8229600" cy="320040"/>
          </a:xfrm>
          <a:prstGeom prst="rect">
            <a:avLst/>
          </a:prstGeom>
          <a:noFill/>
        </p:spPr>
        <p:txBody>
          <a:bodyPr wrap="square" lIns="0" tIns="0" rIns="0" bIns="0" anchor="t">
            <a:spAutoFit/>
          </a:bodyPr>
          <a:lstStyle/>
          <a:p>
            <a:pPr algn="l"/>
            <a:r>
              <a:rPr sz="1000" b="1" i="0">
                <a:solidFill>
                  <a:srgbClr val="545B64"/>
                </a:solidFill>
                <a:latin typeface="Calibri"/>
              </a:rPr>
              <a:t>VALENTIN   ·   GenAI TFC Capstone Deep-Dive</a:t>
            </a:r>
          </a:p>
        </p:txBody>
      </p:sp>
      <p:sp>
        <p:nvSpPr>
          <p:cNvPr id="9" name="TextBox 8">
            <a:extLst>
              <a:ext uri="{FF2B5EF4-FFF2-40B4-BE49-F238E27FC236}">
                <a16:creationId xmlns:a16="http://schemas.microsoft.com/office/drawing/2014/main" id="{5BD50576-F8B1-1A95-8E53-A2BA1E890A0B}"/>
              </a:ext>
            </a:extLst>
          </p:cNvPr>
          <p:cNvSpPr txBox="1"/>
          <p:nvPr/>
        </p:nvSpPr>
        <p:spPr>
          <a:xfrm>
            <a:off x="10332720" y="6446520"/>
            <a:ext cx="1371600" cy="320040"/>
          </a:xfrm>
          <a:prstGeom prst="rect">
            <a:avLst/>
          </a:prstGeom>
          <a:noFill/>
        </p:spPr>
        <p:txBody>
          <a:bodyPr wrap="square" lIns="0" tIns="0" rIns="0" bIns="0" anchor="t">
            <a:spAutoFit/>
          </a:bodyPr>
          <a:lstStyle/>
          <a:p>
            <a:pPr algn="r"/>
            <a:r>
              <a:rPr sz="1000" b="0" i="0">
                <a:solidFill>
                  <a:srgbClr val="545B64"/>
                </a:solidFill>
                <a:latin typeface="Calibri"/>
              </a:rPr>
              <a:t>7 / 18</a:t>
            </a:r>
          </a:p>
        </p:txBody>
      </p:sp>
      <p:sp>
        <p:nvSpPr>
          <p:cNvPr id="86" name="Rectangle 85"/>
          <p:cNvSpPr/>
          <p:nvPr/>
        </p:nvSpPr>
        <p:spPr>
          <a:xfrm>
            <a:off x="566928" y="1755648"/>
            <a:ext cx="2628900" cy="1170432"/>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566928" y="1755648"/>
            <a:ext cx="2628900" cy="45720"/>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713232" y="1865376"/>
            <a:ext cx="2336292" cy="182880"/>
          </a:xfrm>
          <a:prstGeom prst="rect">
            <a:avLst/>
          </a:prstGeom>
          <a:noFill/>
        </p:spPr>
        <p:txBody>
          <a:bodyPr wrap="square" lIns="0" rIns="0" tIns="0" bIns="0" anchor="t">
            <a:spAutoFit/>
          </a:bodyPr>
          <a:lstStyle/>
          <a:p>
            <a:pPr algn="l">
              <a:spcAft>
                <a:spcPts val="200"/>
              </a:spcAft>
            </a:pPr>
            <a:r>
              <a:rPr sz="900" b="1">
                <a:solidFill>
                  <a:srgbClr val="545B64"/>
                </a:solidFill>
                <a:latin typeface="Calibri"/>
              </a:rPr>
              <a:t>THE MODEL  ·  BOTH ENGINES</a:t>
            </a:r>
          </a:p>
        </p:txBody>
      </p:sp>
      <p:sp>
        <p:nvSpPr>
          <p:cNvPr id="89" name="TextBox 88"/>
          <p:cNvSpPr txBox="1"/>
          <p:nvPr/>
        </p:nvSpPr>
        <p:spPr>
          <a:xfrm>
            <a:off x="713232" y="2048256"/>
            <a:ext cx="2336292" cy="438912"/>
          </a:xfrm>
          <a:prstGeom prst="rect">
            <a:avLst/>
          </a:prstGeom>
          <a:noFill/>
        </p:spPr>
        <p:txBody>
          <a:bodyPr wrap="square" lIns="0" rIns="0" tIns="0" bIns="0" anchor="t">
            <a:spAutoFit/>
          </a:bodyPr>
          <a:lstStyle/>
          <a:p>
            <a:pPr algn="l">
              <a:spcAft>
                <a:spcPts val="200"/>
              </a:spcAft>
            </a:pPr>
            <a:r>
              <a:rPr sz="2800" b="1">
                <a:solidFill>
                  <a:srgbClr val="232F3E"/>
                </a:solidFill>
                <a:latin typeface="Calibri"/>
              </a:rPr>
              <a:t>Sonnet 4.5</a:t>
            </a:r>
          </a:p>
        </p:txBody>
      </p:sp>
      <p:sp>
        <p:nvSpPr>
          <p:cNvPr id="90" name="TextBox 89"/>
          <p:cNvSpPr txBox="1"/>
          <p:nvPr/>
        </p:nvSpPr>
        <p:spPr>
          <a:xfrm>
            <a:off x="713232" y="2505456"/>
            <a:ext cx="2336292" cy="384048"/>
          </a:xfrm>
          <a:prstGeom prst="rect">
            <a:avLst/>
          </a:prstGeom>
          <a:noFill/>
        </p:spPr>
        <p:txBody>
          <a:bodyPr wrap="square" lIns="0" rIns="0" tIns="0" bIns="0" anchor="t">
            <a:spAutoFit/>
          </a:bodyPr>
          <a:lstStyle/>
          <a:p>
            <a:pPr algn="l">
              <a:spcAft>
                <a:spcPts val="200"/>
              </a:spcAft>
            </a:pPr>
            <a:r>
              <a:rPr sz="950" b="0">
                <a:solidFill>
                  <a:srgbClr val="16191F"/>
                </a:solidFill>
                <a:latin typeface="Calibri"/>
              </a:rPr>
              <a:t>Claude Sonnet 4.5, same model and same prompt on both sides. $3 per million tokens in, $15 out.</a:t>
            </a:r>
          </a:p>
        </p:txBody>
      </p:sp>
      <p:sp>
        <p:nvSpPr>
          <p:cNvPr id="91" name="Rectangle 90"/>
          <p:cNvSpPr/>
          <p:nvPr/>
        </p:nvSpPr>
        <p:spPr>
          <a:xfrm>
            <a:off x="3378708" y="1755648"/>
            <a:ext cx="2628900" cy="1170432"/>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3378708" y="1755648"/>
            <a:ext cx="2628900" cy="45720"/>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3525012" y="1865376"/>
            <a:ext cx="2336292" cy="182880"/>
          </a:xfrm>
          <a:prstGeom prst="rect">
            <a:avLst/>
          </a:prstGeom>
          <a:noFill/>
        </p:spPr>
        <p:txBody>
          <a:bodyPr wrap="square" lIns="0" rIns="0" tIns="0" bIns="0" anchor="t">
            <a:spAutoFit/>
          </a:bodyPr>
          <a:lstStyle/>
          <a:p>
            <a:pPr algn="l">
              <a:spcAft>
                <a:spcPts val="200"/>
              </a:spcAft>
            </a:pPr>
            <a:r>
              <a:rPr sz="900" b="1">
                <a:solidFill>
                  <a:srgbClr val="545B64"/>
                </a:solidFill>
                <a:latin typeface="Calibri"/>
              </a:rPr>
              <a:t>HOURS THE SERVER IS UP</a:t>
            </a:r>
          </a:p>
        </p:txBody>
      </p:sp>
      <p:sp>
        <p:nvSpPr>
          <p:cNvPr id="94" name="TextBox 93"/>
          <p:cNvSpPr txBox="1"/>
          <p:nvPr/>
        </p:nvSpPr>
        <p:spPr>
          <a:xfrm>
            <a:off x="3525012" y="2048256"/>
            <a:ext cx="2336292" cy="438912"/>
          </a:xfrm>
          <a:prstGeom prst="rect">
            <a:avLst/>
          </a:prstGeom>
          <a:noFill/>
        </p:spPr>
        <p:txBody>
          <a:bodyPr wrap="square" lIns="0" rIns="0" tIns="0" bIns="0" anchor="t">
            <a:spAutoFit/>
          </a:bodyPr>
          <a:lstStyle/>
          <a:p>
            <a:pPr algn="l">
              <a:spcAft>
                <a:spcPts val="200"/>
              </a:spcAft>
            </a:pPr>
            <a:r>
              <a:rPr sz="2800" b="1">
                <a:solidFill>
                  <a:srgbClr val="232F3E"/>
                </a:solidFill>
                <a:latin typeface="Calibri"/>
              </a:rPr>
              <a:t>730 h</a:t>
            </a:r>
          </a:p>
        </p:txBody>
      </p:sp>
      <p:sp>
        <p:nvSpPr>
          <p:cNvPr id="95" name="TextBox 94"/>
          <p:cNvSpPr txBox="1"/>
          <p:nvPr/>
        </p:nvSpPr>
        <p:spPr>
          <a:xfrm>
            <a:off x="3525012" y="2505456"/>
            <a:ext cx="2336292" cy="384048"/>
          </a:xfrm>
          <a:prstGeom prst="rect">
            <a:avLst/>
          </a:prstGeom>
          <a:noFill/>
        </p:spPr>
        <p:txBody>
          <a:bodyPr wrap="square" lIns="0" rIns="0" tIns="0" bIns="0" anchor="t">
            <a:spAutoFit/>
          </a:bodyPr>
          <a:lstStyle/>
          <a:p>
            <a:pPr algn="l">
              <a:spcAft>
                <a:spcPts val="200"/>
              </a:spcAft>
            </a:pPr>
            <a:r>
              <a:rPr sz="950" b="0">
                <a:solidFill>
                  <a:srgbClr val="16191F"/>
                </a:solidFill>
                <a:latin typeface="Calibri"/>
              </a:rPr>
              <a:t>24 hours × 365 days ÷ 12 months. Engine A's container never scales to zero — that is the whole $18.</a:t>
            </a:r>
          </a:p>
        </p:txBody>
      </p:sp>
      <p:sp>
        <p:nvSpPr>
          <p:cNvPr id="96" name="Rectangle 95"/>
          <p:cNvSpPr/>
          <p:nvPr/>
        </p:nvSpPr>
        <p:spPr>
          <a:xfrm>
            <a:off x="6190488" y="1755648"/>
            <a:ext cx="2628900" cy="1170432"/>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6190488" y="1755648"/>
            <a:ext cx="2628900" cy="45720"/>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6336792" y="1865376"/>
            <a:ext cx="2336292" cy="182880"/>
          </a:xfrm>
          <a:prstGeom prst="rect">
            <a:avLst/>
          </a:prstGeom>
          <a:noFill/>
        </p:spPr>
        <p:txBody>
          <a:bodyPr wrap="square" lIns="0" rIns="0" tIns="0" bIns="0" anchor="t">
            <a:spAutoFit/>
          </a:bodyPr>
          <a:lstStyle/>
          <a:p>
            <a:pPr algn="l">
              <a:spcAft>
                <a:spcPts val="200"/>
              </a:spcAft>
            </a:pPr>
            <a:r>
              <a:rPr sz="900" b="1">
                <a:solidFill>
                  <a:srgbClr val="545B64"/>
                </a:solidFill>
                <a:latin typeface="Calibri"/>
              </a:rPr>
              <a:t>TURNS ONE USER SENDS A MONTH</a:t>
            </a:r>
          </a:p>
        </p:txBody>
      </p:sp>
      <p:sp>
        <p:nvSpPr>
          <p:cNvPr id="99" name="TextBox 98"/>
          <p:cNvSpPr txBox="1"/>
          <p:nvPr/>
        </p:nvSpPr>
        <p:spPr>
          <a:xfrm>
            <a:off x="6336792" y="2048256"/>
            <a:ext cx="2336292" cy="438912"/>
          </a:xfrm>
          <a:prstGeom prst="rect">
            <a:avLst/>
          </a:prstGeom>
          <a:noFill/>
        </p:spPr>
        <p:txBody>
          <a:bodyPr wrap="square" lIns="0" rIns="0" tIns="0" bIns="0" anchor="t">
            <a:spAutoFit/>
          </a:bodyPr>
          <a:lstStyle/>
          <a:p>
            <a:pPr algn="l">
              <a:spcAft>
                <a:spcPts val="200"/>
              </a:spcAft>
            </a:pPr>
            <a:r>
              <a:rPr sz="2800" b="1">
                <a:solidFill>
                  <a:srgbClr val="232F3E"/>
                </a:solidFill>
                <a:latin typeface="Calibri"/>
              </a:rPr>
              <a:t>120</a:t>
            </a:r>
          </a:p>
        </p:txBody>
      </p:sp>
      <p:sp>
        <p:nvSpPr>
          <p:cNvPr id="100" name="TextBox 99"/>
          <p:cNvSpPr txBox="1"/>
          <p:nvPr/>
        </p:nvSpPr>
        <p:spPr>
          <a:xfrm>
            <a:off x="6336792" y="2505456"/>
            <a:ext cx="2336292" cy="384048"/>
          </a:xfrm>
          <a:prstGeom prst="rect">
            <a:avLst/>
          </a:prstGeom>
          <a:noFill/>
        </p:spPr>
        <p:txBody>
          <a:bodyPr wrap="square" lIns="0" rIns="0" tIns="0" bIns="0" anchor="t">
            <a:spAutoFit/>
          </a:bodyPr>
          <a:lstStyle/>
          <a:p>
            <a:pPr algn="l">
              <a:spcAft>
                <a:spcPts val="200"/>
              </a:spcAft>
            </a:pPr>
            <a:r>
              <a:rPr sz="950" b="0">
                <a:solidFill>
                  <a:srgbClr val="16191F"/>
                </a:solidFill>
                <a:latin typeface="Calibri"/>
              </a:rPr>
              <a:t>Three round steps, spelled out on the line below. Nothing here is a magic number.</a:t>
            </a:r>
          </a:p>
        </p:txBody>
      </p:sp>
      <p:sp>
        <p:nvSpPr>
          <p:cNvPr id="101" name="Rectangle 100"/>
          <p:cNvSpPr/>
          <p:nvPr/>
        </p:nvSpPr>
        <p:spPr>
          <a:xfrm>
            <a:off x="9002268" y="1755648"/>
            <a:ext cx="2628900" cy="1170432"/>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9002268" y="1755648"/>
            <a:ext cx="2628900" cy="45720"/>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9148572" y="1865376"/>
            <a:ext cx="2336292" cy="182880"/>
          </a:xfrm>
          <a:prstGeom prst="rect">
            <a:avLst/>
          </a:prstGeom>
          <a:noFill/>
        </p:spPr>
        <p:txBody>
          <a:bodyPr wrap="square" lIns="0" rIns="0" tIns="0" bIns="0" anchor="t">
            <a:spAutoFit/>
          </a:bodyPr>
          <a:lstStyle/>
          <a:p>
            <a:pPr algn="l">
              <a:spcAft>
                <a:spcPts val="200"/>
              </a:spcAft>
            </a:pPr>
            <a:r>
              <a:rPr sz="900" b="1">
                <a:solidFill>
                  <a:srgbClr val="545B64"/>
                </a:solidFill>
                <a:latin typeface="Calibri"/>
              </a:rPr>
              <a:t>THINKING TIME PER TURN</a:t>
            </a:r>
          </a:p>
        </p:txBody>
      </p:sp>
      <p:sp>
        <p:nvSpPr>
          <p:cNvPr id="104" name="TextBox 103"/>
          <p:cNvSpPr txBox="1"/>
          <p:nvPr/>
        </p:nvSpPr>
        <p:spPr>
          <a:xfrm>
            <a:off x="9148572" y="2048256"/>
            <a:ext cx="2336292" cy="438912"/>
          </a:xfrm>
          <a:prstGeom prst="rect">
            <a:avLst/>
          </a:prstGeom>
          <a:noFill/>
        </p:spPr>
        <p:txBody>
          <a:bodyPr wrap="square" lIns="0" rIns="0" tIns="0" bIns="0" anchor="t">
            <a:spAutoFit/>
          </a:bodyPr>
          <a:lstStyle/>
          <a:p>
            <a:pPr algn="l">
              <a:spcAft>
                <a:spcPts val="200"/>
              </a:spcAft>
            </a:pPr>
            <a:r>
              <a:rPr sz="2800" b="1">
                <a:solidFill>
                  <a:srgbClr val="232F3E"/>
                </a:solidFill>
                <a:latin typeface="Calibri"/>
              </a:rPr>
              <a:t>3 s</a:t>
            </a:r>
          </a:p>
        </p:txBody>
      </p:sp>
      <p:sp>
        <p:nvSpPr>
          <p:cNvPr id="105" name="TextBox 104"/>
          <p:cNvSpPr txBox="1"/>
          <p:nvPr/>
        </p:nvSpPr>
        <p:spPr>
          <a:xfrm>
            <a:off x="9148572" y="2505456"/>
            <a:ext cx="2336292" cy="384048"/>
          </a:xfrm>
          <a:prstGeom prst="rect">
            <a:avLst/>
          </a:prstGeom>
          <a:noFill/>
        </p:spPr>
        <p:txBody>
          <a:bodyPr wrap="square" lIns="0" rIns="0" tIns="0" bIns="0" anchor="t">
            <a:spAutoFit/>
          </a:bodyPr>
          <a:lstStyle/>
          <a:p>
            <a:pPr algn="l">
              <a:spcAft>
                <a:spcPts val="200"/>
              </a:spcAft>
            </a:pPr>
            <a:r>
              <a:rPr sz="950" b="0">
                <a:solidFill>
                  <a:srgbClr val="16191F"/>
                </a:solidFill>
                <a:latin typeface="Calibri"/>
              </a:rPr>
              <a:t>A guess — nothing in this repo measures it. It moves AgentCore Runtime and nothing else.</a:t>
            </a:r>
          </a:p>
        </p:txBody>
      </p:sp>
      <p:sp>
        <p:nvSpPr>
          <p:cNvPr id="106" name="Rounded Rectangle 105"/>
          <p:cNvSpPr/>
          <p:nvPr/>
        </p:nvSpPr>
        <p:spPr>
          <a:xfrm>
            <a:off x="566928" y="3017520"/>
            <a:ext cx="11064240" cy="621792"/>
          </a:xfrm>
          <a:prstGeom prst="roundRect">
            <a:avLst>
              <a:gd name="adj" fmla="val 16000"/>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749808" y="3072384"/>
            <a:ext cx="10698480" cy="530352"/>
          </a:xfrm>
          <a:prstGeom prst="rect">
            <a:avLst/>
          </a:prstGeom>
          <a:noFill/>
        </p:spPr>
        <p:txBody>
          <a:bodyPr wrap="square" lIns="0" rIns="0" tIns="0" bIns="0" anchor="t">
            <a:spAutoFit/>
          </a:bodyPr>
          <a:lstStyle/>
          <a:p>
            <a:pPr algn="ctr">
              <a:spcAft>
                <a:spcPts val="100"/>
              </a:spcAft>
            </a:pPr>
            <a:r>
              <a:rPr sz="950" b="1">
                <a:solidFill>
                  <a:srgbClr val="232F3E"/>
                </a:solidFill>
                <a:latin typeface="Calibri"/>
              </a:rPr>
              <a:t>ASSUMPTION OF USE</a:t>
            </a:r>
          </a:p>
          <a:p>
            <a:pPr algn="ctr">
              <a:spcAft>
                <a:spcPts val="200"/>
              </a:spcAft>
            </a:pPr>
            <a:r>
              <a:rPr sz="1600" b="1">
                <a:solidFill>
                  <a:srgbClr val="232F3E"/>
                </a:solidFill>
                <a:latin typeface="Calibri"/>
              </a:rPr>
              <a:t>A conversation is 10 turns   ×   3 conversations a week   ×   4 weeks   =   120 turns per user per month</a:t>
            </a:r>
          </a:p>
        </p:txBody>
      </p:sp>
      <p:sp>
        <p:nvSpPr>
          <p:cNvPr id="108" name="Rectangle 107"/>
          <p:cNvSpPr/>
          <p:nvPr/>
        </p:nvSpPr>
        <p:spPr>
          <a:xfrm>
            <a:off x="566928" y="3749039"/>
            <a:ext cx="3578047" cy="1627632"/>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566928" y="3749039"/>
            <a:ext cx="45720" cy="1627632"/>
          </a:xfrm>
          <a:prstGeom prst="rect">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731520" y="3849624"/>
            <a:ext cx="3267151" cy="201168"/>
          </a:xfrm>
          <a:prstGeom prst="rect">
            <a:avLst/>
          </a:prstGeom>
          <a:noFill/>
        </p:spPr>
        <p:txBody>
          <a:bodyPr wrap="square" lIns="0" rIns="0" tIns="0" bIns="0" anchor="t">
            <a:spAutoFit/>
          </a:bodyPr>
          <a:lstStyle/>
          <a:p>
            <a:pPr algn="l">
              <a:spcAft>
                <a:spcPts val="200"/>
              </a:spcAft>
            </a:pPr>
            <a:r>
              <a:rPr sz="1050" b="1">
                <a:solidFill>
                  <a:srgbClr val="1E7C3C"/>
                </a:solidFill>
                <a:latin typeface="Calibri"/>
              </a:rPr>
              <a:t>RAW PRICES  ·  what AWS charges</a:t>
            </a:r>
          </a:p>
        </p:txBody>
      </p:sp>
      <p:sp>
        <p:nvSpPr>
          <p:cNvPr id="111" name="TextBox 110"/>
          <p:cNvSpPr txBox="1"/>
          <p:nvPr/>
        </p:nvSpPr>
        <p:spPr>
          <a:xfrm>
            <a:off x="731520" y="4133087"/>
            <a:ext cx="3267151" cy="1152144"/>
          </a:xfrm>
          <a:prstGeom prst="rect">
            <a:avLst/>
          </a:prstGeom>
          <a:noFill/>
        </p:spPr>
        <p:txBody>
          <a:bodyPr wrap="square" lIns="0" rIns="0" tIns="0" bIns="0" anchor="t">
            <a:spAutoFit/>
          </a:bodyPr>
          <a:lstStyle/>
          <a:p>
            <a:pPr algn="l">
              <a:spcAft>
                <a:spcPts val="350"/>
              </a:spcAft>
            </a:pPr>
            <a:r>
              <a:rPr sz="950" b="0">
                <a:solidFill>
                  <a:srgbClr val="16191F"/>
                </a:solidFill>
                <a:latin typeface="Calibri"/>
              </a:rPr>
              <a:t>Fargate — $0.04048 / vCPU-hour  ·  $0.004446 / GB-hour</a:t>
            </a:r>
          </a:p>
          <a:p>
            <a:pPr algn="l">
              <a:spcAft>
                <a:spcPts val="350"/>
              </a:spcAft>
            </a:pPr>
            <a:r>
              <a:rPr sz="950" b="0">
                <a:solidFill>
                  <a:srgbClr val="16191F"/>
                </a:solidFill>
                <a:latin typeface="Calibri"/>
              </a:rPr>
              <a:t>AgentCore Runtime — $0.0895 / vCPU-hour  ·  $0.00945 / GB-hour</a:t>
            </a:r>
          </a:p>
          <a:p>
            <a:pPr algn="l">
              <a:spcAft>
                <a:spcPts val="350"/>
              </a:spcAft>
            </a:pPr>
            <a:r>
              <a:rPr sz="950" b="0">
                <a:solidFill>
                  <a:srgbClr val="16191F"/>
                </a:solidFill>
                <a:latin typeface="Calibri"/>
              </a:rPr>
              <a:t>AgentCore Memory — $0.25 / 1k events  ·  $0.50 / 1k retrievals  ·  $0.75 / 1k records / mo</a:t>
            </a:r>
          </a:p>
          <a:p>
            <a:pPr algn="l">
              <a:spcAft>
                <a:spcPts val="350"/>
              </a:spcAft>
            </a:pPr>
            <a:r>
              <a:rPr sz="950" b="0">
                <a:solidFill>
                  <a:srgbClr val="16191F"/>
                </a:solidFill>
                <a:latin typeface="Calibri"/>
              </a:rPr>
              <a:t>AgentCore Gateway — $0.005 / 1k calls  ·  $0.02 / 100 tools / mo</a:t>
            </a:r>
          </a:p>
          <a:p>
            <a:pPr algn="l">
              <a:spcAft>
                <a:spcPts val="350"/>
              </a:spcAft>
            </a:pPr>
            <a:r>
              <a:rPr sz="950" b="0">
                <a:solidFill>
                  <a:srgbClr val="16191F"/>
                </a:solidFill>
                <a:latin typeface="Calibri"/>
              </a:rPr>
              <a:t>DynamoDB — $0.625 / M writes  ·  $0.125 / M reads</a:t>
            </a:r>
          </a:p>
        </p:txBody>
      </p:sp>
      <p:sp>
        <p:nvSpPr>
          <p:cNvPr id="112" name="Rectangle 111"/>
          <p:cNvSpPr/>
          <p:nvPr/>
        </p:nvSpPr>
        <p:spPr>
          <a:xfrm>
            <a:off x="4309567" y="3749039"/>
            <a:ext cx="3578047" cy="1627632"/>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4309567" y="3749039"/>
            <a:ext cx="45720" cy="1627632"/>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4474159" y="3849624"/>
            <a:ext cx="3267151" cy="201168"/>
          </a:xfrm>
          <a:prstGeom prst="rect">
            <a:avLst/>
          </a:prstGeom>
          <a:noFill/>
        </p:spPr>
        <p:txBody>
          <a:bodyPr wrap="square" lIns="0" rIns="0" tIns="0" bIns="0" anchor="t">
            <a:spAutoFit/>
          </a:bodyPr>
          <a:lstStyle/>
          <a:p>
            <a:pPr algn="l">
              <a:spcAft>
                <a:spcPts val="200"/>
              </a:spcAft>
            </a:pPr>
            <a:r>
              <a:rPr sz="1050" b="1">
                <a:solidFill>
                  <a:srgbClr val="232F3E"/>
                </a:solidFill>
                <a:latin typeface="Calibri"/>
              </a:rPr>
              <a:t>COUNTED FROM OUR CODE  ·  facts, not guesses</a:t>
            </a:r>
          </a:p>
        </p:txBody>
      </p:sp>
      <p:sp>
        <p:nvSpPr>
          <p:cNvPr id="115" name="TextBox 114"/>
          <p:cNvSpPr txBox="1"/>
          <p:nvPr/>
        </p:nvSpPr>
        <p:spPr>
          <a:xfrm>
            <a:off x="4474159" y="4133087"/>
            <a:ext cx="3267151" cy="1152144"/>
          </a:xfrm>
          <a:prstGeom prst="rect">
            <a:avLst/>
          </a:prstGeom>
          <a:noFill/>
        </p:spPr>
        <p:txBody>
          <a:bodyPr wrap="square" lIns="0" rIns="0" tIns="0" bIns="0" anchor="t">
            <a:spAutoFit/>
          </a:bodyPr>
          <a:lstStyle/>
          <a:p>
            <a:pPr algn="l">
              <a:spcAft>
                <a:spcPts val="350"/>
              </a:spcAft>
            </a:pPr>
            <a:r>
              <a:rPr sz="1000" b="0">
                <a:solidFill>
                  <a:srgbClr val="16191F"/>
                </a:solidFill>
                <a:latin typeface="Calibri"/>
              </a:rPr>
              <a:t>0.5 vCPU  ·  1 GiB — the container size we deploy</a:t>
            </a:r>
          </a:p>
          <a:p>
            <a:pPr algn="l">
              <a:spcAft>
                <a:spcPts val="350"/>
              </a:spcAft>
            </a:pPr>
            <a:r>
              <a:rPr sz="1000" b="0">
                <a:solidFill>
                  <a:srgbClr val="16191F"/>
                </a:solidFill>
                <a:latin typeface="Calibri"/>
              </a:rPr>
              <a:t>7 reads  ·  9 writes on every turn</a:t>
            </a:r>
          </a:p>
          <a:p>
            <a:pPr algn="l">
              <a:spcAft>
                <a:spcPts val="350"/>
              </a:spcAft>
            </a:pPr>
            <a:r>
              <a:rPr sz="1000" b="0">
                <a:solidFill>
                  <a:srgbClr val="16191F"/>
                </a:solidFill>
                <a:latin typeface="Calibri"/>
              </a:rPr>
              <a:t>2,940 tokens in  ·  300 out — the extraction call</a:t>
            </a:r>
          </a:p>
          <a:p>
            <a:pPr algn="l">
              <a:spcAft>
                <a:spcPts val="350"/>
              </a:spcAft>
            </a:pPr>
            <a:r>
              <a:rPr sz="1000" b="0">
                <a:solidFill>
                  <a:srgbClr val="16191F"/>
                </a:solidFill>
                <a:latin typeface="Calibri"/>
              </a:rPr>
              <a:t>26 profile fields — one Memory record each</a:t>
            </a:r>
          </a:p>
          <a:p>
            <a:pPr algn="l">
              <a:spcAft>
                <a:spcPts val="350"/>
              </a:spcAft>
            </a:pPr>
            <a:r>
              <a:rPr sz="1000" b="0">
                <a:solidFill>
                  <a:srgbClr val="16191F"/>
                </a:solidFill>
                <a:latin typeface="Calibri"/>
              </a:rPr>
              <a:t>3 tools  ·  1.4 Gateway calls per turn</a:t>
            </a:r>
          </a:p>
        </p:txBody>
      </p:sp>
      <p:sp>
        <p:nvSpPr>
          <p:cNvPr id="116" name="Rectangle 115"/>
          <p:cNvSpPr/>
          <p:nvPr/>
        </p:nvSpPr>
        <p:spPr>
          <a:xfrm>
            <a:off x="8053120" y="3749039"/>
            <a:ext cx="3578047" cy="1627632"/>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8053120" y="3749039"/>
            <a:ext cx="45720" cy="1627632"/>
          </a:xfrm>
          <a:prstGeom prst="rect">
            <a:avLst/>
          </a:prstGeom>
          <a:solidFill>
            <a:srgbClr val="545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8217712" y="3849624"/>
            <a:ext cx="3267151" cy="201168"/>
          </a:xfrm>
          <a:prstGeom prst="rect">
            <a:avLst/>
          </a:prstGeom>
          <a:noFill/>
        </p:spPr>
        <p:txBody>
          <a:bodyPr wrap="square" lIns="0" rIns="0" tIns="0" bIns="0" anchor="t">
            <a:spAutoFit/>
          </a:bodyPr>
          <a:lstStyle/>
          <a:p>
            <a:pPr algn="l">
              <a:spcAft>
                <a:spcPts val="200"/>
              </a:spcAft>
            </a:pPr>
            <a:r>
              <a:rPr sz="1050" b="1">
                <a:solidFill>
                  <a:srgbClr val="545B64"/>
                </a:solidFill>
                <a:latin typeface="Calibri"/>
              </a:rPr>
              <a:t>GUESSED  ·  and what each one breaks</a:t>
            </a:r>
          </a:p>
        </p:txBody>
      </p:sp>
      <p:sp>
        <p:nvSpPr>
          <p:cNvPr id="119" name="TextBox 118"/>
          <p:cNvSpPr txBox="1"/>
          <p:nvPr/>
        </p:nvSpPr>
        <p:spPr>
          <a:xfrm>
            <a:off x="8217712" y="4133087"/>
            <a:ext cx="3267151" cy="1152144"/>
          </a:xfrm>
          <a:prstGeom prst="rect">
            <a:avLst/>
          </a:prstGeom>
          <a:noFill/>
        </p:spPr>
        <p:txBody>
          <a:bodyPr wrap="square" lIns="0" rIns="0" tIns="0" bIns="0" anchor="t">
            <a:spAutoFit/>
          </a:bodyPr>
          <a:lstStyle/>
          <a:p>
            <a:pPr algn="l">
              <a:spcAft>
                <a:spcPts val="350"/>
              </a:spcAft>
            </a:pPr>
            <a:r>
              <a:rPr sz="1000" b="0">
                <a:solidFill>
                  <a:srgbClr val="16191F"/>
                </a:solidFill>
                <a:latin typeface="Calibri"/>
              </a:rPr>
              <a:t>$3 / $15 per million tokens — sets 99.95% of engine A's per-turn cost, and the price page never loaded. The biggest risk on this slide.</a:t>
            </a:r>
          </a:p>
          <a:p>
            <a:pPr algn="l">
              <a:spcAft>
                <a:spcPts val="350"/>
              </a:spcAft>
            </a:pPr>
            <a:r>
              <a:rPr sz="1000" b="0">
                <a:solidFill>
                  <a:srgbClr val="16191F"/>
                </a:solidFill>
                <a:latin typeface="Calibri"/>
              </a:rPr>
              <a:t>3 seconds of thinking per turn — moves 0.3% of engine B.</a:t>
            </a:r>
          </a:p>
          <a:p>
            <a:pPr algn="l">
              <a:spcAft>
                <a:spcPts val="350"/>
              </a:spcAft>
            </a:pPr>
            <a:r>
              <a:rPr sz="1000" b="0">
                <a:solidFill>
                  <a:srgbClr val="16191F"/>
                </a:solidFill>
                <a:latin typeface="Calibri"/>
              </a:rPr>
              <a:t>500 users per container  ·  15-minute sessions — changes nothing below 10,000 users.</a:t>
            </a:r>
          </a:p>
        </p:txBody>
      </p:sp>
      <p:sp>
        <p:nvSpPr>
          <p:cNvPr id="120" name="Rounded Rectangle 119"/>
          <p:cNvSpPr/>
          <p:nvPr/>
        </p:nvSpPr>
        <p:spPr>
          <a:xfrm>
            <a:off x="566928" y="5468112"/>
            <a:ext cx="11064240" cy="786384"/>
          </a:xfrm>
          <a:prstGeom prst="roundRect">
            <a:avLst>
              <a:gd name="adj" fmla="val 1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786384" y="5541264"/>
            <a:ext cx="10625328" cy="676656"/>
          </a:xfrm>
          <a:prstGeom prst="rect">
            <a:avLst/>
          </a:prstGeom>
          <a:noFill/>
        </p:spPr>
        <p:txBody>
          <a:bodyPr wrap="square" lIns="0" rIns="0" tIns="0" bIns="0" anchor="t">
            <a:spAutoFit/>
          </a:bodyPr>
          <a:lstStyle/>
          <a:p>
            <a:pPr algn="l">
              <a:spcAft>
                <a:spcPts val="100"/>
              </a:spcAft>
            </a:pPr>
            <a:r>
              <a:rPr sz="950" b="1">
                <a:solidFill>
                  <a:srgbClr val="FF9900"/>
                </a:solidFill>
                <a:latin typeface="Calibri"/>
              </a:rPr>
              <a:t>EXCLUDED FROM BOTH BILLS  —  SHARED AND EDUCATIONAL RESOURCES</a:t>
            </a:r>
          </a:p>
          <a:p>
            <a:pPr algn="l">
              <a:spcAft>
                <a:spcPts val="100"/>
              </a:spcAft>
            </a:pPr>
            <a:r>
              <a:rPr sz="1000" b="1">
                <a:solidFill>
                  <a:srgbClr val="FFFFFF"/>
                </a:solidFill>
                <a:latin typeface="Calibri"/>
              </a:rPr>
              <a:t>ALB  ·  NAT Gateway  ·  CloudFront  ·  S3  ·  Secrets Manager — shared by both engines and there to learn on, not to serve traffic.  Also out: the reply to the user (identical on both engines) and the tool Lambda (under 6% of engine B even at its 10-second timeout).</a:t>
            </a:r>
          </a:p>
          <a:p>
            <a:pPr algn="l">
              <a:spcAft>
                <a:spcPts val="200"/>
              </a:spcAft>
            </a:pPr>
            <a:r>
              <a:rPr sz="950" b="1">
                <a:solidFill>
                  <a:srgbClr val="FF9900"/>
                </a:solidFill>
                <a:latin typeface="Calibri"/>
              </a:rPr>
              <a:t>Leaving the VPC out flatters engine A — AgentCore Runtime is managed and needs neither a NAT nor a load balancer.</a:t>
            </a:r>
          </a:p>
        </p:txBody>
      </p:sp>
      <p:sp>
        <p:nvSpPr>
          <p:cNvPr id="85" name="Rounded Rectangle 84">
            <a:extLst>
              <a:ext uri="{FF2B5EF4-FFF2-40B4-BE49-F238E27FC236}">
                <a16:creationId xmlns:a16="http://schemas.microsoft.com/office/drawing/2014/main" id="{50ED7B42-F56A-4616-1E25-7CB29147DEFC}"/>
              </a:ext>
            </a:extLst>
          </p:cNvPr>
          <p:cNvSpPr/>
          <p:nvPr/>
        </p:nvSpPr>
        <p:spPr>
          <a:xfrm>
            <a:off x="1188720" y="2139696"/>
            <a:ext cx="7328917"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 apples to apples: same hours up, same number of users, same pricing models </a:t>
            </a:r>
            <a:r>
              <a:rPr lang="en-US" dirty="0" err="1">
                <a:solidFill>
                  <a:srgbClr val="FF0000"/>
                </a:solidFill>
                <a:highlight>
                  <a:srgbClr val="FFFF00"/>
                </a:highlight>
              </a:rPr>
              <a:t>fror</a:t>
            </a:r>
            <a:r>
              <a:rPr lang="en-US" dirty="0">
                <a:solidFill>
                  <a:srgbClr val="FF0000"/>
                </a:solidFill>
                <a:highlight>
                  <a:srgbClr val="FFFF00"/>
                </a:highlight>
              </a:rPr>
              <a:t> bedrock</a:t>
            </a:r>
          </a:p>
          <a:p>
            <a:pPr marL="0" algn="ctr" defTabSz="457200" rtl="0" eaLnBrk="1" latinLnBrk="0" hangingPunct="1"/>
            <a:endParaRPr lang="en-US" dirty="0">
              <a:solidFill>
                <a:srgbClr val="FF0000"/>
              </a:solidFill>
              <a:highlight>
                <a:srgbClr val="FFFF00"/>
              </a:highlight>
            </a:endParaRPr>
          </a:p>
          <a:p>
            <a:pPr marL="0" algn="ctr" defTabSz="457200" rtl="0" eaLnBrk="1" latinLnBrk="0" hangingPunct="1"/>
            <a:r>
              <a:rPr lang="en-US" dirty="0">
                <a:solidFill>
                  <a:srgbClr val="FF0000"/>
                </a:solidFill>
                <a:highlight>
                  <a:srgbClr val="FFFF00"/>
                </a:highlight>
              </a:rPr>
              <a:t>Ignore the </a:t>
            </a:r>
            <a:r>
              <a:rPr lang="en-US" dirty="0" err="1">
                <a:solidFill>
                  <a:srgbClr val="FF0000"/>
                </a:solidFill>
                <a:highlight>
                  <a:srgbClr val="FFFF00"/>
                </a:highlight>
              </a:rPr>
              <a:t>fargate</a:t>
            </a:r>
            <a:r>
              <a:rPr lang="en-US" dirty="0">
                <a:solidFill>
                  <a:srgbClr val="FF0000"/>
                </a:solidFill>
                <a:highlight>
                  <a:srgbClr val="FFFF00"/>
                </a:highlight>
              </a:rPr>
              <a:t> and ALB that is there for </a:t>
            </a:r>
            <a:r>
              <a:rPr lang="en-US" dirty="0" err="1">
                <a:solidFill>
                  <a:srgbClr val="FF0000"/>
                </a:solidFill>
                <a:highlight>
                  <a:srgbClr val="FFFF00"/>
                </a:highlight>
              </a:rPr>
              <a:t>learingin</a:t>
            </a:r>
            <a:r>
              <a:rPr lang="en-US" dirty="0">
                <a:solidFill>
                  <a:srgbClr val="FF0000"/>
                </a:solidFill>
                <a:highlight>
                  <a:srgbClr val="FFFF00"/>
                </a:highlight>
              </a:rPr>
              <a:t> purpose, if there are </a:t>
            </a:r>
            <a:r>
              <a:rPr lang="en-US" dirty="0" err="1">
                <a:solidFill>
                  <a:srgbClr val="FF0000"/>
                </a:solidFill>
                <a:highlight>
                  <a:srgbClr val="FFFF00"/>
                </a:highlight>
              </a:rPr>
              <a:t>additiaonl</a:t>
            </a:r>
            <a:r>
              <a:rPr lang="en-US" dirty="0">
                <a:solidFill>
                  <a:srgbClr val="FF0000"/>
                </a:solidFill>
                <a:highlight>
                  <a:srgbClr val="FFFF00"/>
                </a:highlight>
              </a:rPr>
              <a:t> </a:t>
            </a:r>
            <a:r>
              <a:rPr lang="en-US" dirty="0" err="1">
                <a:solidFill>
                  <a:srgbClr val="FF0000"/>
                </a:solidFill>
                <a:highlight>
                  <a:srgbClr val="FFFF00"/>
                </a:highlight>
              </a:rPr>
              <a:t>hiden</a:t>
            </a:r>
            <a:r>
              <a:rPr lang="en-US" dirty="0">
                <a:solidFill>
                  <a:srgbClr val="FF0000"/>
                </a:solidFill>
                <a:highlight>
                  <a:srgbClr val="FFFF00"/>
                </a:highlight>
              </a:rPr>
              <a:t> learning purpose resources that are billed, tell us and we will consider together </a:t>
            </a:r>
            <a:r>
              <a:rPr lang="en-US" dirty="0" err="1">
                <a:solidFill>
                  <a:srgbClr val="FF0000"/>
                </a:solidFill>
                <a:highlight>
                  <a:srgbClr val="FFFF00"/>
                </a:highlight>
              </a:rPr>
              <a:t>thm</a:t>
            </a:r>
            <a:endParaRPr dirty="0">
              <a:solidFill>
                <a:srgbClr val="FF0000"/>
              </a:solidFill>
              <a:highlight>
                <a:srgbClr val="FFFF00"/>
              </a:highlight>
            </a:endParaRPr>
          </a:p>
        </p:txBody>
      </p:sp>
    </p:spTree>
    <p:extLst>
      <p:ext uri="{BB962C8B-B14F-4D97-AF65-F5344CB8AC3E}">
        <p14:creationId xmlns:p14="http://schemas.microsoft.com/office/powerpoint/2010/main" val="2996066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5</a:t>
            </a:r>
          </a:p>
        </p:txBody>
      </p:sp>
      <p:sp>
        <p:nvSpPr>
          <p:cNvPr id="5" name="TextBox 4"/>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6 / 18</a:t>
            </a:r>
          </a:p>
        </p:txBody>
      </p:sp>
      <p:sp>
        <p:nvSpPr>
          <p:cNvPr id="7" name="TextBox 6"/>
          <p:cNvSpPr txBox="1"/>
          <p:nvPr/>
        </p:nvSpPr>
        <p:spPr>
          <a:xfrm>
            <a:off x="1280160" y="432107"/>
            <a:ext cx="10058400" cy="461665"/>
          </a:xfrm>
          <a:prstGeom prst="rect">
            <a:avLst/>
          </a:prstGeom>
          <a:noFill/>
        </p:spPr>
        <p:txBody>
          <a:bodyPr wrap="square" lIns="0" tIns="0" rIns="0" bIns="0" anchor="ctr">
            <a:spAutoFit/>
          </a:bodyPr>
          <a:lstStyle/>
          <a:p>
            <a:pPr algn="l"/>
            <a:r>
              <a:rPr sz="3000" b="1" dirty="0">
                <a:solidFill>
                  <a:srgbClr val="232F3E"/>
                </a:solidFill>
                <a:latin typeface="Calibri"/>
              </a:rPr>
              <a:t>Two Engines, Four Decisions</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11155680" cy="384048"/>
          </a:xfrm>
          <a:prstGeom prst="rect">
            <a:avLst/>
          </a:prstGeom>
          <a:noFill/>
        </p:spPr>
        <p:txBody>
          <a:bodyPr wrap="square" lIns="0" tIns="0" rIns="0" bIns="0" anchor="t">
            <a:spAutoFit/>
          </a:bodyPr>
          <a:lstStyle/>
          <a:p>
            <a:pPr algn="l"/>
            <a:r>
              <a:rPr sz="1400" b="0" dirty="0">
                <a:solidFill>
                  <a:srgbClr val="545B64"/>
                </a:solidFill>
                <a:latin typeface="Calibri"/>
              </a:rPr>
              <a:t>AgentCore is four separate primitives, not one switch. Each row is a decision you can make on its own — and we did not make them the same way.</a:t>
            </a:r>
          </a:p>
        </p:txBody>
      </p:sp>
      <p:sp>
        <p:nvSpPr>
          <p:cNvPr id="91" name="Rounded Rectangle 90"/>
          <p:cNvSpPr/>
          <p:nvPr/>
        </p:nvSpPr>
        <p:spPr>
          <a:xfrm>
            <a:off x="566928" y="1700784"/>
            <a:ext cx="11064240" cy="365760"/>
          </a:xfrm>
          <a:prstGeom prst="roundRect">
            <a:avLst>
              <a:gd name="adj" fmla="val 12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658368" y="1801368"/>
            <a:ext cx="1700784" cy="201168"/>
          </a:xfrm>
          <a:prstGeom prst="rect">
            <a:avLst/>
          </a:prstGeom>
          <a:noFill/>
        </p:spPr>
        <p:txBody>
          <a:bodyPr wrap="square" lIns="0" rIns="0" tIns="0" bIns="0" anchor="t">
            <a:spAutoFit/>
          </a:bodyPr>
          <a:lstStyle/>
          <a:p>
            <a:pPr algn="l">
              <a:spcAft>
                <a:spcPts val="200"/>
              </a:spcAft>
            </a:pPr>
            <a:r>
              <a:rPr sz="1000" b="1">
                <a:solidFill>
                  <a:srgbClr val="FF9900"/>
                </a:solidFill>
                <a:latin typeface="Calibri"/>
              </a:rPr>
              <a:t>THE PRIMITIVE</a:t>
            </a:r>
          </a:p>
        </p:txBody>
      </p:sp>
      <p:sp>
        <p:nvSpPr>
          <p:cNvPr id="93" name="TextBox 92"/>
          <p:cNvSpPr txBox="1"/>
          <p:nvPr/>
        </p:nvSpPr>
        <p:spPr>
          <a:xfrm>
            <a:off x="2414016" y="1801368"/>
            <a:ext cx="2157984" cy="201168"/>
          </a:xfrm>
          <a:prstGeom prst="rect">
            <a:avLst/>
          </a:prstGeom>
          <a:noFill/>
        </p:spPr>
        <p:txBody>
          <a:bodyPr wrap="square" lIns="0" rIns="0" tIns="0" bIns="0" anchor="t">
            <a:spAutoFit/>
          </a:bodyPr>
          <a:lstStyle/>
          <a:p>
            <a:pPr algn="l">
              <a:spcAft>
                <a:spcPts val="200"/>
              </a:spcAft>
            </a:pPr>
            <a:r>
              <a:rPr sz="1000" b="1">
                <a:solidFill>
                  <a:srgbClr val="FF9900"/>
                </a:solidFill>
                <a:latin typeface="Calibri"/>
              </a:rPr>
              <a:t>WHAT "DIY" MEANS HERE</a:t>
            </a:r>
          </a:p>
        </p:txBody>
      </p:sp>
      <p:sp>
        <p:nvSpPr>
          <p:cNvPr id="94" name="TextBox 93"/>
          <p:cNvSpPr txBox="1"/>
          <p:nvPr/>
        </p:nvSpPr>
        <p:spPr>
          <a:xfrm>
            <a:off x="4626864" y="1801368"/>
            <a:ext cx="2103120" cy="201168"/>
          </a:xfrm>
          <a:prstGeom prst="rect">
            <a:avLst/>
          </a:prstGeom>
          <a:noFill/>
        </p:spPr>
        <p:txBody>
          <a:bodyPr wrap="square" lIns="0" rIns="0" tIns="0" bIns="0" anchor="t">
            <a:spAutoFit/>
          </a:bodyPr>
          <a:lstStyle/>
          <a:p>
            <a:pPr algn="l">
              <a:spcAft>
                <a:spcPts val="200"/>
              </a:spcAft>
            </a:pPr>
            <a:r>
              <a:rPr sz="1000" b="1">
                <a:solidFill>
                  <a:srgbClr val="FF9900"/>
                </a:solidFill>
                <a:latin typeface="Calibri"/>
              </a:rPr>
              <a:t>WHAT YOU GAIN</a:t>
            </a:r>
          </a:p>
        </p:txBody>
      </p:sp>
      <p:sp>
        <p:nvSpPr>
          <p:cNvPr id="95" name="TextBox 94"/>
          <p:cNvSpPr txBox="1"/>
          <p:nvPr/>
        </p:nvSpPr>
        <p:spPr>
          <a:xfrm>
            <a:off x="6784848" y="1801368"/>
            <a:ext cx="2103120" cy="201168"/>
          </a:xfrm>
          <a:prstGeom prst="rect">
            <a:avLst/>
          </a:prstGeom>
          <a:noFill/>
        </p:spPr>
        <p:txBody>
          <a:bodyPr wrap="square" lIns="0" rIns="0" tIns="0" bIns="0" anchor="t">
            <a:spAutoFit/>
          </a:bodyPr>
          <a:lstStyle/>
          <a:p>
            <a:pPr algn="l">
              <a:spcAft>
                <a:spcPts val="200"/>
              </a:spcAft>
            </a:pPr>
            <a:r>
              <a:rPr sz="1000" b="1">
                <a:solidFill>
                  <a:srgbClr val="FF9900"/>
                </a:solidFill>
                <a:latin typeface="Calibri"/>
              </a:rPr>
              <a:t>WHAT YOU GIVE UP</a:t>
            </a:r>
          </a:p>
        </p:txBody>
      </p:sp>
      <p:sp>
        <p:nvSpPr>
          <p:cNvPr id="96" name="TextBox 95"/>
          <p:cNvSpPr txBox="1"/>
          <p:nvPr/>
        </p:nvSpPr>
        <p:spPr>
          <a:xfrm>
            <a:off x="8942832" y="1801368"/>
            <a:ext cx="1389888" cy="201168"/>
          </a:xfrm>
          <a:prstGeom prst="rect">
            <a:avLst/>
          </a:prstGeom>
          <a:noFill/>
        </p:spPr>
        <p:txBody>
          <a:bodyPr wrap="square" lIns="0" rIns="0" tIns="0" bIns="0" anchor="t">
            <a:spAutoFit/>
          </a:bodyPr>
          <a:lstStyle/>
          <a:p>
            <a:pPr algn="ctr">
              <a:spcAft>
                <a:spcPts val="200"/>
              </a:spcAft>
            </a:pPr>
            <a:r>
              <a:rPr sz="1000" b="1">
                <a:solidFill>
                  <a:srgbClr val="FF9900"/>
                </a:solidFill>
                <a:latin typeface="Calibri"/>
              </a:rPr>
              <a:t>COST DELTA</a:t>
            </a:r>
          </a:p>
        </p:txBody>
      </p:sp>
      <p:sp>
        <p:nvSpPr>
          <p:cNvPr id="97" name="TextBox 96"/>
          <p:cNvSpPr txBox="1"/>
          <p:nvPr/>
        </p:nvSpPr>
        <p:spPr>
          <a:xfrm>
            <a:off x="10387584" y="1801368"/>
            <a:ext cx="1207008" cy="201168"/>
          </a:xfrm>
          <a:prstGeom prst="rect">
            <a:avLst/>
          </a:prstGeom>
          <a:noFill/>
        </p:spPr>
        <p:txBody>
          <a:bodyPr wrap="square" lIns="0" rIns="0" tIns="0" bIns="0" anchor="t">
            <a:spAutoFit/>
          </a:bodyPr>
          <a:lstStyle/>
          <a:p>
            <a:pPr algn="ctr">
              <a:spcAft>
                <a:spcPts val="200"/>
              </a:spcAft>
            </a:pPr>
            <a:r>
              <a:rPr sz="1000" b="1">
                <a:solidFill>
                  <a:srgbClr val="FF9900"/>
                </a:solidFill>
                <a:latin typeface="Calibri"/>
              </a:rPr>
              <a:t>THE CALL</a:t>
            </a:r>
          </a:p>
        </p:txBody>
      </p:sp>
      <p:sp>
        <p:nvSpPr>
          <p:cNvPr id="98" name="Rectangle 97"/>
          <p:cNvSpPr/>
          <p:nvPr/>
        </p:nvSpPr>
        <p:spPr>
          <a:xfrm>
            <a:off x="566928" y="2121408"/>
            <a:ext cx="11064240" cy="9144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9" name="Picture 98" descr="image.png"/>
          <p:cNvPicPr>
            <a:picLocks noChangeAspect="1"/>
          </p:cNvPicPr>
          <p:nvPr/>
        </p:nvPicPr>
        <p:blipFill>
          <a:blip r:embed="rId3"/>
          <a:stretch>
            <a:fillRect/>
          </a:stretch>
        </p:blipFill>
        <p:spPr>
          <a:xfrm>
            <a:off x="658368" y="2240279"/>
            <a:ext cx="310896" cy="310896"/>
          </a:xfrm>
          <a:prstGeom prst="rect">
            <a:avLst/>
          </a:prstGeom>
        </p:spPr>
      </p:pic>
      <p:sp>
        <p:nvSpPr>
          <p:cNvPr id="100" name="TextBox 99"/>
          <p:cNvSpPr txBox="1"/>
          <p:nvPr/>
        </p:nvSpPr>
        <p:spPr>
          <a:xfrm>
            <a:off x="1042415" y="2249424"/>
            <a:ext cx="1316736" cy="548640"/>
          </a:xfrm>
          <a:prstGeom prst="rect">
            <a:avLst/>
          </a:prstGeom>
          <a:noFill/>
        </p:spPr>
        <p:txBody>
          <a:bodyPr wrap="square" lIns="0" rIns="0" tIns="0" bIns="0" anchor="t">
            <a:spAutoFit/>
          </a:bodyPr>
          <a:lstStyle/>
          <a:p>
            <a:pPr algn="l">
              <a:spcAft>
                <a:spcPts val="200"/>
              </a:spcAft>
            </a:pPr>
            <a:r>
              <a:rPr sz="1100" b="1">
                <a:solidFill>
                  <a:srgbClr val="232F3E"/>
                </a:solidFill>
                <a:latin typeface="Calibri"/>
              </a:rPr>
              <a:t>AgentCore Runtime</a:t>
            </a:r>
          </a:p>
        </p:txBody>
      </p:sp>
      <p:sp>
        <p:nvSpPr>
          <p:cNvPr id="101" name="TextBox 100"/>
          <p:cNvSpPr txBox="1"/>
          <p:nvPr/>
        </p:nvSpPr>
        <p:spPr>
          <a:xfrm>
            <a:off x="2414016" y="2231136"/>
            <a:ext cx="2157984" cy="731520"/>
          </a:xfrm>
          <a:prstGeom prst="rect">
            <a:avLst/>
          </a:prstGeom>
          <a:noFill/>
        </p:spPr>
        <p:txBody>
          <a:bodyPr wrap="square" lIns="0" rIns="0" tIns="0" bIns="0" anchor="t">
            <a:spAutoFit/>
          </a:bodyPr>
          <a:lstStyle/>
          <a:p>
            <a:pPr algn="l">
              <a:spcAft>
                <a:spcPts val="200"/>
              </a:spcAft>
            </a:pPr>
            <a:r>
              <a:rPr sz="900" b="0">
                <a:solidFill>
                  <a:srgbClr val="16191F"/>
                </a:solidFill>
                <a:latin typeface="Calibri"/>
              </a:rPr>
              <a:t>One always-on Fargate task — 0.5 vCPU, 1 GiB — in your VPC behind an ALB, plus the NAT it needs to reach Bedrock.</a:t>
            </a:r>
          </a:p>
        </p:txBody>
      </p:sp>
      <p:sp>
        <p:nvSpPr>
          <p:cNvPr id="102" name="TextBox 101"/>
          <p:cNvSpPr txBox="1"/>
          <p:nvPr/>
        </p:nvSpPr>
        <p:spPr>
          <a:xfrm>
            <a:off x="4626864" y="2231136"/>
            <a:ext cx="2103120" cy="731520"/>
          </a:xfrm>
          <a:prstGeom prst="rect">
            <a:avLst/>
          </a:prstGeom>
          <a:noFill/>
        </p:spPr>
        <p:txBody>
          <a:bodyPr wrap="square" lIns="0" rIns="0" tIns="0" bIns="0" anchor="t">
            <a:spAutoFit/>
          </a:bodyPr>
          <a:lstStyle/>
          <a:p>
            <a:pPr algn="l">
              <a:spcAft>
                <a:spcPts val="200"/>
              </a:spcAft>
            </a:pPr>
            <a:r>
              <a:rPr sz="900" b="0">
                <a:solidFill>
                  <a:srgbClr val="16191F"/>
                </a:solidFill>
                <a:latin typeface="Calibri"/>
              </a:rPr>
              <a:t>The $18/mo idle floor disappears: billed per second of real work. A microVM per session, so one crash loses 1 session, not all 40.</a:t>
            </a:r>
          </a:p>
        </p:txBody>
      </p:sp>
      <p:sp>
        <p:nvSpPr>
          <p:cNvPr id="103" name="TextBox 102"/>
          <p:cNvSpPr txBox="1"/>
          <p:nvPr/>
        </p:nvSpPr>
        <p:spPr>
          <a:xfrm>
            <a:off x="6784848" y="2231136"/>
            <a:ext cx="2103120" cy="731520"/>
          </a:xfrm>
          <a:prstGeom prst="rect">
            <a:avLst/>
          </a:prstGeom>
          <a:noFill/>
        </p:spPr>
        <p:txBody>
          <a:bodyPr wrap="square" lIns="0" rIns="0" tIns="0" bIns="0" anchor="t">
            <a:spAutoFit/>
          </a:bodyPr>
          <a:lstStyle/>
          <a:p>
            <a:pPr algn="l">
              <a:spcAft>
                <a:spcPts val="200"/>
              </a:spcAft>
            </a:pPr>
            <a:r>
              <a:rPr sz="900" b="0">
                <a:solidFill>
                  <a:srgbClr val="16191F"/>
                </a:solidFill>
                <a:latin typeface="Calibri"/>
              </a:rPr>
              <a:t>2.20× dearer per vCPU-hour. The container stops being yours — no sidecars, no in-process cache — and an idle session cold-starts.</a:t>
            </a:r>
          </a:p>
        </p:txBody>
      </p:sp>
      <p:sp>
        <p:nvSpPr>
          <p:cNvPr id="104" name="TextBox 103"/>
          <p:cNvSpPr txBox="1"/>
          <p:nvPr/>
        </p:nvSpPr>
        <p:spPr>
          <a:xfrm>
            <a:off x="8942832" y="2249424"/>
            <a:ext cx="1389888" cy="731520"/>
          </a:xfrm>
          <a:prstGeom prst="rect">
            <a:avLst/>
          </a:prstGeom>
          <a:noFill/>
        </p:spPr>
        <p:txBody>
          <a:bodyPr wrap="square" lIns="0" rIns="0" tIns="0" bIns="0" anchor="t">
            <a:spAutoFit/>
          </a:bodyPr>
          <a:lstStyle/>
          <a:p>
            <a:pPr algn="ctr">
              <a:spcAft>
                <a:spcPts val="250"/>
              </a:spcAft>
            </a:pPr>
            <a:r>
              <a:rPr sz="850" b="0">
                <a:solidFill>
                  <a:srgbClr val="16191F"/>
                </a:solidFill>
                <a:latin typeface="Calibri"/>
              </a:rPr>
              <a:t>A  $18.02 / mo  fixed</a:t>
            </a:r>
          </a:p>
          <a:p>
            <a:pPr algn="ctr">
              <a:spcAft>
                <a:spcPts val="250"/>
              </a:spcAft>
            </a:pPr>
            <a:r>
              <a:rPr sz="850" b="0">
                <a:solidFill>
                  <a:srgbClr val="16191F"/>
                </a:solidFill>
                <a:latin typeface="Calibri"/>
              </a:rPr>
              <a:t>B  $0.0054 / user / mo</a:t>
            </a:r>
          </a:p>
        </p:txBody>
      </p:sp>
      <p:sp>
        <p:nvSpPr>
          <p:cNvPr id="105" name="Rounded Rectangle 104"/>
          <p:cNvSpPr/>
          <p:nvPr/>
        </p:nvSpPr>
        <p:spPr>
          <a:xfrm>
            <a:off x="10479024" y="2267712"/>
            <a:ext cx="1024128" cy="237744"/>
          </a:xfrm>
          <a:prstGeom prst="roundRect">
            <a:avLst>
              <a:gd name="adj" fmla="val 35000"/>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10479024" y="2304288"/>
            <a:ext cx="1024128" cy="237744"/>
          </a:xfrm>
          <a:prstGeom prst="rect">
            <a:avLst/>
          </a:prstGeom>
          <a:noFill/>
        </p:spPr>
        <p:txBody>
          <a:bodyPr wrap="square" lIns="0" rIns="0" tIns="0" bIns="0" anchor="t">
            <a:spAutoFit/>
          </a:bodyPr>
          <a:lstStyle/>
          <a:p>
            <a:pPr algn="ctr">
              <a:spcAft>
                <a:spcPts val="200"/>
              </a:spcAft>
            </a:pPr>
            <a:r>
              <a:rPr sz="900" b="1">
                <a:solidFill>
                  <a:srgbClr val="FFFFFF"/>
                </a:solidFill>
                <a:latin typeface="Calibri"/>
              </a:rPr>
              <a:t>AGENTCORE</a:t>
            </a:r>
          </a:p>
        </p:txBody>
      </p:sp>
      <p:sp>
        <p:nvSpPr>
          <p:cNvPr id="107" name="TextBox 106"/>
          <p:cNvSpPr txBox="1"/>
          <p:nvPr/>
        </p:nvSpPr>
        <p:spPr>
          <a:xfrm>
            <a:off x="10387584" y="2560320"/>
            <a:ext cx="1207008" cy="365760"/>
          </a:xfrm>
          <a:prstGeom prst="rect">
            <a:avLst/>
          </a:prstGeom>
          <a:noFill/>
        </p:spPr>
        <p:txBody>
          <a:bodyPr wrap="square" lIns="0" rIns="0" tIns="0" bIns="0" anchor="t">
            <a:spAutoFit/>
          </a:bodyPr>
          <a:lstStyle/>
          <a:p>
            <a:pPr algn="ctr">
              <a:spcAft>
                <a:spcPts val="200"/>
              </a:spcAft>
            </a:pPr>
            <a:r>
              <a:rPr sz="750" b="0">
                <a:solidFill>
                  <a:srgbClr val="545B64"/>
                </a:solidFill>
                <a:latin typeface="Calibri"/>
              </a:rPr>
              <a:t>the floor, not the rate</a:t>
            </a:r>
          </a:p>
        </p:txBody>
      </p:sp>
      <p:sp>
        <p:nvSpPr>
          <p:cNvPr id="108" name="Rectangle 107"/>
          <p:cNvSpPr/>
          <p:nvPr/>
        </p:nvSpPr>
        <p:spPr>
          <a:xfrm>
            <a:off x="566928" y="3035808"/>
            <a:ext cx="11064240"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9" name="Picture 108" descr="image.png"/>
          <p:cNvPicPr>
            <a:picLocks noChangeAspect="1"/>
          </p:cNvPicPr>
          <p:nvPr/>
        </p:nvPicPr>
        <p:blipFill>
          <a:blip r:embed="rId4"/>
          <a:stretch>
            <a:fillRect/>
          </a:stretch>
        </p:blipFill>
        <p:spPr>
          <a:xfrm>
            <a:off x="658368" y="3163823"/>
            <a:ext cx="310896" cy="310896"/>
          </a:xfrm>
          <a:prstGeom prst="rect">
            <a:avLst/>
          </a:prstGeom>
        </p:spPr>
      </p:pic>
      <p:sp>
        <p:nvSpPr>
          <p:cNvPr id="110" name="TextBox 109"/>
          <p:cNvSpPr txBox="1"/>
          <p:nvPr/>
        </p:nvSpPr>
        <p:spPr>
          <a:xfrm>
            <a:off x="1042415" y="3172968"/>
            <a:ext cx="1316736" cy="548640"/>
          </a:xfrm>
          <a:prstGeom prst="rect">
            <a:avLst/>
          </a:prstGeom>
          <a:noFill/>
        </p:spPr>
        <p:txBody>
          <a:bodyPr wrap="square" lIns="0" rIns="0" tIns="0" bIns="0" anchor="t">
            <a:spAutoFit/>
          </a:bodyPr>
          <a:lstStyle/>
          <a:p>
            <a:pPr algn="l">
              <a:spcAft>
                <a:spcPts val="200"/>
              </a:spcAft>
            </a:pPr>
            <a:r>
              <a:rPr sz="1100" b="1">
                <a:solidFill>
                  <a:srgbClr val="232F3E"/>
                </a:solidFill>
                <a:latin typeface="Calibri"/>
              </a:rPr>
              <a:t>AgentCore Memory</a:t>
            </a:r>
          </a:p>
        </p:txBody>
      </p:sp>
      <p:sp>
        <p:nvSpPr>
          <p:cNvPr id="111" name="TextBox 110"/>
          <p:cNvSpPr txBox="1"/>
          <p:nvPr/>
        </p:nvSpPr>
        <p:spPr>
          <a:xfrm>
            <a:off x="2414016" y="3154679"/>
            <a:ext cx="2157984" cy="731520"/>
          </a:xfrm>
          <a:prstGeom prst="rect">
            <a:avLst/>
          </a:prstGeom>
          <a:noFill/>
        </p:spPr>
        <p:txBody>
          <a:bodyPr wrap="square" lIns="0" rIns="0" tIns="0" bIns="0" anchor="t">
            <a:spAutoFit/>
          </a:bodyPr>
          <a:lstStyle/>
          <a:p>
            <a:pPr algn="l">
              <a:spcAft>
                <a:spcPts val="200"/>
              </a:spcAft>
            </a:pPr>
            <a:r>
              <a:rPr sz="900" b="0">
                <a:solidFill>
                  <a:srgbClr val="16191F"/>
                </a:solidFill>
                <a:latin typeface="Calibri"/>
              </a:rPr>
              <a:t>A DynamoDB table, plus a second Bedrock call every turn that we wrote — forced-tool extraction against our own 26-field schema.</a:t>
            </a:r>
          </a:p>
        </p:txBody>
      </p:sp>
      <p:sp>
        <p:nvSpPr>
          <p:cNvPr id="112" name="TextBox 111"/>
          <p:cNvSpPr txBox="1"/>
          <p:nvPr/>
        </p:nvSpPr>
        <p:spPr>
          <a:xfrm>
            <a:off x="4626864" y="3154679"/>
            <a:ext cx="2103120" cy="731520"/>
          </a:xfrm>
          <a:prstGeom prst="rect">
            <a:avLst/>
          </a:prstGeom>
          <a:noFill/>
        </p:spPr>
        <p:txBody>
          <a:bodyPr wrap="square" lIns="0" rIns="0" tIns="0" bIns="0" anchor="t">
            <a:spAutoFit/>
          </a:bodyPr>
          <a:lstStyle/>
          <a:p>
            <a:pPr algn="l">
              <a:spcAft>
                <a:spcPts val="200"/>
              </a:spcAft>
            </a:pPr>
            <a:r>
              <a:rPr sz="900" b="0">
                <a:solidFill>
                  <a:srgbClr val="16191F"/>
                </a:solidFill>
                <a:latin typeface="Calibri"/>
              </a:rPr>
              <a:t>Extraction becomes the service's prompt, not ours: one fewer call to write, tune, regression-test and pay for.</a:t>
            </a:r>
          </a:p>
        </p:txBody>
      </p:sp>
      <p:sp>
        <p:nvSpPr>
          <p:cNvPr id="113" name="TextBox 112"/>
          <p:cNvSpPr txBox="1"/>
          <p:nvPr/>
        </p:nvSpPr>
        <p:spPr>
          <a:xfrm>
            <a:off x="6784848" y="3154679"/>
            <a:ext cx="2103120" cy="731520"/>
          </a:xfrm>
          <a:prstGeom prst="rect">
            <a:avLst/>
          </a:prstGeom>
          <a:noFill/>
        </p:spPr>
        <p:txBody>
          <a:bodyPr wrap="square" lIns="0" rIns="0" tIns="0" bIns="0" anchor="t">
            <a:spAutoFit/>
          </a:bodyPr>
          <a:lstStyle/>
          <a:p>
            <a:pPr algn="l">
              <a:spcAft>
                <a:spcPts val="200"/>
              </a:spcAft>
            </a:pPr>
            <a:r>
              <a:rPr sz="900" b="0">
                <a:solidFill>
                  <a:srgbClr val="16191F"/>
                </a:solidFill>
                <a:latin typeface="Calibri"/>
              </a:rPr>
              <a:t>The 26-field schema we designed, and the fields only it had. Raw storage is 124× cheaper in DynamoDB.</a:t>
            </a:r>
          </a:p>
        </p:txBody>
      </p:sp>
      <p:sp>
        <p:nvSpPr>
          <p:cNvPr id="114" name="TextBox 113"/>
          <p:cNvSpPr txBox="1"/>
          <p:nvPr/>
        </p:nvSpPr>
        <p:spPr>
          <a:xfrm>
            <a:off x="8942832" y="3172968"/>
            <a:ext cx="1389888" cy="731520"/>
          </a:xfrm>
          <a:prstGeom prst="rect">
            <a:avLst/>
          </a:prstGeom>
          <a:noFill/>
        </p:spPr>
        <p:txBody>
          <a:bodyPr wrap="square" lIns="0" rIns="0" tIns="0" bIns="0" anchor="t">
            <a:spAutoFit/>
          </a:bodyPr>
          <a:lstStyle/>
          <a:p>
            <a:pPr algn="ctr">
              <a:spcAft>
                <a:spcPts val="250"/>
              </a:spcAft>
            </a:pPr>
            <a:r>
              <a:rPr sz="850" b="0">
                <a:solidFill>
                  <a:srgbClr val="16191F"/>
                </a:solidFill>
                <a:latin typeface="Calibri"/>
              </a:rPr>
              <a:t>A  $1.598 / user / mo</a:t>
            </a:r>
          </a:p>
          <a:p>
            <a:pPr algn="ctr">
              <a:spcAft>
                <a:spcPts val="250"/>
              </a:spcAft>
            </a:pPr>
            <a:r>
              <a:rPr sz="850" b="0">
                <a:solidFill>
                  <a:srgbClr val="16191F"/>
                </a:solidFill>
                <a:latin typeface="Calibri"/>
              </a:rPr>
              <a:t>B  $0.110 / user / mo</a:t>
            </a:r>
          </a:p>
        </p:txBody>
      </p:sp>
      <p:sp>
        <p:nvSpPr>
          <p:cNvPr id="115" name="Rounded Rectangle 114"/>
          <p:cNvSpPr/>
          <p:nvPr/>
        </p:nvSpPr>
        <p:spPr>
          <a:xfrm>
            <a:off x="10479024" y="3191256"/>
            <a:ext cx="1024128" cy="237744"/>
          </a:xfrm>
          <a:prstGeom prst="roundRect">
            <a:avLst>
              <a:gd name="adj" fmla="val 35000"/>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10479024" y="3227832"/>
            <a:ext cx="1024128" cy="237744"/>
          </a:xfrm>
          <a:prstGeom prst="rect">
            <a:avLst/>
          </a:prstGeom>
          <a:noFill/>
        </p:spPr>
        <p:txBody>
          <a:bodyPr wrap="square" lIns="0" rIns="0" tIns="0" bIns="0" anchor="t">
            <a:spAutoFit/>
          </a:bodyPr>
          <a:lstStyle/>
          <a:p>
            <a:pPr algn="ctr">
              <a:spcAft>
                <a:spcPts val="200"/>
              </a:spcAft>
            </a:pPr>
            <a:r>
              <a:rPr sz="900" b="1">
                <a:solidFill>
                  <a:srgbClr val="FFFFFF"/>
                </a:solidFill>
                <a:latin typeface="Calibri"/>
              </a:rPr>
              <a:t>AGENTCORE</a:t>
            </a:r>
          </a:p>
        </p:txBody>
      </p:sp>
      <p:sp>
        <p:nvSpPr>
          <p:cNvPr id="117" name="TextBox 116"/>
          <p:cNvSpPr txBox="1"/>
          <p:nvPr/>
        </p:nvSpPr>
        <p:spPr>
          <a:xfrm>
            <a:off x="10387584" y="3483863"/>
            <a:ext cx="1207008" cy="365760"/>
          </a:xfrm>
          <a:prstGeom prst="rect">
            <a:avLst/>
          </a:prstGeom>
          <a:noFill/>
        </p:spPr>
        <p:txBody>
          <a:bodyPr wrap="square" lIns="0" rIns="0" tIns="0" bIns="0" anchor="t">
            <a:spAutoFit/>
          </a:bodyPr>
          <a:lstStyle/>
          <a:p>
            <a:pPr algn="ctr">
              <a:spcAft>
                <a:spcPts val="200"/>
              </a:spcAft>
            </a:pPr>
            <a:r>
              <a:rPr sz="750" b="0">
                <a:solidFill>
                  <a:srgbClr val="545B64"/>
                </a:solidFill>
                <a:latin typeface="Calibri"/>
              </a:rPr>
              <a:t>on cost; DIY on control</a:t>
            </a:r>
          </a:p>
        </p:txBody>
      </p:sp>
      <p:sp>
        <p:nvSpPr>
          <p:cNvPr id="118" name="Rectangle 117"/>
          <p:cNvSpPr/>
          <p:nvPr/>
        </p:nvSpPr>
        <p:spPr>
          <a:xfrm>
            <a:off x="566928" y="3959352"/>
            <a:ext cx="11064240"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566928" y="3968496"/>
            <a:ext cx="11064240" cy="9144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0" name="Picture 119" descr="image.png"/>
          <p:cNvPicPr>
            <a:picLocks noChangeAspect="1"/>
          </p:cNvPicPr>
          <p:nvPr/>
        </p:nvPicPr>
        <p:blipFill>
          <a:blip r:embed="rId5"/>
          <a:stretch>
            <a:fillRect/>
          </a:stretch>
        </p:blipFill>
        <p:spPr>
          <a:xfrm>
            <a:off x="658368" y="4087368"/>
            <a:ext cx="310896" cy="310896"/>
          </a:xfrm>
          <a:prstGeom prst="rect">
            <a:avLst/>
          </a:prstGeom>
        </p:spPr>
      </p:pic>
      <p:sp>
        <p:nvSpPr>
          <p:cNvPr id="121" name="TextBox 120"/>
          <p:cNvSpPr txBox="1"/>
          <p:nvPr/>
        </p:nvSpPr>
        <p:spPr>
          <a:xfrm>
            <a:off x="1042415" y="4096511"/>
            <a:ext cx="1316736" cy="548640"/>
          </a:xfrm>
          <a:prstGeom prst="rect">
            <a:avLst/>
          </a:prstGeom>
          <a:noFill/>
        </p:spPr>
        <p:txBody>
          <a:bodyPr wrap="square" lIns="0" rIns="0" tIns="0" bIns="0" anchor="t">
            <a:spAutoFit/>
          </a:bodyPr>
          <a:lstStyle/>
          <a:p>
            <a:pPr algn="l">
              <a:spcAft>
                <a:spcPts val="200"/>
              </a:spcAft>
            </a:pPr>
            <a:r>
              <a:rPr sz="1100" b="1">
                <a:solidFill>
                  <a:srgbClr val="232F3E"/>
                </a:solidFill>
                <a:latin typeface="Calibri"/>
              </a:rPr>
              <a:t>AgentCore Gateway</a:t>
            </a:r>
          </a:p>
        </p:txBody>
      </p:sp>
      <p:sp>
        <p:nvSpPr>
          <p:cNvPr id="122" name="TextBox 121"/>
          <p:cNvSpPr txBox="1"/>
          <p:nvPr/>
        </p:nvSpPr>
        <p:spPr>
          <a:xfrm>
            <a:off x="2414016" y="4078224"/>
            <a:ext cx="2157984" cy="731520"/>
          </a:xfrm>
          <a:prstGeom prst="rect">
            <a:avLst/>
          </a:prstGeom>
          <a:noFill/>
        </p:spPr>
        <p:txBody>
          <a:bodyPr wrap="square" lIns="0" rIns="0" tIns="0" bIns="0" anchor="t">
            <a:spAutoFit/>
          </a:bodyPr>
          <a:lstStyle/>
          <a:p>
            <a:pPr algn="l">
              <a:spcAft>
                <a:spcPts val="200"/>
              </a:spcAft>
            </a:pPr>
            <a:r>
              <a:rPr sz="900" b="0">
                <a:solidFill>
                  <a:srgbClr val="16191F"/>
                </a:solidFill>
                <a:latin typeface="Calibri"/>
              </a:rPr>
              <a:t>Tools run in-process inside the Fargate task we already pay for, under one shared IAM role.</a:t>
            </a:r>
          </a:p>
        </p:txBody>
      </p:sp>
      <p:sp>
        <p:nvSpPr>
          <p:cNvPr id="123" name="TextBox 122"/>
          <p:cNvSpPr txBox="1"/>
          <p:nvPr/>
        </p:nvSpPr>
        <p:spPr>
          <a:xfrm>
            <a:off x="4626864" y="4078224"/>
            <a:ext cx="2103120" cy="731520"/>
          </a:xfrm>
          <a:prstGeom prst="rect">
            <a:avLst/>
          </a:prstGeom>
          <a:noFill/>
        </p:spPr>
        <p:txBody>
          <a:bodyPr wrap="square" lIns="0" rIns="0" tIns="0" bIns="0" anchor="t">
            <a:spAutoFit/>
          </a:bodyPr>
          <a:lstStyle/>
          <a:p>
            <a:pPr algn="l">
              <a:spcAft>
                <a:spcPts val="200"/>
              </a:spcAft>
            </a:pPr>
            <a:r>
              <a:rPr sz="900" b="0">
                <a:solidFill>
                  <a:srgbClr val="16191F"/>
                </a:solidFill>
                <a:latin typeface="Calibri"/>
              </a:rPr>
              <a:t>Each tool becomes its own Lambda with its own role, so a prompt injection reaches one tool's credentials instead of all of them.</a:t>
            </a:r>
          </a:p>
        </p:txBody>
      </p:sp>
      <p:sp>
        <p:nvSpPr>
          <p:cNvPr id="124" name="TextBox 123"/>
          <p:cNvSpPr txBox="1"/>
          <p:nvPr/>
        </p:nvSpPr>
        <p:spPr>
          <a:xfrm>
            <a:off x="6784848" y="4078224"/>
            <a:ext cx="2103120" cy="731520"/>
          </a:xfrm>
          <a:prstGeom prst="rect">
            <a:avLst/>
          </a:prstGeom>
          <a:noFill/>
        </p:spPr>
        <p:txBody>
          <a:bodyPr wrap="square" lIns="0" rIns="0" tIns="0" bIns="0" anchor="t">
            <a:spAutoFit/>
          </a:bodyPr>
          <a:lstStyle/>
          <a:p>
            <a:pPr algn="l">
              <a:spcAft>
                <a:spcPts val="200"/>
              </a:spcAft>
            </a:pPr>
            <a:r>
              <a:rPr sz="900" b="0">
                <a:solidFill>
                  <a:srgbClr val="16191F"/>
                </a:solidFill>
                <a:latin typeface="Calibri"/>
              </a:rPr>
              <a:t>A network hop per tool call, and a Lambda bill this model does not count. The isolation boundary is managed: you trust it, you cannot inspect it.</a:t>
            </a:r>
          </a:p>
        </p:txBody>
      </p:sp>
      <p:sp>
        <p:nvSpPr>
          <p:cNvPr id="125" name="TextBox 124"/>
          <p:cNvSpPr txBox="1"/>
          <p:nvPr/>
        </p:nvSpPr>
        <p:spPr>
          <a:xfrm>
            <a:off x="8942832" y="4096511"/>
            <a:ext cx="1389888" cy="731520"/>
          </a:xfrm>
          <a:prstGeom prst="rect">
            <a:avLst/>
          </a:prstGeom>
          <a:noFill/>
        </p:spPr>
        <p:txBody>
          <a:bodyPr wrap="square" lIns="0" rIns="0" tIns="0" bIns="0" anchor="t">
            <a:spAutoFit/>
          </a:bodyPr>
          <a:lstStyle/>
          <a:p>
            <a:pPr algn="ctr">
              <a:spcAft>
                <a:spcPts val="250"/>
              </a:spcAft>
            </a:pPr>
            <a:r>
              <a:rPr sz="850" b="0">
                <a:solidFill>
                  <a:srgbClr val="16191F"/>
                </a:solidFill>
                <a:latin typeface="Calibri"/>
              </a:rPr>
              <a:t>A  $0 marginal</a:t>
            </a:r>
          </a:p>
          <a:p>
            <a:pPr algn="ctr">
              <a:spcAft>
                <a:spcPts val="250"/>
              </a:spcAft>
            </a:pPr>
            <a:r>
              <a:rPr sz="850" b="0">
                <a:solidFill>
                  <a:srgbClr val="16191F"/>
                </a:solidFill>
                <a:latin typeface="Calibri"/>
              </a:rPr>
              <a:t>B  $0.0008 / user / mo  + Lambda, under 6% of B</a:t>
            </a:r>
          </a:p>
        </p:txBody>
      </p:sp>
      <p:sp>
        <p:nvSpPr>
          <p:cNvPr id="126" name="Rounded Rectangle 125"/>
          <p:cNvSpPr/>
          <p:nvPr/>
        </p:nvSpPr>
        <p:spPr>
          <a:xfrm>
            <a:off x="10479024" y="4114800"/>
            <a:ext cx="1024128" cy="237744"/>
          </a:xfrm>
          <a:prstGeom prst="roundRect">
            <a:avLst>
              <a:gd name="adj" fmla="val 35000"/>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10479024" y="4151376"/>
            <a:ext cx="1024128" cy="237744"/>
          </a:xfrm>
          <a:prstGeom prst="rect">
            <a:avLst/>
          </a:prstGeom>
          <a:noFill/>
        </p:spPr>
        <p:txBody>
          <a:bodyPr wrap="square" lIns="0" rIns="0" tIns="0" bIns="0" anchor="t">
            <a:spAutoFit/>
          </a:bodyPr>
          <a:lstStyle/>
          <a:p>
            <a:pPr algn="ctr">
              <a:spcAft>
                <a:spcPts val="200"/>
              </a:spcAft>
            </a:pPr>
            <a:r>
              <a:rPr sz="900" b="1">
                <a:solidFill>
                  <a:srgbClr val="FFFFFF"/>
                </a:solidFill>
                <a:latin typeface="Calibri"/>
              </a:rPr>
              <a:t>AGENTCORE</a:t>
            </a:r>
          </a:p>
        </p:txBody>
      </p:sp>
      <p:sp>
        <p:nvSpPr>
          <p:cNvPr id="128" name="TextBox 127"/>
          <p:cNvSpPr txBox="1"/>
          <p:nvPr/>
        </p:nvSpPr>
        <p:spPr>
          <a:xfrm>
            <a:off x="10387584" y="4407408"/>
            <a:ext cx="1207008" cy="365760"/>
          </a:xfrm>
          <a:prstGeom prst="rect">
            <a:avLst/>
          </a:prstGeom>
          <a:noFill/>
        </p:spPr>
        <p:txBody>
          <a:bodyPr wrap="square" lIns="0" rIns="0" tIns="0" bIns="0" anchor="t">
            <a:spAutoFit/>
          </a:bodyPr>
          <a:lstStyle/>
          <a:p>
            <a:pPr algn="ctr">
              <a:spcAft>
                <a:spcPts val="200"/>
              </a:spcAft>
            </a:pPr>
            <a:r>
              <a:rPr sz="750" b="0">
                <a:solidFill>
                  <a:srgbClr val="545B64"/>
                </a:solidFill>
                <a:latin typeface="Calibri"/>
              </a:rPr>
              <a:t>blast radius, not cost</a:t>
            </a:r>
          </a:p>
        </p:txBody>
      </p:sp>
      <p:sp>
        <p:nvSpPr>
          <p:cNvPr id="129" name="Rectangle 128"/>
          <p:cNvSpPr/>
          <p:nvPr/>
        </p:nvSpPr>
        <p:spPr>
          <a:xfrm>
            <a:off x="566928" y="4882896"/>
            <a:ext cx="11064240"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0" name="Picture 129" descr="image.png"/>
          <p:cNvPicPr>
            <a:picLocks noChangeAspect="1"/>
          </p:cNvPicPr>
          <p:nvPr/>
        </p:nvPicPr>
        <p:blipFill>
          <a:blip r:embed="rId6"/>
          <a:stretch>
            <a:fillRect/>
          </a:stretch>
        </p:blipFill>
        <p:spPr>
          <a:xfrm>
            <a:off x="658368" y="5010912"/>
            <a:ext cx="310896" cy="310896"/>
          </a:xfrm>
          <a:prstGeom prst="rect">
            <a:avLst/>
          </a:prstGeom>
        </p:spPr>
      </p:pic>
      <p:sp>
        <p:nvSpPr>
          <p:cNvPr id="131" name="TextBox 130"/>
          <p:cNvSpPr txBox="1"/>
          <p:nvPr/>
        </p:nvSpPr>
        <p:spPr>
          <a:xfrm>
            <a:off x="1042415" y="5020055"/>
            <a:ext cx="1316736" cy="548640"/>
          </a:xfrm>
          <a:prstGeom prst="rect">
            <a:avLst/>
          </a:prstGeom>
          <a:noFill/>
        </p:spPr>
        <p:txBody>
          <a:bodyPr wrap="square" lIns="0" rIns="0" tIns="0" bIns="0" anchor="t">
            <a:spAutoFit/>
          </a:bodyPr>
          <a:lstStyle/>
          <a:p>
            <a:pPr algn="l">
              <a:spcAft>
                <a:spcPts val="200"/>
              </a:spcAft>
            </a:pPr>
            <a:r>
              <a:rPr sz="1100" b="1">
                <a:solidFill>
                  <a:srgbClr val="232F3E"/>
                </a:solidFill>
                <a:latin typeface="Calibri"/>
              </a:rPr>
              <a:t>AgentCore Observability</a:t>
            </a:r>
          </a:p>
        </p:txBody>
      </p:sp>
      <p:sp>
        <p:nvSpPr>
          <p:cNvPr id="132" name="TextBox 131"/>
          <p:cNvSpPr txBox="1"/>
          <p:nvPr/>
        </p:nvSpPr>
        <p:spPr>
          <a:xfrm>
            <a:off x="2414016" y="5001768"/>
            <a:ext cx="2157984" cy="731520"/>
          </a:xfrm>
          <a:prstGeom prst="rect">
            <a:avLst/>
          </a:prstGeom>
          <a:noFill/>
        </p:spPr>
        <p:txBody>
          <a:bodyPr wrap="square" lIns="0" rIns="0" tIns="0" bIns="0" anchor="t">
            <a:spAutoFit/>
          </a:bodyPr>
          <a:lstStyle/>
          <a:p>
            <a:pPr algn="l">
              <a:spcAft>
                <a:spcPts val="200"/>
              </a:spcAft>
            </a:pPr>
            <a:r>
              <a:rPr sz="900" b="0">
                <a:solidFill>
                  <a:srgbClr val="16191F"/>
                </a:solidFill>
                <a:latin typeface="Calibri"/>
              </a:rPr>
              <a:t>Hand-wired OTEL spans, chosen field by field, into a CloudWatch bill we own.</a:t>
            </a:r>
          </a:p>
        </p:txBody>
      </p:sp>
      <p:sp>
        <p:nvSpPr>
          <p:cNvPr id="133" name="TextBox 132"/>
          <p:cNvSpPr txBox="1"/>
          <p:nvPr/>
        </p:nvSpPr>
        <p:spPr>
          <a:xfrm>
            <a:off x="4626864" y="5001768"/>
            <a:ext cx="2103120" cy="731520"/>
          </a:xfrm>
          <a:prstGeom prst="rect">
            <a:avLst/>
          </a:prstGeom>
          <a:noFill/>
        </p:spPr>
        <p:txBody>
          <a:bodyPr wrap="square" lIns="0" rIns="0" tIns="0" bIns="0" anchor="t">
            <a:spAutoFit/>
          </a:bodyPr>
          <a:lstStyle/>
          <a:p>
            <a:pPr algn="l">
              <a:spcAft>
                <a:spcPts val="200"/>
              </a:spcAft>
            </a:pPr>
            <a:r>
              <a:rPr sz="900" b="0">
                <a:solidFill>
                  <a:srgbClr val="16191F"/>
                </a:solidFill>
                <a:latin typeface="Calibri"/>
              </a:rPr>
              <a:t>No span plumbing to write or maintain, and traces that survive a redeploy.</a:t>
            </a:r>
          </a:p>
        </p:txBody>
      </p:sp>
      <p:sp>
        <p:nvSpPr>
          <p:cNvPr id="134" name="TextBox 133"/>
          <p:cNvSpPr txBox="1"/>
          <p:nvPr/>
        </p:nvSpPr>
        <p:spPr>
          <a:xfrm>
            <a:off x="6784848" y="5001768"/>
            <a:ext cx="2103120" cy="731520"/>
          </a:xfrm>
          <a:prstGeom prst="rect">
            <a:avLst/>
          </a:prstGeom>
          <a:noFill/>
        </p:spPr>
        <p:txBody>
          <a:bodyPr wrap="square" lIns="0" rIns="0" tIns="0" bIns="0" anchor="t">
            <a:spAutoFit/>
          </a:bodyPr>
          <a:lstStyle/>
          <a:p>
            <a:pPr algn="l">
              <a:spcAft>
                <a:spcPts val="200"/>
              </a:spcAft>
            </a:pPr>
            <a:r>
              <a:rPr sz="900" b="0">
                <a:solidFill>
                  <a:srgbClr val="16191F"/>
                </a:solidFill>
                <a:latin typeface="Calibri"/>
              </a:rPr>
              <a:t>You emit what the service emits. The fields that actually decide an incident at 2am are the ones we added by hand.</a:t>
            </a:r>
          </a:p>
        </p:txBody>
      </p:sp>
      <p:sp>
        <p:nvSpPr>
          <p:cNvPr id="135" name="TextBox 134"/>
          <p:cNvSpPr txBox="1"/>
          <p:nvPr/>
        </p:nvSpPr>
        <p:spPr>
          <a:xfrm>
            <a:off x="8942832" y="5020055"/>
            <a:ext cx="1389888" cy="731520"/>
          </a:xfrm>
          <a:prstGeom prst="rect">
            <a:avLst/>
          </a:prstGeom>
          <a:noFill/>
        </p:spPr>
        <p:txBody>
          <a:bodyPr wrap="square" lIns="0" rIns="0" tIns="0" bIns="0" anchor="t">
            <a:spAutoFit/>
          </a:bodyPr>
          <a:lstStyle/>
          <a:p>
            <a:pPr algn="ctr">
              <a:spcAft>
                <a:spcPts val="250"/>
              </a:spcAft>
            </a:pPr>
            <a:r>
              <a:rPr sz="850" b="0">
                <a:solidFill>
                  <a:srgbClr val="16191F"/>
                </a:solidFill>
                <a:latin typeface="Calibri"/>
              </a:rPr>
              <a:t>Not modelled either side —</a:t>
            </a:r>
          </a:p>
          <a:p>
            <a:pPr algn="ctr">
              <a:spcAft>
                <a:spcPts val="250"/>
              </a:spcAft>
            </a:pPr>
            <a:r>
              <a:rPr sz="850" b="0">
                <a:solidFill>
                  <a:srgbClr val="16191F"/>
                </a:solidFill>
                <a:latin typeface="Calibri"/>
              </a:rPr>
              <a:t>CloudWatch ingestion is real and uncounted for both</a:t>
            </a:r>
          </a:p>
        </p:txBody>
      </p:sp>
      <p:sp>
        <p:nvSpPr>
          <p:cNvPr id="136" name="Rounded Rectangle 135"/>
          <p:cNvSpPr/>
          <p:nvPr/>
        </p:nvSpPr>
        <p:spPr>
          <a:xfrm>
            <a:off x="10479024" y="5038344"/>
            <a:ext cx="1024128" cy="237744"/>
          </a:xfrm>
          <a:prstGeom prst="roundRect">
            <a:avLst>
              <a:gd name="adj" fmla="val 35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10479024" y="5074920"/>
            <a:ext cx="1024128" cy="237744"/>
          </a:xfrm>
          <a:prstGeom prst="rect">
            <a:avLst/>
          </a:prstGeom>
          <a:noFill/>
        </p:spPr>
        <p:txBody>
          <a:bodyPr wrap="square" lIns="0" rIns="0" tIns="0" bIns="0" anchor="t">
            <a:spAutoFit/>
          </a:bodyPr>
          <a:lstStyle/>
          <a:p>
            <a:pPr algn="ctr">
              <a:spcAft>
                <a:spcPts val="200"/>
              </a:spcAft>
            </a:pPr>
            <a:r>
              <a:rPr sz="900" b="1">
                <a:solidFill>
                  <a:srgbClr val="FFFFFF"/>
                </a:solidFill>
                <a:latin typeface="Calibri"/>
              </a:rPr>
              <a:t>DIY</a:t>
            </a:r>
          </a:p>
        </p:txBody>
      </p:sp>
      <p:sp>
        <p:nvSpPr>
          <p:cNvPr id="138" name="TextBox 137"/>
          <p:cNvSpPr txBox="1"/>
          <p:nvPr/>
        </p:nvSpPr>
        <p:spPr>
          <a:xfrm>
            <a:off x="10387584" y="5330952"/>
            <a:ext cx="1207008" cy="365760"/>
          </a:xfrm>
          <a:prstGeom prst="rect">
            <a:avLst/>
          </a:prstGeom>
          <a:noFill/>
        </p:spPr>
        <p:txBody>
          <a:bodyPr wrap="square" lIns="0" rIns="0" tIns="0" bIns="0" anchor="t">
            <a:spAutoFit/>
          </a:bodyPr>
          <a:lstStyle/>
          <a:p>
            <a:pPr algn="ctr">
              <a:spcAft>
                <a:spcPts val="200"/>
              </a:spcAft>
            </a:pPr>
            <a:r>
              <a:rPr sz="750" b="0">
                <a:solidFill>
                  <a:srgbClr val="545B64"/>
                </a:solidFill>
                <a:latin typeface="Calibri"/>
              </a:rPr>
              <a:t>the one we kept</a:t>
            </a:r>
          </a:p>
        </p:txBody>
      </p:sp>
      <p:sp>
        <p:nvSpPr>
          <p:cNvPr id="139" name="Rounded Rectangle 138"/>
          <p:cNvSpPr/>
          <p:nvPr/>
        </p:nvSpPr>
        <p:spPr>
          <a:xfrm>
            <a:off x="566928" y="5897880"/>
            <a:ext cx="11064240" cy="475488"/>
          </a:xfrm>
          <a:prstGeom prst="roundRect">
            <a:avLst>
              <a:gd name="adj" fmla="val 12000"/>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749808" y="5971032"/>
            <a:ext cx="10698480" cy="365760"/>
          </a:xfrm>
          <a:prstGeom prst="rect">
            <a:avLst/>
          </a:prstGeom>
          <a:noFill/>
        </p:spPr>
        <p:txBody>
          <a:bodyPr wrap="square" lIns="0" rIns="0" tIns="0" bIns="0" anchor="t">
            <a:spAutoFit/>
          </a:bodyPr>
          <a:lstStyle/>
          <a:p>
            <a:pPr algn="l">
              <a:spcAft>
                <a:spcPts val="200"/>
              </a:spcAft>
            </a:pPr>
            <a:r>
              <a:rPr sz="1000" b="1">
                <a:solidFill>
                  <a:srgbClr val="232F3E"/>
                </a:solidFill>
                <a:latin typeface="Calibri"/>
              </a:rPr>
              <a:t>Four decisions, not one verdict. Memory is 99.9% of engine A's bill at scale; Runtime only decides it below ~11 users; Gateway buys blast radius, not savings.</a:t>
            </a:r>
          </a:p>
          <a:p>
            <a:pPr algn="l">
              <a:spcAft>
                <a:spcPts val="200"/>
              </a:spcAft>
            </a:pPr>
            <a:r>
              <a:rPr sz="1000" b="1">
                <a:solidFill>
                  <a:srgbClr val="232F3E"/>
                </a:solidFill>
                <a:latin typeface="Calibri"/>
              </a:rPr>
              <a:t>Latency is the one thing DIY wins outright — and it does not change any of the four calls.</a:t>
            </a:r>
          </a:p>
        </p:txBody>
      </p:sp>
      <p:sp>
        <p:nvSpPr>
          <p:cNvPr id="86" name="Rounded Rectangle 85">
            <a:extLst>
              <a:ext uri="{FF2B5EF4-FFF2-40B4-BE49-F238E27FC236}">
                <a16:creationId xmlns:a16="http://schemas.microsoft.com/office/drawing/2014/main" id="{217983E9-2881-B43C-8467-C68770626632}"/>
              </a:ext>
            </a:extLst>
          </p:cNvPr>
          <p:cNvSpPr/>
          <p:nvPr/>
        </p:nvSpPr>
        <p:spPr>
          <a:xfrm>
            <a:off x="5808911" y="426911"/>
            <a:ext cx="5999461" cy="871537"/>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**The general structure of the slide is good – the selected area isn’t good enough, have many </a:t>
            </a:r>
            <a:r>
              <a:rPr lang="en-US" dirty="0" err="1">
                <a:solidFill>
                  <a:srgbClr val="FF0000"/>
                </a:solidFill>
                <a:highlight>
                  <a:srgbClr val="FFFF00"/>
                </a:highlight>
              </a:rPr>
              <a:t>nuancves</a:t>
            </a:r>
            <a:r>
              <a:rPr lang="en-US" dirty="0">
                <a:solidFill>
                  <a:srgbClr val="FF0000"/>
                </a:solidFill>
                <a:highlight>
                  <a:srgbClr val="FFFF00"/>
                </a:highlight>
              </a:rPr>
              <a:t> and I </a:t>
            </a:r>
            <a:r>
              <a:rPr lang="en-US" dirty="0" err="1">
                <a:solidFill>
                  <a:srgbClr val="FF0000"/>
                </a:solidFill>
                <a:highlight>
                  <a:srgbClr val="FFFF00"/>
                </a:highlight>
              </a:rPr>
              <a:t>thingk</a:t>
            </a:r>
            <a:r>
              <a:rPr lang="en-US" dirty="0">
                <a:solidFill>
                  <a:srgbClr val="FF0000"/>
                </a:solidFill>
                <a:highlight>
                  <a:srgbClr val="FFFF00"/>
                </a:highlight>
              </a:rPr>
              <a:t> you did a bad job summarizing it</a:t>
            </a:r>
            <a:endParaRPr dirty="0">
              <a:solidFill>
                <a:srgbClr val="FF0000"/>
              </a:solidFill>
              <a:highlight>
                <a:srgbClr val="FFFF00"/>
              </a:highlight>
            </a:endParaRPr>
          </a:p>
        </p:txBody>
      </p:sp>
      <p:sp>
        <p:nvSpPr>
          <p:cNvPr id="87" name="Rounded Rectangle 86">
            <a:extLst>
              <a:ext uri="{FF2B5EF4-FFF2-40B4-BE49-F238E27FC236}">
                <a16:creationId xmlns:a16="http://schemas.microsoft.com/office/drawing/2014/main" id="{CE949B9A-8BC2-63D3-5952-0E396A2B8882}"/>
              </a:ext>
            </a:extLst>
          </p:cNvPr>
          <p:cNvSpPr/>
          <p:nvPr/>
        </p:nvSpPr>
        <p:spPr>
          <a:xfrm>
            <a:off x="4329683" y="2103120"/>
            <a:ext cx="7328917"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 not nuanced enough and need revision</a:t>
            </a:r>
            <a:endParaRPr dirty="0">
              <a:solidFill>
                <a:srgbClr val="FF0000"/>
              </a:solidFill>
              <a:highlight>
                <a:srgbClr val="FFFF00"/>
              </a:highlight>
            </a:endParaRPr>
          </a:p>
        </p:txBody>
      </p:sp>
      <p:sp>
        <p:nvSpPr>
          <p:cNvPr id="88" name="Rounded Rectangle 87">
            <a:extLst>
              <a:ext uri="{FF2B5EF4-FFF2-40B4-BE49-F238E27FC236}">
                <a16:creationId xmlns:a16="http://schemas.microsoft.com/office/drawing/2014/main" id="{02DA8FA1-372D-85AC-6842-46C1E04C7717}"/>
              </a:ext>
            </a:extLst>
          </p:cNvPr>
          <p:cNvSpPr/>
          <p:nvPr/>
        </p:nvSpPr>
        <p:spPr>
          <a:xfrm>
            <a:off x="2173277" y="1173742"/>
            <a:ext cx="2118359" cy="438912"/>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Write the full name and add little symbol</a:t>
            </a:r>
            <a:endParaRPr dirty="0">
              <a:solidFill>
                <a:srgbClr val="FF0000"/>
              </a:solidFill>
              <a:highlight>
                <a:srgbClr val="FFFF00"/>
              </a:highlight>
            </a:endParaRPr>
          </a:p>
        </p:txBody>
      </p:sp>
      <p:sp>
        <p:nvSpPr>
          <p:cNvPr id="89" name="Rounded Rectangle 88">
            <a:extLst>
              <a:ext uri="{FF2B5EF4-FFF2-40B4-BE49-F238E27FC236}">
                <a16:creationId xmlns:a16="http://schemas.microsoft.com/office/drawing/2014/main" id="{D303AF6C-0786-B509-F544-093B93AF00AF}"/>
              </a:ext>
            </a:extLst>
          </p:cNvPr>
          <p:cNvSpPr/>
          <p:nvPr/>
        </p:nvSpPr>
        <p:spPr>
          <a:xfrm>
            <a:off x="-755140" y="3694176"/>
            <a:ext cx="2735577" cy="438912"/>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The split isn’t so good, we </a:t>
            </a:r>
            <a:r>
              <a:rPr lang="en-US" dirty="0" err="1">
                <a:solidFill>
                  <a:srgbClr val="FF0000"/>
                </a:solidFill>
                <a:highlight>
                  <a:srgbClr val="FFFF00"/>
                </a:highlight>
              </a:rPr>
              <a:t>nned</a:t>
            </a:r>
            <a:r>
              <a:rPr lang="en-US" dirty="0">
                <a:solidFill>
                  <a:srgbClr val="FF0000"/>
                </a:solidFill>
                <a:highlight>
                  <a:srgbClr val="FFFF00"/>
                </a:highlight>
              </a:rPr>
              <a:t> 4 sections, lets </a:t>
            </a:r>
            <a:r>
              <a:rPr lang="en-US" dirty="0" err="1">
                <a:solidFill>
                  <a:srgbClr val="FF0000"/>
                </a:solidFill>
                <a:highlight>
                  <a:srgbClr val="FFFF00"/>
                </a:highlight>
              </a:rPr>
              <a:t>thignk</a:t>
            </a:r>
            <a:r>
              <a:rPr lang="en-US" dirty="0">
                <a:solidFill>
                  <a:srgbClr val="FF0000"/>
                </a:solidFill>
                <a:highlight>
                  <a:srgbClr val="FFFF00"/>
                </a:highlight>
              </a:rPr>
              <a:t> on it together</a:t>
            </a:r>
            <a:endParaRPr dirty="0">
              <a:solidFill>
                <a:srgbClr val="FF0000"/>
              </a:solidFill>
              <a:highlight>
                <a:srgbClr val="FFFF00"/>
              </a:highlight>
            </a:endParaRPr>
          </a:p>
        </p:txBody>
      </p:sp>
      <p:sp>
        <p:nvSpPr>
          <p:cNvPr id="90" name="Rounded Rectangle 89">
            <a:extLst>
              <a:ext uri="{FF2B5EF4-FFF2-40B4-BE49-F238E27FC236}">
                <a16:creationId xmlns:a16="http://schemas.microsoft.com/office/drawing/2014/main" id="{D08F9B6C-521F-D275-61E6-05273B3D8622}"/>
              </a:ext>
            </a:extLst>
          </p:cNvPr>
          <p:cNvSpPr/>
          <p:nvPr/>
        </p:nvSpPr>
        <p:spPr>
          <a:xfrm>
            <a:off x="4910327" y="4658865"/>
            <a:ext cx="6108193" cy="1030226"/>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 what DIY actually means?</a:t>
            </a:r>
            <a:endParaRPr dirty="0">
              <a:solidFill>
                <a:srgbClr val="FF0000"/>
              </a:solidFill>
              <a:highlight>
                <a:srgbClr val="FFFF00"/>
              </a:highligh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2A938-A591-04E9-E1D0-34A741919BF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52C5000-38B5-B7F7-8194-CBCAAD665308}"/>
              </a:ext>
            </a:extLst>
          </p:cNvPr>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a:extLst>
              <a:ext uri="{FF2B5EF4-FFF2-40B4-BE49-F238E27FC236}">
                <a16:creationId xmlns:a16="http://schemas.microsoft.com/office/drawing/2014/main" id="{2E31C238-03E9-AF22-4DFE-DC052343394B}"/>
              </a:ext>
            </a:extLst>
          </p:cNvPr>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0315DD0C-8028-2C9A-2E94-F833312D28C8}"/>
              </a:ext>
            </a:extLst>
          </p:cNvPr>
          <p:cNvSpPr txBox="1"/>
          <p:nvPr/>
        </p:nvSpPr>
        <p:spPr>
          <a:xfrm>
            <a:off x="502920" y="365760"/>
            <a:ext cx="594360" cy="594360"/>
          </a:xfrm>
          <a:prstGeom prst="rect">
            <a:avLst/>
          </a:prstGeom>
          <a:noFill/>
        </p:spPr>
        <p:txBody>
          <a:bodyPr wrap="square" lIns="0" tIns="0" rIns="0" bIns="0" anchor="ctr">
            <a:spAutoFit/>
          </a:bodyPr>
          <a:lstStyle/>
          <a:p>
            <a:pPr algn="ctr"/>
            <a:r>
              <a:rPr sz="2600" b="1" i="0">
                <a:solidFill>
                  <a:srgbClr val="FF9900"/>
                </a:solidFill>
                <a:latin typeface="Calibri"/>
              </a:rPr>
              <a:t>6</a:t>
            </a:r>
          </a:p>
        </p:txBody>
      </p:sp>
      <p:sp>
        <p:nvSpPr>
          <p:cNvPr id="5" name="TextBox 4">
            <a:extLst>
              <a:ext uri="{FF2B5EF4-FFF2-40B4-BE49-F238E27FC236}">
                <a16:creationId xmlns:a16="http://schemas.microsoft.com/office/drawing/2014/main" id="{9BA7CB36-70FD-70A8-F505-6D132C8145E2}"/>
              </a:ext>
            </a:extLst>
          </p:cNvPr>
          <p:cNvSpPr txBox="1"/>
          <p:nvPr/>
        </p:nvSpPr>
        <p:spPr>
          <a:xfrm>
            <a:off x="1280160" y="432107"/>
            <a:ext cx="10058400" cy="461665"/>
          </a:xfrm>
          <a:prstGeom prst="rect">
            <a:avLst/>
          </a:prstGeom>
          <a:noFill/>
        </p:spPr>
        <p:txBody>
          <a:bodyPr wrap="square" lIns="0" tIns="0" rIns="0" bIns="0" anchor="ctr">
            <a:spAutoFit/>
          </a:bodyPr>
          <a:lstStyle/>
          <a:p>
            <a:pPr algn="l"/>
            <a:r>
              <a:rPr lang="en-US" sz="3000" b="1" i="0" dirty="0">
                <a:solidFill>
                  <a:srgbClr val="232F3E"/>
                </a:solidFill>
                <a:latin typeface="Calibri"/>
              </a:rPr>
              <a:t>Where the money actually goes</a:t>
            </a:r>
            <a:endParaRPr sz="3000" b="1" i="0" dirty="0">
              <a:solidFill>
                <a:srgbClr val="232F3E"/>
              </a:solidFill>
              <a:latin typeface="Calibri"/>
            </a:endParaRPr>
          </a:p>
        </p:txBody>
      </p:sp>
      <p:sp>
        <p:nvSpPr>
          <p:cNvPr id="6" name="Rectangle 5">
            <a:extLst>
              <a:ext uri="{FF2B5EF4-FFF2-40B4-BE49-F238E27FC236}">
                <a16:creationId xmlns:a16="http://schemas.microsoft.com/office/drawing/2014/main" id="{D869C3E2-14DB-CD4C-EFAC-5927D6AFFF8C}"/>
              </a:ext>
            </a:extLst>
          </p:cNvPr>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56651044-2676-7AA3-6891-F43271C0FA37}"/>
              </a:ext>
            </a:extLst>
          </p:cNvPr>
          <p:cNvSpPr txBox="1"/>
          <p:nvPr/>
        </p:nvSpPr>
        <p:spPr>
          <a:xfrm>
            <a:off x="502920" y="1280160"/>
            <a:ext cx="11155680" cy="475488"/>
          </a:xfrm>
          <a:prstGeom prst="rect">
            <a:avLst/>
          </a:prstGeom>
          <a:noFill/>
        </p:spPr>
        <p:txBody>
          <a:bodyPr wrap="square" lIns="0" tIns="0" rIns="0" bIns="0" anchor="t">
            <a:spAutoFit/>
          </a:bodyPr>
          <a:lstStyle/>
          <a:p>
            <a:pPr algn="l"/>
            <a:r>
              <a:rPr sz="1400" b="0" i="0">
                <a:solidFill>
                  <a:srgbClr val="545B64"/>
                </a:solidFill>
                <a:latin typeface="Calibri"/>
              </a:rPr>
              <a:t>The bill splits three ways — fixed, per user, per turn. Only one of them decides the 13.8×.</a:t>
            </a:r>
          </a:p>
        </p:txBody>
      </p:sp>
      <p:sp>
        <p:nvSpPr>
          <p:cNvPr id="8" name="TextBox 7">
            <a:extLst>
              <a:ext uri="{FF2B5EF4-FFF2-40B4-BE49-F238E27FC236}">
                <a16:creationId xmlns:a16="http://schemas.microsoft.com/office/drawing/2014/main" id="{1EAB9537-2064-6B9D-4740-976BF23A7D20}"/>
              </a:ext>
            </a:extLst>
          </p:cNvPr>
          <p:cNvSpPr txBox="1"/>
          <p:nvPr/>
        </p:nvSpPr>
        <p:spPr>
          <a:xfrm>
            <a:off x="502920" y="6446520"/>
            <a:ext cx="8229600" cy="320040"/>
          </a:xfrm>
          <a:prstGeom prst="rect">
            <a:avLst/>
          </a:prstGeom>
          <a:noFill/>
        </p:spPr>
        <p:txBody>
          <a:bodyPr wrap="square" lIns="0" tIns="0" rIns="0" bIns="0" anchor="t">
            <a:spAutoFit/>
          </a:bodyPr>
          <a:lstStyle/>
          <a:p>
            <a:pPr algn="l"/>
            <a:r>
              <a:rPr sz="1000" b="1" i="0">
                <a:solidFill>
                  <a:srgbClr val="545B64"/>
                </a:solidFill>
                <a:latin typeface="Calibri"/>
              </a:rPr>
              <a:t>VALENTIN   ·   GenAI TFC Capstone Deep-Dive</a:t>
            </a:r>
          </a:p>
        </p:txBody>
      </p:sp>
      <p:sp>
        <p:nvSpPr>
          <p:cNvPr id="9" name="TextBox 8">
            <a:extLst>
              <a:ext uri="{FF2B5EF4-FFF2-40B4-BE49-F238E27FC236}">
                <a16:creationId xmlns:a16="http://schemas.microsoft.com/office/drawing/2014/main" id="{158793DC-8340-D2DE-95EF-FDB50CBDBC97}"/>
              </a:ext>
            </a:extLst>
          </p:cNvPr>
          <p:cNvSpPr txBox="1"/>
          <p:nvPr/>
        </p:nvSpPr>
        <p:spPr>
          <a:xfrm>
            <a:off x="10332720" y="6446520"/>
            <a:ext cx="1371600" cy="320040"/>
          </a:xfrm>
          <a:prstGeom prst="rect">
            <a:avLst/>
          </a:prstGeom>
          <a:noFill/>
        </p:spPr>
        <p:txBody>
          <a:bodyPr wrap="square" lIns="0" tIns="0" rIns="0" bIns="0" anchor="t">
            <a:spAutoFit/>
          </a:bodyPr>
          <a:lstStyle/>
          <a:p>
            <a:pPr algn="r"/>
            <a:r>
              <a:rPr sz="1000" b="0" i="0">
                <a:solidFill>
                  <a:srgbClr val="545B64"/>
                </a:solidFill>
                <a:latin typeface="Calibri"/>
              </a:rPr>
              <a:t>7 / 18</a:t>
            </a:r>
          </a:p>
        </p:txBody>
      </p:sp>
      <p:sp>
        <p:nvSpPr>
          <p:cNvPr id="85" name="Rounded Rectangle 84">
            <a:extLst>
              <a:ext uri="{FF2B5EF4-FFF2-40B4-BE49-F238E27FC236}">
                <a16:creationId xmlns:a16="http://schemas.microsoft.com/office/drawing/2014/main" id="{657E02C7-A751-D88F-1E47-9F43053613B6}"/>
              </a:ext>
            </a:extLst>
          </p:cNvPr>
          <p:cNvSpPr/>
          <p:nvPr/>
        </p:nvSpPr>
        <p:spPr>
          <a:xfrm>
            <a:off x="1188720" y="2139696"/>
            <a:ext cx="7328917"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 to explain how the costs are </a:t>
            </a:r>
            <a:r>
              <a:rPr lang="en-US" dirty="0" err="1">
                <a:solidFill>
                  <a:srgbClr val="FF0000"/>
                </a:solidFill>
                <a:highlight>
                  <a:srgbClr val="FFFF00"/>
                </a:highlight>
              </a:rPr>
              <a:t>splited</a:t>
            </a:r>
            <a:r>
              <a:rPr lang="en-US" dirty="0">
                <a:solidFill>
                  <a:srgbClr val="FF0000"/>
                </a:solidFill>
                <a:highlight>
                  <a:srgbClr val="FFFF00"/>
                </a:highlight>
              </a:rPr>
              <a:t>:</a:t>
            </a:r>
          </a:p>
          <a:p>
            <a:pPr marL="342900" indent="-342900" algn="ctr" defTabSz="457200" rtl="0" eaLnBrk="1" latinLnBrk="0" hangingPunct="1">
              <a:buAutoNum type="arabicPeriod"/>
            </a:pPr>
            <a:r>
              <a:rPr lang="en-US" dirty="0">
                <a:solidFill>
                  <a:srgbClr val="FF0000"/>
                </a:solidFill>
                <a:highlight>
                  <a:srgbClr val="FFFF00"/>
                </a:highlight>
              </a:rPr>
              <a:t>Per turn model invocation</a:t>
            </a:r>
          </a:p>
          <a:p>
            <a:pPr marL="342900" indent="-342900" algn="ctr" defTabSz="457200" rtl="0" eaLnBrk="1" latinLnBrk="0" hangingPunct="1">
              <a:buAutoNum type="arabicPeriod"/>
            </a:pPr>
            <a:r>
              <a:rPr lang="en-US" dirty="0">
                <a:solidFill>
                  <a:srgbClr val="FF0000"/>
                </a:solidFill>
                <a:highlight>
                  <a:srgbClr val="FFFF00"/>
                </a:highlight>
              </a:rPr>
              <a:t>Preference extraction</a:t>
            </a:r>
          </a:p>
          <a:p>
            <a:pPr marL="342900" indent="-342900" algn="ctr" defTabSz="457200" rtl="0" eaLnBrk="1" latinLnBrk="0" hangingPunct="1">
              <a:buAutoNum type="arabicPeriod"/>
            </a:pPr>
            <a:r>
              <a:rPr lang="en-US" dirty="0">
                <a:solidFill>
                  <a:srgbClr val="FF0000"/>
                </a:solidFill>
                <a:highlight>
                  <a:srgbClr val="FFFF00"/>
                </a:highlight>
              </a:rPr>
              <a:t>Conversation saving over time</a:t>
            </a:r>
          </a:p>
          <a:p>
            <a:pPr marL="342900" indent="-342900" algn="ctr" defTabSz="457200" rtl="0" eaLnBrk="1" latinLnBrk="0" hangingPunct="1">
              <a:buAutoNum type="arabicPeriod"/>
            </a:pPr>
            <a:r>
              <a:rPr lang="en-US" dirty="0" err="1">
                <a:solidFill>
                  <a:srgbClr val="FF0000"/>
                </a:solidFill>
                <a:highlight>
                  <a:srgbClr val="FFFF00"/>
                </a:highlight>
              </a:rPr>
              <a:t>Additiona</a:t>
            </a:r>
            <a:r>
              <a:rPr lang="en-US" dirty="0">
                <a:solidFill>
                  <a:srgbClr val="FF0000"/>
                </a:solidFill>
                <a:highlight>
                  <a:srgbClr val="FFFF00"/>
                </a:highlight>
              </a:rPr>
              <a:t> thing I didn’t think of</a:t>
            </a:r>
          </a:p>
          <a:p>
            <a:pPr marL="342900" indent="-342900" algn="ctr" defTabSz="457200" rtl="0" eaLnBrk="1" latinLnBrk="0" hangingPunct="1">
              <a:buAutoNum type="arabicPeriod"/>
            </a:pPr>
            <a:r>
              <a:rPr lang="en-US" dirty="0">
                <a:solidFill>
                  <a:srgbClr val="FF0000"/>
                </a:solidFill>
                <a:highlight>
                  <a:srgbClr val="FFFF00"/>
                </a:highlight>
              </a:rPr>
              <a:t>Per user vs fixed cost</a:t>
            </a:r>
          </a:p>
          <a:p>
            <a:pPr marL="342900" indent="-342900" algn="ctr" defTabSz="457200" rtl="0" eaLnBrk="1" latinLnBrk="0" hangingPunct="1">
              <a:buAutoNum type="arabicPeriod"/>
            </a:pPr>
            <a:r>
              <a:rPr lang="en-US" dirty="0" err="1">
                <a:solidFill>
                  <a:srgbClr val="FF0000"/>
                </a:solidFill>
                <a:highlight>
                  <a:srgbClr val="FFFF00"/>
                </a:highlight>
              </a:rPr>
              <a:t>Igonoreing</a:t>
            </a:r>
            <a:r>
              <a:rPr lang="en-US" dirty="0">
                <a:solidFill>
                  <a:srgbClr val="FF0000"/>
                </a:solidFill>
                <a:highlight>
                  <a:srgbClr val="FFFF00"/>
                </a:highlight>
              </a:rPr>
              <a:t> educational </a:t>
            </a:r>
            <a:r>
              <a:rPr lang="en-US" dirty="0" err="1">
                <a:solidFill>
                  <a:srgbClr val="FF0000"/>
                </a:solidFill>
                <a:highlight>
                  <a:srgbClr val="FFFF00"/>
                </a:highlight>
              </a:rPr>
              <a:t>resourecs</a:t>
            </a:r>
            <a:endParaRPr lang="en-US" dirty="0">
              <a:solidFill>
                <a:srgbClr val="FF0000"/>
              </a:solidFill>
              <a:highlight>
                <a:srgbClr val="FFFF00"/>
              </a:highlight>
            </a:endParaRPr>
          </a:p>
          <a:p>
            <a:pPr marL="342900" indent="-342900" algn="ctr" defTabSz="457200" rtl="0" eaLnBrk="1" latinLnBrk="0" hangingPunct="1">
              <a:buAutoNum type="arabicPeriod"/>
            </a:pPr>
            <a:r>
              <a:rPr lang="en-US" dirty="0">
                <a:solidFill>
                  <a:srgbClr val="FF0000"/>
                </a:solidFill>
                <a:highlight>
                  <a:srgbClr val="FFFF00"/>
                </a:highlight>
              </a:rPr>
              <a:t>Not in the </a:t>
            </a:r>
            <a:r>
              <a:rPr lang="en-US" dirty="0" err="1">
                <a:solidFill>
                  <a:srgbClr val="FF0000"/>
                </a:solidFill>
                <a:highlight>
                  <a:srgbClr val="FFFF00"/>
                </a:highlight>
              </a:rPr>
              <a:t>lisde</a:t>
            </a:r>
            <a:r>
              <a:rPr lang="en-US" dirty="0">
                <a:solidFill>
                  <a:srgbClr val="FF0000"/>
                </a:solidFill>
                <a:highlight>
                  <a:srgbClr val="FFFF00"/>
                </a:highlight>
              </a:rPr>
              <a:t> itself, but in the notes put reference to every cost you mention because it is super important to be super exact and refer to the exact </a:t>
            </a:r>
            <a:r>
              <a:rPr lang="en-US" dirty="0" err="1">
                <a:solidFill>
                  <a:srgbClr val="FF0000"/>
                </a:solidFill>
                <a:highlight>
                  <a:srgbClr val="FFFF00"/>
                </a:highlight>
              </a:rPr>
              <a:t>palce</a:t>
            </a:r>
            <a:r>
              <a:rPr lang="en-US" dirty="0">
                <a:solidFill>
                  <a:srgbClr val="FF0000"/>
                </a:solidFill>
                <a:highlight>
                  <a:srgbClr val="FFFF00"/>
                </a:highlight>
              </a:rPr>
              <a:t> where it say it cost like that</a:t>
            </a:r>
          </a:p>
          <a:p>
            <a:pPr marL="342900" indent="-342900" algn="ctr" defTabSz="457200" rtl="0" eaLnBrk="1" latinLnBrk="0" hangingPunct="1">
              <a:buAutoNum type="arabicPeriod"/>
            </a:pPr>
            <a:endParaRPr lang="en-US" dirty="0">
              <a:solidFill>
                <a:srgbClr val="FF0000"/>
              </a:solidFill>
              <a:highlight>
                <a:srgbClr val="FFFF00"/>
              </a:highlight>
            </a:endParaRPr>
          </a:p>
          <a:p>
            <a:pPr marL="342900" indent="-342900" algn="ctr" defTabSz="457200" rtl="0" eaLnBrk="1" latinLnBrk="0" hangingPunct="1">
              <a:buAutoNum type="arabicPeriod"/>
            </a:pPr>
            <a:endParaRPr lang="en-US" dirty="0">
              <a:solidFill>
                <a:srgbClr val="FF0000"/>
              </a:solidFill>
              <a:highlight>
                <a:srgbClr val="FFFF00"/>
              </a:highlight>
            </a:endParaRPr>
          </a:p>
          <a:p>
            <a:pPr algn="ctr" defTabSz="457200" rtl="0" eaLnBrk="1" latinLnBrk="0" hangingPunct="1"/>
            <a:r>
              <a:rPr lang="en-US" dirty="0">
                <a:solidFill>
                  <a:srgbClr val="FF0000"/>
                </a:solidFill>
                <a:highlight>
                  <a:srgbClr val="FFFF00"/>
                </a:highlight>
              </a:rPr>
              <a:t>Put special effort into this slide</a:t>
            </a:r>
            <a:endParaRPr dirty="0">
              <a:solidFill>
                <a:srgbClr val="FF0000"/>
              </a:solidFill>
              <a:highlight>
                <a:srgbClr val="FFFF00"/>
              </a:highlight>
            </a:endParaRPr>
          </a:p>
        </p:txBody>
      </p:sp>
      <p:sp>
        <p:nvSpPr>
          <p:cNvPr id="86" name="Rectangle 85"/>
          <p:cNvSpPr/>
          <p:nvPr/>
        </p:nvSpPr>
        <p:spPr>
          <a:xfrm>
            <a:off x="566928" y="1737360"/>
            <a:ext cx="3621024" cy="1810512"/>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566928" y="1737360"/>
            <a:ext cx="45720" cy="1810512"/>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731520" y="1828800"/>
            <a:ext cx="3310128" cy="219456"/>
          </a:xfrm>
          <a:prstGeom prst="rect">
            <a:avLst/>
          </a:prstGeom>
          <a:noFill/>
        </p:spPr>
        <p:txBody>
          <a:bodyPr wrap="square" lIns="0" rIns="0" tIns="0" bIns="0" anchor="t">
            <a:spAutoFit/>
          </a:bodyPr>
          <a:lstStyle/>
          <a:p>
            <a:pPr algn="l">
              <a:spcAft>
                <a:spcPts val="200"/>
              </a:spcAft>
            </a:pPr>
            <a:r>
              <a:rPr sz="1000" b="1">
                <a:solidFill>
                  <a:srgbClr val="232F3E"/>
                </a:solidFill>
                <a:latin typeface="Calibri"/>
              </a:rPr>
              <a:t>FIXED  ·  paid at zero usage</a:t>
            </a:r>
          </a:p>
        </p:txBody>
      </p:sp>
      <p:sp>
        <p:nvSpPr>
          <p:cNvPr id="89" name="TextBox 88"/>
          <p:cNvSpPr txBox="1"/>
          <p:nvPr/>
        </p:nvSpPr>
        <p:spPr>
          <a:xfrm>
            <a:off x="731520" y="2139696"/>
            <a:ext cx="960120" cy="182880"/>
          </a:xfrm>
          <a:prstGeom prst="rect">
            <a:avLst/>
          </a:prstGeom>
          <a:noFill/>
        </p:spPr>
        <p:txBody>
          <a:bodyPr wrap="square" lIns="0" rIns="0" tIns="0" bIns="0" anchor="t">
            <a:spAutoFit/>
          </a:bodyPr>
          <a:lstStyle/>
          <a:p>
            <a:pPr algn="l">
              <a:spcAft>
                <a:spcPts val="200"/>
              </a:spcAft>
            </a:pPr>
            <a:r>
              <a:rPr sz="850" b="1">
                <a:solidFill>
                  <a:srgbClr val="232F3E"/>
                </a:solidFill>
                <a:latin typeface="Calibri"/>
              </a:rPr>
              <a:t>A · DIY</a:t>
            </a:r>
          </a:p>
        </p:txBody>
      </p:sp>
      <p:sp>
        <p:nvSpPr>
          <p:cNvPr id="90" name="TextBox 89"/>
          <p:cNvSpPr txBox="1"/>
          <p:nvPr/>
        </p:nvSpPr>
        <p:spPr>
          <a:xfrm>
            <a:off x="1737360" y="2103120"/>
            <a:ext cx="2304288" cy="237744"/>
          </a:xfrm>
          <a:prstGeom prst="rect">
            <a:avLst/>
          </a:prstGeom>
          <a:noFill/>
        </p:spPr>
        <p:txBody>
          <a:bodyPr wrap="square" lIns="0" rIns="0" tIns="0" bIns="0" anchor="t">
            <a:spAutoFit/>
          </a:bodyPr>
          <a:lstStyle/>
          <a:p>
            <a:pPr algn="l">
              <a:spcAft>
                <a:spcPts val="200"/>
              </a:spcAft>
            </a:pPr>
            <a:r>
              <a:rPr sz="1300" b="1">
                <a:solidFill>
                  <a:srgbClr val="232F3E"/>
                </a:solidFill>
                <a:latin typeface="Calibri"/>
              </a:rPr>
              <a:t>$18.02 / mo</a:t>
            </a:r>
          </a:p>
        </p:txBody>
      </p:sp>
      <p:sp>
        <p:nvSpPr>
          <p:cNvPr id="91" name="TextBox 90"/>
          <p:cNvSpPr txBox="1"/>
          <p:nvPr/>
        </p:nvSpPr>
        <p:spPr>
          <a:xfrm>
            <a:off x="731520" y="2340864"/>
            <a:ext cx="3310128" cy="310896"/>
          </a:xfrm>
          <a:prstGeom prst="rect">
            <a:avLst/>
          </a:prstGeom>
          <a:noFill/>
        </p:spPr>
        <p:txBody>
          <a:bodyPr wrap="square" lIns="0" rIns="0" tIns="0" bIns="0" anchor="t">
            <a:spAutoFit/>
          </a:bodyPr>
          <a:lstStyle/>
          <a:p>
            <a:pPr algn="l">
              <a:spcAft>
                <a:spcPts val="200"/>
              </a:spcAft>
            </a:pPr>
            <a:r>
              <a:rPr sz="800" b="0">
                <a:solidFill>
                  <a:srgbClr val="545B64"/>
                </a:solidFill>
                <a:latin typeface="Calibri"/>
              </a:rPr>
              <a:t>one always-on Fargate task — 0.5 vCPU, 1 GiB, 730 h</a:t>
            </a:r>
          </a:p>
        </p:txBody>
      </p:sp>
      <p:sp>
        <p:nvSpPr>
          <p:cNvPr id="92" name="TextBox 91"/>
          <p:cNvSpPr txBox="1"/>
          <p:nvPr/>
        </p:nvSpPr>
        <p:spPr>
          <a:xfrm>
            <a:off x="731520" y="2706624"/>
            <a:ext cx="960120" cy="182880"/>
          </a:xfrm>
          <a:prstGeom prst="rect">
            <a:avLst/>
          </a:prstGeom>
          <a:noFill/>
        </p:spPr>
        <p:txBody>
          <a:bodyPr wrap="square" lIns="0" rIns="0" tIns="0" bIns="0" anchor="t">
            <a:spAutoFit/>
          </a:bodyPr>
          <a:lstStyle/>
          <a:p>
            <a:pPr algn="l">
              <a:spcAft>
                <a:spcPts val="200"/>
              </a:spcAft>
            </a:pPr>
            <a:r>
              <a:rPr sz="850" b="1">
                <a:solidFill>
                  <a:srgbClr val="1E7C3C"/>
                </a:solidFill>
                <a:latin typeface="Calibri"/>
              </a:rPr>
              <a:t>B · AgentCore</a:t>
            </a:r>
          </a:p>
        </p:txBody>
      </p:sp>
      <p:sp>
        <p:nvSpPr>
          <p:cNvPr id="93" name="TextBox 92"/>
          <p:cNvSpPr txBox="1"/>
          <p:nvPr/>
        </p:nvSpPr>
        <p:spPr>
          <a:xfrm>
            <a:off x="1737360" y="2670048"/>
            <a:ext cx="2304288" cy="237744"/>
          </a:xfrm>
          <a:prstGeom prst="rect">
            <a:avLst/>
          </a:prstGeom>
          <a:noFill/>
        </p:spPr>
        <p:txBody>
          <a:bodyPr wrap="square" lIns="0" rIns="0" tIns="0" bIns="0" anchor="t">
            <a:spAutoFit/>
          </a:bodyPr>
          <a:lstStyle/>
          <a:p>
            <a:pPr algn="l">
              <a:spcAft>
                <a:spcPts val="200"/>
              </a:spcAft>
            </a:pPr>
            <a:r>
              <a:rPr sz="1300" b="1">
                <a:solidFill>
                  <a:srgbClr val="1E7C3C"/>
                </a:solidFill>
                <a:latin typeface="Calibri"/>
              </a:rPr>
              <a:t>$0.0006 / mo</a:t>
            </a:r>
          </a:p>
        </p:txBody>
      </p:sp>
      <p:sp>
        <p:nvSpPr>
          <p:cNvPr id="94" name="TextBox 93"/>
          <p:cNvSpPr txBox="1"/>
          <p:nvPr/>
        </p:nvSpPr>
        <p:spPr>
          <a:xfrm>
            <a:off x="731520" y="2907792"/>
            <a:ext cx="3310128" cy="310896"/>
          </a:xfrm>
          <a:prstGeom prst="rect">
            <a:avLst/>
          </a:prstGeom>
          <a:noFill/>
        </p:spPr>
        <p:txBody>
          <a:bodyPr wrap="square" lIns="0" rIns="0" tIns="0" bIns="0" anchor="t">
            <a:spAutoFit/>
          </a:bodyPr>
          <a:lstStyle/>
          <a:p>
            <a:pPr algn="l">
              <a:spcAft>
                <a:spcPts val="200"/>
              </a:spcAft>
            </a:pPr>
            <a:r>
              <a:rPr sz="800" b="0">
                <a:solidFill>
                  <a:srgbClr val="545B64"/>
                </a:solidFill>
                <a:latin typeface="Calibri"/>
              </a:rPr>
              <a:t>3 tools indexed in Gateway</a:t>
            </a:r>
          </a:p>
        </p:txBody>
      </p:sp>
      <p:sp>
        <p:nvSpPr>
          <p:cNvPr id="95" name="TextBox 94"/>
          <p:cNvSpPr txBox="1"/>
          <p:nvPr/>
        </p:nvSpPr>
        <p:spPr>
          <a:xfrm>
            <a:off x="731520" y="3310128"/>
            <a:ext cx="3310128" cy="201168"/>
          </a:xfrm>
          <a:prstGeom prst="rect">
            <a:avLst/>
          </a:prstGeom>
          <a:noFill/>
        </p:spPr>
        <p:txBody>
          <a:bodyPr wrap="square" lIns="0" rIns="0" tIns="0" bIns="0" anchor="t">
            <a:spAutoFit/>
          </a:bodyPr>
          <a:lstStyle/>
          <a:p>
            <a:pPr algn="l">
              <a:spcAft>
                <a:spcPts val="200"/>
              </a:spcAft>
            </a:pPr>
            <a:r>
              <a:rPr sz="950" b="1">
                <a:solidFill>
                  <a:srgbClr val="232F3E"/>
                </a:solidFill>
                <a:latin typeface="Calibri"/>
              </a:rPr>
              <a:t>→  engine A's floor is ≈30,000× engine B's</a:t>
            </a:r>
          </a:p>
        </p:txBody>
      </p:sp>
      <p:sp>
        <p:nvSpPr>
          <p:cNvPr id="96" name="Rectangle 95"/>
          <p:cNvSpPr/>
          <p:nvPr/>
        </p:nvSpPr>
        <p:spPr>
          <a:xfrm>
            <a:off x="4279392" y="1737360"/>
            <a:ext cx="3621024" cy="1810512"/>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4279392" y="1737360"/>
            <a:ext cx="45720" cy="1810512"/>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4443983" y="1828800"/>
            <a:ext cx="3310128" cy="219456"/>
          </a:xfrm>
          <a:prstGeom prst="rect">
            <a:avLst/>
          </a:prstGeom>
          <a:noFill/>
        </p:spPr>
        <p:txBody>
          <a:bodyPr wrap="square" lIns="0" rIns="0" tIns="0" bIns="0" anchor="t">
            <a:spAutoFit/>
          </a:bodyPr>
          <a:lstStyle/>
          <a:p>
            <a:pPr algn="l">
              <a:spcAft>
                <a:spcPts val="200"/>
              </a:spcAft>
            </a:pPr>
            <a:r>
              <a:rPr sz="1000" b="1">
                <a:solidFill>
                  <a:srgbClr val="232F3E"/>
                </a:solidFill>
                <a:latin typeface="Calibri"/>
              </a:rPr>
              <a:t>PER USER / MONTH  ·  however much they talk</a:t>
            </a:r>
          </a:p>
        </p:txBody>
      </p:sp>
      <p:sp>
        <p:nvSpPr>
          <p:cNvPr id="99" name="TextBox 98"/>
          <p:cNvSpPr txBox="1"/>
          <p:nvPr/>
        </p:nvSpPr>
        <p:spPr>
          <a:xfrm>
            <a:off x="4443983" y="2139696"/>
            <a:ext cx="960120" cy="182880"/>
          </a:xfrm>
          <a:prstGeom prst="rect">
            <a:avLst/>
          </a:prstGeom>
          <a:noFill/>
        </p:spPr>
        <p:txBody>
          <a:bodyPr wrap="square" lIns="0" rIns="0" tIns="0" bIns="0" anchor="t">
            <a:spAutoFit/>
          </a:bodyPr>
          <a:lstStyle/>
          <a:p>
            <a:pPr algn="l">
              <a:spcAft>
                <a:spcPts val="200"/>
              </a:spcAft>
            </a:pPr>
            <a:r>
              <a:rPr sz="850" b="1">
                <a:solidFill>
                  <a:srgbClr val="232F3E"/>
                </a:solidFill>
                <a:latin typeface="Calibri"/>
              </a:rPr>
              <a:t>A · DIY</a:t>
            </a:r>
          </a:p>
        </p:txBody>
      </p:sp>
      <p:sp>
        <p:nvSpPr>
          <p:cNvPr id="100" name="TextBox 99"/>
          <p:cNvSpPr txBox="1"/>
          <p:nvPr/>
        </p:nvSpPr>
        <p:spPr>
          <a:xfrm>
            <a:off x="5449824" y="2103120"/>
            <a:ext cx="2304288" cy="237744"/>
          </a:xfrm>
          <a:prstGeom prst="rect">
            <a:avLst/>
          </a:prstGeom>
          <a:noFill/>
        </p:spPr>
        <p:txBody>
          <a:bodyPr wrap="square" lIns="0" rIns="0" tIns="0" bIns="0" anchor="t">
            <a:spAutoFit/>
          </a:bodyPr>
          <a:lstStyle/>
          <a:p>
            <a:pPr algn="l">
              <a:spcAft>
                <a:spcPts val="200"/>
              </a:spcAft>
            </a:pPr>
            <a:r>
              <a:rPr sz="1300" b="1">
                <a:solidFill>
                  <a:srgbClr val="232F3E"/>
                </a:solidFill>
                <a:latin typeface="Calibri"/>
              </a:rPr>
              <a:t>$0.000023</a:t>
            </a:r>
          </a:p>
        </p:txBody>
      </p:sp>
      <p:sp>
        <p:nvSpPr>
          <p:cNvPr id="101" name="TextBox 100"/>
          <p:cNvSpPr txBox="1"/>
          <p:nvPr/>
        </p:nvSpPr>
        <p:spPr>
          <a:xfrm>
            <a:off x="4443983" y="2340864"/>
            <a:ext cx="3310128" cy="310896"/>
          </a:xfrm>
          <a:prstGeom prst="rect">
            <a:avLst/>
          </a:prstGeom>
          <a:noFill/>
        </p:spPr>
        <p:txBody>
          <a:bodyPr wrap="square" lIns="0" rIns="0" tIns="0" bIns="0" anchor="t">
            <a:spAutoFit/>
          </a:bodyPr>
          <a:lstStyle/>
          <a:p>
            <a:pPr algn="l">
              <a:spcAft>
                <a:spcPts val="200"/>
              </a:spcAft>
            </a:pPr>
            <a:r>
              <a:rPr sz="800" b="0">
                <a:solidFill>
                  <a:srgbClr val="545B64"/>
                </a:solidFill>
                <a:latin typeface="Calibri"/>
              </a:rPr>
              <a:t>DynamoDB storage + PITR</a:t>
            </a:r>
          </a:p>
        </p:txBody>
      </p:sp>
      <p:sp>
        <p:nvSpPr>
          <p:cNvPr id="102" name="TextBox 101"/>
          <p:cNvSpPr txBox="1"/>
          <p:nvPr/>
        </p:nvSpPr>
        <p:spPr>
          <a:xfrm>
            <a:off x="4443983" y="2706624"/>
            <a:ext cx="960120" cy="182880"/>
          </a:xfrm>
          <a:prstGeom prst="rect">
            <a:avLst/>
          </a:prstGeom>
          <a:noFill/>
        </p:spPr>
        <p:txBody>
          <a:bodyPr wrap="square" lIns="0" rIns="0" tIns="0" bIns="0" anchor="t">
            <a:spAutoFit/>
          </a:bodyPr>
          <a:lstStyle/>
          <a:p>
            <a:pPr algn="l">
              <a:spcAft>
                <a:spcPts val="200"/>
              </a:spcAft>
            </a:pPr>
            <a:r>
              <a:rPr sz="850" b="1">
                <a:solidFill>
                  <a:srgbClr val="1E7C3C"/>
                </a:solidFill>
                <a:latin typeface="Calibri"/>
              </a:rPr>
              <a:t>B · AgentCore</a:t>
            </a:r>
          </a:p>
        </p:txBody>
      </p:sp>
      <p:sp>
        <p:nvSpPr>
          <p:cNvPr id="103" name="TextBox 102"/>
          <p:cNvSpPr txBox="1"/>
          <p:nvPr/>
        </p:nvSpPr>
        <p:spPr>
          <a:xfrm>
            <a:off x="5449824" y="2670048"/>
            <a:ext cx="2304288" cy="237744"/>
          </a:xfrm>
          <a:prstGeom prst="rect">
            <a:avLst/>
          </a:prstGeom>
          <a:noFill/>
        </p:spPr>
        <p:txBody>
          <a:bodyPr wrap="square" lIns="0" rIns="0" tIns="0" bIns="0" anchor="t">
            <a:spAutoFit/>
          </a:bodyPr>
          <a:lstStyle/>
          <a:p>
            <a:pPr algn="l">
              <a:spcAft>
                <a:spcPts val="200"/>
              </a:spcAft>
            </a:pPr>
            <a:r>
              <a:rPr sz="1300" b="1">
                <a:solidFill>
                  <a:srgbClr val="1E7C3C"/>
                </a:solidFill>
                <a:latin typeface="Calibri"/>
              </a:rPr>
              <a:t>$0.0195</a:t>
            </a:r>
          </a:p>
        </p:txBody>
      </p:sp>
      <p:sp>
        <p:nvSpPr>
          <p:cNvPr id="104" name="TextBox 103"/>
          <p:cNvSpPr txBox="1"/>
          <p:nvPr/>
        </p:nvSpPr>
        <p:spPr>
          <a:xfrm>
            <a:off x="4443983" y="2907792"/>
            <a:ext cx="3310128" cy="310896"/>
          </a:xfrm>
          <a:prstGeom prst="rect">
            <a:avLst/>
          </a:prstGeom>
          <a:noFill/>
        </p:spPr>
        <p:txBody>
          <a:bodyPr wrap="square" lIns="0" rIns="0" tIns="0" bIns="0" anchor="t">
            <a:spAutoFit/>
          </a:bodyPr>
          <a:lstStyle/>
          <a:p>
            <a:pPr algn="l">
              <a:spcAft>
                <a:spcPts val="200"/>
              </a:spcAft>
            </a:pPr>
            <a:r>
              <a:rPr sz="800" b="0">
                <a:solidFill>
                  <a:srgbClr val="545B64"/>
                </a:solidFill>
                <a:latin typeface="Calibri"/>
              </a:rPr>
              <a:t>26 Memory records at $0.75 / 1k</a:t>
            </a:r>
          </a:p>
        </p:txBody>
      </p:sp>
      <p:sp>
        <p:nvSpPr>
          <p:cNvPr id="105" name="TextBox 104"/>
          <p:cNvSpPr txBox="1"/>
          <p:nvPr/>
        </p:nvSpPr>
        <p:spPr>
          <a:xfrm>
            <a:off x="4443983" y="3310128"/>
            <a:ext cx="3310128" cy="201168"/>
          </a:xfrm>
          <a:prstGeom prst="rect">
            <a:avLst/>
          </a:prstGeom>
          <a:noFill/>
        </p:spPr>
        <p:txBody>
          <a:bodyPr wrap="square" lIns="0" rIns="0" tIns="0" bIns="0" anchor="t">
            <a:spAutoFit/>
          </a:bodyPr>
          <a:lstStyle/>
          <a:p>
            <a:pPr algn="l">
              <a:spcAft>
                <a:spcPts val="200"/>
              </a:spcAft>
            </a:pPr>
            <a:r>
              <a:rPr sz="950" b="1">
                <a:solidFill>
                  <a:srgbClr val="232F3E"/>
                </a:solidFill>
                <a:latin typeface="Calibri"/>
              </a:rPr>
              <a:t>→  engine B is 848× dearer here</a:t>
            </a:r>
          </a:p>
        </p:txBody>
      </p:sp>
      <p:sp>
        <p:nvSpPr>
          <p:cNvPr id="106" name="Rectangle 105"/>
          <p:cNvSpPr/>
          <p:nvPr/>
        </p:nvSpPr>
        <p:spPr>
          <a:xfrm>
            <a:off x="7991856" y="1737360"/>
            <a:ext cx="3621024" cy="1810512"/>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7991856" y="1737360"/>
            <a:ext cx="45720" cy="181051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8156448" y="1828800"/>
            <a:ext cx="3310128" cy="219456"/>
          </a:xfrm>
          <a:prstGeom prst="rect">
            <a:avLst/>
          </a:prstGeom>
          <a:noFill/>
        </p:spPr>
        <p:txBody>
          <a:bodyPr wrap="square" lIns="0" rIns="0" tIns="0" bIns="0" anchor="t">
            <a:spAutoFit/>
          </a:bodyPr>
          <a:lstStyle/>
          <a:p>
            <a:pPr algn="l">
              <a:spcAft>
                <a:spcPts val="200"/>
              </a:spcAft>
            </a:pPr>
            <a:r>
              <a:rPr sz="1000" b="1">
                <a:solidFill>
                  <a:srgbClr val="FF9900"/>
                </a:solidFill>
                <a:latin typeface="Calibri"/>
              </a:rPr>
              <a:t>PER TURN  ·  the only line that scales</a:t>
            </a:r>
          </a:p>
        </p:txBody>
      </p:sp>
      <p:sp>
        <p:nvSpPr>
          <p:cNvPr id="109" name="TextBox 108"/>
          <p:cNvSpPr txBox="1"/>
          <p:nvPr/>
        </p:nvSpPr>
        <p:spPr>
          <a:xfrm>
            <a:off x="8156448" y="2139696"/>
            <a:ext cx="960120" cy="182880"/>
          </a:xfrm>
          <a:prstGeom prst="rect">
            <a:avLst/>
          </a:prstGeom>
          <a:noFill/>
        </p:spPr>
        <p:txBody>
          <a:bodyPr wrap="square" lIns="0" rIns="0" tIns="0" bIns="0" anchor="t">
            <a:spAutoFit/>
          </a:bodyPr>
          <a:lstStyle/>
          <a:p>
            <a:pPr algn="l">
              <a:spcAft>
                <a:spcPts val="200"/>
              </a:spcAft>
            </a:pPr>
            <a:r>
              <a:rPr sz="850" b="1">
                <a:solidFill>
                  <a:srgbClr val="232F3E"/>
                </a:solidFill>
                <a:latin typeface="Calibri"/>
              </a:rPr>
              <a:t>A · DIY</a:t>
            </a:r>
          </a:p>
        </p:txBody>
      </p:sp>
      <p:sp>
        <p:nvSpPr>
          <p:cNvPr id="110" name="TextBox 109"/>
          <p:cNvSpPr txBox="1"/>
          <p:nvPr/>
        </p:nvSpPr>
        <p:spPr>
          <a:xfrm>
            <a:off x="9162288" y="2103120"/>
            <a:ext cx="2304288" cy="237744"/>
          </a:xfrm>
          <a:prstGeom prst="rect">
            <a:avLst/>
          </a:prstGeom>
          <a:noFill/>
        </p:spPr>
        <p:txBody>
          <a:bodyPr wrap="square" lIns="0" rIns="0" tIns="0" bIns="0" anchor="t">
            <a:spAutoFit/>
          </a:bodyPr>
          <a:lstStyle/>
          <a:p>
            <a:pPr algn="l">
              <a:spcAft>
                <a:spcPts val="200"/>
              </a:spcAft>
            </a:pPr>
            <a:r>
              <a:rPr sz="1300" b="1">
                <a:solidFill>
                  <a:srgbClr val="232F3E"/>
                </a:solidFill>
                <a:latin typeface="Calibri"/>
              </a:rPr>
              <a:t>$0.013326</a:t>
            </a:r>
          </a:p>
        </p:txBody>
      </p:sp>
      <p:sp>
        <p:nvSpPr>
          <p:cNvPr id="111" name="TextBox 110"/>
          <p:cNvSpPr txBox="1"/>
          <p:nvPr/>
        </p:nvSpPr>
        <p:spPr>
          <a:xfrm>
            <a:off x="8156448" y="2340864"/>
            <a:ext cx="3310128" cy="310896"/>
          </a:xfrm>
          <a:prstGeom prst="rect">
            <a:avLst/>
          </a:prstGeom>
          <a:noFill/>
        </p:spPr>
        <p:txBody>
          <a:bodyPr wrap="square" lIns="0" rIns="0" tIns="0" bIns="0" anchor="t">
            <a:spAutoFit/>
          </a:bodyPr>
          <a:lstStyle/>
          <a:p>
            <a:pPr algn="l">
              <a:spcAft>
                <a:spcPts val="200"/>
              </a:spcAft>
            </a:pPr>
            <a:r>
              <a:rPr sz="800" b="0">
                <a:solidFill>
                  <a:srgbClr val="545B64"/>
                </a:solidFill>
                <a:latin typeface="Calibri"/>
              </a:rPr>
              <a:t>2nd Bedrock call $0.013320  +  DynamoDB $0.0000061</a:t>
            </a:r>
          </a:p>
        </p:txBody>
      </p:sp>
      <p:sp>
        <p:nvSpPr>
          <p:cNvPr id="112" name="TextBox 111"/>
          <p:cNvSpPr txBox="1"/>
          <p:nvPr/>
        </p:nvSpPr>
        <p:spPr>
          <a:xfrm>
            <a:off x="8156448" y="2706624"/>
            <a:ext cx="960120" cy="182880"/>
          </a:xfrm>
          <a:prstGeom prst="rect">
            <a:avLst/>
          </a:prstGeom>
          <a:noFill/>
        </p:spPr>
        <p:txBody>
          <a:bodyPr wrap="square" lIns="0" rIns="0" tIns="0" bIns="0" anchor="t">
            <a:spAutoFit/>
          </a:bodyPr>
          <a:lstStyle/>
          <a:p>
            <a:pPr algn="l">
              <a:spcAft>
                <a:spcPts val="200"/>
              </a:spcAft>
            </a:pPr>
            <a:r>
              <a:rPr sz="850" b="1">
                <a:solidFill>
                  <a:srgbClr val="1E7C3C"/>
                </a:solidFill>
                <a:latin typeface="Calibri"/>
              </a:rPr>
              <a:t>B · AgentCore</a:t>
            </a:r>
          </a:p>
        </p:txBody>
      </p:sp>
      <p:sp>
        <p:nvSpPr>
          <p:cNvPr id="113" name="TextBox 112"/>
          <p:cNvSpPr txBox="1"/>
          <p:nvPr/>
        </p:nvSpPr>
        <p:spPr>
          <a:xfrm>
            <a:off x="9162288" y="2670048"/>
            <a:ext cx="2304288" cy="237744"/>
          </a:xfrm>
          <a:prstGeom prst="rect">
            <a:avLst/>
          </a:prstGeom>
          <a:noFill/>
        </p:spPr>
        <p:txBody>
          <a:bodyPr wrap="square" lIns="0" rIns="0" tIns="0" bIns="0" anchor="t">
            <a:spAutoFit/>
          </a:bodyPr>
          <a:lstStyle/>
          <a:p>
            <a:pPr algn="l">
              <a:spcAft>
                <a:spcPts val="200"/>
              </a:spcAft>
            </a:pPr>
            <a:r>
              <a:rPr sz="1300" b="1">
                <a:solidFill>
                  <a:srgbClr val="1E7C3C"/>
                </a:solidFill>
                <a:latin typeface="Calibri"/>
              </a:rPr>
              <a:t>$0.0008022</a:t>
            </a:r>
          </a:p>
        </p:txBody>
      </p:sp>
      <p:sp>
        <p:nvSpPr>
          <p:cNvPr id="114" name="TextBox 113"/>
          <p:cNvSpPr txBox="1"/>
          <p:nvPr/>
        </p:nvSpPr>
        <p:spPr>
          <a:xfrm>
            <a:off x="8156448" y="2907792"/>
            <a:ext cx="3310128" cy="310896"/>
          </a:xfrm>
          <a:prstGeom prst="rect">
            <a:avLst/>
          </a:prstGeom>
          <a:noFill/>
        </p:spPr>
        <p:txBody>
          <a:bodyPr wrap="square" lIns="0" rIns="0" tIns="0" bIns="0" anchor="t">
            <a:spAutoFit/>
          </a:bodyPr>
          <a:lstStyle/>
          <a:p>
            <a:pPr algn="l">
              <a:spcAft>
                <a:spcPts val="200"/>
              </a:spcAft>
            </a:pPr>
            <a:r>
              <a:rPr sz="800" b="0">
                <a:solidFill>
                  <a:srgbClr val="545B64"/>
                </a:solidFill>
                <a:latin typeface="Calibri"/>
              </a:rPr>
              <a:t>Memory $0.00075  +  Runtime $0.0000452  +  Gateway $0.000014</a:t>
            </a:r>
          </a:p>
        </p:txBody>
      </p:sp>
      <p:sp>
        <p:nvSpPr>
          <p:cNvPr id="115" name="TextBox 114"/>
          <p:cNvSpPr txBox="1"/>
          <p:nvPr/>
        </p:nvSpPr>
        <p:spPr>
          <a:xfrm>
            <a:off x="8156448" y="3310128"/>
            <a:ext cx="3310128" cy="201168"/>
          </a:xfrm>
          <a:prstGeom prst="rect">
            <a:avLst/>
          </a:prstGeom>
          <a:noFill/>
        </p:spPr>
        <p:txBody>
          <a:bodyPr wrap="square" lIns="0" rIns="0" tIns="0" bIns="0" anchor="t">
            <a:spAutoFit/>
          </a:bodyPr>
          <a:lstStyle/>
          <a:p>
            <a:pPr algn="l">
              <a:spcAft>
                <a:spcPts val="200"/>
              </a:spcAft>
            </a:pPr>
            <a:r>
              <a:rPr sz="950" b="1">
                <a:solidFill>
                  <a:srgbClr val="FF9900"/>
                </a:solidFill>
                <a:latin typeface="Calibri"/>
              </a:rPr>
              <a:t>→  engine A is 16.6× dearer</a:t>
            </a:r>
          </a:p>
        </p:txBody>
      </p:sp>
      <p:sp>
        <p:nvSpPr>
          <p:cNvPr id="116" name="Rounded Rectangle 115"/>
          <p:cNvSpPr/>
          <p:nvPr/>
        </p:nvSpPr>
        <p:spPr>
          <a:xfrm>
            <a:off x="566928" y="3639312"/>
            <a:ext cx="11064240" cy="713232"/>
          </a:xfrm>
          <a:prstGeom prst="roundRect">
            <a:avLst>
              <a:gd name="adj" fmla="val 10000"/>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786384" y="3730752"/>
            <a:ext cx="10625328" cy="566928"/>
          </a:xfrm>
          <a:prstGeom prst="rect">
            <a:avLst/>
          </a:prstGeom>
          <a:noFill/>
        </p:spPr>
        <p:txBody>
          <a:bodyPr wrap="square" lIns="0" rIns="0" tIns="0" bIns="0" anchor="t">
            <a:spAutoFit/>
          </a:bodyPr>
          <a:lstStyle/>
          <a:p>
            <a:pPr algn="l">
              <a:spcAft>
                <a:spcPts val="200"/>
              </a:spcAft>
            </a:pPr>
            <a:r>
              <a:rPr sz="1100" b="1">
                <a:solidFill>
                  <a:srgbClr val="232F3E"/>
                </a:solidFill>
                <a:latin typeface="Calibri"/>
              </a:rPr>
              <a:t>99.95% of engine A's per-turn cost is a single line: the second Bedrock call we wrote.</a:t>
            </a:r>
          </a:p>
          <a:p>
            <a:pPr algn="l">
              <a:spcAft>
                <a:spcPts val="200"/>
              </a:spcAft>
            </a:pPr>
            <a:r>
              <a:rPr sz="1100" b="1">
                <a:solidFill>
                  <a:srgbClr val="232F3E"/>
                </a:solidFill>
                <a:latin typeface="Calibri"/>
              </a:rPr>
              <a:t>Strip it out and DIY costs $0.0000061 a turn — 132× CHEAPER than AgentCore. The 13.8× headline is a verdict on that one call, not on the two platforms.</a:t>
            </a:r>
          </a:p>
        </p:txBody>
      </p:sp>
      <p:sp>
        <p:nvSpPr>
          <p:cNvPr id="118" name="Rectangle 117"/>
          <p:cNvSpPr/>
          <p:nvPr/>
        </p:nvSpPr>
        <p:spPr>
          <a:xfrm>
            <a:off x="566928" y="4443984"/>
            <a:ext cx="3621024" cy="73152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731520" y="4517136"/>
            <a:ext cx="2011680" cy="182880"/>
          </a:xfrm>
          <a:prstGeom prst="rect">
            <a:avLst/>
          </a:prstGeom>
          <a:noFill/>
        </p:spPr>
        <p:txBody>
          <a:bodyPr wrap="square" lIns="0" rIns="0" tIns="0" bIns="0" anchor="t">
            <a:spAutoFit/>
          </a:bodyPr>
          <a:lstStyle/>
          <a:p>
            <a:pPr algn="l">
              <a:spcAft>
                <a:spcPts val="200"/>
              </a:spcAft>
            </a:pPr>
            <a:r>
              <a:rPr sz="900" b="1">
                <a:solidFill>
                  <a:srgbClr val="FF9900"/>
                </a:solidFill>
                <a:latin typeface="Calibri"/>
              </a:rPr>
              <a:t>1 USER</a:t>
            </a:r>
          </a:p>
        </p:txBody>
      </p:sp>
      <p:sp>
        <p:nvSpPr>
          <p:cNvPr id="120" name="TextBox 119"/>
          <p:cNvSpPr txBox="1"/>
          <p:nvPr/>
        </p:nvSpPr>
        <p:spPr>
          <a:xfrm>
            <a:off x="731520" y="4700016"/>
            <a:ext cx="1188720" cy="219456"/>
          </a:xfrm>
          <a:prstGeom prst="rect">
            <a:avLst/>
          </a:prstGeom>
          <a:noFill/>
        </p:spPr>
        <p:txBody>
          <a:bodyPr wrap="square" lIns="0" rIns="0" tIns="0" bIns="0" anchor="t">
            <a:spAutoFit/>
          </a:bodyPr>
          <a:lstStyle/>
          <a:p>
            <a:pPr algn="l">
              <a:spcAft>
                <a:spcPts val="200"/>
              </a:spcAft>
            </a:pPr>
            <a:r>
              <a:rPr sz="1200" b="1">
                <a:solidFill>
                  <a:srgbClr val="232F3E"/>
                </a:solidFill>
                <a:latin typeface="Calibri"/>
              </a:rPr>
              <a:t>$19.62</a:t>
            </a:r>
          </a:p>
        </p:txBody>
      </p:sp>
      <p:sp>
        <p:nvSpPr>
          <p:cNvPr id="121" name="TextBox 120"/>
          <p:cNvSpPr txBox="1"/>
          <p:nvPr/>
        </p:nvSpPr>
        <p:spPr>
          <a:xfrm>
            <a:off x="1883664" y="4745736"/>
            <a:ext cx="384048" cy="182880"/>
          </a:xfrm>
          <a:prstGeom prst="rect">
            <a:avLst/>
          </a:prstGeom>
          <a:noFill/>
        </p:spPr>
        <p:txBody>
          <a:bodyPr wrap="square" lIns="0" rIns="0" tIns="0" bIns="0" anchor="t">
            <a:spAutoFit/>
          </a:bodyPr>
          <a:lstStyle/>
          <a:p>
            <a:pPr algn="l">
              <a:spcAft>
                <a:spcPts val="200"/>
              </a:spcAft>
            </a:pPr>
            <a:r>
              <a:rPr sz="850" b="0">
                <a:solidFill>
                  <a:srgbClr val="545B64"/>
                </a:solidFill>
                <a:latin typeface="Calibri"/>
              </a:rPr>
              <a:t>vs</a:t>
            </a:r>
          </a:p>
        </p:txBody>
      </p:sp>
      <p:sp>
        <p:nvSpPr>
          <p:cNvPr id="122" name="TextBox 121"/>
          <p:cNvSpPr txBox="1"/>
          <p:nvPr/>
        </p:nvSpPr>
        <p:spPr>
          <a:xfrm>
            <a:off x="2249424" y="4700016"/>
            <a:ext cx="1188720" cy="219456"/>
          </a:xfrm>
          <a:prstGeom prst="rect">
            <a:avLst/>
          </a:prstGeom>
          <a:noFill/>
        </p:spPr>
        <p:txBody>
          <a:bodyPr wrap="square" lIns="0" rIns="0" tIns="0" bIns="0" anchor="t">
            <a:spAutoFit/>
          </a:bodyPr>
          <a:lstStyle/>
          <a:p>
            <a:pPr algn="l">
              <a:spcAft>
                <a:spcPts val="200"/>
              </a:spcAft>
            </a:pPr>
            <a:r>
              <a:rPr sz="1200" b="1">
                <a:solidFill>
                  <a:srgbClr val="1E7C3C"/>
                </a:solidFill>
                <a:latin typeface="Calibri"/>
              </a:rPr>
              <a:t>$0.12</a:t>
            </a:r>
          </a:p>
        </p:txBody>
      </p:sp>
      <p:sp>
        <p:nvSpPr>
          <p:cNvPr id="123" name="TextBox 122"/>
          <p:cNvSpPr txBox="1"/>
          <p:nvPr/>
        </p:nvSpPr>
        <p:spPr>
          <a:xfrm>
            <a:off x="3328416" y="4517136"/>
            <a:ext cx="731520" cy="201168"/>
          </a:xfrm>
          <a:prstGeom prst="rect">
            <a:avLst/>
          </a:prstGeom>
          <a:noFill/>
        </p:spPr>
        <p:txBody>
          <a:bodyPr wrap="square" lIns="0" rIns="0" tIns="0" bIns="0" anchor="t">
            <a:spAutoFit/>
          </a:bodyPr>
          <a:lstStyle/>
          <a:p>
            <a:pPr algn="r">
              <a:spcAft>
                <a:spcPts val="200"/>
              </a:spcAft>
            </a:pPr>
            <a:r>
              <a:rPr sz="1100" b="1">
                <a:solidFill>
                  <a:srgbClr val="FF9900"/>
                </a:solidFill>
                <a:latin typeface="Calibri"/>
              </a:rPr>
              <a:t>168.6×</a:t>
            </a:r>
          </a:p>
        </p:txBody>
      </p:sp>
      <p:sp>
        <p:nvSpPr>
          <p:cNvPr id="124" name="TextBox 123"/>
          <p:cNvSpPr txBox="1"/>
          <p:nvPr/>
        </p:nvSpPr>
        <p:spPr>
          <a:xfrm>
            <a:off x="731520" y="4937760"/>
            <a:ext cx="3310128" cy="182880"/>
          </a:xfrm>
          <a:prstGeom prst="rect">
            <a:avLst/>
          </a:prstGeom>
          <a:noFill/>
        </p:spPr>
        <p:txBody>
          <a:bodyPr wrap="square" lIns="0" rIns="0" tIns="0" bIns="0" anchor="t">
            <a:spAutoFit/>
          </a:bodyPr>
          <a:lstStyle/>
          <a:p>
            <a:pPr algn="l">
              <a:spcAft>
                <a:spcPts val="200"/>
              </a:spcAft>
            </a:pPr>
            <a:r>
              <a:rPr sz="800" b="0">
                <a:solidFill>
                  <a:srgbClr val="545B64"/>
                </a:solidFill>
                <a:latin typeface="Calibri"/>
              </a:rPr>
              <a:t>only engine B has no floor</a:t>
            </a:r>
          </a:p>
        </p:txBody>
      </p:sp>
      <p:sp>
        <p:nvSpPr>
          <p:cNvPr id="125" name="Rectangle 124"/>
          <p:cNvSpPr/>
          <p:nvPr/>
        </p:nvSpPr>
        <p:spPr>
          <a:xfrm>
            <a:off x="4279392" y="4443984"/>
            <a:ext cx="3621024" cy="73152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4443983" y="4517136"/>
            <a:ext cx="2011680" cy="182880"/>
          </a:xfrm>
          <a:prstGeom prst="rect">
            <a:avLst/>
          </a:prstGeom>
          <a:noFill/>
        </p:spPr>
        <p:txBody>
          <a:bodyPr wrap="square" lIns="0" rIns="0" tIns="0" bIns="0" anchor="t">
            <a:spAutoFit/>
          </a:bodyPr>
          <a:lstStyle/>
          <a:p>
            <a:pPr algn="l">
              <a:spcAft>
                <a:spcPts val="200"/>
              </a:spcAft>
            </a:pPr>
            <a:r>
              <a:rPr sz="900" b="1">
                <a:solidFill>
                  <a:srgbClr val="FF9900"/>
                </a:solidFill>
                <a:latin typeface="Calibri"/>
              </a:rPr>
              <a:t>10,000 USERS</a:t>
            </a:r>
          </a:p>
        </p:txBody>
      </p:sp>
      <p:sp>
        <p:nvSpPr>
          <p:cNvPr id="127" name="TextBox 126"/>
          <p:cNvSpPr txBox="1"/>
          <p:nvPr/>
        </p:nvSpPr>
        <p:spPr>
          <a:xfrm>
            <a:off x="4443983" y="4700016"/>
            <a:ext cx="1188720" cy="219456"/>
          </a:xfrm>
          <a:prstGeom prst="rect">
            <a:avLst/>
          </a:prstGeom>
          <a:noFill/>
        </p:spPr>
        <p:txBody>
          <a:bodyPr wrap="square" lIns="0" rIns="0" tIns="0" bIns="0" anchor="t">
            <a:spAutoFit/>
          </a:bodyPr>
          <a:lstStyle/>
          <a:p>
            <a:pPr algn="l">
              <a:spcAft>
                <a:spcPts val="200"/>
              </a:spcAft>
            </a:pPr>
            <a:r>
              <a:rPr sz="1200" b="1">
                <a:solidFill>
                  <a:srgbClr val="232F3E"/>
                </a:solidFill>
                <a:latin typeface="Calibri"/>
              </a:rPr>
              <a:t>$16,010</a:t>
            </a:r>
          </a:p>
        </p:txBody>
      </p:sp>
      <p:sp>
        <p:nvSpPr>
          <p:cNvPr id="128" name="TextBox 127"/>
          <p:cNvSpPr txBox="1"/>
          <p:nvPr/>
        </p:nvSpPr>
        <p:spPr>
          <a:xfrm>
            <a:off x="5596127" y="4745736"/>
            <a:ext cx="384048" cy="182880"/>
          </a:xfrm>
          <a:prstGeom prst="rect">
            <a:avLst/>
          </a:prstGeom>
          <a:noFill/>
        </p:spPr>
        <p:txBody>
          <a:bodyPr wrap="square" lIns="0" rIns="0" tIns="0" bIns="0" anchor="t">
            <a:spAutoFit/>
          </a:bodyPr>
          <a:lstStyle/>
          <a:p>
            <a:pPr algn="l">
              <a:spcAft>
                <a:spcPts val="200"/>
              </a:spcAft>
            </a:pPr>
            <a:r>
              <a:rPr sz="850" b="0">
                <a:solidFill>
                  <a:srgbClr val="545B64"/>
                </a:solidFill>
                <a:latin typeface="Calibri"/>
              </a:rPr>
              <a:t>vs</a:t>
            </a:r>
          </a:p>
        </p:txBody>
      </p:sp>
      <p:sp>
        <p:nvSpPr>
          <p:cNvPr id="129" name="TextBox 128"/>
          <p:cNvSpPr txBox="1"/>
          <p:nvPr/>
        </p:nvSpPr>
        <p:spPr>
          <a:xfrm>
            <a:off x="5961888" y="4700016"/>
            <a:ext cx="1188720" cy="219456"/>
          </a:xfrm>
          <a:prstGeom prst="rect">
            <a:avLst/>
          </a:prstGeom>
          <a:noFill/>
        </p:spPr>
        <p:txBody>
          <a:bodyPr wrap="square" lIns="0" rIns="0" tIns="0" bIns="0" anchor="t">
            <a:spAutoFit/>
          </a:bodyPr>
          <a:lstStyle/>
          <a:p>
            <a:pPr algn="l">
              <a:spcAft>
                <a:spcPts val="200"/>
              </a:spcAft>
            </a:pPr>
            <a:r>
              <a:rPr sz="1200" b="1">
                <a:solidFill>
                  <a:srgbClr val="1E7C3C"/>
                </a:solidFill>
                <a:latin typeface="Calibri"/>
              </a:rPr>
              <a:t>$1,158</a:t>
            </a:r>
          </a:p>
        </p:txBody>
      </p:sp>
      <p:sp>
        <p:nvSpPr>
          <p:cNvPr id="130" name="TextBox 129"/>
          <p:cNvSpPr txBox="1"/>
          <p:nvPr/>
        </p:nvSpPr>
        <p:spPr>
          <a:xfrm>
            <a:off x="7040879" y="4517136"/>
            <a:ext cx="731520" cy="201168"/>
          </a:xfrm>
          <a:prstGeom prst="rect">
            <a:avLst/>
          </a:prstGeom>
          <a:noFill/>
        </p:spPr>
        <p:txBody>
          <a:bodyPr wrap="square" lIns="0" rIns="0" tIns="0" bIns="0" anchor="t">
            <a:spAutoFit/>
          </a:bodyPr>
          <a:lstStyle/>
          <a:p>
            <a:pPr algn="r">
              <a:spcAft>
                <a:spcPts val="200"/>
              </a:spcAft>
            </a:pPr>
            <a:r>
              <a:rPr sz="1100" b="1">
                <a:solidFill>
                  <a:srgbClr val="FF9900"/>
                </a:solidFill>
                <a:latin typeface="Calibri"/>
              </a:rPr>
              <a:t>13.8×</a:t>
            </a:r>
          </a:p>
        </p:txBody>
      </p:sp>
      <p:sp>
        <p:nvSpPr>
          <p:cNvPr id="131" name="TextBox 130"/>
          <p:cNvSpPr txBox="1"/>
          <p:nvPr/>
        </p:nvSpPr>
        <p:spPr>
          <a:xfrm>
            <a:off x="4443983" y="4937760"/>
            <a:ext cx="3310128" cy="182880"/>
          </a:xfrm>
          <a:prstGeom prst="rect">
            <a:avLst/>
          </a:prstGeom>
          <a:noFill/>
        </p:spPr>
        <p:txBody>
          <a:bodyPr wrap="square" lIns="0" rIns="0" tIns="0" bIns="0" anchor="t">
            <a:spAutoFit/>
          </a:bodyPr>
          <a:lstStyle/>
          <a:p>
            <a:pPr algn="l">
              <a:spcAft>
                <a:spcPts val="200"/>
              </a:spcAft>
            </a:pPr>
            <a:r>
              <a:rPr sz="800" b="0">
                <a:solidFill>
                  <a:srgbClr val="545B64"/>
                </a:solidFill>
                <a:latin typeface="Calibri"/>
              </a:rPr>
              <a:t>still one Fargate task</a:t>
            </a:r>
          </a:p>
        </p:txBody>
      </p:sp>
      <p:sp>
        <p:nvSpPr>
          <p:cNvPr id="132" name="Rectangle 131"/>
          <p:cNvSpPr/>
          <p:nvPr/>
        </p:nvSpPr>
        <p:spPr>
          <a:xfrm>
            <a:off x="7991856" y="4443984"/>
            <a:ext cx="3621024" cy="73152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8156448" y="4517136"/>
            <a:ext cx="2011680" cy="182880"/>
          </a:xfrm>
          <a:prstGeom prst="rect">
            <a:avLst/>
          </a:prstGeom>
          <a:noFill/>
        </p:spPr>
        <p:txBody>
          <a:bodyPr wrap="square" lIns="0" rIns="0" tIns="0" bIns="0" anchor="t">
            <a:spAutoFit/>
          </a:bodyPr>
          <a:lstStyle/>
          <a:p>
            <a:pPr algn="l">
              <a:spcAft>
                <a:spcPts val="200"/>
              </a:spcAft>
            </a:pPr>
            <a:r>
              <a:rPr sz="900" b="1">
                <a:solidFill>
                  <a:srgbClr val="FF9900"/>
                </a:solidFill>
                <a:latin typeface="Calibri"/>
              </a:rPr>
              <a:t>1,000,000 USERS</a:t>
            </a:r>
          </a:p>
        </p:txBody>
      </p:sp>
      <p:sp>
        <p:nvSpPr>
          <p:cNvPr id="134" name="TextBox 133"/>
          <p:cNvSpPr txBox="1"/>
          <p:nvPr/>
        </p:nvSpPr>
        <p:spPr>
          <a:xfrm>
            <a:off x="8156448" y="4700016"/>
            <a:ext cx="1188720" cy="219456"/>
          </a:xfrm>
          <a:prstGeom prst="rect">
            <a:avLst/>
          </a:prstGeom>
          <a:noFill/>
        </p:spPr>
        <p:txBody>
          <a:bodyPr wrap="square" lIns="0" rIns="0" tIns="0" bIns="0" anchor="t">
            <a:spAutoFit/>
          </a:bodyPr>
          <a:lstStyle/>
          <a:p>
            <a:pPr algn="l">
              <a:spcAft>
                <a:spcPts val="200"/>
              </a:spcAft>
            </a:pPr>
            <a:r>
              <a:rPr sz="1200" b="1">
                <a:solidFill>
                  <a:srgbClr val="232F3E"/>
                </a:solidFill>
                <a:latin typeface="Calibri"/>
              </a:rPr>
              <a:t>$1.600 M</a:t>
            </a:r>
          </a:p>
        </p:txBody>
      </p:sp>
      <p:sp>
        <p:nvSpPr>
          <p:cNvPr id="135" name="TextBox 134"/>
          <p:cNvSpPr txBox="1"/>
          <p:nvPr/>
        </p:nvSpPr>
        <p:spPr>
          <a:xfrm>
            <a:off x="9308592" y="4745736"/>
            <a:ext cx="384048" cy="182880"/>
          </a:xfrm>
          <a:prstGeom prst="rect">
            <a:avLst/>
          </a:prstGeom>
          <a:noFill/>
        </p:spPr>
        <p:txBody>
          <a:bodyPr wrap="square" lIns="0" rIns="0" tIns="0" bIns="0" anchor="t">
            <a:spAutoFit/>
          </a:bodyPr>
          <a:lstStyle/>
          <a:p>
            <a:pPr algn="l">
              <a:spcAft>
                <a:spcPts val="200"/>
              </a:spcAft>
            </a:pPr>
            <a:r>
              <a:rPr sz="850" b="0">
                <a:solidFill>
                  <a:srgbClr val="545B64"/>
                </a:solidFill>
                <a:latin typeface="Calibri"/>
              </a:rPr>
              <a:t>vs</a:t>
            </a:r>
          </a:p>
        </p:txBody>
      </p:sp>
      <p:sp>
        <p:nvSpPr>
          <p:cNvPr id="136" name="TextBox 135"/>
          <p:cNvSpPr txBox="1"/>
          <p:nvPr/>
        </p:nvSpPr>
        <p:spPr>
          <a:xfrm>
            <a:off x="9674352" y="4700016"/>
            <a:ext cx="1188720" cy="219456"/>
          </a:xfrm>
          <a:prstGeom prst="rect">
            <a:avLst/>
          </a:prstGeom>
          <a:noFill/>
        </p:spPr>
        <p:txBody>
          <a:bodyPr wrap="square" lIns="0" rIns="0" tIns="0" bIns="0" anchor="t">
            <a:spAutoFit/>
          </a:bodyPr>
          <a:lstStyle/>
          <a:p>
            <a:pPr algn="l">
              <a:spcAft>
                <a:spcPts val="200"/>
              </a:spcAft>
            </a:pPr>
            <a:r>
              <a:rPr sz="1200" b="1">
                <a:solidFill>
                  <a:srgbClr val="1E7C3C"/>
                </a:solidFill>
                <a:latin typeface="Calibri"/>
              </a:rPr>
              <a:t>$115,760</a:t>
            </a:r>
          </a:p>
        </p:txBody>
      </p:sp>
      <p:sp>
        <p:nvSpPr>
          <p:cNvPr id="137" name="TextBox 136"/>
          <p:cNvSpPr txBox="1"/>
          <p:nvPr/>
        </p:nvSpPr>
        <p:spPr>
          <a:xfrm>
            <a:off x="10753344" y="4517136"/>
            <a:ext cx="731520" cy="201168"/>
          </a:xfrm>
          <a:prstGeom prst="rect">
            <a:avLst/>
          </a:prstGeom>
          <a:noFill/>
        </p:spPr>
        <p:txBody>
          <a:bodyPr wrap="square" lIns="0" rIns="0" tIns="0" bIns="0" anchor="t">
            <a:spAutoFit/>
          </a:bodyPr>
          <a:lstStyle/>
          <a:p>
            <a:pPr algn="r">
              <a:spcAft>
                <a:spcPts val="200"/>
              </a:spcAft>
            </a:pPr>
            <a:r>
              <a:rPr sz="1100" b="1">
                <a:solidFill>
                  <a:srgbClr val="FF9900"/>
                </a:solidFill>
                <a:latin typeface="Calibri"/>
              </a:rPr>
              <a:t>13.8×</a:t>
            </a:r>
          </a:p>
        </p:txBody>
      </p:sp>
      <p:sp>
        <p:nvSpPr>
          <p:cNvPr id="138" name="TextBox 137"/>
          <p:cNvSpPr txBox="1"/>
          <p:nvPr/>
        </p:nvSpPr>
        <p:spPr>
          <a:xfrm>
            <a:off x="8156448" y="4937760"/>
            <a:ext cx="3310128" cy="182880"/>
          </a:xfrm>
          <a:prstGeom prst="rect">
            <a:avLst/>
          </a:prstGeom>
          <a:noFill/>
        </p:spPr>
        <p:txBody>
          <a:bodyPr wrap="square" lIns="0" rIns="0" tIns="0" bIns="0" anchor="t">
            <a:spAutoFit/>
          </a:bodyPr>
          <a:lstStyle/>
          <a:p>
            <a:pPr algn="l">
              <a:spcAft>
                <a:spcPts val="200"/>
              </a:spcAft>
            </a:pPr>
            <a:r>
              <a:rPr sz="800" b="0">
                <a:solidFill>
                  <a:srgbClr val="545B64"/>
                </a:solidFill>
                <a:latin typeface="Calibri"/>
              </a:rPr>
              <a:t>35 Fargate tasks by now</a:t>
            </a:r>
          </a:p>
        </p:txBody>
      </p:sp>
      <p:sp>
        <p:nvSpPr>
          <p:cNvPr id="139" name="Rectangle 138"/>
          <p:cNvSpPr/>
          <p:nvPr/>
        </p:nvSpPr>
        <p:spPr>
          <a:xfrm>
            <a:off x="566928" y="5266944"/>
            <a:ext cx="11064240" cy="658368"/>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566928" y="5266944"/>
            <a:ext cx="45720" cy="658368"/>
          </a:xfrm>
          <a:prstGeom prst="rect">
            <a:avLst/>
          </a:prstGeom>
          <a:solidFill>
            <a:srgbClr val="B32C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786384" y="5340096"/>
            <a:ext cx="10625328" cy="530352"/>
          </a:xfrm>
          <a:prstGeom prst="rect">
            <a:avLst/>
          </a:prstGeom>
          <a:noFill/>
        </p:spPr>
        <p:txBody>
          <a:bodyPr wrap="square" lIns="0" rIns="0" tIns="0" bIns="0" anchor="t">
            <a:spAutoFit/>
          </a:bodyPr>
          <a:lstStyle/>
          <a:p>
            <a:pPr algn="l">
              <a:spcAft>
                <a:spcPts val="200"/>
              </a:spcAft>
            </a:pPr>
            <a:r>
              <a:rPr sz="900" b="1">
                <a:solidFill>
                  <a:srgbClr val="B32C0C"/>
                </a:solidFill>
                <a:latin typeface="Calibri"/>
              </a:rPr>
              <a:t>BIGGEST SINGLE RISK IN THIS MODEL</a:t>
            </a:r>
          </a:p>
          <a:p>
            <a:pPr algn="l">
              <a:spcAft>
                <a:spcPts val="200"/>
              </a:spcAft>
            </a:pPr>
            <a:r>
              <a:rPr sz="950" b="0">
                <a:solidFill>
                  <a:srgbClr val="16191F"/>
                </a:solidFill>
                <a:latin typeface="Calibri"/>
              </a:rPr>
              <a:t>If an AgentCore Memory “retrieval” meters per record rather than per call, engine B's per-turn goes from $0.0008022 to $0.0503 and AgentCore becomes 3.8× WORSE than DIY. The pricing page is ambiguous on this and it is not a small difference.</a:t>
            </a:r>
          </a:p>
        </p:txBody>
      </p:sp>
      <p:sp>
        <p:nvSpPr>
          <p:cNvPr id="142" name="TextBox 141"/>
          <p:cNvSpPr txBox="1"/>
          <p:nvPr/>
        </p:nvSpPr>
        <p:spPr>
          <a:xfrm>
            <a:off x="566928" y="5998464"/>
            <a:ext cx="11064240" cy="201168"/>
          </a:xfrm>
          <a:prstGeom prst="rect">
            <a:avLst/>
          </a:prstGeom>
          <a:noFill/>
        </p:spPr>
        <p:txBody>
          <a:bodyPr wrap="square" lIns="0" rIns="0" tIns="0" bIns="0" anchor="t">
            <a:spAutoFit/>
          </a:bodyPr>
          <a:lstStyle/>
          <a:p>
            <a:pPr algn="l">
              <a:spcAft>
                <a:spcPts val="200"/>
              </a:spcAft>
            </a:pPr>
            <a:r>
              <a:rPr sz="850" b="0">
                <a:solidFill>
                  <a:srgbClr val="545B64"/>
                </a:solidFill>
                <a:latin typeface="Calibri"/>
              </a:rPr>
              <a:t>Every rate and quantity above is cited in the speaker notes  ·  re-derive the whole slide with  node scripts/cost-model.mjs</a:t>
            </a:r>
          </a:p>
        </p:txBody>
      </p:sp>
    </p:spTree>
    <p:extLst>
      <p:ext uri="{BB962C8B-B14F-4D97-AF65-F5344CB8AC3E}">
        <p14:creationId xmlns:p14="http://schemas.microsoft.com/office/powerpoint/2010/main" val="32920025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i="0">
                <a:solidFill>
                  <a:srgbClr val="FF9900"/>
                </a:solidFill>
                <a:latin typeface="Calibri"/>
              </a:rPr>
              <a:t>6</a:t>
            </a:r>
          </a:p>
        </p:txBody>
      </p:sp>
      <p:sp>
        <p:nvSpPr>
          <p:cNvPr id="5" name="TextBox 4"/>
          <p:cNvSpPr txBox="1"/>
          <p:nvPr/>
        </p:nvSpPr>
        <p:spPr>
          <a:xfrm>
            <a:off x="1280160" y="365760"/>
            <a:ext cx="10058400" cy="594360"/>
          </a:xfrm>
          <a:prstGeom prst="rect">
            <a:avLst/>
          </a:prstGeom>
          <a:noFill/>
        </p:spPr>
        <p:txBody>
          <a:bodyPr wrap="square" lIns="0" tIns="0" rIns="0" bIns="0" anchor="ctr">
            <a:spAutoFit/>
          </a:bodyPr>
          <a:lstStyle/>
          <a:p>
            <a:pPr algn="l"/>
            <a:r>
              <a:rPr sz="3000" b="1" i="0">
                <a:solidFill>
                  <a:srgbClr val="232F3E"/>
                </a:solidFill>
                <a:latin typeface="Calibri"/>
              </a:rPr>
              <a:t>Cost — the floor vs. the meter</a:t>
            </a:r>
          </a:p>
        </p:txBody>
      </p:sp>
      <p:sp>
        <p:nvSpPr>
          <p:cNvPr id="6" name="Rectangle 5"/>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280160"/>
            <a:ext cx="11155680" cy="475488"/>
          </a:xfrm>
          <a:prstGeom prst="rect">
            <a:avLst/>
          </a:prstGeom>
          <a:noFill/>
        </p:spPr>
        <p:txBody>
          <a:bodyPr wrap="square" lIns="0" tIns="0" rIns="0" bIns="0" anchor="t">
            <a:spAutoFit/>
          </a:bodyPr>
          <a:lstStyle/>
          <a:p>
            <a:pPr algn="l"/>
            <a:r>
              <a:rPr sz="1400" b="0" i="0">
                <a:solidFill>
                  <a:srgbClr val="545B64"/>
                </a:solidFill>
                <a:latin typeface="Calibri"/>
              </a:rPr>
              <a:t>Both axes are logarithmic — the bill spans seven orders of magnitude. Below ~13 users engine A's $18 floor is the bill; above it the lines run parallel at 13.5×.</a:t>
            </a:r>
          </a:p>
        </p:txBody>
      </p:sp>
      <p:sp>
        <p:nvSpPr>
          <p:cNvPr id="8" name="TextBox 7"/>
          <p:cNvSpPr txBox="1"/>
          <p:nvPr/>
        </p:nvSpPr>
        <p:spPr>
          <a:xfrm>
            <a:off x="502920" y="6446520"/>
            <a:ext cx="8229600" cy="320040"/>
          </a:xfrm>
          <a:prstGeom prst="rect">
            <a:avLst/>
          </a:prstGeom>
          <a:noFill/>
        </p:spPr>
        <p:txBody>
          <a:bodyPr wrap="square" lIns="0" tIns="0" rIns="0" bIns="0" anchor="t">
            <a:spAutoFit/>
          </a:bodyPr>
          <a:lstStyle/>
          <a:p>
            <a:pPr algn="l"/>
            <a:r>
              <a:rPr sz="1000" b="1" i="0">
                <a:solidFill>
                  <a:srgbClr val="545B64"/>
                </a:solidFill>
                <a:latin typeface="Calibri"/>
              </a:rPr>
              <a:t>VALENTIN   ·   GenAI TFC Capstone Deep-Dive</a:t>
            </a:r>
          </a:p>
        </p:txBody>
      </p:sp>
      <p:sp>
        <p:nvSpPr>
          <p:cNvPr id="9" name="TextBox 8"/>
          <p:cNvSpPr txBox="1"/>
          <p:nvPr/>
        </p:nvSpPr>
        <p:spPr>
          <a:xfrm>
            <a:off x="10332720" y="6446520"/>
            <a:ext cx="1371600" cy="320040"/>
          </a:xfrm>
          <a:prstGeom prst="rect">
            <a:avLst/>
          </a:prstGeom>
          <a:noFill/>
        </p:spPr>
        <p:txBody>
          <a:bodyPr wrap="square" lIns="0" tIns="0" rIns="0" bIns="0" anchor="t">
            <a:spAutoFit/>
          </a:bodyPr>
          <a:lstStyle/>
          <a:p>
            <a:pPr algn="r"/>
            <a:r>
              <a:rPr sz="1000" b="0" i="0">
                <a:solidFill>
                  <a:srgbClr val="545B64"/>
                </a:solidFill>
                <a:latin typeface="Calibri"/>
              </a:rPr>
              <a:t>7 / 18</a:t>
            </a:r>
          </a:p>
        </p:txBody>
      </p:sp>
      <p:sp>
        <p:nvSpPr>
          <p:cNvPr id="10" name="Rounded Rectangle 9"/>
          <p:cNvSpPr/>
          <p:nvPr/>
        </p:nvSpPr>
        <p:spPr>
          <a:xfrm>
            <a:off x="521207" y="1897380"/>
            <a:ext cx="105156" cy="105156"/>
          </a:xfrm>
          <a:prstGeom prst="roundRect">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847088"/>
            <a:ext cx="2194560" cy="219456"/>
          </a:xfrm>
          <a:prstGeom prst="rect">
            <a:avLst/>
          </a:prstGeom>
          <a:noFill/>
        </p:spPr>
        <p:txBody>
          <a:bodyPr wrap="square" lIns="0" tIns="0" rIns="0" bIns="0" anchor="t">
            <a:spAutoFit/>
          </a:bodyPr>
          <a:lstStyle/>
          <a:p>
            <a:pPr algn="l"/>
            <a:r>
              <a:rPr sz="1150" b="0" i="0">
                <a:solidFill>
                  <a:srgbClr val="545B64"/>
                </a:solidFill>
                <a:latin typeface="Calibri"/>
              </a:rPr>
              <a:t>Engine A · DIY</a:t>
            </a:r>
          </a:p>
        </p:txBody>
      </p:sp>
      <p:sp>
        <p:nvSpPr>
          <p:cNvPr id="12" name="Rounded Rectangle 11"/>
          <p:cNvSpPr/>
          <p:nvPr/>
        </p:nvSpPr>
        <p:spPr>
          <a:xfrm>
            <a:off x="2133478" y="1897380"/>
            <a:ext cx="105156" cy="105156"/>
          </a:xfrm>
          <a:prstGeom prst="roundRect">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316358" y="1847088"/>
            <a:ext cx="2194560" cy="219456"/>
          </a:xfrm>
          <a:prstGeom prst="rect">
            <a:avLst/>
          </a:prstGeom>
          <a:noFill/>
        </p:spPr>
        <p:txBody>
          <a:bodyPr wrap="square" lIns="0" tIns="0" rIns="0" bIns="0" anchor="t">
            <a:spAutoFit/>
          </a:bodyPr>
          <a:lstStyle/>
          <a:p>
            <a:pPr algn="l"/>
            <a:r>
              <a:rPr sz="1150" b="0" i="0">
                <a:solidFill>
                  <a:srgbClr val="545B64"/>
                </a:solidFill>
                <a:latin typeface="Calibri"/>
              </a:rPr>
              <a:t>Engine B · AgentCore</a:t>
            </a:r>
          </a:p>
        </p:txBody>
      </p:sp>
      <p:sp>
        <p:nvSpPr>
          <p:cNvPr id="14" name="Rectangle 13"/>
          <p:cNvSpPr/>
          <p:nvPr/>
        </p:nvSpPr>
        <p:spPr>
          <a:xfrm>
            <a:off x="1481328" y="2395728"/>
            <a:ext cx="1600883" cy="3364991"/>
          </a:xfrm>
          <a:prstGeom prst="rect">
            <a:avLst/>
          </a:prstGeom>
          <a:solidFill>
            <a:srgbClr val="F8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 name="Connector 14"/>
          <p:cNvCxnSpPr/>
          <p:nvPr/>
        </p:nvCxnSpPr>
        <p:spPr>
          <a:xfrm>
            <a:off x="1481328" y="5627891"/>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21208" y="5545595"/>
            <a:ext cx="868680" cy="164592"/>
          </a:xfrm>
          <a:prstGeom prst="rect">
            <a:avLst/>
          </a:prstGeom>
          <a:noFill/>
        </p:spPr>
        <p:txBody>
          <a:bodyPr wrap="square" lIns="0" tIns="0" rIns="0" bIns="0" anchor="ctr">
            <a:spAutoFit/>
          </a:bodyPr>
          <a:lstStyle/>
          <a:p>
            <a:pPr algn="r"/>
            <a:r>
              <a:rPr sz="1050" b="0" i="0">
                <a:solidFill>
                  <a:srgbClr val="8B949E"/>
                </a:solidFill>
                <a:latin typeface="Calibri"/>
              </a:rPr>
              <a:t>$0.10</a:t>
            </a:r>
          </a:p>
        </p:txBody>
      </p:sp>
      <p:cxnSp>
        <p:nvCxnSpPr>
          <p:cNvPr id="17" name="Connector 16"/>
          <p:cNvCxnSpPr/>
          <p:nvPr/>
        </p:nvCxnSpPr>
        <p:spPr>
          <a:xfrm>
            <a:off x="1481328" y="5185129"/>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21208" y="5102833"/>
            <a:ext cx="868680" cy="164592"/>
          </a:xfrm>
          <a:prstGeom prst="rect">
            <a:avLst/>
          </a:prstGeom>
          <a:noFill/>
        </p:spPr>
        <p:txBody>
          <a:bodyPr wrap="square" lIns="0" tIns="0" rIns="0" bIns="0" anchor="ctr">
            <a:spAutoFit/>
          </a:bodyPr>
          <a:lstStyle/>
          <a:p>
            <a:pPr algn="r"/>
            <a:r>
              <a:rPr sz="1050" b="0" i="0">
                <a:solidFill>
                  <a:srgbClr val="8B949E"/>
                </a:solidFill>
                <a:latin typeface="Calibri"/>
              </a:rPr>
              <a:t>$1</a:t>
            </a:r>
          </a:p>
        </p:txBody>
      </p:sp>
      <p:cxnSp>
        <p:nvCxnSpPr>
          <p:cNvPr id="19" name="Connector 18"/>
          <p:cNvCxnSpPr/>
          <p:nvPr/>
        </p:nvCxnSpPr>
        <p:spPr>
          <a:xfrm>
            <a:off x="1481328" y="4742367"/>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21208" y="4660071"/>
            <a:ext cx="868680" cy="164592"/>
          </a:xfrm>
          <a:prstGeom prst="rect">
            <a:avLst/>
          </a:prstGeom>
          <a:noFill/>
        </p:spPr>
        <p:txBody>
          <a:bodyPr wrap="square" lIns="0" tIns="0" rIns="0" bIns="0" anchor="ctr">
            <a:spAutoFit/>
          </a:bodyPr>
          <a:lstStyle/>
          <a:p>
            <a:pPr algn="r"/>
            <a:r>
              <a:rPr sz="1050" b="0" i="0">
                <a:solidFill>
                  <a:srgbClr val="8B949E"/>
                </a:solidFill>
                <a:latin typeface="Calibri"/>
              </a:rPr>
              <a:t>$10</a:t>
            </a:r>
          </a:p>
        </p:txBody>
      </p:sp>
      <p:cxnSp>
        <p:nvCxnSpPr>
          <p:cNvPr id="21" name="Connector 20"/>
          <p:cNvCxnSpPr/>
          <p:nvPr/>
        </p:nvCxnSpPr>
        <p:spPr>
          <a:xfrm>
            <a:off x="1481328" y="4299605"/>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21208" y="4217309"/>
            <a:ext cx="868680" cy="164592"/>
          </a:xfrm>
          <a:prstGeom prst="rect">
            <a:avLst/>
          </a:prstGeom>
          <a:noFill/>
        </p:spPr>
        <p:txBody>
          <a:bodyPr wrap="square" lIns="0" tIns="0" rIns="0" bIns="0" anchor="ctr">
            <a:spAutoFit/>
          </a:bodyPr>
          <a:lstStyle/>
          <a:p>
            <a:pPr algn="r"/>
            <a:r>
              <a:rPr sz="1050" b="0" i="0">
                <a:solidFill>
                  <a:srgbClr val="8B949E"/>
                </a:solidFill>
                <a:latin typeface="Calibri"/>
              </a:rPr>
              <a:t>$100</a:t>
            </a:r>
          </a:p>
        </p:txBody>
      </p:sp>
      <p:cxnSp>
        <p:nvCxnSpPr>
          <p:cNvPr id="23" name="Connector 22"/>
          <p:cNvCxnSpPr/>
          <p:nvPr/>
        </p:nvCxnSpPr>
        <p:spPr>
          <a:xfrm>
            <a:off x="1481328" y="3856842"/>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21208" y="3774546"/>
            <a:ext cx="868680" cy="164592"/>
          </a:xfrm>
          <a:prstGeom prst="rect">
            <a:avLst/>
          </a:prstGeom>
          <a:noFill/>
        </p:spPr>
        <p:txBody>
          <a:bodyPr wrap="square" lIns="0" tIns="0" rIns="0" bIns="0" anchor="ctr">
            <a:spAutoFit/>
          </a:bodyPr>
          <a:lstStyle/>
          <a:p>
            <a:pPr algn="r"/>
            <a:r>
              <a:rPr sz="1050" b="0" i="0">
                <a:solidFill>
                  <a:srgbClr val="8B949E"/>
                </a:solidFill>
                <a:latin typeface="Calibri"/>
              </a:rPr>
              <a:t>$1k</a:t>
            </a:r>
          </a:p>
        </p:txBody>
      </p:sp>
      <p:cxnSp>
        <p:nvCxnSpPr>
          <p:cNvPr id="25" name="Connector 24"/>
          <p:cNvCxnSpPr/>
          <p:nvPr/>
        </p:nvCxnSpPr>
        <p:spPr>
          <a:xfrm>
            <a:off x="1481328" y="3414080"/>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21208" y="3331784"/>
            <a:ext cx="868680" cy="164592"/>
          </a:xfrm>
          <a:prstGeom prst="rect">
            <a:avLst/>
          </a:prstGeom>
          <a:noFill/>
        </p:spPr>
        <p:txBody>
          <a:bodyPr wrap="square" lIns="0" tIns="0" rIns="0" bIns="0" anchor="ctr">
            <a:spAutoFit/>
          </a:bodyPr>
          <a:lstStyle/>
          <a:p>
            <a:pPr algn="r"/>
            <a:r>
              <a:rPr sz="1050" b="0" i="0">
                <a:solidFill>
                  <a:srgbClr val="8B949E"/>
                </a:solidFill>
                <a:latin typeface="Calibri"/>
              </a:rPr>
              <a:t>$10k</a:t>
            </a:r>
          </a:p>
        </p:txBody>
      </p:sp>
      <p:cxnSp>
        <p:nvCxnSpPr>
          <p:cNvPr id="27" name="Connector 26"/>
          <p:cNvCxnSpPr/>
          <p:nvPr/>
        </p:nvCxnSpPr>
        <p:spPr>
          <a:xfrm>
            <a:off x="1481328" y="2971318"/>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21208" y="2889022"/>
            <a:ext cx="868680" cy="164592"/>
          </a:xfrm>
          <a:prstGeom prst="rect">
            <a:avLst/>
          </a:prstGeom>
          <a:noFill/>
        </p:spPr>
        <p:txBody>
          <a:bodyPr wrap="square" lIns="0" tIns="0" rIns="0" bIns="0" anchor="ctr">
            <a:spAutoFit/>
          </a:bodyPr>
          <a:lstStyle/>
          <a:p>
            <a:pPr algn="r"/>
            <a:r>
              <a:rPr sz="1050" b="0" i="0">
                <a:solidFill>
                  <a:srgbClr val="8B949E"/>
                </a:solidFill>
                <a:latin typeface="Calibri"/>
              </a:rPr>
              <a:t>$100k</a:t>
            </a:r>
          </a:p>
        </p:txBody>
      </p:sp>
      <p:cxnSp>
        <p:nvCxnSpPr>
          <p:cNvPr id="29" name="Connector 28"/>
          <p:cNvCxnSpPr/>
          <p:nvPr/>
        </p:nvCxnSpPr>
        <p:spPr>
          <a:xfrm>
            <a:off x="1481328" y="2528556"/>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21208" y="2446260"/>
            <a:ext cx="868680" cy="164592"/>
          </a:xfrm>
          <a:prstGeom prst="rect">
            <a:avLst/>
          </a:prstGeom>
          <a:noFill/>
        </p:spPr>
        <p:txBody>
          <a:bodyPr wrap="square" lIns="0" tIns="0" rIns="0" bIns="0" anchor="ctr">
            <a:spAutoFit/>
          </a:bodyPr>
          <a:lstStyle/>
          <a:p>
            <a:pPr algn="r"/>
            <a:r>
              <a:rPr sz="1050" b="0" i="0">
                <a:solidFill>
                  <a:srgbClr val="8B949E"/>
                </a:solidFill>
                <a:latin typeface="Calibri"/>
              </a:rPr>
              <a:t>$1M</a:t>
            </a:r>
          </a:p>
        </p:txBody>
      </p:sp>
      <p:cxnSp>
        <p:nvCxnSpPr>
          <p:cNvPr id="31" name="Connector 30"/>
          <p:cNvCxnSpPr/>
          <p:nvPr/>
        </p:nvCxnSpPr>
        <p:spPr>
          <a:xfrm>
            <a:off x="1481328" y="2395728"/>
            <a:ext cx="0" cy="3364992"/>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069848"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a:t>
            </a:r>
          </a:p>
        </p:txBody>
      </p:sp>
      <p:cxnSp>
        <p:nvCxnSpPr>
          <p:cNvPr id="33" name="Connector 32"/>
          <p:cNvCxnSpPr/>
          <p:nvPr/>
        </p:nvCxnSpPr>
        <p:spPr>
          <a:xfrm>
            <a:off x="2918460" y="2395728"/>
            <a:ext cx="0" cy="3364992"/>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2506979"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10</a:t>
            </a:r>
          </a:p>
        </p:txBody>
      </p:sp>
      <p:cxnSp>
        <p:nvCxnSpPr>
          <p:cNvPr id="35" name="Connector 34"/>
          <p:cNvCxnSpPr/>
          <p:nvPr/>
        </p:nvCxnSpPr>
        <p:spPr>
          <a:xfrm>
            <a:off x="4355592" y="2395728"/>
            <a:ext cx="0" cy="3364992"/>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3944112"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100</a:t>
            </a:r>
          </a:p>
        </p:txBody>
      </p:sp>
      <p:cxnSp>
        <p:nvCxnSpPr>
          <p:cNvPr id="37" name="Connector 36"/>
          <p:cNvCxnSpPr/>
          <p:nvPr/>
        </p:nvCxnSpPr>
        <p:spPr>
          <a:xfrm>
            <a:off x="5792724" y="2395728"/>
            <a:ext cx="0" cy="3364992"/>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381244"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1k</a:t>
            </a:r>
          </a:p>
        </p:txBody>
      </p:sp>
      <p:cxnSp>
        <p:nvCxnSpPr>
          <p:cNvPr id="39" name="Connector 38"/>
          <p:cNvCxnSpPr/>
          <p:nvPr/>
        </p:nvCxnSpPr>
        <p:spPr>
          <a:xfrm>
            <a:off x="7229856" y="2395728"/>
            <a:ext cx="0" cy="3364992"/>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818375"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10k</a:t>
            </a:r>
          </a:p>
        </p:txBody>
      </p:sp>
      <p:cxnSp>
        <p:nvCxnSpPr>
          <p:cNvPr id="41" name="Connector 40"/>
          <p:cNvCxnSpPr/>
          <p:nvPr/>
        </p:nvCxnSpPr>
        <p:spPr>
          <a:xfrm>
            <a:off x="8666988" y="2395728"/>
            <a:ext cx="0" cy="3364992"/>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8255508"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100k</a:t>
            </a:r>
          </a:p>
        </p:txBody>
      </p:sp>
      <p:cxnSp>
        <p:nvCxnSpPr>
          <p:cNvPr id="43" name="Connector 42"/>
          <p:cNvCxnSpPr/>
          <p:nvPr/>
        </p:nvCxnSpPr>
        <p:spPr>
          <a:xfrm>
            <a:off x="10104120" y="2395728"/>
            <a:ext cx="0" cy="3364992"/>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9692640"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1M</a:t>
            </a:r>
          </a:p>
        </p:txBody>
      </p:sp>
      <p:sp>
        <p:nvSpPr>
          <p:cNvPr id="45" name="TextBox 44"/>
          <p:cNvSpPr txBox="1"/>
          <p:nvPr/>
        </p:nvSpPr>
        <p:spPr>
          <a:xfrm>
            <a:off x="1481328" y="6089904"/>
            <a:ext cx="4572000" cy="201168"/>
          </a:xfrm>
          <a:prstGeom prst="rect">
            <a:avLst/>
          </a:prstGeom>
          <a:noFill/>
        </p:spPr>
        <p:txBody>
          <a:bodyPr wrap="square" lIns="0" tIns="0" rIns="0" bIns="0" anchor="t">
            <a:spAutoFit/>
          </a:bodyPr>
          <a:lstStyle/>
          <a:p>
            <a:pPr algn="l"/>
            <a:r>
              <a:rPr sz="950" b="1" i="0">
                <a:solidFill>
                  <a:srgbClr val="8B949E"/>
                </a:solidFill>
                <a:latin typeface="Calibri"/>
              </a:rPr>
              <a:t>USERS  →  EACH GRIDLINE IS 10×</a:t>
            </a:r>
          </a:p>
        </p:txBody>
      </p:sp>
      <p:sp>
        <p:nvSpPr>
          <p:cNvPr id="46" name="TextBox 45"/>
          <p:cNvSpPr txBox="1"/>
          <p:nvPr/>
        </p:nvSpPr>
        <p:spPr>
          <a:xfrm>
            <a:off x="521208" y="2084832"/>
            <a:ext cx="1463040" cy="201168"/>
          </a:xfrm>
          <a:prstGeom prst="rect">
            <a:avLst/>
          </a:prstGeom>
          <a:noFill/>
        </p:spPr>
        <p:txBody>
          <a:bodyPr wrap="square" lIns="0" tIns="0" rIns="0" bIns="0" anchor="t">
            <a:spAutoFit/>
          </a:bodyPr>
          <a:lstStyle/>
          <a:p>
            <a:pPr algn="l"/>
            <a:r>
              <a:rPr sz="950" b="1" i="0">
                <a:solidFill>
                  <a:srgbClr val="8B949E"/>
                </a:solidFill>
                <a:latin typeface="Calibri"/>
              </a:rPr>
              <a:t>$ / MONTH</a:t>
            </a:r>
          </a:p>
        </p:txBody>
      </p:sp>
      <p:sp>
        <p:nvSpPr>
          <p:cNvPr id="47" name="TextBox 46"/>
          <p:cNvSpPr txBox="1"/>
          <p:nvPr/>
        </p:nvSpPr>
        <p:spPr>
          <a:xfrm>
            <a:off x="1609344" y="3102245"/>
            <a:ext cx="2377440" cy="201168"/>
          </a:xfrm>
          <a:prstGeom prst="rect">
            <a:avLst/>
          </a:prstGeom>
          <a:noFill/>
        </p:spPr>
        <p:txBody>
          <a:bodyPr wrap="square" lIns="0" tIns="0" rIns="0" bIns="0" anchor="t">
            <a:spAutoFit/>
          </a:bodyPr>
          <a:lstStyle/>
          <a:p>
            <a:pPr algn="l"/>
            <a:r>
              <a:rPr sz="1050" b="0" i="0">
                <a:solidFill>
                  <a:srgbClr val="545B64"/>
                </a:solidFill>
                <a:latin typeface="Calibri"/>
              </a:rPr>
              <a:t>in here, engine A's</a:t>
            </a:r>
          </a:p>
        </p:txBody>
      </p:sp>
      <p:sp>
        <p:nvSpPr>
          <p:cNvPr id="48" name="TextBox 47"/>
          <p:cNvSpPr txBox="1"/>
          <p:nvPr/>
        </p:nvSpPr>
        <p:spPr>
          <a:xfrm>
            <a:off x="1609344" y="3285125"/>
            <a:ext cx="2377440" cy="201168"/>
          </a:xfrm>
          <a:prstGeom prst="rect">
            <a:avLst/>
          </a:prstGeom>
          <a:noFill/>
        </p:spPr>
        <p:txBody>
          <a:bodyPr wrap="square" lIns="0" tIns="0" rIns="0" bIns="0" anchor="t">
            <a:spAutoFit/>
          </a:bodyPr>
          <a:lstStyle/>
          <a:p>
            <a:pPr algn="l"/>
            <a:r>
              <a:rPr sz="1050" b="0" i="0">
                <a:solidFill>
                  <a:srgbClr val="545B64"/>
                </a:solidFill>
                <a:latin typeface="Calibri"/>
              </a:rPr>
              <a:t>$18 floor is most of the bill  ↓</a:t>
            </a:r>
          </a:p>
        </p:txBody>
      </p:sp>
      <p:cxnSp>
        <p:nvCxnSpPr>
          <p:cNvPr id="49" name="Connector 48"/>
          <p:cNvCxnSpPr/>
          <p:nvPr/>
        </p:nvCxnSpPr>
        <p:spPr>
          <a:xfrm flipV="1">
            <a:off x="1481328" y="4519428"/>
            <a:ext cx="1437132" cy="9545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2918460" y="4213334"/>
            <a:ext cx="1437132" cy="30609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4355592" y="3791591"/>
            <a:ext cx="1437132" cy="421743"/>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5792724" y="3351063"/>
            <a:ext cx="1437132" cy="44052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7229856" y="2908451"/>
            <a:ext cx="1437132" cy="44261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8666988" y="2465711"/>
            <a:ext cx="1437132" cy="44274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sp>
        <p:nvSpPr>
          <p:cNvPr id="55" name="Oval 54"/>
          <p:cNvSpPr/>
          <p:nvPr/>
        </p:nvSpPr>
        <p:spPr>
          <a:xfrm>
            <a:off x="1428292" y="4561844"/>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2865424" y="4466393"/>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4302556" y="4160298"/>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5739688" y="3738556"/>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7176820" y="3298028"/>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8613952" y="2855416"/>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10051084" y="2412676"/>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10239451" y="2418162"/>
            <a:ext cx="95097" cy="95097"/>
          </a:xfrm>
          <a:prstGeom prst="ellipse">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396728" y="2360555"/>
            <a:ext cx="1737360" cy="201168"/>
          </a:xfrm>
          <a:prstGeom prst="rect">
            <a:avLst/>
          </a:prstGeom>
          <a:noFill/>
        </p:spPr>
        <p:txBody>
          <a:bodyPr wrap="square" lIns="0" tIns="0" rIns="0" bIns="0" anchor="t">
            <a:spAutoFit/>
          </a:bodyPr>
          <a:lstStyle/>
          <a:p>
            <a:pPr algn="l"/>
            <a:r>
              <a:rPr sz="1250" b="1" i="0">
                <a:solidFill>
                  <a:srgbClr val="232F3E"/>
                </a:solidFill>
                <a:latin typeface="Calibri"/>
              </a:rPr>
              <a:t>$1.387 M</a:t>
            </a:r>
          </a:p>
        </p:txBody>
      </p:sp>
      <p:sp>
        <p:nvSpPr>
          <p:cNvPr id="64" name="TextBox 63"/>
          <p:cNvSpPr txBox="1"/>
          <p:nvPr/>
        </p:nvSpPr>
        <p:spPr>
          <a:xfrm>
            <a:off x="10396728" y="2557151"/>
            <a:ext cx="1737360" cy="182880"/>
          </a:xfrm>
          <a:prstGeom prst="rect">
            <a:avLst/>
          </a:prstGeom>
          <a:noFill/>
        </p:spPr>
        <p:txBody>
          <a:bodyPr wrap="square" lIns="0" tIns="0" rIns="0" bIns="0" anchor="t">
            <a:spAutoFit/>
          </a:bodyPr>
          <a:lstStyle/>
          <a:p>
            <a:pPr algn="l"/>
            <a:r>
              <a:rPr sz="1100" b="0" i="0">
                <a:solidFill>
                  <a:srgbClr val="545B64"/>
                </a:solidFill>
                <a:latin typeface="Calibri"/>
              </a:rPr>
              <a:t>A  DIY</a:t>
            </a:r>
          </a:p>
        </p:txBody>
      </p:sp>
      <p:cxnSp>
        <p:nvCxnSpPr>
          <p:cNvPr id="65" name="Connector 64"/>
          <p:cNvCxnSpPr/>
          <p:nvPr/>
        </p:nvCxnSpPr>
        <p:spPr>
          <a:xfrm flipV="1">
            <a:off x="1481328" y="5179520"/>
            <a:ext cx="1437132" cy="441756"/>
          </a:xfrm>
          <a:prstGeom prst="line">
            <a:avLst/>
          </a:prstGeom>
          <a:ln w="28575">
            <a:solidFill>
              <a:srgbClr val="6E8B3D"/>
            </a:solidFill>
          </a:ln>
          <a:effectLst/>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2918460" y="4736858"/>
            <a:ext cx="1437132" cy="442662"/>
          </a:xfrm>
          <a:prstGeom prst="line">
            <a:avLst/>
          </a:prstGeom>
          <a:ln w="28575">
            <a:solidFill>
              <a:srgbClr val="6E8B3D"/>
            </a:solidFill>
          </a:ln>
          <a:effectLst/>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4355592" y="4294106"/>
            <a:ext cx="1437132" cy="442752"/>
          </a:xfrm>
          <a:prstGeom prst="line">
            <a:avLst/>
          </a:prstGeom>
          <a:ln w="28575">
            <a:solidFill>
              <a:srgbClr val="6E8B3D"/>
            </a:solidFill>
          </a:ln>
          <a:effectLst/>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5792724" y="3851345"/>
            <a:ext cx="1437132" cy="442761"/>
          </a:xfrm>
          <a:prstGeom prst="line">
            <a:avLst/>
          </a:prstGeom>
          <a:ln w="28575">
            <a:solidFill>
              <a:srgbClr val="6E8B3D"/>
            </a:solidFill>
          </a:ln>
          <a:effectLst/>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7229856" y="3408583"/>
            <a:ext cx="1437132" cy="442762"/>
          </a:xfrm>
          <a:prstGeom prst="line">
            <a:avLst/>
          </a:prstGeom>
          <a:ln w="28575">
            <a:solidFill>
              <a:srgbClr val="6E8B3D"/>
            </a:solidFill>
          </a:ln>
          <a:effectLst/>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8666988" y="2965821"/>
            <a:ext cx="1437132" cy="442762"/>
          </a:xfrm>
          <a:prstGeom prst="line">
            <a:avLst/>
          </a:prstGeom>
          <a:ln w="28575">
            <a:solidFill>
              <a:srgbClr val="6E8B3D"/>
            </a:solidFill>
          </a:ln>
          <a:effectLst/>
        </p:spPr>
        <p:style>
          <a:lnRef idx="2">
            <a:schemeClr val="accent1"/>
          </a:lnRef>
          <a:fillRef idx="0">
            <a:schemeClr val="accent1"/>
          </a:fillRef>
          <a:effectRef idx="1">
            <a:schemeClr val="accent1"/>
          </a:effectRef>
          <a:fontRef idx="minor">
            <a:schemeClr val="tx1"/>
          </a:fontRef>
        </p:style>
      </p:cxnSp>
      <p:sp>
        <p:nvSpPr>
          <p:cNvPr id="71" name="Oval 70"/>
          <p:cNvSpPr/>
          <p:nvPr/>
        </p:nvSpPr>
        <p:spPr>
          <a:xfrm>
            <a:off x="1428292" y="5568241"/>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val 71"/>
          <p:cNvSpPr/>
          <p:nvPr/>
        </p:nvSpPr>
        <p:spPr>
          <a:xfrm>
            <a:off x="2865424" y="5126484"/>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val 72"/>
          <p:cNvSpPr/>
          <p:nvPr/>
        </p:nvSpPr>
        <p:spPr>
          <a:xfrm>
            <a:off x="4302556" y="4683823"/>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val 73"/>
          <p:cNvSpPr/>
          <p:nvPr/>
        </p:nvSpPr>
        <p:spPr>
          <a:xfrm>
            <a:off x="5739688" y="4241071"/>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val 74"/>
          <p:cNvSpPr/>
          <p:nvPr/>
        </p:nvSpPr>
        <p:spPr>
          <a:xfrm>
            <a:off x="7176820" y="3798310"/>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val 75"/>
          <p:cNvSpPr/>
          <p:nvPr/>
        </p:nvSpPr>
        <p:spPr>
          <a:xfrm>
            <a:off x="8613952" y="3355548"/>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val 76"/>
          <p:cNvSpPr/>
          <p:nvPr/>
        </p:nvSpPr>
        <p:spPr>
          <a:xfrm>
            <a:off x="10051084" y="2912786"/>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val 77"/>
          <p:cNvSpPr/>
          <p:nvPr/>
        </p:nvSpPr>
        <p:spPr>
          <a:xfrm>
            <a:off x="10239451" y="2918272"/>
            <a:ext cx="95097" cy="95097"/>
          </a:xfrm>
          <a:prstGeom prst="ellipse">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10396728" y="2860665"/>
            <a:ext cx="1737360" cy="201168"/>
          </a:xfrm>
          <a:prstGeom prst="rect">
            <a:avLst/>
          </a:prstGeom>
          <a:noFill/>
        </p:spPr>
        <p:txBody>
          <a:bodyPr wrap="square" lIns="0" tIns="0" rIns="0" bIns="0" anchor="t">
            <a:spAutoFit/>
          </a:bodyPr>
          <a:lstStyle/>
          <a:p>
            <a:pPr algn="l"/>
            <a:r>
              <a:rPr sz="1250" b="1" i="0">
                <a:solidFill>
                  <a:srgbClr val="232F3E"/>
                </a:solidFill>
                <a:latin typeface="Calibri"/>
              </a:rPr>
              <a:t>$102,900</a:t>
            </a:r>
          </a:p>
        </p:txBody>
      </p:sp>
      <p:sp>
        <p:nvSpPr>
          <p:cNvPr id="80" name="TextBox 79"/>
          <p:cNvSpPr txBox="1"/>
          <p:nvPr/>
        </p:nvSpPr>
        <p:spPr>
          <a:xfrm>
            <a:off x="10396728" y="3057261"/>
            <a:ext cx="1737360" cy="182880"/>
          </a:xfrm>
          <a:prstGeom prst="rect">
            <a:avLst/>
          </a:prstGeom>
          <a:noFill/>
        </p:spPr>
        <p:txBody>
          <a:bodyPr wrap="square" lIns="0" tIns="0" rIns="0" bIns="0" anchor="t">
            <a:spAutoFit/>
          </a:bodyPr>
          <a:lstStyle/>
          <a:p>
            <a:pPr algn="l"/>
            <a:r>
              <a:rPr sz="1100" b="0" i="0">
                <a:solidFill>
                  <a:srgbClr val="545B64"/>
                </a:solidFill>
                <a:latin typeface="Calibri"/>
              </a:rPr>
              <a:t>B  AgentCore</a:t>
            </a:r>
          </a:p>
        </p:txBody>
      </p:sp>
      <p:cxnSp>
        <p:nvCxnSpPr>
          <p:cNvPr id="81" name="Connector 80"/>
          <p:cNvCxnSpPr/>
          <p:nvPr/>
        </p:nvCxnSpPr>
        <p:spPr>
          <a:xfrm flipV="1">
            <a:off x="1481328" y="4614879"/>
            <a:ext cx="0" cy="1006397"/>
          </a:xfrm>
          <a:prstGeom prst="line">
            <a:avLst/>
          </a:prstGeom>
          <a:ln w="12700">
            <a:solidFill>
              <a:srgbClr val="8B949E"/>
            </a:solidFill>
            <a:prstDash val="dash"/>
          </a:ln>
          <a:effectLst/>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1572768" y="5017494"/>
            <a:ext cx="914400" cy="201168"/>
          </a:xfrm>
          <a:prstGeom prst="rect">
            <a:avLst/>
          </a:prstGeom>
          <a:noFill/>
        </p:spPr>
        <p:txBody>
          <a:bodyPr wrap="square" lIns="0" tIns="0" rIns="0" bIns="0" anchor="t">
            <a:spAutoFit/>
          </a:bodyPr>
          <a:lstStyle/>
          <a:p>
            <a:pPr algn="l"/>
            <a:r>
              <a:rPr sz="1250" b="1" i="0">
                <a:solidFill>
                  <a:srgbClr val="232F3E"/>
                </a:solidFill>
                <a:latin typeface="Calibri"/>
              </a:rPr>
              <a:t>187.5×</a:t>
            </a:r>
          </a:p>
        </p:txBody>
      </p:sp>
      <p:cxnSp>
        <p:nvCxnSpPr>
          <p:cNvPr id="83" name="Connector 82"/>
          <p:cNvCxnSpPr/>
          <p:nvPr/>
        </p:nvCxnSpPr>
        <p:spPr>
          <a:xfrm flipV="1">
            <a:off x="10104120" y="2465711"/>
            <a:ext cx="0" cy="500110"/>
          </a:xfrm>
          <a:prstGeom prst="line">
            <a:avLst/>
          </a:prstGeom>
          <a:ln w="12700">
            <a:solidFill>
              <a:srgbClr val="8B949E"/>
            </a:solidFill>
            <a:prstDash val="dash"/>
          </a:ln>
          <a:effectLst/>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8823960" y="2615182"/>
            <a:ext cx="1097280" cy="201168"/>
          </a:xfrm>
          <a:prstGeom prst="rect">
            <a:avLst/>
          </a:prstGeom>
          <a:noFill/>
        </p:spPr>
        <p:txBody>
          <a:bodyPr wrap="square" lIns="0" tIns="0" rIns="0" bIns="0" anchor="t">
            <a:spAutoFit/>
          </a:bodyPr>
          <a:lstStyle/>
          <a:p>
            <a:pPr algn="r"/>
            <a:r>
              <a:rPr sz="1250" b="1" i="0">
                <a:solidFill>
                  <a:srgbClr val="232F3E"/>
                </a:solidFill>
                <a:latin typeface="Calibri"/>
              </a:rPr>
              <a:t>13.5×</a:t>
            </a:r>
          </a:p>
        </p:txBody>
      </p:sp>
      <p:sp>
        <p:nvSpPr>
          <p:cNvPr id="86" name="Rounded Rectangle 85">
            <a:extLst>
              <a:ext uri="{FF2B5EF4-FFF2-40B4-BE49-F238E27FC236}">
                <a16:creationId xmlns:a16="http://schemas.microsoft.com/office/drawing/2014/main" id="{106C8217-C742-FACC-CD89-4E7B0CDD1C30}"/>
              </a:ext>
            </a:extLst>
          </p:cNvPr>
          <p:cNvSpPr/>
          <p:nvPr/>
        </p:nvSpPr>
        <p:spPr>
          <a:xfrm>
            <a:off x="2361512" y="1272239"/>
            <a:ext cx="1062531"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Rething on this slide according to 7 and 8. You can </a:t>
            </a:r>
            <a:r>
              <a:rPr lang="en-US" dirty="0" err="1">
                <a:solidFill>
                  <a:srgbClr val="FF0000"/>
                </a:solidFill>
                <a:highlight>
                  <a:srgbClr val="FFFF00"/>
                </a:highlight>
              </a:rPr>
              <a:t>deltel</a:t>
            </a:r>
            <a:r>
              <a:rPr lang="en-US" dirty="0">
                <a:solidFill>
                  <a:srgbClr val="FF0000"/>
                </a:solidFill>
                <a:highlight>
                  <a:srgbClr val="FFFF00"/>
                </a:highlight>
              </a:rPr>
              <a:t> it if it </a:t>
            </a:r>
            <a:r>
              <a:rPr lang="en-US" dirty="0" err="1">
                <a:solidFill>
                  <a:srgbClr val="FF0000"/>
                </a:solidFill>
                <a:highlight>
                  <a:srgbClr val="FFFF00"/>
                </a:highlight>
              </a:rPr>
              <a:t>doesn</a:t>
            </a:r>
            <a:r>
              <a:rPr lang="en-US" dirty="0">
                <a:solidFill>
                  <a:srgbClr val="FF0000"/>
                </a:solidFill>
                <a:highlight>
                  <a:srgbClr val="FFFF00"/>
                </a:highlight>
              </a:rPr>
              <a:t>’ serve the narrative /. wrong</a:t>
            </a:r>
            <a:endParaRPr dirty="0">
              <a:solidFill>
                <a:srgbClr val="FF0000"/>
              </a:solidFill>
              <a:highlight>
                <a:srgbClr val="FFFF00"/>
              </a:high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i="0">
                <a:solidFill>
                  <a:srgbClr val="FF9900"/>
                </a:solidFill>
                <a:latin typeface="Calibri"/>
              </a:rPr>
              <a:t>7</a:t>
            </a:r>
          </a:p>
        </p:txBody>
      </p:sp>
      <p:sp>
        <p:nvSpPr>
          <p:cNvPr id="5" name="TextBox 4"/>
          <p:cNvSpPr txBox="1"/>
          <p:nvPr/>
        </p:nvSpPr>
        <p:spPr>
          <a:xfrm>
            <a:off x="1280160" y="365760"/>
            <a:ext cx="10058400" cy="594360"/>
          </a:xfrm>
          <a:prstGeom prst="rect">
            <a:avLst/>
          </a:prstGeom>
          <a:noFill/>
        </p:spPr>
        <p:txBody>
          <a:bodyPr wrap="square" lIns="0" tIns="0" rIns="0" bIns="0" anchor="ctr">
            <a:spAutoFit/>
          </a:bodyPr>
          <a:lstStyle/>
          <a:p>
            <a:pPr algn="l"/>
            <a:r>
              <a:rPr sz="3000" b="1" i="0">
                <a:solidFill>
                  <a:srgbClr val="232F3E"/>
                </a:solidFill>
                <a:latin typeface="Calibri"/>
              </a:rPr>
              <a:t>Cost per user — the floor amortises</a:t>
            </a:r>
          </a:p>
        </p:txBody>
      </p:sp>
      <p:sp>
        <p:nvSpPr>
          <p:cNvPr id="6" name="Rectangle 5"/>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280160"/>
            <a:ext cx="11155680" cy="475488"/>
          </a:xfrm>
          <a:prstGeom prst="rect">
            <a:avLst/>
          </a:prstGeom>
          <a:noFill/>
        </p:spPr>
        <p:txBody>
          <a:bodyPr wrap="square" lIns="0" tIns="0" rIns="0" bIns="0" anchor="t">
            <a:spAutoFit/>
          </a:bodyPr>
          <a:lstStyle/>
          <a:p>
            <a:pPr algn="l"/>
            <a:r>
              <a:rPr sz="1400" b="0" i="0">
                <a:solidFill>
                  <a:srgbClr val="545B64"/>
                </a:solidFill>
                <a:latin typeface="Calibri"/>
              </a:rPr>
              <a:t>The same two bills divided by the user count. Engine A falls from $19.41 toward a $1.386 asymptote as its fixed floor spreads out; engine B is flat at $0.1029 from the first user, having no floor to spread.</a:t>
            </a:r>
          </a:p>
        </p:txBody>
      </p:sp>
      <p:sp>
        <p:nvSpPr>
          <p:cNvPr id="8" name="TextBox 7"/>
          <p:cNvSpPr txBox="1"/>
          <p:nvPr/>
        </p:nvSpPr>
        <p:spPr>
          <a:xfrm>
            <a:off x="502920" y="6446520"/>
            <a:ext cx="8229600" cy="320040"/>
          </a:xfrm>
          <a:prstGeom prst="rect">
            <a:avLst/>
          </a:prstGeom>
          <a:noFill/>
        </p:spPr>
        <p:txBody>
          <a:bodyPr wrap="square" lIns="0" tIns="0" rIns="0" bIns="0" anchor="t">
            <a:spAutoFit/>
          </a:bodyPr>
          <a:lstStyle/>
          <a:p>
            <a:pPr algn="l"/>
            <a:r>
              <a:rPr sz="1000" b="1" i="0">
                <a:solidFill>
                  <a:srgbClr val="545B64"/>
                </a:solidFill>
                <a:latin typeface="Calibri"/>
              </a:rPr>
              <a:t>VALENTIN   ·   GenAI TFC Capstone Deep-Dive</a:t>
            </a:r>
          </a:p>
        </p:txBody>
      </p:sp>
      <p:sp>
        <p:nvSpPr>
          <p:cNvPr id="9" name="TextBox 8"/>
          <p:cNvSpPr txBox="1"/>
          <p:nvPr/>
        </p:nvSpPr>
        <p:spPr>
          <a:xfrm>
            <a:off x="10332720" y="6446520"/>
            <a:ext cx="1371600" cy="320040"/>
          </a:xfrm>
          <a:prstGeom prst="rect">
            <a:avLst/>
          </a:prstGeom>
          <a:noFill/>
        </p:spPr>
        <p:txBody>
          <a:bodyPr wrap="square" lIns="0" tIns="0" rIns="0" bIns="0" anchor="t">
            <a:spAutoFit/>
          </a:bodyPr>
          <a:lstStyle/>
          <a:p>
            <a:pPr algn="r"/>
            <a:r>
              <a:rPr sz="1000" b="0" i="0">
                <a:solidFill>
                  <a:srgbClr val="545B64"/>
                </a:solidFill>
                <a:latin typeface="Calibri"/>
              </a:rPr>
              <a:t>8 / 18</a:t>
            </a:r>
          </a:p>
        </p:txBody>
      </p:sp>
      <p:sp>
        <p:nvSpPr>
          <p:cNvPr id="10" name="Rounded Rectangle 9"/>
          <p:cNvSpPr/>
          <p:nvPr/>
        </p:nvSpPr>
        <p:spPr>
          <a:xfrm>
            <a:off x="521207" y="2025396"/>
            <a:ext cx="105156" cy="105156"/>
          </a:xfrm>
          <a:prstGeom prst="roundRect">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975104"/>
            <a:ext cx="2194560" cy="219456"/>
          </a:xfrm>
          <a:prstGeom prst="rect">
            <a:avLst/>
          </a:prstGeom>
          <a:noFill/>
        </p:spPr>
        <p:txBody>
          <a:bodyPr wrap="square" lIns="0" tIns="0" rIns="0" bIns="0" anchor="t">
            <a:spAutoFit/>
          </a:bodyPr>
          <a:lstStyle/>
          <a:p>
            <a:pPr algn="l"/>
            <a:r>
              <a:rPr sz="1150" b="0" i="0">
                <a:solidFill>
                  <a:srgbClr val="545B64"/>
                </a:solidFill>
                <a:latin typeface="Calibri"/>
              </a:rPr>
              <a:t>Engine A · DIY</a:t>
            </a:r>
          </a:p>
        </p:txBody>
      </p:sp>
      <p:sp>
        <p:nvSpPr>
          <p:cNvPr id="12" name="Rounded Rectangle 11"/>
          <p:cNvSpPr/>
          <p:nvPr/>
        </p:nvSpPr>
        <p:spPr>
          <a:xfrm>
            <a:off x="2133478" y="2025396"/>
            <a:ext cx="105156" cy="105156"/>
          </a:xfrm>
          <a:prstGeom prst="roundRect">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316358" y="1975104"/>
            <a:ext cx="2194560" cy="219456"/>
          </a:xfrm>
          <a:prstGeom prst="rect">
            <a:avLst/>
          </a:prstGeom>
          <a:noFill/>
        </p:spPr>
        <p:txBody>
          <a:bodyPr wrap="square" lIns="0" tIns="0" rIns="0" bIns="0" anchor="t">
            <a:spAutoFit/>
          </a:bodyPr>
          <a:lstStyle/>
          <a:p>
            <a:pPr algn="l"/>
            <a:r>
              <a:rPr sz="1150" b="0" i="0">
                <a:solidFill>
                  <a:srgbClr val="545B64"/>
                </a:solidFill>
                <a:latin typeface="Calibri"/>
              </a:rPr>
              <a:t>Engine B · AgentCore</a:t>
            </a:r>
          </a:p>
        </p:txBody>
      </p:sp>
      <p:cxnSp>
        <p:nvCxnSpPr>
          <p:cNvPr id="14" name="Connector 13"/>
          <p:cNvCxnSpPr/>
          <p:nvPr/>
        </p:nvCxnSpPr>
        <p:spPr>
          <a:xfrm>
            <a:off x="1481328" y="5504983"/>
            <a:ext cx="81655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21208" y="5422687"/>
            <a:ext cx="868680" cy="164592"/>
          </a:xfrm>
          <a:prstGeom prst="rect">
            <a:avLst/>
          </a:prstGeom>
          <a:noFill/>
        </p:spPr>
        <p:txBody>
          <a:bodyPr wrap="square" lIns="0" tIns="0" rIns="0" bIns="0" anchor="ctr">
            <a:spAutoFit/>
          </a:bodyPr>
          <a:lstStyle/>
          <a:p>
            <a:pPr algn="r"/>
            <a:r>
              <a:rPr sz="1050" b="0" i="0">
                <a:solidFill>
                  <a:srgbClr val="8B949E"/>
                </a:solidFill>
                <a:latin typeface="Calibri"/>
              </a:rPr>
              <a:t>$0.10</a:t>
            </a:r>
          </a:p>
        </p:txBody>
      </p:sp>
      <p:cxnSp>
        <p:nvCxnSpPr>
          <p:cNvPr id="16" name="Connector 15"/>
          <p:cNvCxnSpPr/>
          <p:nvPr/>
        </p:nvCxnSpPr>
        <p:spPr>
          <a:xfrm>
            <a:off x="1481328" y="4954981"/>
            <a:ext cx="81655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8" y="4872685"/>
            <a:ext cx="868680" cy="164592"/>
          </a:xfrm>
          <a:prstGeom prst="rect">
            <a:avLst/>
          </a:prstGeom>
          <a:noFill/>
        </p:spPr>
        <p:txBody>
          <a:bodyPr wrap="square" lIns="0" tIns="0" rIns="0" bIns="0" anchor="ctr">
            <a:spAutoFit/>
          </a:bodyPr>
          <a:lstStyle/>
          <a:p>
            <a:pPr algn="r"/>
            <a:r>
              <a:rPr sz="1050" b="0" i="0">
                <a:solidFill>
                  <a:srgbClr val="8B949E"/>
                </a:solidFill>
                <a:latin typeface="Calibri"/>
              </a:rPr>
              <a:t>$0.30</a:t>
            </a:r>
          </a:p>
        </p:txBody>
      </p:sp>
      <p:cxnSp>
        <p:nvCxnSpPr>
          <p:cNvPr id="18" name="Connector 17"/>
          <p:cNvCxnSpPr/>
          <p:nvPr/>
        </p:nvCxnSpPr>
        <p:spPr>
          <a:xfrm>
            <a:off x="1481328" y="4352232"/>
            <a:ext cx="81655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21208" y="4269936"/>
            <a:ext cx="868680" cy="164592"/>
          </a:xfrm>
          <a:prstGeom prst="rect">
            <a:avLst/>
          </a:prstGeom>
          <a:noFill/>
        </p:spPr>
        <p:txBody>
          <a:bodyPr wrap="square" lIns="0" tIns="0" rIns="0" bIns="0" anchor="ctr">
            <a:spAutoFit/>
          </a:bodyPr>
          <a:lstStyle/>
          <a:p>
            <a:pPr algn="r"/>
            <a:r>
              <a:rPr sz="1050" b="0" i="0">
                <a:solidFill>
                  <a:srgbClr val="8B949E"/>
                </a:solidFill>
                <a:latin typeface="Calibri"/>
              </a:rPr>
              <a:t>$1</a:t>
            </a:r>
          </a:p>
        </p:txBody>
      </p:sp>
      <p:cxnSp>
        <p:nvCxnSpPr>
          <p:cNvPr id="20" name="Connector 19"/>
          <p:cNvCxnSpPr/>
          <p:nvPr/>
        </p:nvCxnSpPr>
        <p:spPr>
          <a:xfrm>
            <a:off x="1481328" y="3802230"/>
            <a:ext cx="81655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21208" y="3719934"/>
            <a:ext cx="868680" cy="164592"/>
          </a:xfrm>
          <a:prstGeom prst="rect">
            <a:avLst/>
          </a:prstGeom>
          <a:noFill/>
        </p:spPr>
        <p:txBody>
          <a:bodyPr wrap="square" lIns="0" tIns="0" rIns="0" bIns="0" anchor="ctr">
            <a:spAutoFit/>
          </a:bodyPr>
          <a:lstStyle/>
          <a:p>
            <a:pPr algn="r"/>
            <a:r>
              <a:rPr sz="1050" b="0" i="0">
                <a:solidFill>
                  <a:srgbClr val="8B949E"/>
                </a:solidFill>
                <a:latin typeface="Calibri"/>
              </a:rPr>
              <a:t>$3</a:t>
            </a:r>
          </a:p>
        </p:txBody>
      </p:sp>
      <p:cxnSp>
        <p:nvCxnSpPr>
          <p:cNvPr id="22" name="Connector 21"/>
          <p:cNvCxnSpPr/>
          <p:nvPr/>
        </p:nvCxnSpPr>
        <p:spPr>
          <a:xfrm>
            <a:off x="1481328" y="3199481"/>
            <a:ext cx="81655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21208" y="3117185"/>
            <a:ext cx="868680" cy="164592"/>
          </a:xfrm>
          <a:prstGeom prst="rect">
            <a:avLst/>
          </a:prstGeom>
          <a:noFill/>
        </p:spPr>
        <p:txBody>
          <a:bodyPr wrap="square" lIns="0" tIns="0" rIns="0" bIns="0" anchor="ctr">
            <a:spAutoFit/>
          </a:bodyPr>
          <a:lstStyle/>
          <a:p>
            <a:pPr algn="r"/>
            <a:r>
              <a:rPr sz="1050" b="0" i="0">
                <a:solidFill>
                  <a:srgbClr val="8B949E"/>
                </a:solidFill>
                <a:latin typeface="Calibri"/>
              </a:rPr>
              <a:t>$10</a:t>
            </a:r>
          </a:p>
        </p:txBody>
      </p:sp>
      <p:cxnSp>
        <p:nvCxnSpPr>
          <p:cNvPr id="24" name="Connector 23"/>
          <p:cNvCxnSpPr/>
          <p:nvPr/>
        </p:nvCxnSpPr>
        <p:spPr>
          <a:xfrm>
            <a:off x="1481328" y="2649479"/>
            <a:ext cx="81655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21208" y="2567183"/>
            <a:ext cx="868680" cy="164592"/>
          </a:xfrm>
          <a:prstGeom prst="rect">
            <a:avLst/>
          </a:prstGeom>
          <a:noFill/>
        </p:spPr>
        <p:txBody>
          <a:bodyPr wrap="square" lIns="0" tIns="0" rIns="0" bIns="0" anchor="ctr">
            <a:spAutoFit/>
          </a:bodyPr>
          <a:lstStyle/>
          <a:p>
            <a:pPr algn="r"/>
            <a:r>
              <a:rPr sz="1050" b="0" i="0">
                <a:solidFill>
                  <a:srgbClr val="8B949E"/>
                </a:solidFill>
                <a:latin typeface="Calibri"/>
              </a:rPr>
              <a:t>$30</a:t>
            </a:r>
          </a:p>
        </p:txBody>
      </p:sp>
      <p:cxnSp>
        <p:nvCxnSpPr>
          <p:cNvPr id="26" name="Connector 25"/>
          <p:cNvCxnSpPr/>
          <p:nvPr/>
        </p:nvCxnSpPr>
        <p:spPr>
          <a:xfrm>
            <a:off x="1481328" y="2505456"/>
            <a:ext cx="0" cy="3255264"/>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069848"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a:t>
            </a:r>
          </a:p>
        </p:txBody>
      </p:sp>
      <p:cxnSp>
        <p:nvCxnSpPr>
          <p:cNvPr id="28" name="Connector 27"/>
          <p:cNvCxnSpPr/>
          <p:nvPr/>
        </p:nvCxnSpPr>
        <p:spPr>
          <a:xfrm>
            <a:off x="2842260" y="2505456"/>
            <a:ext cx="0" cy="3255264"/>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2430780"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10</a:t>
            </a:r>
          </a:p>
        </p:txBody>
      </p:sp>
      <p:cxnSp>
        <p:nvCxnSpPr>
          <p:cNvPr id="30" name="Connector 29"/>
          <p:cNvCxnSpPr/>
          <p:nvPr/>
        </p:nvCxnSpPr>
        <p:spPr>
          <a:xfrm>
            <a:off x="4203192" y="2505456"/>
            <a:ext cx="0" cy="3255264"/>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3791712"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100</a:t>
            </a:r>
          </a:p>
        </p:txBody>
      </p:sp>
      <p:cxnSp>
        <p:nvCxnSpPr>
          <p:cNvPr id="32" name="Connector 31"/>
          <p:cNvCxnSpPr/>
          <p:nvPr/>
        </p:nvCxnSpPr>
        <p:spPr>
          <a:xfrm>
            <a:off x="5564124" y="2505456"/>
            <a:ext cx="0" cy="3255264"/>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152644"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1k</a:t>
            </a:r>
          </a:p>
        </p:txBody>
      </p:sp>
      <p:cxnSp>
        <p:nvCxnSpPr>
          <p:cNvPr id="34" name="Connector 33"/>
          <p:cNvCxnSpPr/>
          <p:nvPr/>
        </p:nvCxnSpPr>
        <p:spPr>
          <a:xfrm>
            <a:off x="6925056" y="2505456"/>
            <a:ext cx="0" cy="3255264"/>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513576"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10k</a:t>
            </a:r>
          </a:p>
        </p:txBody>
      </p:sp>
      <p:cxnSp>
        <p:nvCxnSpPr>
          <p:cNvPr id="36" name="Connector 35"/>
          <p:cNvCxnSpPr/>
          <p:nvPr/>
        </p:nvCxnSpPr>
        <p:spPr>
          <a:xfrm>
            <a:off x="8285988" y="2505456"/>
            <a:ext cx="0" cy="3255264"/>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7874508"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100k</a:t>
            </a:r>
          </a:p>
        </p:txBody>
      </p:sp>
      <p:cxnSp>
        <p:nvCxnSpPr>
          <p:cNvPr id="38" name="Connector 37"/>
          <p:cNvCxnSpPr/>
          <p:nvPr/>
        </p:nvCxnSpPr>
        <p:spPr>
          <a:xfrm>
            <a:off x="9646920" y="2505456"/>
            <a:ext cx="0" cy="3255264"/>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9235440"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1M</a:t>
            </a:r>
          </a:p>
        </p:txBody>
      </p:sp>
      <p:sp>
        <p:nvSpPr>
          <p:cNvPr id="40" name="TextBox 39"/>
          <p:cNvSpPr txBox="1"/>
          <p:nvPr/>
        </p:nvSpPr>
        <p:spPr>
          <a:xfrm>
            <a:off x="1481328" y="6089904"/>
            <a:ext cx="3657600" cy="201168"/>
          </a:xfrm>
          <a:prstGeom prst="rect">
            <a:avLst/>
          </a:prstGeom>
          <a:noFill/>
        </p:spPr>
        <p:txBody>
          <a:bodyPr wrap="square" lIns="0" tIns="0" rIns="0" bIns="0" anchor="t">
            <a:spAutoFit/>
          </a:bodyPr>
          <a:lstStyle/>
          <a:p>
            <a:pPr algn="l"/>
            <a:r>
              <a:rPr sz="950" b="1" i="0">
                <a:solidFill>
                  <a:srgbClr val="8B949E"/>
                </a:solidFill>
                <a:latin typeface="Calibri"/>
              </a:rPr>
              <a:t>USERS  →</a:t>
            </a:r>
          </a:p>
        </p:txBody>
      </p:sp>
      <p:sp>
        <p:nvSpPr>
          <p:cNvPr id="41" name="TextBox 40"/>
          <p:cNvSpPr txBox="1"/>
          <p:nvPr/>
        </p:nvSpPr>
        <p:spPr>
          <a:xfrm>
            <a:off x="521208" y="2194560"/>
            <a:ext cx="2011680" cy="201168"/>
          </a:xfrm>
          <a:prstGeom prst="rect">
            <a:avLst/>
          </a:prstGeom>
          <a:noFill/>
        </p:spPr>
        <p:txBody>
          <a:bodyPr wrap="square" lIns="0" tIns="0" rIns="0" bIns="0" anchor="t">
            <a:spAutoFit/>
          </a:bodyPr>
          <a:lstStyle/>
          <a:p>
            <a:pPr algn="l"/>
            <a:r>
              <a:rPr sz="950" b="1" i="0">
                <a:solidFill>
                  <a:srgbClr val="8B949E"/>
                </a:solidFill>
                <a:latin typeface="Calibri"/>
              </a:rPr>
              <a:t>$ / USER / MONTH</a:t>
            </a:r>
          </a:p>
        </p:txBody>
      </p:sp>
      <p:cxnSp>
        <p:nvCxnSpPr>
          <p:cNvPr id="42" name="Connector 41"/>
          <p:cNvCxnSpPr/>
          <p:nvPr/>
        </p:nvCxnSpPr>
        <p:spPr>
          <a:xfrm>
            <a:off x="1481328" y="4188814"/>
            <a:ext cx="8165592" cy="0"/>
          </a:xfrm>
          <a:prstGeom prst="line">
            <a:avLst/>
          </a:prstGeom>
          <a:ln w="15875">
            <a:solidFill>
              <a:srgbClr val="8C2F45"/>
            </a:solidFill>
            <a:prstDash val="dash"/>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9774936" y="4097374"/>
            <a:ext cx="2103120" cy="182880"/>
          </a:xfrm>
          <a:prstGeom prst="rect">
            <a:avLst/>
          </a:prstGeom>
          <a:noFill/>
        </p:spPr>
        <p:txBody>
          <a:bodyPr wrap="square" lIns="0" tIns="0" rIns="0" bIns="0" anchor="t">
            <a:spAutoFit/>
          </a:bodyPr>
          <a:lstStyle/>
          <a:p>
            <a:pPr algn="l"/>
            <a:r>
              <a:rPr sz="1100" b="0" i="0">
                <a:solidFill>
                  <a:srgbClr val="545B64"/>
                </a:solidFill>
                <a:latin typeface="Calibri"/>
              </a:rPr>
              <a:t>$1.386 — the floor melts to this</a:t>
            </a:r>
          </a:p>
        </p:txBody>
      </p:sp>
      <p:cxnSp>
        <p:nvCxnSpPr>
          <p:cNvPr id="44" name="Connector 43"/>
          <p:cNvCxnSpPr/>
          <p:nvPr/>
        </p:nvCxnSpPr>
        <p:spPr>
          <a:xfrm>
            <a:off x="1481328" y="2867562"/>
            <a:ext cx="90728" cy="70953"/>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572056" y="2938515"/>
            <a:ext cx="90729" cy="7006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662785" y="3008575"/>
            <a:ext cx="90729" cy="69049"/>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753514" y="3077624"/>
            <a:ext cx="90729" cy="6790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844243" y="3145529"/>
            <a:ext cx="90729" cy="66619"/>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934972" y="3212148"/>
            <a:ext cx="90728" cy="6518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2025700" y="3277328"/>
            <a:ext cx="90729" cy="6357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2116429" y="3340906"/>
            <a:ext cx="90729" cy="6180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2207158" y="3402714"/>
            <a:ext cx="90729" cy="5986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2297887" y="3462579"/>
            <a:ext cx="90729" cy="5774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2388616" y="3520326"/>
            <a:ext cx="90728" cy="5546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2479344" y="3575788"/>
            <a:ext cx="90729" cy="5301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2570073" y="3628802"/>
            <a:ext cx="90729" cy="5042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2660802" y="3679223"/>
            <a:ext cx="90729" cy="4770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2751531" y="3726923"/>
            <a:ext cx="90729" cy="4487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2842260" y="3771801"/>
            <a:ext cx="90728" cy="4198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2932988" y="3813782"/>
            <a:ext cx="90729" cy="3904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3023717" y="3852826"/>
            <a:ext cx="90729" cy="3609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3114446" y="3888924"/>
            <a:ext cx="90729" cy="3318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3205175" y="3922105"/>
            <a:ext cx="90729" cy="3032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3295904" y="3952429"/>
            <a:ext cx="90728" cy="2755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3386632" y="3979986"/>
            <a:ext cx="90729" cy="2490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3477361" y="4004894"/>
            <a:ext cx="90729" cy="2239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3568090" y="4027291"/>
            <a:ext cx="90729" cy="2004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3658819" y="4047333"/>
            <a:ext cx="90728" cy="17853"/>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3749547" y="4065186"/>
            <a:ext cx="90729" cy="1583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3840276" y="4081023"/>
            <a:ext cx="90729" cy="1399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3931005" y="4095017"/>
            <a:ext cx="90729" cy="1232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4021734" y="4107339"/>
            <a:ext cx="90729" cy="10816"/>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4112463" y="4118155"/>
            <a:ext cx="90729" cy="946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4203192" y="4127622"/>
            <a:ext cx="90728" cy="826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4293920" y="4135886"/>
            <a:ext cx="90729" cy="7199"/>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4384649" y="4143085"/>
            <a:ext cx="90729" cy="625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4475378" y="4149343"/>
            <a:ext cx="90729" cy="543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4566107" y="4154774"/>
            <a:ext cx="90729" cy="470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4656836" y="4159479"/>
            <a:ext cx="90728" cy="407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4747564" y="4163550"/>
            <a:ext cx="90729" cy="351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4838293" y="4167068"/>
            <a:ext cx="90729" cy="303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4929022" y="4170106"/>
            <a:ext cx="90729" cy="262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5019751" y="4172726"/>
            <a:ext cx="90729" cy="225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5110480" y="4174984"/>
            <a:ext cx="90728" cy="194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5201208" y="4176929"/>
            <a:ext cx="90729" cy="167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5291937" y="4178603"/>
            <a:ext cx="90729" cy="144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5382666" y="4180044"/>
            <a:ext cx="90729" cy="123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5473395" y="4181282"/>
            <a:ext cx="90729" cy="106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5564124" y="4182347"/>
            <a:ext cx="90728" cy="91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5654852" y="4183262"/>
            <a:ext cx="90729" cy="78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5745581" y="4184049"/>
            <a:ext cx="90729" cy="67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5836310" y="4184724"/>
            <a:ext cx="90729" cy="58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5927039" y="4185304"/>
            <a:ext cx="90729" cy="49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6017768" y="4185802"/>
            <a:ext cx="90728" cy="42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6108496" y="4186230"/>
            <a:ext cx="90729" cy="36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6199225" y="4186597"/>
            <a:ext cx="90729" cy="31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6289954" y="4186912"/>
            <a:ext cx="90729" cy="27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6380683" y="4187182"/>
            <a:ext cx="90729" cy="23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6471412" y="4187414"/>
            <a:ext cx="90728" cy="199"/>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6562140" y="4187613"/>
            <a:ext cx="90729" cy="17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6652869" y="4187784"/>
            <a:ext cx="90729" cy="146"/>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6743598" y="4187930"/>
            <a:ext cx="90729" cy="126"/>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6834327" y="4188056"/>
            <a:ext cx="90729" cy="10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6925056" y="4188164"/>
            <a:ext cx="90728" cy="9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7015784" y="4188256"/>
            <a:ext cx="90729" cy="8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7106513" y="4188336"/>
            <a:ext cx="90729" cy="6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7197242" y="4188404"/>
            <a:ext cx="90729" cy="5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7287971" y="4188462"/>
            <a:ext cx="90729" cy="5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7378700" y="4188512"/>
            <a:ext cx="90728" cy="43"/>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7469428" y="4188555"/>
            <a:ext cx="90729" cy="3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7560157" y="4188433"/>
            <a:ext cx="90729" cy="159"/>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7650886" y="4188433"/>
            <a:ext cx="90729" cy="5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7741615" y="4188487"/>
            <a:ext cx="90729" cy="4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7832344" y="4188534"/>
            <a:ext cx="90728" cy="4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7923072" y="4188574"/>
            <a:ext cx="90729" cy="3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8013801" y="4188549"/>
            <a:ext cx="90729" cy="59"/>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8104530" y="4188549"/>
            <a:ext cx="90729" cy="3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8195259" y="4188554"/>
            <a:ext cx="90729" cy="33"/>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8285988" y="4188554"/>
            <a:ext cx="90728" cy="3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8376716" y="4188575"/>
            <a:ext cx="90729" cy="16"/>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8467445" y="4188575"/>
            <a:ext cx="90729" cy="3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8558174" y="4188603"/>
            <a:ext cx="90729" cy="6"/>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8648903" y="4188603"/>
            <a:ext cx="90728" cy="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8739631" y="4188603"/>
            <a:ext cx="90729" cy="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8830360" y="4188607"/>
            <a:ext cx="90729" cy="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8921089" y="4188605"/>
            <a:ext cx="90729" cy="9"/>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9011818" y="4188602"/>
            <a:ext cx="90729" cy="3"/>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a:off x="9102547" y="4188602"/>
            <a:ext cx="90729" cy="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a:off x="9193276" y="4188604"/>
            <a:ext cx="90728" cy="6"/>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9284004" y="4188608"/>
            <a:ext cx="90729" cy="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9374733" y="4188608"/>
            <a:ext cx="90729" cy="3"/>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9465462" y="4188609"/>
            <a:ext cx="90729" cy="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a:off x="9556191" y="4188609"/>
            <a:ext cx="90729" cy="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1481328" y="5487761"/>
            <a:ext cx="8165592" cy="0"/>
          </a:xfrm>
          <a:prstGeom prst="line">
            <a:avLst/>
          </a:prstGeom>
          <a:ln w="28575">
            <a:solidFill>
              <a:srgbClr val="6E8B3D"/>
            </a:solidFill>
          </a:ln>
          <a:effectLst/>
        </p:spPr>
        <p:style>
          <a:lnRef idx="2">
            <a:schemeClr val="accent1"/>
          </a:lnRef>
          <a:fillRef idx="0">
            <a:schemeClr val="accent1"/>
          </a:fillRef>
          <a:effectRef idx="1">
            <a:schemeClr val="accent1"/>
          </a:effectRef>
          <a:fontRef idx="minor">
            <a:schemeClr val="tx1"/>
          </a:fontRef>
        </p:style>
      </p:cxnSp>
      <p:sp>
        <p:nvSpPr>
          <p:cNvPr id="135" name="Oval 134"/>
          <p:cNvSpPr/>
          <p:nvPr/>
        </p:nvSpPr>
        <p:spPr>
          <a:xfrm>
            <a:off x="1428292" y="2814527"/>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Oval 135"/>
          <p:cNvSpPr/>
          <p:nvPr/>
        </p:nvSpPr>
        <p:spPr>
          <a:xfrm>
            <a:off x="1428292" y="5434725"/>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Oval 136"/>
          <p:cNvSpPr/>
          <p:nvPr/>
        </p:nvSpPr>
        <p:spPr>
          <a:xfrm>
            <a:off x="2789224" y="3718765"/>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Oval 137"/>
          <p:cNvSpPr/>
          <p:nvPr/>
        </p:nvSpPr>
        <p:spPr>
          <a:xfrm>
            <a:off x="2789224" y="5437344"/>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Oval 138"/>
          <p:cNvSpPr/>
          <p:nvPr/>
        </p:nvSpPr>
        <p:spPr>
          <a:xfrm>
            <a:off x="4150156" y="4074586"/>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Oval 139"/>
          <p:cNvSpPr/>
          <p:nvPr/>
        </p:nvSpPr>
        <p:spPr>
          <a:xfrm>
            <a:off x="4150156" y="5437607"/>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Oval 140"/>
          <p:cNvSpPr/>
          <p:nvPr/>
        </p:nvSpPr>
        <p:spPr>
          <a:xfrm>
            <a:off x="5511088" y="4129312"/>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Oval 141"/>
          <p:cNvSpPr/>
          <p:nvPr/>
        </p:nvSpPr>
        <p:spPr>
          <a:xfrm>
            <a:off x="5511088" y="5437633"/>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Oval 142"/>
          <p:cNvSpPr/>
          <p:nvPr/>
        </p:nvSpPr>
        <p:spPr>
          <a:xfrm>
            <a:off x="6872020" y="4135129"/>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Oval 143"/>
          <p:cNvSpPr/>
          <p:nvPr/>
        </p:nvSpPr>
        <p:spPr>
          <a:xfrm>
            <a:off x="6872020" y="5437636"/>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Oval 144"/>
          <p:cNvSpPr/>
          <p:nvPr/>
        </p:nvSpPr>
        <p:spPr>
          <a:xfrm>
            <a:off x="8232952" y="4135519"/>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Oval 145"/>
          <p:cNvSpPr/>
          <p:nvPr/>
        </p:nvSpPr>
        <p:spPr>
          <a:xfrm>
            <a:off x="8232952" y="5437636"/>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Oval 146"/>
          <p:cNvSpPr/>
          <p:nvPr/>
        </p:nvSpPr>
        <p:spPr>
          <a:xfrm>
            <a:off x="9593884" y="4135577"/>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Oval 147"/>
          <p:cNvSpPr/>
          <p:nvPr/>
        </p:nvSpPr>
        <p:spPr>
          <a:xfrm>
            <a:off x="9593884" y="5437636"/>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TextBox 148"/>
          <p:cNvSpPr txBox="1"/>
          <p:nvPr/>
        </p:nvSpPr>
        <p:spPr>
          <a:xfrm>
            <a:off x="1627632" y="2593139"/>
            <a:ext cx="2194560" cy="201168"/>
          </a:xfrm>
          <a:prstGeom prst="rect">
            <a:avLst/>
          </a:prstGeom>
          <a:noFill/>
        </p:spPr>
        <p:txBody>
          <a:bodyPr wrap="square" lIns="0" tIns="0" rIns="0" bIns="0" anchor="t">
            <a:spAutoFit/>
          </a:bodyPr>
          <a:lstStyle/>
          <a:p>
            <a:pPr algn="l"/>
            <a:r>
              <a:rPr sz="1200" b="1" i="0">
                <a:solidFill>
                  <a:srgbClr val="232F3E"/>
                </a:solidFill>
                <a:latin typeface="Calibri"/>
              </a:rPr>
              <a:t>$19.41 at one user</a:t>
            </a:r>
          </a:p>
        </p:txBody>
      </p:sp>
      <p:sp>
        <p:nvSpPr>
          <p:cNvPr id="150" name="Oval 149"/>
          <p:cNvSpPr/>
          <p:nvPr/>
        </p:nvSpPr>
        <p:spPr>
          <a:xfrm>
            <a:off x="9654235" y="5443122"/>
            <a:ext cx="95097" cy="95097"/>
          </a:xfrm>
          <a:prstGeom prst="ellipse">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TextBox 150"/>
          <p:cNvSpPr txBox="1"/>
          <p:nvPr/>
        </p:nvSpPr>
        <p:spPr>
          <a:xfrm>
            <a:off x="9793224" y="5385515"/>
            <a:ext cx="2286000" cy="201168"/>
          </a:xfrm>
          <a:prstGeom prst="rect">
            <a:avLst/>
          </a:prstGeom>
          <a:noFill/>
        </p:spPr>
        <p:txBody>
          <a:bodyPr wrap="square" lIns="0" tIns="0" rIns="0" bIns="0" anchor="t">
            <a:spAutoFit/>
          </a:bodyPr>
          <a:lstStyle/>
          <a:p>
            <a:pPr algn="l"/>
            <a:r>
              <a:rPr sz="1200" b="1" i="0">
                <a:solidFill>
                  <a:srgbClr val="232F3E"/>
                </a:solidFill>
                <a:latin typeface="Calibri"/>
              </a:rPr>
              <a:t>$0.1029 — flat from user one</a:t>
            </a:r>
          </a:p>
        </p:txBody>
      </p:sp>
      <p:sp>
        <p:nvSpPr>
          <p:cNvPr id="152" name="TextBox 151"/>
          <p:cNvSpPr txBox="1"/>
          <p:nvPr/>
        </p:nvSpPr>
        <p:spPr>
          <a:xfrm>
            <a:off x="9793224" y="5591255"/>
            <a:ext cx="2286000" cy="182880"/>
          </a:xfrm>
          <a:prstGeom prst="rect">
            <a:avLst/>
          </a:prstGeom>
          <a:noFill/>
        </p:spPr>
        <p:txBody>
          <a:bodyPr wrap="square" lIns="0" tIns="0" rIns="0" bIns="0" anchor="t">
            <a:spAutoFit/>
          </a:bodyPr>
          <a:lstStyle/>
          <a:p>
            <a:pPr algn="l"/>
            <a:r>
              <a:rPr sz="1100" b="0" i="0">
                <a:solidFill>
                  <a:srgbClr val="545B64"/>
                </a:solidFill>
                <a:latin typeface="Calibri"/>
              </a:rPr>
              <a:t>no floor to amortise</a:t>
            </a:r>
          </a:p>
        </p:txBody>
      </p:sp>
      <p:sp>
        <p:nvSpPr>
          <p:cNvPr id="153" name="TextBox 152"/>
          <p:cNvSpPr txBox="1"/>
          <p:nvPr/>
        </p:nvSpPr>
        <p:spPr>
          <a:xfrm>
            <a:off x="6105693" y="3854977"/>
            <a:ext cx="2743200" cy="201168"/>
          </a:xfrm>
          <a:prstGeom prst="rect">
            <a:avLst/>
          </a:prstGeom>
          <a:noFill/>
        </p:spPr>
        <p:txBody>
          <a:bodyPr wrap="square" lIns="0" tIns="0" rIns="0" bIns="0" anchor="t">
            <a:spAutoFit/>
          </a:bodyPr>
          <a:lstStyle/>
          <a:p>
            <a:pPr algn="l"/>
            <a:r>
              <a:rPr sz="1100" b="0" i="0">
                <a:solidFill>
                  <a:srgbClr val="545B64"/>
                </a:solidFill>
                <a:latin typeface="Calibri"/>
              </a:rPr>
              <a:t>the gap stops closing at 13.5×</a:t>
            </a:r>
          </a:p>
        </p:txBody>
      </p:sp>
      <p:sp>
        <p:nvSpPr>
          <p:cNvPr id="154" name="Rounded Rectangle 153">
            <a:extLst>
              <a:ext uri="{FF2B5EF4-FFF2-40B4-BE49-F238E27FC236}">
                <a16:creationId xmlns:a16="http://schemas.microsoft.com/office/drawing/2014/main" id="{D0BCD6A5-0800-1E26-453D-6256E821516B}"/>
              </a:ext>
            </a:extLst>
          </p:cNvPr>
          <p:cNvSpPr/>
          <p:nvPr/>
        </p:nvSpPr>
        <p:spPr>
          <a:xfrm>
            <a:off x="2361512" y="1272239"/>
            <a:ext cx="1062531"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Rething on this slide according to 7 and 8. You can </a:t>
            </a:r>
            <a:r>
              <a:rPr lang="en-US" dirty="0" err="1">
                <a:solidFill>
                  <a:srgbClr val="FF0000"/>
                </a:solidFill>
                <a:highlight>
                  <a:srgbClr val="FFFF00"/>
                </a:highlight>
              </a:rPr>
              <a:t>deltel</a:t>
            </a:r>
            <a:r>
              <a:rPr lang="en-US" dirty="0">
                <a:solidFill>
                  <a:srgbClr val="FF0000"/>
                </a:solidFill>
                <a:highlight>
                  <a:srgbClr val="FFFF00"/>
                </a:highlight>
              </a:rPr>
              <a:t> it if it </a:t>
            </a:r>
            <a:r>
              <a:rPr lang="en-US" dirty="0" err="1">
                <a:solidFill>
                  <a:srgbClr val="FF0000"/>
                </a:solidFill>
                <a:highlight>
                  <a:srgbClr val="FFFF00"/>
                </a:highlight>
              </a:rPr>
              <a:t>doesn</a:t>
            </a:r>
            <a:r>
              <a:rPr lang="en-US" dirty="0">
                <a:solidFill>
                  <a:srgbClr val="FF0000"/>
                </a:solidFill>
                <a:highlight>
                  <a:srgbClr val="FFFF00"/>
                </a:highlight>
              </a:rPr>
              <a:t>’ serve the narrative /. wrong</a:t>
            </a:r>
            <a:endParaRPr dirty="0">
              <a:solidFill>
                <a:srgbClr val="FF0000"/>
              </a:solidFill>
              <a:highlight>
                <a:srgbClr val="FFFF00"/>
              </a:high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i="0">
                <a:solidFill>
                  <a:srgbClr val="FF9900"/>
                </a:solidFill>
                <a:latin typeface="Calibri"/>
              </a:rPr>
              <a:t>8</a:t>
            </a:r>
          </a:p>
        </p:txBody>
      </p:sp>
      <p:sp>
        <p:nvSpPr>
          <p:cNvPr id="5" name="TextBox 4"/>
          <p:cNvSpPr txBox="1"/>
          <p:nvPr/>
        </p:nvSpPr>
        <p:spPr>
          <a:xfrm>
            <a:off x="1280160" y="365760"/>
            <a:ext cx="10058400" cy="594360"/>
          </a:xfrm>
          <a:prstGeom prst="rect">
            <a:avLst/>
          </a:prstGeom>
          <a:noFill/>
        </p:spPr>
        <p:txBody>
          <a:bodyPr wrap="square" lIns="0" tIns="0" rIns="0" bIns="0" anchor="ctr">
            <a:spAutoFit/>
          </a:bodyPr>
          <a:lstStyle/>
          <a:p>
            <a:pPr algn="l"/>
            <a:r>
              <a:rPr sz="3000" b="1" i="0">
                <a:solidFill>
                  <a:srgbClr val="232F3E"/>
                </a:solidFill>
                <a:latin typeface="Calibri"/>
              </a:rPr>
              <a:t>Cost — the bill, itemised</a:t>
            </a:r>
          </a:p>
        </p:txBody>
      </p:sp>
      <p:sp>
        <p:nvSpPr>
          <p:cNvPr id="6" name="Rectangle 5"/>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280160"/>
            <a:ext cx="11155680" cy="475488"/>
          </a:xfrm>
          <a:prstGeom prst="rect">
            <a:avLst/>
          </a:prstGeom>
          <a:noFill/>
        </p:spPr>
        <p:txBody>
          <a:bodyPr wrap="square" lIns="0" tIns="0" rIns="0" bIns="0" anchor="t">
            <a:spAutoFit/>
          </a:bodyPr>
          <a:lstStyle/>
          <a:p>
            <a:pPr algn="l"/>
            <a:r>
              <a:rPr sz="1400" b="0" i="0">
                <a:solidFill>
                  <a:srgbClr val="545B64"/>
                </a:solidFill>
                <a:latin typeface="Calibri"/>
              </a:rPr>
              <a:t>Every rate from a vendor pricing page, every quantity counted out of this repo. The reply call to Bedrock is identical on both sides and excluded from both.</a:t>
            </a:r>
          </a:p>
        </p:txBody>
      </p:sp>
      <p:sp>
        <p:nvSpPr>
          <p:cNvPr id="8" name="TextBox 7"/>
          <p:cNvSpPr txBox="1"/>
          <p:nvPr/>
        </p:nvSpPr>
        <p:spPr>
          <a:xfrm>
            <a:off x="502920" y="6446520"/>
            <a:ext cx="8229600" cy="320040"/>
          </a:xfrm>
          <a:prstGeom prst="rect">
            <a:avLst/>
          </a:prstGeom>
          <a:noFill/>
        </p:spPr>
        <p:txBody>
          <a:bodyPr wrap="square" lIns="0" tIns="0" rIns="0" bIns="0" anchor="t">
            <a:spAutoFit/>
          </a:bodyPr>
          <a:lstStyle/>
          <a:p>
            <a:pPr algn="l"/>
            <a:r>
              <a:rPr sz="1000" b="1" i="0">
                <a:solidFill>
                  <a:srgbClr val="545B64"/>
                </a:solidFill>
                <a:latin typeface="Calibri"/>
              </a:rPr>
              <a:t>VALENTIN   ·   GenAI TFC Capstone Deep-Dive</a:t>
            </a:r>
          </a:p>
        </p:txBody>
      </p:sp>
      <p:sp>
        <p:nvSpPr>
          <p:cNvPr id="9" name="TextBox 8"/>
          <p:cNvSpPr txBox="1"/>
          <p:nvPr/>
        </p:nvSpPr>
        <p:spPr>
          <a:xfrm>
            <a:off x="10332720" y="6446520"/>
            <a:ext cx="1371600" cy="320040"/>
          </a:xfrm>
          <a:prstGeom prst="rect">
            <a:avLst/>
          </a:prstGeom>
          <a:noFill/>
        </p:spPr>
        <p:txBody>
          <a:bodyPr wrap="square" lIns="0" tIns="0" rIns="0" bIns="0" anchor="t">
            <a:spAutoFit/>
          </a:bodyPr>
          <a:lstStyle/>
          <a:p>
            <a:pPr algn="r"/>
            <a:r>
              <a:rPr sz="1000" b="0" i="0">
                <a:solidFill>
                  <a:srgbClr val="545B64"/>
                </a:solidFill>
                <a:latin typeface="Calibri"/>
              </a:rPr>
              <a:t>9 / 18</a:t>
            </a:r>
          </a:p>
        </p:txBody>
      </p:sp>
      <p:sp>
        <p:nvSpPr>
          <p:cNvPr id="10" name="TextBox 9"/>
          <p:cNvSpPr txBox="1"/>
          <p:nvPr/>
        </p:nvSpPr>
        <p:spPr>
          <a:xfrm>
            <a:off x="502920" y="1773936"/>
            <a:ext cx="3657600" cy="676656"/>
          </a:xfrm>
          <a:prstGeom prst="rect">
            <a:avLst/>
          </a:prstGeom>
          <a:noFill/>
        </p:spPr>
        <p:txBody>
          <a:bodyPr wrap="square" lIns="0" tIns="0" rIns="0" bIns="0" anchor="ctr">
            <a:spAutoFit/>
          </a:bodyPr>
          <a:lstStyle/>
          <a:p>
            <a:pPr algn="l"/>
            <a:r>
              <a:rPr sz="4400" b="1" i="0">
                <a:solidFill>
                  <a:srgbClr val="8C2F45"/>
                </a:solidFill>
                <a:latin typeface="Calibri"/>
              </a:rPr>
              <a:t>13.5×</a:t>
            </a:r>
          </a:p>
        </p:txBody>
      </p:sp>
      <p:sp>
        <p:nvSpPr>
          <p:cNvPr id="11" name="TextBox 10"/>
          <p:cNvSpPr txBox="1"/>
          <p:nvPr/>
        </p:nvSpPr>
        <p:spPr>
          <a:xfrm>
            <a:off x="548640" y="2487168"/>
            <a:ext cx="8686800" cy="237744"/>
          </a:xfrm>
          <a:prstGeom prst="rect">
            <a:avLst/>
          </a:prstGeom>
          <a:noFill/>
        </p:spPr>
        <p:txBody>
          <a:bodyPr wrap="square" lIns="0" tIns="0" rIns="0" bIns="0" anchor="t">
            <a:spAutoFit/>
          </a:bodyPr>
          <a:lstStyle/>
          <a:p>
            <a:pPr algn="l"/>
            <a:r>
              <a:rPr sz="1300" b="0">
                <a:solidFill>
                  <a:srgbClr val="545B64"/>
                </a:solidFill>
                <a:latin typeface="Calibri"/>
              </a:rPr>
              <a:t>cheaper at scale — and </a:t>
            </a:r>
            <a:r>
              <a:rPr sz="1300" b="1">
                <a:solidFill>
                  <a:srgbClr val="8C2F45"/>
                </a:solidFill>
                <a:latin typeface="Calibri"/>
              </a:rPr>
              <a:t>187.5×</a:t>
            </a:r>
            <a:r>
              <a:rPr sz="1300" b="0">
                <a:solidFill>
                  <a:srgbClr val="545B64"/>
                </a:solidFill>
                <a:latin typeface="Calibri"/>
              </a:rPr>
              <a:t> at one user, where only engine B has no floor</a:t>
            </a:r>
          </a:p>
        </p:txBody>
      </p:sp>
      <p:sp>
        <p:nvSpPr>
          <p:cNvPr id="12" name="Rounded Rectangle 11"/>
          <p:cNvSpPr/>
          <p:nvPr/>
        </p:nvSpPr>
        <p:spPr>
          <a:xfrm>
            <a:off x="502920" y="2761488"/>
            <a:ext cx="3593592" cy="1115568"/>
          </a:xfrm>
          <a:prstGeom prst="roundRect">
            <a:avLst/>
          </a:prstGeom>
          <a:solidFill>
            <a:srgbClr val="F7F8FA"/>
          </a:solidFill>
          <a:ln w="9525">
            <a:solidFill>
              <a:srgbClr val="D5D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2871216"/>
            <a:ext cx="3227832" cy="182880"/>
          </a:xfrm>
          <a:prstGeom prst="rect">
            <a:avLst/>
          </a:prstGeom>
          <a:noFill/>
        </p:spPr>
        <p:txBody>
          <a:bodyPr wrap="square" lIns="0" tIns="0" rIns="0" bIns="0" anchor="t">
            <a:spAutoFit/>
          </a:bodyPr>
          <a:lstStyle/>
          <a:p>
            <a:pPr algn="l"/>
            <a:r>
              <a:rPr sz="1000" b="1" i="0">
                <a:solidFill>
                  <a:srgbClr val="8B949E"/>
                </a:solidFill>
                <a:latin typeface="Calibri"/>
              </a:rPr>
              <a:t>1 USER</a:t>
            </a:r>
          </a:p>
        </p:txBody>
      </p:sp>
      <p:sp>
        <p:nvSpPr>
          <p:cNvPr id="14" name="Rounded Rectangle 13"/>
          <p:cNvSpPr/>
          <p:nvPr/>
        </p:nvSpPr>
        <p:spPr>
          <a:xfrm>
            <a:off x="685800" y="3159252"/>
            <a:ext cx="91440" cy="91440"/>
          </a:xfrm>
          <a:prstGeom prst="roundRect">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0392" y="3090672"/>
            <a:ext cx="1417320" cy="228600"/>
          </a:xfrm>
          <a:prstGeom prst="rect">
            <a:avLst/>
          </a:prstGeom>
          <a:noFill/>
        </p:spPr>
        <p:txBody>
          <a:bodyPr wrap="square" lIns="0" tIns="0" rIns="0" bIns="0" anchor="ctr">
            <a:spAutoFit/>
          </a:bodyPr>
          <a:lstStyle/>
          <a:p>
            <a:pPr algn="l"/>
            <a:r>
              <a:rPr sz="1600" b="1" i="0">
                <a:solidFill>
                  <a:srgbClr val="232F3E"/>
                </a:solidFill>
                <a:latin typeface="Calibri"/>
              </a:rPr>
              <a:t>$19.41</a:t>
            </a:r>
          </a:p>
        </p:txBody>
      </p:sp>
      <p:sp>
        <p:nvSpPr>
          <p:cNvPr id="16" name="TextBox 15"/>
          <p:cNvSpPr txBox="1"/>
          <p:nvPr/>
        </p:nvSpPr>
        <p:spPr>
          <a:xfrm>
            <a:off x="2286000" y="3090672"/>
            <a:ext cx="1463040" cy="228600"/>
          </a:xfrm>
          <a:prstGeom prst="rect">
            <a:avLst/>
          </a:prstGeom>
          <a:noFill/>
        </p:spPr>
        <p:txBody>
          <a:bodyPr wrap="square" lIns="0" tIns="0" rIns="0" bIns="0" anchor="ctr">
            <a:spAutoFit/>
          </a:bodyPr>
          <a:lstStyle/>
          <a:p>
            <a:pPr algn="l"/>
            <a:r>
              <a:rPr sz="1050" b="0" i="0">
                <a:solidFill>
                  <a:srgbClr val="8B949E"/>
                </a:solidFill>
                <a:latin typeface="Calibri"/>
              </a:rPr>
              <a:t>DIY</a:t>
            </a:r>
          </a:p>
        </p:txBody>
      </p:sp>
      <p:sp>
        <p:nvSpPr>
          <p:cNvPr id="17" name="Rounded Rectangle 16"/>
          <p:cNvSpPr/>
          <p:nvPr/>
        </p:nvSpPr>
        <p:spPr>
          <a:xfrm>
            <a:off x="685800" y="3424428"/>
            <a:ext cx="91440" cy="91440"/>
          </a:xfrm>
          <a:prstGeom prst="roundRect">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0392" y="3355848"/>
            <a:ext cx="1417320" cy="228600"/>
          </a:xfrm>
          <a:prstGeom prst="rect">
            <a:avLst/>
          </a:prstGeom>
          <a:noFill/>
        </p:spPr>
        <p:txBody>
          <a:bodyPr wrap="square" lIns="0" tIns="0" rIns="0" bIns="0" anchor="ctr">
            <a:spAutoFit/>
          </a:bodyPr>
          <a:lstStyle/>
          <a:p>
            <a:pPr algn="l"/>
            <a:r>
              <a:rPr sz="1600" b="1" i="0">
                <a:solidFill>
                  <a:srgbClr val="232F3E"/>
                </a:solidFill>
                <a:latin typeface="Calibri"/>
              </a:rPr>
              <a:t>$0.10</a:t>
            </a:r>
          </a:p>
        </p:txBody>
      </p:sp>
      <p:sp>
        <p:nvSpPr>
          <p:cNvPr id="19" name="TextBox 18"/>
          <p:cNvSpPr txBox="1"/>
          <p:nvPr/>
        </p:nvSpPr>
        <p:spPr>
          <a:xfrm>
            <a:off x="2286000" y="3355848"/>
            <a:ext cx="1463040" cy="228600"/>
          </a:xfrm>
          <a:prstGeom prst="rect">
            <a:avLst/>
          </a:prstGeom>
          <a:noFill/>
        </p:spPr>
        <p:txBody>
          <a:bodyPr wrap="square" lIns="0" tIns="0" rIns="0" bIns="0" anchor="ctr">
            <a:spAutoFit/>
          </a:bodyPr>
          <a:lstStyle/>
          <a:p>
            <a:pPr algn="l"/>
            <a:r>
              <a:rPr sz="1050" b="0" i="0">
                <a:solidFill>
                  <a:srgbClr val="8B949E"/>
                </a:solidFill>
                <a:latin typeface="Calibri"/>
              </a:rPr>
              <a:t>AgentCore</a:t>
            </a:r>
          </a:p>
        </p:txBody>
      </p:sp>
      <p:sp>
        <p:nvSpPr>
          <p:cNvPr id="20" name="TextBox 19"/>
          <p:cNvSpPr txBox="1"/>
          <p:nvPr/>
        </p:nvSpPr>
        <p:spPr>
          <a:xfrm>
            <a:off x="685800" y="3639312"/>
            <a:ext cx="3227832" cy="182880"/>
          </a:xfrm>
          <a:prstGeom prst="rect">
            <a:avLst/>
          </a:prstGeom>
          <a:noFill/>
        </p:spPr>
        <p:txBody>
          <a:bodyPr wrap="square" lIns="0" tIns="0" rIns="0" bIns="0" anchor="t">
            <a:spAutoFit/>
          </a:bodyPr>
          <a:lstStyle/>
          <a:p>
            <a:pPr algn="l"/>
            <a:r>
              <a:rPr sz="1100" b="0" i="0">
                <a:solidFill>
                  <a:srgbClr val="545B64"/>
                </a:solidFill>
                <a:latin typeface="Calibri"/>
              </a:rPr>
              <a:t>saves $19.30 / mo · 187.5×</a:t>
            </a:r>
          </a:p>
        </p:txBody>
      </p:sp>
      <p:sp>
        <p:nvSpPr>
          <p:cNvPr id="21" name="Rounded Rectangle 20"/>
          <p:cNvSpPr/>
          <p:nvPr/>
        </p:nvSpPr>
        <p:spPr>
          <a:xfrm>
            <a:off x="4279392" y="2761488"/>
            <a:ext cx="3593592" cy="1115568"/>
          </a:xfrm>
          <a:prstGeom prst="roundRect">
            <a:avLst/>
          </a:prstGeom>
          <a:solidFill>
            <a:srgbClr val="F7F8FA"/>
          </a:solidFill>
          <a:ln w="9525">
            <a:solidFill>
              <a:srgbClr val="D5D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462272" y="2871216"/>
            <a:ext cx="3227832" cy="182880"/>
          </a:xfrm>
          <a:prstGeom prst="rect">
            <a:avLst/>
          </a:prstGeom>
          <a:noFill/>
        </p:spPr>
        <p:txBody>
          <a:bodyPr wrap="square" lIns="0" tIns="0" rIns="0" bIns="0" anchor="t">
            <a:spAutoFit/>
          </a:bodyPr>
          <a:lstStyle/>
          <a:p>
            <a:pPr algn="l"/>
            <a:r>
              <a:rPr sz="1000" b="1" i="0">
                <a:solidFill>
                  <a:srgbClr val="8B949E"/>
                </a:solidFill>
                <a:latin typeface="Calibri"/>
              </a:rPr>
              <a:t>10,000 USERS</a:t>
            </a:r>
          </a:p>
        </p:txBody>
      </p:sp>
      <p:sp>
        <p:nvSpPr>
          <p:cNvPr id="23" name="Rounded Rectangle 22"/>
          <p:cNvSpPr/>
          <p:nvPr/>
        </p:nvSpPr>
        <p:spPr>
          <a:xfrm>
            <a:off x="4462272" y="3159252"/>
            <a:ext cx="91440" cy="91440"/>
          </a:xfrm>
          <a:prstGeom prst="roundRect">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626864" y="3090672"/>
            <a:ext cx="1417320" cy="228600"/>
          </a:xfrm>
          <a:prstGeom prst="rect">
            <a:avLst/>
          </a:prstGeom>
          <a:noFill/>
        </p:spPr>
        <p:txBody>
          <a:bodyPr wrap="square" lIns="0" tIns="0" rIns="0" bIns="0" anchor="ctr">
            <a:spAutoFit/>
          </a:bodyPr>
          <a:lstStyle/>
          <a:p>
            <a:pPr algn="l"/>
            <a:r>
              <a:rPr sz="1600" b="1" i="0">
                <a:solidFill>
                  <a:srgbClr val="232F3E"/>
                </a:solidFill>
                <a:latin typeface="Calibri"/>
              </a:rPr>
              <a:t>$13,878</a:t>
            </a:r>
          </a:p>
        </p:txBody>
      </p:sp>
      <p:sp>
        <p:nvSpPr>
          <p:cNvPr id="25" name="TextBox 24"/>
          <p:cNvSpPr txBox="1"/>
          <p:nvPr/>
        </p:nvSpPr>
        <p:spPr>
          <a:xfrm>
            <a:off x="6062472" y="3090672"/>
            <a:ext cx="1463040" cy="228600"/>
          </a:xfrm>
          <a:prstGeom prst="rect">
            <a:avLst/>
          </a:prstGeom>
          <a:noFill/>
        </p:spPr>
        <p:txBody>
          <a:bodyPr wrap="square" lIns="0" tIns="0" rIns="0" bIns="0" anchor="ctr">
            <a:spAutoFit/>
          </a:bodyPr>
          <a:lstStyle/>
          <a:p>
            <a:pPr algn="l"/>
            <a:r>
              <a:rPr sz="1050" b="0" i="0">
                <a:solidFill>
                  <a:srgbClr val="8B949E"/>
                </a:solidFill>
                <a:latin typeface="Calibri"/>
              </a:rPr>
              <a:t>DIY</a:t>
            </a:r>
          </a:p>
        </p:txBody>
      </p:sp>
      <p:sp>
        <p:nvSpPr>
          <p:cNvPr id="26" name="Rounded Rectangle 25"/>
          <p:cNvSpPr/>
          <p:nvPr/>
        </p:nvSpPr>
        <p:spPr>
          <a:xfrm>
            <a:off x="4462272" y="3424428"/>
            <a:ext cx="91440" cy="91440"/>
          </a:xfrm>
          <a:prstGeom prst="roundRect">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626864" y="3355848"/>
            <a:ext cx="1417320" cy="228600"/>
          </a:xfrm>
          <a:prstGeom prst="rect">
            <a:avLst/>
          </a:prstGeom>
          <a:noFill/>
        </p:spPr>
        <p:txBody>
          <a:bodyPr wrap="square" lIns="0" tIns="0" rIns="0" bIns="0" anchor="ctr">
            <a:spAutoFit/>
          </a:bodyPr>
          <a:lstStyle/>
          <a:p>
            <a:pPr algn="l"/>
            <a:r>
              <a:rPr sz="1600" b="1" i="0">
                <a:solidFill>
                  <a:srgbClr val="232F3E"/>
                </a:solidFill>
                <a:latin typeface="Calibri"/>
              </a:rPr>
              <a:t>$1,029</a:t>
            </a:r>
          </a:p>
        </p:txBody>
      </p:sp>
      <p:sp>
        <p:nvSpPr>
          <p:cNvPr id="28" name="TextBox 27"/>
          <p:cNvSpPr txBox="1"/>
          <p:nvPr/>
        </p:nvSpPr>
        <p:spPr>
          <a:xfrm>
            <a:off x="6062472" y="3355848"/>
            <a:ext cx="1463040" cy="228600"/>
          </a:xfrm>
          <a:prstGeom prst="rect">
            <a:avLst/>
          </a:prstGeom>
          <a:noFill/>
        </p:spPr>
        <p:txBody>
          <a:bodyPr wrap="square" lIns="0" tIns="0" rIns="0" bIns="0" anchor="ctr">
            <a:spAutoFit/>
          </a:bodyPr>
          <a:lstStyle/>
          <a:p>
            <a:pPr algn="l"/>
            <a:r>
              <a:rPr sz="1050" b="0" i="0">
                <a:solidFill>
                  <a:srgbClr val="8B949E"/>
                </a:solidFill>
                <a:latin typeface="Calibri"/>
              </a:rPr>
              <a:t>AgentCore</a:t>
            </a:r>
          </a:p>
        </p:txBody>
      </p:sp>
      <p:sp>
        <p:nvSpPr>
          <p:cNvPr id="29" name="TextBox 28"/>
          <p:cNvSpPr txBox="1"/>
          <p:nvPr/>
        </p:nvSpPr>
        <p:spPr>
          <a:xfrm>
            <a:off x="4462272" y="3639312"/>
            <a:ext cx="3227832" cy="182880"/>
          </a:xfrm>
          <a:prstGeom prst="rect">
            <a:avLst/>
          </a:prstGeom>
          <a:noFill/>
        </p:spPr>
        <p:txBody>
          <a:bodyPr wrap="square" lIns="0" tIns="0" rIns="0" bIns="0" anchor="t">
            <a:spAutoFit/>
          </a:bodyPr>
          <a:lstStyle/>
          <a:p>
            <a:pPr algn="l"/>
            <a:r>
              <a:rPr sz="1100" b="0" i="0">
                <a:solidFill>
                  <a:srgbClr val="545B64"/>
                </a:solidFill>
                <a:latin typeface="Calibri"/>
              </a:rPr>
              <a:t>saves $12,849 / mo · 13.5×</a:t>
            </a:r>
          </a:p>
        </p:txBody>
      </p:sp>
      <p:sp>
        <p:nvSpPr>
          <p:cNvPr id="30" name="Rounded Rectangle 29"/>
          <p:cNvSpPr/>
          <p:nvPr/>
        </p:nvSpPr>
        <p:spPr>
          <a:xfrm>
            <a:off x="8055864" y="2761488"/>
            <a:ext cx="3593592" cy="1115568"/>
          </a:xfrm>
          <a:prstGeom prst="roundRect">
            <a:avLst/>
          </a:prstGeom>
          <a:solidFill>
            <a:srgbClr val="F7F8FA"/>
          </a:solidFill>
          <a:ln w="9525">
            <a:solidFill>
              <a:srgbClr val="D5D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38744" y="2871216"/>
            <a:ext cx="3227832" cy="182880"/>
          </a:xfrm>
          <a:prstGeom prst="rect">
            <a:avLst/>
          </a:prstGeom>
          <a:noFill/>
        </p:spPr>
        <p:txBody>
          <a:bodyPr wrap="square" lIns="0" tIns="0" rIns="0" bIns="0" anchor="t">
            <a:spAutoFit/>
          </a:bodyPr>
          <a:lstStyle/>
          <a:p>
            <a:pPr algn="l"/>
            <a:r>
              <a:rPr sz="1000" b="1" i="0">
                <a:solidFill>
                  <a:srgbClr val="8B949E"/>
                </a:solidFill>
                <a:latin typeface="Calibri"/>
              </a:rPr>
              <a:t>1,000,000 USERS</a:t>
            </a:r>
          </a:p>
        </p:txBody>
      </p:sp>
      <p:sp>
        <p:nvSpPr>
          <p:cNvPr id="32" name="Rounded Rectangle 31"/>
          <p:cNvSpPr/>
          <p:nvPr/>
        </p:nvSpPr>
        <p:spPr>
          <a:xfrm>
            <a:off x="8238744" y="3159252"/>
            <a:ext cx="91440" cy="91440"/>
          </a:xfrm>
          <a:prstGeom prst="roundRect">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403336" y="3090672"/>
            <a:ext cx="1417320" cy="228600"/>
          </a:xfrm>
          <a:prstGeom prst="rect">
            <a:avLst/>
          </a:prstGeom>
          <a:noFill/>
        </p:spPr>
        <p:txBody>
          <a:bodyPr wrap="square" lIns="0" tIns="0" rIns="0" bIns="0" anchor="ctr">
            <a:spAutoFit/>
          </a:bodyPr>
          <a:lstStyle/>
          <a:p>
            <a:pPr algn="l"/>
            <a:r>
              <a:rPr sz="1600" b="1" i="0">
                <a:solidFill>
                  <a:srgbClr val="232F3E"/>
                </a:solidFill>
                <a:latin typeface="Calibri"/>
              </a:rPr>
              <a:t>$1.387 M</a:t>
            </a:r>
          </a:p>
        </p:txBody>
      </p:sp>
      <p:sp>
        <p:nvSpPr>
          <p:cNvPr id="34" name="TextBox 33"/>
          <p:cNvSpPr txBox="1"/>
          <p:nvPr/>
        </p:nvSpPr>
        <p:spPr>
          <a:xfrm>
            <a:off x="9838944" y="3090672"/>
            <a:ext cx="1463040" cy="228600"/>
          </a:xfrm>
          <a:prstGeom prst="rect">
            <a:avLst/>
          </a:prstGeom>
          <a:noFill/>
        </p:spPr>
        <p:txBody>
          <a:bodyPr wrap="square" lIns="0" tIns="0" rIns="0" bIns="0" anchor="ctr">
            <a:spAutoFit/>
          </a:bodyPr>
          <a:lstStyle/>
          <a:p>
            <a:pPr algn="l"/>
            <a:r>
              <a:rPr sz="1050" b="0" i="0">
                <a:solidFill>
                  <a:srgbClr val="8B949E"/>
                </a:solidFill>
                <a:latin typeface="Calibri"/>
              </a:rPr>
              <a:t>DIY</a:t>
            </a:r>
          </a:p>
        </p:txBody>
      </p:sp>
      <p:sp>
        <p:nvSpPr>
          <p:cNvPr id="35" name="Rounded Rectangle 34"/>
          <p:cNvSpPr/>
          <p:nvPr/>
        </p:nvSpPr>
        <p:spPr>
          <a:xfrm>
            <a:off x="8238744" y="3424428"/>
            <a:ext cx="91440" cy="91440"/>
          </a:xfrm>
          <a:prstGeom prst="roundRect">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403336" y="3355848"/>
            <a:ext cx="1417320" cy="228600"/>
          </a:xfrm>
          <a:prstGeom prst="rect">
            <a:avLst/>
          </a:prstGeom>
          <a:noFill/>
        </p:spPr>
        <p:txBody>
          <a:bodyPr wrap="square" lIns="0" tIns="0" rIns="0" bIns="0" anchor="ctr">
            <a:spAutoFit/>
          </a:bodyPr>
          <a:lstStyle/>
          <a:p>
            <a:pPr algn="l"/>
            <a:r>
              <a:rPr sz="1600" b="1" i="0">
                <a:solidFill>
                  <a:srgbClr val="232F3E"/>
                </a:solidFill>
                <a:latin typeface="Calibri"/>
              </a:rPr>
              <a:t>$102,900</a:t>
            </a:r>
          </a:p>
        </p:txBody>
      </p:sp>
      <p:sp>
        <p:nvSpPr>
          <p:cNvPr id="37" name="TextBox 36"/>
          <p:cNvSpPr txBox="1"/>
          <p:nvPr/>
        </p:nvSpPr>
        <p:spPr>
          <a:xfrm>
            <a:off x="9838944" y="3355848"/>
            <a:ext cx="1463040" cy="228600"/>
          </a:xfrm>
          <a:prstGeom prst="rect">
            <a:avLst/>
          </a:prstGeom>
          <a:noFill/>
        </p:spPr>
        <p:txBody>
          <a:bodyPr wrap="square" lIns="0" tIns="0" rIns="0" bIns="0" anchor="ctr">
            <a:spAutoFit/>
          </a:bodyPr>
          <a:lstStyle/>
          <a:p>
            <a:pPr algn="l"/>
            <a:r>
              <a:rPr sz="1050" b="0" i="0">
                <a:solidFill>
                  <a:srgbClr val="8B949E"/>
                </a:solidFill>
                <a:latin typeface="Calibri"/>
              </a:rPr>
              <a:t>AgentCore</a:t>
            </a:r>
          </a:p>
        </p:txBody>
      </p:sp>
      <p:sp>
        <p:nvSpPr>
          <p:cNvPr id="38" name="TextBox 37"/>
          <p:cNvSpPr txBox="1"/>
          <p:nvPr/>
        </p:nvSpPr>
        <p:spPr>
          <a:xfrm>
            <a:off x="8238744" y="3639312"/>
            <a:ext cx="3227832" cy="182880"/>
          </a:xfrm>
          <a:prstGeom prst="rect">
            <a:avLst/>
          </a:prstGeom>
          <a:noFill/>
        </p:spPr>
        <p:txBody>
          <a:bodyPr wrap="square" lIns="0" tIns="0" rIns="0" bIns="0" anchor="t">
            <a:spAutoFit/>
          </a:bodyPr>
          <a:lstStyle/>
          <a:p>
            <a:pPr algn="l"/>
            <a:r>
              <a:rPr sz="1100" b="0" i="0">
                <a:solidFill>
                  <a:srgbClr val="545B64"/>
                </a:solidFill>
                <a:latin typeface="Calibri"/>
              </a:rPr>
              <a:t>saves $1.284 M / mo · $15.4 M / yr</a:t>
            </a:r>
          </a:p>
        </p:txBody>
      </p:sp>
      <p:sp>
        <p:nvSpPr>
          <p:cNvPr id="39" name="TextBox 38"/>
          <p:cNvSpPr txBox="1"/>
          <p:nvPr/>
        </p:nvSpPr>
        <p:spPr>
          <a:xfrm>
            <a:off x="548640" y="4133087"/>
            <a:ext cx="3840480" cy="182880"/>
          </a:xfrm>
          <a:prstGeom prst="rect">
            <a:avLst/>
          </a:prstGeom>
          <a:noFill/>
        </p:spPr>
        <p:txBody>
          <a:bodyPr wrap="square" lIns="0" tIns="0" rIns="0" bIns="0" anchor="t">
            <a:spAutoFit/>
          </a:bodyPr>
          <a:lstStyle/>
          <a:p>
            <a:pPr algn="l"/>
            <a:r>
              <a:rPr sz="950" b="1" i="0">
                <a:solidFill>
                  <a:srgbClr val="8B949E"/>
                </a:solidFill>
                <a:latin typeface="Calibri"/>
              </a:rPr>
              <a:t>LINE ITEM</a:t>
            </a:r>
          </a:p>
        </p:txBody>
      </p:sp>
      <p:sp>
        <p:nvSpPr>
          <p:cNvPr id="40" name="TextBox 39"/>
          <p:cNvSpPr txBox="1"/>
          <p:nvPr/>
        </p:nvSpPr>
        <p:spPr>
          <a:xfrm>
            <a:off x="4480560" y="4133087"/>
            <a:ext cx="1737360" cy="182880"/>
          </a:xfrm>
          <a:prstGeom prst="rect">
            <a:avLst/>
          </a:prstGeom>
          <a:noFill/>
        </p:spPr>
        <p:txBody>
          <a:bodyPr wrap="square" lIns="0" tIns="0" rIns="0" bIns="0" anchor="t">
            <a:spAutoFit/>
          </a:bodyPr>
          <a:lstStyle/>
          <a:p>
            <a:pPr algn="l"/>
            <a:r>
              <a:rPr sz="950" b="1" i="0">
                <a:solidFill>
                  <a:srgbClr val="8B949E"/>
                </a:solidFill>
                <a:latin typeface="Calibri"/>
              </a:rPr>
              <a:t>ENGINE</a:t>
            </a:r>
          </a:p>
        </p:txBody>
      </p:sp>
      <p:sp>
        <p:nvSpPr>
          <p:cNvPr id="41" name="TextBox 40"/>
          <p:cNvSpPr txBox="1"/>
          <p:nvPr/>
        </p:nvSpPr>
        <p:spPr>
          <a:xfrm>
            <a:off x="6035040" y="4133087"/>
            <a:ext cx="1554480" cy="182880"/>
          </a:xfrm>
          <a:prstGeom prst="rect">
            <a:avLst/>
          </a:prstGeom>
          <a:noFill/>
        </p:spPr>
        <p:txBody>
          <a:bodyPr wrap="square" lIns="0" tIns="0" rIns="0" bIns="0" anchor="t">
            <a:spAutoFit/>
          </a:bodyPr>
          <a:lstStyle/>
          <a:p>
            <a:pPr algn="r"/>
            <a:r>
              <a:rPr sz="950" b="1" i="0">
                <a:solidFill>
                  <a:srgbClr val="8B949E"/>
                </a:solidFill>
                <a:latin typeface="Calibri"/>
              </a:rPr>
              <a:t>FIXED</a:t>
            </a:r>
          </a:p>
        </p:txBody>
      </p:sp>
      <p:sp>
        <p:nvSpPr>
          <p:cNvPr id="42" name="TextBox 41"/>
          <p:cNvSpPr txBox="1"/>
          <p:nvPr/>
        </p:nvSpPr>
        <p:spPr>
          <a:xfrm>
            <a:off x="7772400" y="4133087"/>
            <a:ext cx="1645920" cy="182880"/>
          </a:xfrm>
          <a:prstGeom prst="rect">
            <a:avLst/>
          </a:prstGeom>
          <a:noFill/>
        </p:spPr>
        <p:txBody>
          <a:bodyPr wrap="square" lIns="0" tIns="0" rIns="0" bIns="0" anchor="t">
            <a:spAutoFit/>
          </a:bodyPr>
          <a:lstStyle/>
          <a:p>
            <a:pPr algn="r"/>
            <a:r>
              <a:rPr sz="950" b="1" i="0">
                <a:solidFill>
                  <a:srgbClr val="8B949E"/>
                </a:solidFill>
                <a:latin typeface="Calibri"/>
              </a:rPr>
              <a:t>PER USER</a:t>
            </a:r>
          </a:p>
        </p:txBody>
      </p:sp>
      <p:sp>
        <p:nvSpPr>
          <p:cNvPr id="43" name="TextBox 42"/>
          <p:cNvSpPr txBox="1"/>
          <p:nvPr/>
        </p:nvSpPr>
        <p:spPr>
          <a:xfrm>
            <a:off x="9692640" y="4133087"/>
            <a:ext cx="1965960" cy="182880"/>
          </a:xfrm>
          <a:prstGeom prst="rect">
            <a:avLst/>
          </a:prstGeom>
          <a:noFill/>
        </p:spPr>
        <p:txBody>
          <a:bodyPr wrap="square" lIns="0" tIns="0" rIns="0" bIns="0" anchor="t">
            <a:spAutoFit/>
          </a:bodyPr>
          <a:lstStyle/>
          <a:p>
            <a:pPr algn="r"/>
            <a:r>
              <a:rPr sz="950" b="1" i="0">
                <a:solidFill>
                  <a:srgbClr val="8B949E"/>
                </a:solidFill>
                <a:latin typeface="Calibri"/>
              </a:rPr>
              <a:t>AT 1 USER</a:t>
            </a:r>
          </a:p>
        </p:txBody>
      </p:sp>
      <p:cxnSp>
        <p:nvCxnSpPr>
          <p:cNvPr id="44" name="Connector 43"/>
          <p:cNvCxnSpPr/>
          <p:nvPr/>
        </p:nvCxnSpPr>
        <p:spPr>
          <a:xfrm>
            <a:off x="548640" y="4370831"/>
            <a:ext cx="11109960" cy="0"/>
          </a:xfrm>
          <a:prstGeom prst="line">
            <a:avLst/>
          </a:prstGeom>
          <a:ln w="9525">
            <a:solidFill>
              <a:srgbClr val="D5DBE0"/>
            </a:solidFill>
          </a:ln>
          <a:effectLst/>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566928" y="4512564"/>
            <a:ext cx="91440" cy="91440"/>
          </a:xfrm>
          <a:prstGeom prst="ellipse">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49808" y="4443983"/>
            <a:ext cx="3639312" cy="219456"/>
          </a:xfrm>
          <a:prstGeom prst="rect">
            <a:avLst/>
          </a:prstGeom>
          <a:noFill/>
        </p:spPr>
        <p:txBody>
          <a:bodyPr wrap="square" lIns="0" tIns="0" rIns="0" bIns="0" anchor="ctr">
            <a:spAutoFit/>
          </a:bodyPr>
          <a:lstStyle/>
          <a:p>
            <a:pPr algn="l"/>
            <a:r>
              <a:rPr sz="1200" b="0" i="0">
                <a:solidFill>
                  <a:srgbClr val="545B64"/>
                </a:solidFill>
                <a:latin typeface="Calibri"/>
              </a:rPr>
              <a:t>AWS Fargate</a:t>
            </a:r>
          </a:p>
        </p:txBody>
      </p:sp>
      <p:sp>
        <p:nvSpPr>
          <p:cNvPr id="47" name="TextBox 46"/>
          <p:cNvSpPr txBox="1"/>
          <p:nvPr/>
        </p:nvSpPr>
        <p:spPr>
          <a:xfrm>
            <a:off x="4480560" y="4443983"/>
            <a:ext cx="1737360" cy="219456"/>
          </a:xfrm>
          <a:prstGeom prst="rect">
            <a:avLst/>
          </a:prstGeom>
          <a:noFill/>
        </p:spPr>
        <p:txBody>
          <a:bodyPr wrap="square" lIns="0" tIns="0" rIns="0" bIns="0" anchor="ctr">
            <a:spAutoFit/>
          </a:bodyPr>
          <a:lstStyle/>
          <a:p>
            <a:pPr algn="l"/>
            <a:r>
              <a:rPr sz="1150" b="0" i="0">
                <a:solidFill>
                  <a:srgbClr val="545B64"/>
                </a:solidFill>
                <a:latin typeface="Calibri"/>
              </a:rPr>
              <a:t>A · DIY</a:t>
            </a:r>
          </a:p>
        </p:txBody>
      </p:sp>
      <p:sp>
        <p:nvSpPr>
          <p:cNvPr id="48" name="TextBox 47"/>
          <p:cNvSpPr txBox="1"/>
          <p:nvPr/>
        </p:nvSpPr>
        <p:spPr>
          <a:xfrm>
            <a:off x="6035040" y="4443983"/>
            <a:ext cx="1554480" cy="219456"/>
          </a:xfrm>
          <a:prstGeom prst="rect">
            <a:avLst/>
          </a:prstGeom>
          <a:noFill/>
        </p:spPr>
        <p:txBody>
          <a:bodyPr wrap="square" lIns="0" tIns="0" rIns="0" bIns="0" anchor="ctr">
            <a:spAutoFit/>
          </a:bodyPr>
          <a:lstStyle/>
          <a:p>
            <a:pPr algn="r"/>
            <a:r>
              <a:rPr sz="1150" b="0" i="0">
                <a:solidFill>
                  <a:srgbClr val="545B64"/>
                </a:solidFill>
                <a:latin typeface="Calibri"/>
              </a:rPr>
              <a:t>$18.02</a:t>
            </a:r>
          </a:p>
        </p:txBody>
      </p:sp>
      <p:sp>
        <p:nvSpPr>
          <p:cNvPr id="49" name="TextBox 48"/>
          <p:cNvSpPr txBox="1"/>
          <p:nvPr/>
        </p:nvSpPr>
        <p:spPr>
          <a:xfrm>
            <a:off x="7772400" y="4443983"/>
            <a:ext cx="1645920" cy="219456"/>
          </a:xfrm>
          <a:prstGeom prst="rect">
            <a:avLst/>
          </a:prstGeom>
          <a:noFill/>
        </p:spPr>
        <p:txBody>
          <a:bodyPr wrap="square" lIns="0" tIns="0" rIns="0" bIns="0" anchor="ctr">
            <a:spAutoFit/>
          </a:bodyPr>
          <a:lstStyle/>
          <a:p>
            <a:pPr algn="r"/>
            <a:r>
              <a:rPr sz="1150" b="0" i="0">
                <a:solidFill>
                  <a:srgbClr val="545B64"/>
                </a:solidFill>
                <a:latin typeface="Calibri"/>
              </a:rPr>
              <a:t>—</a:t>
            </a:r>
          </a:p>
        </p:txBody>
      </p:sp>
      <p:sp>
        <p:nvSpPr>
          <p:cNvPr id="50" name="TextBox 49"/>
          <p:cNvSpPr txBox="1"/>
          <p:nvPr/>
        </p:nvSpPr>
        <p:spPr>
          <a:xfrm>
            <a:off x="9692640" y="4443983"/>
            <a:ext cx="1965960" cy="219456"/>
          </a:xfrm>
          <a:prstGeom prst="rect">
            <a:avLst/>
          </a:prstGeom>
          <a:noFill/>
        </p:spPr>
        <p:txBody>
          <a:bodyPr wrap="square" lIns="0" tIns="0" rIns="0" bIns="0" anchor="ctr">
            <a:spAutoFit/>
          </a:bodyPr>
          <a:lstStyle/>
          <a:p>
            <a:pPr algn="r"/>
            <a:r>
              <a:rPr sz="1150" b="0" i="0">
                <a:solidFill>
                  <a:srgbClr val="545B64"/>
                </a:solidFill>
                <a:latin typeface="Calibri"/>
              </a:rPr>
              <a:t>$18.02</a:t>
            </a:r>
          </a:p>
        </p:txBody>
      </p:sp>
      <p:cxnSp>
        <p:nvCxnSpPr>
          <p:cNvPr id="51" name="Connector 50"/>
          <p:cNvCxnSpPr/>
          <p:nvPr/>
        </p:nvCxnSpPr>
        <p:spPr>
          <a:xfrm>
            <a:off x="548640" y="4658868"/>
            <a:ext cx="11109960"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566928" y="4745736"/>
            <a:ext cx="91440" cy="91440"/>
          </a:xfrm>
          <a:prstGeom prst="ellipse">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49808" y="4677155"/>
            <a:ext cx="3639312" cy="219456"/>
          </a:xfrm>
          <a:prstGeom prst="rect">
            <a:avLst/>
          </a:prstGeom>
          <a:noFill/>
        </p:spPr>
        <p:txBody>
          <a:bodyPr wrap="square" lIns="0" tIns="0" rIns="0" bIns="0" anchor="ctr">
            <a:spAutoFit/>
          </a:bodyPr>
          <a:lstStyle/>
          <a:p>
            <a:pPr algn="l"/>
            <a:r>
              <a:rPr sz="1200" b="0" i="0">
                <a:solidFill>
                  <a:srgbClr val="545B64"/>
                </a:solidFill>
                <a:latin typeface="Calibri"/>
              </a:rPr>
              <a:t>2nd Bedrock call · extraction</a:t>
            </a:r>
          </a:p>
        </p:txBody>
      </p:sp>
      <p:sp>
        <p:nvSpPr>
          <p:cNvPr id="54" name="TextBox 53"/>
          <p:cNvSpPr txBox="1"/>
          <p:nvPr/>
        </p:nvSpPr>
        <p:spPr>
          <a:xfrm>
            <a:off x="4480560" y="4677155"/>
            <a:ext cx="1737360" cy="219456"/>
          </a:xfrm>
          <a:prstGeom prst="rect">
            <a:avLst/>
          </a:prstGeom>
          <a:noFill/>
        </p:spPr>
        <p:txBody>
          <a:bodyPr wrap="square" lIns="0" tIns="0" rIns="0" bIns="0" anchor="ctr">
            <a:spAutoFit/>
          </a:bodyPr>
          <a:lstStyle/>
          <a:p>
            <a:pPr algn="l"/>
            <a:r>
              <a:rPr sz="1150" b="0" i="0">
                <a:solidFill>
                  <a:srgbClr val="545B64"/>
                </a:solidFill>
                <a:latin typeface="Calibri"/>
              </a:rPr>
              <a:t>A · DIY</a:t>
            </a:r>
          </a:p>
        </p:txBody>
      </p:sp>
      <p:sp>
        <p:nvSpPr>
          <p:cNvPr id="55" name="TextBox 54"/>
          <p:cNvSpPr txBox="1"/>
          <p:nvPr/>
        </p:nvSpPr>
        <p:spPr>
          <a:xfrm>
            <a:off x="6035040" y="4677155"/>
            <a:ext cx="1554480" cy="219456"/>
          </a:xfrm>
          <a:prstGeom prst="rect">
            <a:avLst/>
          </a:prstGeom>
          <a:noFill/>
        </p:spPr>
        <p:txBody>
          <a:bodyPr wrap="square" lIns="0" tIns="0" rIns="0" bIns="0" anchor="ctr">
            <a:spAutoFit/>
          </a:bodyPr>
          <a:lstStyle/>
          <a:p>
            <a:pPr algn="r"/>
            <a:r>
              <a:rPr sz="1150" b="0" i="0">
                <a:solidFill>
                  <a:srgbClr val="545B64"/>
                </a:solidFill>
                <a:latin typeface="Calibri"/>
              </a:rPr>
              <a:t>—</a:t>
            </a:r>
          </a:p>
        </p:txBody>
      </p:sp>
      <p:sp>
        <p:nvSpPr>
          <p:cNvPr id="56" name="TextBox 55"/>
          <p:cNvSpPr txBox="1"/>
          <p:nvPr/>
        </p:nvSpPr>
        <p:spPr>
          <a:xfrm>
            <a:off x="7772400" y="4677155"/>
            <a:ext cx="1645920" cy="219456"/>
          </a:xfrm>
          <a:prstGeom prst="rect">
            <a:avLst/>
          </a:prstGeom>
          <a:noFill/>
        </p:spPr>
        <p:txBody>
          <a:bodyPr wrap="square" lIns="0" tIns="0" rIns="0" bIns="0" anchor="ctr">
            <a:spAutoFit/>
          </a:bodyPr>
          <a:lstStyle/>
          <a:p>
            <a:pPr algn="r"/>
            <a:r>
              <a:rPr sz="1150" b="0" i="0">
                <a:solidFill>
                  <a:srgbClr val="545B64"/>
                </a:solidFill>
                <a:latin typeface="Calibri"/>
              </a:rPr>
              <a:t>$1.386</a:t>
            </a:r>
          </a:p>
        </p:txBody>
      </p:sp>
      <p:sp>
        <p:nvSpPr>
          <p:cNvPr id="57" name="TextBox 56"/>
          <p:cNvSpPr txBox="1"/>
          <p:nvPr/>
        </p:nvSpPr>
        <p:spPr>
          <a:xfrm>
            <a:off x="9692640" y="4677155"/>
            <a:ext cx="1965960" cy="219456"/>
          </a:xfrm>
          <a:prstGeom prst="rect">
            <a:avLst/>
          </a:prstGeom>
          <a:noFill/>
        </p:spPr>
        <p:txBody>
          <a:bodyPr wrap="square" lIns="0" tIns="0" rIns="0" bIns="0" anchor="ctr">
            <a:spAutoFit/>
          </a:bodyPr>
          <a:lstStyle/>
          <a:p>
            <a:pPr algn="r"/>
            <a:r>
              <a:rPr sz="1150" b="0" i="0">
                <a:solidFill>
                  <a:srgbClr val="545B64"/>
                </a:solidFill>
                <a:latin typeface="Calibri"/>
              </a:rPr>
              <a:t>$1.385</a:t>
            </a:r>
          </a:p>
        </p:txBody>
      </p:sp>
      <p:cxnSp>
        <p:nvCxnSpPr>
          <p:cNvPr id="58" name="Connector 57"/>
          <p:cNvCxnSpPr/>
          <p:nvPr/>
        </p:nvCxnSpPr>
        <p:spPr>
          <a:xfrm>
            <a:off x="548640" y="4892040"/>
            <a:ext cx="11109960"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59" name="Oval 58"/>
          <p:cNvSpPr/>
          <p:nvPr/>
        </p:nvSpPr>
        <p:spPr>
          <a:xfrm>
            <a:off x="566928" y="4978907"/>
            <a:ext cx="91440" cy="91440"/>
          </a:xfrm>
          <a:prstGeom prst="ellipse">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749808" y="4910327"/>
            <a:ext cx="3639312" cy="219456"/>
          </a:xfrm>
          <a:prstGeom prst="rect">
            <a:avLst/>
          </a:prstGeom>
          <a:noFill/>
        </p:spPr>
        <p:txBody>
          <a:bodyPr wrap="square" lIns="0" tIns="0" rIns="0" bIns="0" anchor="ctr">
            <a:spAutoFit/>
          </a:bodyPr>
          <a:lstStyle/>
          <a:p>
            <a:pPr algn="l"/>
            <a:r>
              <a:rPr sz="1200" b="0" i="0">
                <a:solidFill>
                  <a:srgbClr val="545B64"/>
                </a:solidFill>
                <a:latin typeface="Calibri"/>
              </a:rPr>
              <a:t>Amazon DynamoDB</a:t>
            </a:r>
          </a:p>
        </p:txBody>
      </p:sp>
      <p:sp>
        <p:nvSpPr>
          <p:cNvPr id="61" name="TextBox 60"/>
          <p:cNvSpPr txBox="1"/>
          <p:nvPr/>
        </p:nvSpPr>
        <p:spPr>
          <a:xfrm>
            <a:off x="4480560" y="4910327"/>
            <a:ext cx="1737360" cy="219456"/>
          </a:xfrm>
          <a:prstGeom prst="rect">
            <a:avLst/>
          </a:prstGeom>
          <a:noFill/>
        </p:spPr>
        <p:txBody>
          <a:bodyPr wrap="square" lIns="0" tIns="0" rIns="0" bIns="0" anchor="ctr">
            <a:spAutoFit/>
          </a:bodyPr>
          <a:lstStyle/>
          <a:p>
            <a:pPr algn="l"/>
            <a:r>
              <a:rPr sz="1150" b="0" i="0">
                <a:solidFill>
                  <a:srgbClr val="545B64"/>
                </a:solidFill>
                <a:latin typeface="Calibri"/>
              </a:rPr>
              <a:t>A · DIY</a:t>
            </a:r>
          </a:p>
        </p:txBody>
      </p:sp>
      <p:sp>
        <p:nvSpPr>
          <p:cNvPr id="62" name="TextBox 61"/>
          <p:cNvSpPr txBox="1"/>
          <p:nvPr/>
        </p:nvSpPr>
        <p:spPr>
          <a:xfrm>
            <a:off x="6035040" y="4910327"/>
            <a:ext cx="1554480" cy="219456"/>
          </a:xfrm>
          <a:prstGeom prst="rect">
            <a:avLst/>
          </a:prstGeom>
          <a:noFill/>
        </p:spPr>
        <p:txBody>
          <a:bodyPr wrap="square" lIns="0" tIns="0" rIns="0" bIns="0" anchor="ctr">
            <a:spAutoFit/>
          </a:bodyPr>
          <a:lstStyle/>
          <a:p>
            <a:pPr algn="r"/>
            <a:r>
              <a:rPr sz="1150" b="0" i="0">
                <a:solidFill>
                  <a:srgbClr val="545B64"/>
                </a:solidFill>
                <a:latin typeface="Calibri"/>
              </a:rPr>
              <a:t>—</a:t>
            </a:r>
          </a:p>
        </p:txBody>
      </p:sp>
      <p:sp>
        <p:nvSpPr>
          <p:cNvPr id="63" name="TextBox 62"/>
          <p:cNvSpPr txBox="1"/>
          <p:nvPr/>
        </p:nvSpPr>
        <p:spPr>
          <a:xfrm>
            <a:off x="7772400" y="4910327"/>
            <a:ext cx="1645920" cy="219456"/>
          </a:xfrm>
          <a:prstGeom prst="rect">
            <a:avLst/>
          </a:prstGeom>
          <a:noFill/>
        </p:spPr>
        <p:txBody>
          <a:bodyPr wrap="square" lIns="0" tIns="0" rIns="0" bIns="0" anchor="ctr">
            <a:spAutoFit/>
          </a:bodyPr>
          <a:lstStyle/>
          <a:p>
            <a:pPr algn="r"/>
            <a:r>
              <a:rPr sz="1150" b="0" i="0">
                <a:solidFill>
                  <a:srgbClr val="545B64"/>
                </a:solidFill>
                <a:latin typeface="Calibri"/>
              </a:rPr>
              <a:t>$0.0006</a:t>
            </a:r>
          </a:p>
        </p:txBody>
      </p:sp>
      <p:sp>
        <p:nvSpPr>
          <p:cNvPr id="64" name="TextBox 63"/>
          <p:cNvSpPr txBox="1"/>
          <p:nvPr/>
        </p:nvSpPr>
        <p:spPr>
          <a:xfrm>
            <a:off x="9692640" y="4910327"/>
            <a:ext cx="1965960" cy="219456"/>
          </a:xfrm>
          <a:prstGeom prst="rect">
            <a:avLst/>
          </a:prstGeom>
          <a:noFill/>
        </p:spPr>
        <p:txBody>
          <a:bodyPr wrap="square" lIns="0" tIns="0" rIns="0" bIns="0" anchor="ctr">
            <a:spAutoFit/>
          </a:bodyPr>
          <a:lstStyle/>
          <a:p>
            <a:pPr algn="r"/>
            <a:r>
              <a:rPr sz="1150" b="0" i="0">
                <a:solidFill>
                  <a:srgbClr val="545B64"/>
                </a:solidFill>
                <a:latin typeface="Calibri"/>
              </a:rPr>
              <a:t>$0.0006</a:t>
            </a:r>
          </a:p>
        </p:txBody>
      </p:sp>
      <p:cxnSp>
        <p:nvCxnSpPr>
          <p:cNvPr id="65" name="Connector 64"/>
          <p:cNvCxnSpPr/>
          <p:nvPr/>
        </p:nvCxnSpPr>
        <p:spPr>
          <a:xfrm>
            <a:off x="548640" y="5125212"/>
            <a:ext cx="11109960"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66" name="Oval 65"/>
          <p:cNvSpPr/>
          <p:nvPr/>
        </p:nvSpPr>
        <p:spPr>
          <a:xfrm>
            <a:off x="566928" y="5212079"/>
            <a:ext cx="91440" cy="91440"/>
          </a:xfrm>
          <a:prstGeom prst="ellipse">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749808" y="5143499"/>
            <a:ext cx="3639312" cy="219456"/>
          </a:xfrm>
          <a:prstGeom prst="rect">
            <a:avLst/>
          </a:prstGeom>
          <a:noFill/>
        </p:spPr>
        <p:txBody>
          <a:bodyPr wrap="square" lIns="0" tIns="0" rIns="0" bIns="0" anchor="ctr">
            <a:spAutoFit/>
          </a:bodyPr>
          <a:lstStyle/>
          <a:p>
            <a:pPr algn="l"/>
            <a:r>
              <a:rPr sz="1200" b="0" i="0">
                <a:solidFill>
                  <a:srgbClr val="545B64"/>
                </a:solidFill>
                <a:latin typeface="Calibri"/>
              </a:rPr>
              <a:t>AgentCore Gateway</a:t>
            </a:r>
          </a:p>
        </p:txBody>
      </p:sp>
      <p:sp>
        <p:nvSpPr>
          <p:cNvPr id="68" name="TextBox 67"/>
          <p:cNvSpPr txBox="1"/>
          <p:nvPr/>
        </p:nvSpPr>
        <p:spPr>
          <a:xfrm>
            <a:off x="4480560" y="5143499"/>
            <a:ext cx="1737360" cy="219456"/>
          </a:xfrm>
          <a:prstGeom prst="rect">
            <a:avLst/>
          </a:prstGeom>
          <a:noFill/>
        </p:spPr>
        <p:txBody>
          <a:bodyPr wrap="square" lIns="0" tIns="0" rIns="0" bIns="0" anchor="ctr">
            <a:spAutoFit/>
          </a:bodyPr>
          <a:lstStyle/>
          <a:p>
            <a:pPr algn="l"/>
            <a:r>
              <a:rPr sz="1150" b="0" i="0">
                <a:solidFill>
                  <a:srgbClr val="545B64"/>
                </a:solidFill>
                <a:latin typeface="Calibri"/>
              </a:rPr>
              <a:t>B · AgentCore</a:t>
            </a:r>
          </a:p>
        </p:txBody>
      </p:sp>
      <p:sp>
        <p:nvSpPr>
          <p:cNvPr id="69" name="TextBox 68"/>
          <p:cNvSpPr txBox="1"/>
          <p:nvPr/>
        </p:nvSpPr>
        <p:spPr>
          <a:xfrm>
            <a:off x="6035040" y="5143499"/>
            <a:ext cx="1554480" cy="219456"/>
          </a:xfrm>
          <a:prstGeom prst="rect">
            <a:avLst/>
          </a:prstGeom>
          <a:noFill/>
        </p:spPr>
        <p:txBody>
          <a:bodyPr wrap="square" lIns="0" tIns="0" rIns="0" bIns="0" anchor="ctr">
            <a:spAutoFit/>
          </a:bodyPr>
          <a:lstStyle/>
          <a:p>
            <a:pPr algn="r"/>
            <a:r>
              <a:rPr sz="1150" b="0" i="0">
                <a:solidFill>
                  <a:srgbClr val="545B64"/>
                </a:solidFill>
                <a:latin typeface="Calibri"/>
              </a:rPr>
              <a:t>$0.0006</a:t>
            </a:r>
          </a:p>
        </p:txBody>
      </p:sp>
      <p:sp>
        <p:nvSpPr>
          <p:cNvPr id="70" name="TextBox 69"/>
          <p:cNvSpPr txBox="1"/>
          <p:nvPr/>
        </p:nvSpPr>
        <p:spPr>
          <a:xfrm>
            <a:off x="7772400" y="5143499"/>
            <a:ext cx="1645920" cy="219456"/>
          </a:xfrm>
          <a:prstGeom prst="rect">
            <a:avLst/>
          </a:prstGeom>
          <a:noFill/>
        </p:spPr>
        <p:txBody>
          <a:bodyPr wrap="square" lIns="0" tIns="0" rIns="0" bIns="0" anchor="ctr">
            <a:spAutoFit/>
          </a:bodyPr>
          <a:lstStyle/>
          <a:p>
            <a:pPr algn="r"/>
            <a:r>
              <a:rPr sz="1150" b="0" i="0">
                <a:solidFill>
                  <a:srgbClr val="545B64"/>
                </a:solidFill>
                <a:latin typeface="Calibri"/>
              </a:rPr>
              <a:t>—</a:t>
            </a:r>
          </a:p>
        </p:txBody>
      </p:sp>
      <p:sp>
        <p:nvSpPr>
          <p:cNvPr id="71" name="TextBox 70"/>
          <p:cNvSpPr txBox="1"/>
          <p:nvPr/>
        </p:nvSpPr>
        <p:spPr>
          <a:xfrm>
            <a:off x="9692640" y="5143499"/>
            <a:ext cx="1965960" cy="219456"/>
          </a:xfrm>
          <a:prstGeom prst="rect">
            <a:avLst/>
          </a:prstGeom>
          <a:noFill/>
        </p:spPr>
        <p:txBody>
          <a:bodyPr wrap="square" lIns="0" tIns="0" rIns="0" bIns="0" anchor="ctr">
            <a:spAutoFit/>
          </a:bodyPr>
          <a:lstStyle/>
          <a:p>
            <a:pPr algn="r"/>
            <a:r>
              <a:rPr sz="1150" b="0" i="0">
                <a:solidFill>
                  <a:srgbClr val="545B64"/>
                </a:solidFill>
                <a:latin typeface="Calibri"/>
              </a:rPr>
              <a:t>$0.0006</a:t>
            </a:r>
          </a:p>
        </p:txBody>
      </p:sp>
      <p:cxnSp>
        <p:nvCxnSpPr>
          <p:cNvPr id="72" name="Connector 71"/>
          <p:cNvCxnSpPr/>
          <p:nvPr/>
        </p:nvCxnSpPr>
        <p:spPr>
          <a:xfrm>
            <a:off x="548640" y="5358383"/>
            <a:ext cx="11109960"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73" name="Oval 72"/>
          <p:cNvSpPr/>
          <p:nvPr/>
        </p:nvSpPr>
        <p:spPr>
          <a:xfrm>
            <a:off x="566928" y="5445251"/>
            <a:ext cx="91440" cy="91440"/>
          </a:xfrm>
          <a:prstGeom prst="ellipse">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749808" y="5376671"/>
            <a:ext cx="3639312" cy="219456"/>
          </a:xfrm>
          <a:prstGeom prst="rect">
            <a:avLst/>
          </a:prstGeom>
          <a:noFill/>
        </p:spPr>
        <p:txBody>
          <a:bodyPr wrap="square" lIns="0" tIns="0" rIns="0" bIns="0" anchor="ctr">
            <a:spAutoFit/>
          </a:bodyPr>
          <a:lstStyle/>
          <a:p>
            <a:pPr algn="l"/>
            <a:r>
              <a:rPr sz="1200" b="0" i="0">
                <a:solidFill>
                  <a:srgbClr val="545B64"/>
                </a:solidFill>
                <a:latin typeface="Calibri"/>
              </a:rPr>
              <a:t>AgentCore Memory</a:t>
            </a:r>
          </a:p>
        </p:txBody>
      </p:sp>
      <p:sp>
        <p:nvSpPr>
          <p:cNvPr id="75" name="TextBox 74"/>
          <p:cNvSpPr txBox="1"/>
          <p:nvPr/>
        </p:nvSpPr>
        <p:spPr>
          <a:xfrm>
            <a:off x="4480560" y="5376671"/>
            <a:ext cx="1737360" cy="219456"/>
          </a:xfrm>
          <a:prstGeom prst="rect">
            <a:avLst/>
          </a:prstGeom>
          <a:noFill/>
        </p:spPr>
        <p:txBody>
          <a:bodyPr wrap="square" lIns="0" tIns="0" rIns="0" bIns="0" anchor="ctr">
            <a:spAutoFit/>
          </a:bodyPr>
          <a:lstStyle/>
          <a:p>
            <a:pPr algn="l"/>
            <a:r>
              <a:rPr sz="1150" b="0" i="0">
                <a:solidFill>
                  <a:srgbClr val="545B64"/>
                </a:solidFill>
                <a:latin typeface="Calibri"/>
              </a:rPr>
              <a:t>B · AgentCore</a:t>
            </a:r>
          </a:p>
        </p:txBody>
      </p:sp>
      <p:sp>
        <p:nvSpPr>
          <p:cNvPr id="76" name="TextBox 75"/>
          <p:cNvSpPr txBox="1"/>
          <p:nvPr/>
        </p:nvSpPr>
        <p:spPr>
          <a:xfrm>
            <a:off x="6035040" y="5376671"/>
            <a:ext cx="1554480" cy="219456"/>
          </a:xfrm>
          <a:prstGeom prst="rect">
            <a:avLst/>
          </a:prstGeom>
          <a:noFill/>
        </p:spPr>
        <p:txBody>
          <a:bodyPr wrap="square" lIns="0" tIns="0" rIns="0" bIns="0" anchor="ctr">
            <a:spAutoFit/>
          </a:bodyPr>
          <a:lstStyle/>
          <a:p>
            <a:pPr algn="r"/>
            <a:r>
              <a:rPr sz="1150" b="0" i="0">
                <a:solidFill>
                  <a:srgbClr val="545B64"/>
                </a:solidFill>
                <a:latin typeface="Calibri"/>
              </a:rPr>
              <a:t>—</a:t>
            </a:r>
          </a:p>
        </p:txBody>
      </p:sp>
      <p:sp>
        <p:nvSpPr>
          <p:cNvPr id="77" name="TextBox 76"/>
          <p:cNvSpPr txBox="1"/>
          <p:nvPr/>
        </p:nvSpPr>
        <p:spPr>
          <a:xfrm>
            <a:off x="7772400" y="5376671"/>
            <a:ext cx="1645920" cy="219456"/>
          </a:xfrm>
          <a:prstGeom prst="rect">
            <a:avLst/>
          </a:prstGeom>
          <a:noFill/>
        </p:spPr>
        <p:txBody>
          <a:bodyPr wrap="square" lIns="0" tIns="0" rIns="0" bIns="0" anchor="ctr">
            <a:spAutoFit/>
          </a:bodyPr>
          <a:lstStyle/>
          <a:p>
            <a:pPr algn="r"/>
            <a:r>
              <a:rPr sz="1150" b="0" i="0">
                <a:solidFill>
                  <a:srgbClr val="545B64"/>
                </a:solidFill>
                <a:latin typeface="Calibri"/>
              </a:rPr>
              <a:t>$0.098</a:t>
            </a:r>
          </a:p>
        </p:txBody>
      </p:sp>
      <p:sp>
        <p:nvSpPr>
          <p:cNvPr id="78" name="TextBox 77"/>
          <p:cNvSpPr txBox="1"/>
          <p:nvPr/>
        </p:nvSpPr>
        <p:spPr>
          <a:xfrm>
            <a:off x="9692640" y="5376671"/>
            <a:ext cx="1965960" cy="219456"/>
          </a:xfrm>
          <a:prstGeom prst="rect">
            <a:avLst/>
          </a:prstGeom>
          <a:noFill/>
        </p:spPr>
        <p:txBody>
          <a:bodyPr wrap="square" lIns="0" tIns="0" rIns="0" bIns="0" anchor="ctr">
            <a:spAutoFit/>
          </a:bodyPr>
          <a:lstStyle/>
          <a:p>
            <a:pPr algn="r"/>
            <a:r>
              <a:rPr sz="1150" b="0" i="0">
                <a:solidFill>
                  <a:srgbClr val="545B64"/>
                </a:solidFill>
                <a:latin typeface="Calibri"/>
              </a:rPr>
              <a:t>$0.098</a:t>
            </a:r>
          </a:p>
        </p:txBody>
      </p:sp>
      <p:cxnSp>
        <p:nvCxnSpPr>
          <p:cNvPr id="79" name="Connector 78"/>
          <p:cNvCxnSpPr/>
          <p:nvPr/>
        </p:nvCxnSpPr>
        <p:spPr>
          <a:xfrm>
            <a:off x="548640" y="5591555"/>
            <a:ext cx="11109960"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80" name="Oval 79"/>
          <p:cNvSpPr/>
          <p:nvPr/>
        </p:nvSpPr>
        <p:spPr>
          <a:xfrm>
            <a:off x="566928" y="5678423"/>
            <a:ext cx="91440" cy="91440"/>
          </a:xfrm>
          <a:prstGeom prst="ellipse">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749808" y="5609843"/>
            <a:ext cx="3639312" cy="219456"/>
          </a:xfrm>
          <a:prstGeom prst="rect">
            <a:avLst/>
          </a:prstGeom>
          <a:noFill/>
        </p:spPr>
        <p:txBody>
          <a:bodyPr wrap="square" lIns="0" tIns="0" rIns="0" bIns="0" anchor="ctr">
            <a:spAutoFit/>
          </a:bodyPr>
          <a:lstStyle/>
          <a:p>
            <a:pPr algn="l"/>
            <a:r>
              <a:rPr sz="1200" b="0" i="0">
                <a:solidFill>
                  <a:srgbClr val="545B64"/>
                </a:solidFill>
                <a:latin typeface="Calibri"/>
              </a:rPr>
              <a:t>AgentCore Runtime</a:t>
            </a:r>
          </a:p>
        </p:txBody>
      </p:sp>
      <p:sp>
        <p:nvSpPr>
          <p:cNvPr id="82" name="TextBox 81"/>
          <p:cNvSpPr txBox="1"/>
          <p:nvPr/>
        </p:nvSpPr>
        <p:spPr>
          <a:xfrm>
            <a:off x="4480560" y="5609843"/>
            <a:ext cx="1737360" cy="219456"/>
          </a:xfrm>
          <a:prstGeom prst="rect">
            <a:avLst/>
          </a:prstGeom>
          <a:noFill/>
        </p:spPr>
        <p:txBody>
          <a:bodyPr wrap="square" lIns="0" tIns="0" rIns="0" bIns="0" anchor="ctr">
            <a:spAutoFit/>
          </a:bodyPr>
          <a:lstStyle/>
          <a:p>
            <a:pPr algn="l"/>
            <a:r>
              <a:rPr sz="1150" b="0" i="0">
                <a:solidFill>
                  <a:srgbClr val="545B64"/>
                </a:solidFill>
                <a:latin typeface="Calibri"/>
              </a:rPr>
              <a:t>B · AgentCore</a:t>
            </a:r>
          </a:p>
        </p:txBody>
      </p:sp>
      <p:sp>
        <p:nvSpPr>
          <p:cNvPr id="83" name="TextBox 82"/>
          <p:cNvSpPr txBox="1"/>
          <p:nvPr/>
        </p:nvSpPr>
        <p:spPr>
          <a:xfrm>
            <a:off x="6035040" y="5609843"/>
            <a:ext cx="1554480" cy="219456"/>
          </a:xfrm>
          <a:prstGeom prst="rect">
            <a:avLst/>
          </a:prstGeom>
          <a:noFill/>
        </p:spPr>
        <p:txBody>
          <a:bodyPr wrap="square" lIns="0" tIns="0" rIns="0" bIns="0" anchor="ctr">
            <a:spAutoFit/>
          </a:bodyPr>
          <a:lstStyle/>
          <a:p>
            <a:pPr algn="r"/>
            <a:r>
              <a:rPr sz="1150" b="0" i="0">
                <a:solidFill>
                  <a:srgbClr val="545B64"/>
                </a:solidFill>
                <a:latin typeface="Calibri"/>
              </a:rPr>
              <a:t>—</a:t>
            </a:r>
          </a:p>
        </p:txBody>
      </p:sp>
      <p:sp>
        <p:nvSpPr>
          <p:cNvPr id="84" name="TextBox 83"/>
          <p:cNvSpPr txBox="1"/>
          <p:nvPr/>
        </p:nvSpPr>
        <p:spPr>
          <a:xfrm>
            <a:off x="7772400" y="5609843"/>
            <a:ext cx="1645920" cy="219456"/>
          </a:xfrm>
          <a:prstGeom prst="rect">
            <a:avLst/>
          </a:prstGeom>
          <a:noFill/>
        </p:spPr>
        <p:txBody>
          <a:bodyPr wrap="square" lIns="0" tIns="0" rIns="0" bIns="0" anchor="ctr">
            <a:spAutoFit/>
          </a:bodyPr>
          <a:lstStyle/>
          <a:p>
            <a:pPr algn="r"/>
            <a:r>
              <a:rPr sz="1150" b="0" i="0">
                <a:solidFill>
                  <a:srgbClr val="545B64"/>
                </a:solidFill>
                <a:latin typeface="Calibri"/>
              </a:rPr>
              <a:t>$0.0047</a:t>
            </a:r>
          </a:p>
        </p:txBody>
      </p:sp>
      <p:sp>
        <p:nvSpPr>
          <p:cNvPr id="85" name="TextBox 84"/>
          <p:cNvSpPr txBox="1"/>
          <p:nvPr/>
        </p:nvSpPr>
        <p:spPr>
          <a:xfrm>
            <a:off x="9692640" y="5609843"/>
            <a:ext cx="1965960" cy="219456"/>
          </a:xfrm>
          <a:prstGeom prst="rect">
            <a:avLst/>
          </a:prstGeom>
          <a:noFill/>
        </p:spPr>
        <p:txBody>
          <a:bodyPr wrap="square" lIns="0" tIns="0" rIns="0" bIns="0" anchor="ctr">
            <a:spAutoFit/>
          </a:bodyPr>
          <a:lstStyle/>
          <a:p>
            <a:pPr algn="r"/>
            <a:r>
              <a:rPr sz="1150" b="0" i="0">
                <a:solidFill>
                  <a:srgbClr val="545B64"/>
                </a:solidFill>
                <a:latin typeface="Calibri"/>
              </a:rPr>
              <a:t>$0.0047</a:t>
            </a:r>
          </a:p>
        </p:txBody>
      </p:sp>
      <p:cxnSp>
        <p:nvCxnSpPr>
          <p:cNvPr id="86" name="Connector 85"/>
          <p:cNvCxnSpPr/>
          <p:nvPr/>
        </p:nvCxnSpPr>
        <p:spPr>
          <a:xfrm>
            <a:off x="548640" y="5824727"/>
            <a:ext cx="11109960"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566928" y="5843015"/>
            <a:ext cx="3822191" cy="219456"/>
          </a:xfrm>
          <a:prstGeom prst="rect">
            <a:avLst/>
          </a:prstGeom>
          <a:noFill/>
        </p:spPr>
        <p:txBody>
          <a:bodyPr wrap="square" lIns="0" tIns="0" rIns="0" bIns="0" anchor="ctr">
            <a:spAutoFit/>
          </a:bodyPr>
          <a:lstStyle/>
          <a:p>
            <a:pPr algn="l"/>
            <a:r>
              <a:rPr sz="1200" b="1" i="0">
                <a:solidFill>
                  <a:srgbClr val="232F3E"/>
                </a:solidFill>
                <a:latin typeface="Calibri"/>
              </a:rPr>
              <a:t>Engine A total, one user</a:t>
            </a:r>
          </a:p>
        </p:txBody>
      </p:sp>
      <p:sp>
        <p:nvSpPr>
          <p:cNvPr id="88" name="TextBox 87"/>
          <p:cNvSpPr txBox="1"/>
          <p:nvPr/>
        </p:nvSpPr>
        <p:spPr>
          <a:xfrm>
            <a:off x="4480560" y="5843015"/>
            <a:ext cx="1737360" cy="219456"/>
          </a:xfrm>
          <a:prstGeom prst="rect">
            <a:avLst/>
          </a:prstGeom>
          <a:noFill/>
        </p:spPr>
        <p:txBody>
          <a:bodyPr wrap="square" lIns="0" tIns="0" rIns="0" bIns="0" anchor="ctr">
            <a:spAutoFit/>
          </a:bodyPr>
          <a:lstStyle/>
          <a:p>
            <a:pPr algn="l"/>
            <a:r>
              <a:rPr sz="1150" b="1" i="0">
                <a:solidFill>
                  <a:srgbClr val="232F3E"/>
                </a:solidFill>
                <a:latin typeface="Calibri"/>
              </a:rPr>
              <a:t>A · DIY</a:t>
            </a:r>
          </a:p>
        </p:txBody>
      </p:sp>
      <p:sp>
        <p:nvSpPr>
          <p:cNvPr id="89" name="TextBox 88"/>
          <p:cNvSpPr txBox="1"/>
          <p:nvPr/>
        </p:nvSpPr>
        <p:spPr>
          <a:xfrm>
            <a:off x="6035040" y="5843015"/>
            <a:ext cx="1554480" cy="219456"/>
          </a:xfrm>
          <a:prstGeom prst="rect">
            <a:avLst/>
          </a:prstGeom>
          <a:noFill/>
        </p:spPr>
        <p:txBody>
          <a:bodyPr wrap="square" lIns="0" tIns="0" rIns="0" bIns="0" anchor="ctr">
            <a:spAutoFit/>
          </a:bodyPr>
          <a:lstStyle/>
          <a:p>
            <a:pPr algn="r"/>
            <a:r>
              <a:rPr sz="1150" b="1" i="0">
                <a:solidFill>
                  <a:srgbClr val="232F3E"/>
                </a:solidFill>
                <a:latin typeface="Calibri"/>
              </a:rPr>
              <a:t>$18.02</a:t>
            </a:r>
          </a:p>
        </p:txBody>
      </p:sp>
      <p:sp>
        <p:nvSpPr>
          <p:cNvPr id="90" name="TextBox 89"/>
          <p:cNvSpPr txBox="1"/>
          <p:nvPr/>
        </p:nvSpPr>
        <p:spPr>
          <a:xfrm>
            <a:off x="7772400" y="5843015"/>
            <a:ext cx="1645920" cy="219456"/>
          </a:xfrm>
          <a:prstGeom prst="rect">
            <a:avLst/>
          </a:prstGeom>
          <a:noFill/>
        </p:spPr>
        <p:txBody>
          <a:bodyPr wrap="square" lIns="0" tIns="0" rIns="0" bIns="0" anchor="ctr">
            <a:spAutoFit/>
          </a:bodyPr>
          <a:lstStyle/>
          <a:p>
            <a:pPr algn="r"/>
            <a:r>
              <a:rPr sz="1150" b="1" i="0">
                <a:solidFill>
                  <a:srgbClr val="232F3E"/>
                </a:solidFill>
                <a:latin typeface="Calibri"/>
              </a:rPr>
              <a:t>$1.386</a:t>
            </a:r>
          </a:p>
        </p:txBody>
      </p:sp>
      <p:sp>
        <p:nvSpPr>
          <p:cNvPr id="91" name="TextBox 90"/>
          <p:cNvSpPr txBox="1"/>
          <p:nvPr/>
        </p:nvSpPr>
        <p:spPr>
          <a:xfrm>
            <a:off x="9692640" y="5843015"/>
            <a:ext cx="1965960" cy="219456"/>
          </a:xfrm>
          <a:prstGeom prst="rect">
            <a:avLst/>
          </a:prstGeom>
          <a:noFill/>
        </p:spPr>
        <p:txBody>
          <a:bodyPr wrap="square" lIns="0" tIns="0" rIns="0" bIns="0" anchor="ctr">
            <a:spAutoFit/>
          </a:bodyPr>
          <a:lstStyle/>
          <a:p>
            <a:pPr algn="r"/>
            <a:r>
              <a:rPr sz="1150" b="1" i="0">
                <a:solidFill>
                  <a:srgbClr val="232F3E"/>
                </a:solidFill>
                <a:latin typeface="Calibri"/>
              </a:rPr>
              <a:t>$19.41</a:t>
            </a:r>
          </a:p>
        </p:txBody>
      </p:sp>
      <p:cxnSp>
        <p:nvCxnSpPr>
          <p:cNvPr id="92" name="Connector 91"/>
          <p:cNvCxnSpPr/>
          <p:nvPr/>
        </p:nvCxnSpPr>
        <p:spPr>
          <a:xfrm>
            <a:off x="548640" y="6057899"/>
            <a:ext cx="11109960" cy="0"/>
          </a:xfrm>
          <a:prstGeom prst="line">
            <a:avLst/>
          </a:prstGeom>
          <a:ln w="15875">
            <a:solidFill>
              <a:srgbClr val="232F3E"/>
            </a:solidFill>
          </a:ln>
          <a:effectLst/>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566928" y="6076187"/>
            <a:ext cx="3822191" cy="219456"/>
          </a:xfrm>
          <a:prstGeom prst="rect">
            <a:avLst/>
          </a:prstGeom>
          <a:noFill/>
        </p:spPr>
        <p:txBody>
          <a:bodyPr wrap="square" lIns="0" tIns="0" rIns="0" bIns="0" anchor="ctr">
            <a:spAutoFit/>
          </a:bodyPr>
          <a:lstStyle/>
          <a:p>
            <a:pPr algn="l"/>
            <a:r>
              <a:rPr sz="1200" b="1" i="0">
                <a:solidFill>
                  <a:srgbClr val="232F3E"/>
                </a:solidFill>
                <a:latin typeface="Calibri"/>
              </a:rPr>
              <a:t>Engine B total, one user</a:t>
            </a:r>
          </a:p>
        </p:txBody>
      </p:sp>
      <p:sp>
        <p:nvSpPr>
          <p:cNvPr id="94" name="TextBox 93"/>
          <p:cNvSpPr txBox="1"/>
          <p:nvPr/>
        </p:nvSpPr>
        <p:spPr>
          <a:xfrm>
            <a:off x="4480560" y="6076187"/>
            <a:ext cx="1737360" cy="219456"/>
          </a:xfrm>
          <a:prstGeom prst="rect">
            <a:avLst/>
          </a:prstGeom>
          <a:noFill/>
        </p:spPr>
        <p:txBody>
          <a:bodyPr wrap="square" lIns="0" tIns="0" rIns="0" bIns="0" anchor="ctr">
            <a:spAutoFit/>
          </a:bodyPr>
          <a:lstStyle/>
          <a:p>
            <a:pPr algn="l"/>
            <a:r>
              <a:rPr sz="1150" b="1" i="0">
                <a:solidFill>
                  <a:srgbClr val="232F3E"/>
                </a:solidFill>
                <a:latin typeface="Calibri"/>
              </a:rPr>
              <a:t>B · AgentCore</a:t>
            </a:r>
          </a:p>
        </p:txBody>
      </p:sp>
      <p:sp>
        <p:nvSpPr>
          <p:cNvPr id="95" name="TextBox 94"/>
          <p:cNvSpPr txBox="1"/>
          <p:nvPr/>
        </p:nvSpPr>
        <p:spPr>
          <a:xfrm>
            <a:off x="6035040" y="6076187"/>
            <a:ext cx="1554480" cy="219456"/>
          </a:xfrm>
          <a:prstGeom prst="rect">
            <a:avLst/>
          </a:prstGeom>
          <a:noFill/>
        </p:spPr>
        <p:txBody>
          <a:bodyPr wrap="square" lIns="0" tIns="0" rIns="0" bIns="0" anchor="ctr">
            <a:spAutoFit/>
          </a:bodyPr>
          <a:lstStyle/>
          <a:p>
            <a:pPr algn="r"/>
            <a:r>
              <a:rPr sz="1150" b="1" i="0">
                <a:solidFill>
                  <a:srgbClr val="232F3E"/>
                </a:solidFill>
                <a:latin typeface="Calibri"/>
              </a:rPr>
              <a:t>$0.0006</a:t>
            </a:r>
          </a:p>
        </p:txBody>
      </p:sp>
      <p:sp>
        <p:nvSpPr>
          <p:cNvPr id="96" name="TextBox 95"/>
          <p:cNvSpPr txBox="1"/>
          <p:nvPr/>
        </p:nvSpPr>
        <p:spPr>
          <a:xfrm>
            <a:off x="7772400" y="6076187"/>
            <a:ext cx="1645920" cy="219456"/>
          </a:xfrm>
          <a:prstGeom prst="rect">
            <a:avLst/>
          </a:prstGeom>
          <a:noFill/>
        </p:spPr>
        <p:txBody>
          <a:bodyPr wrap="square" lIns="0" tIns="0" rIns="0" bIns="0" anchor="ctr">
            <a:spAutoFit/>
          </a:bodyPr>
          <a:lstStyle/>
          <a:p>
            <a:pPr algn="r"/>
            <a:r>
              <a:rPr sz="1150" b="1" i="0">
                <a:solidFill>
                  <a:srgbClr val="232F3E"/>
                </a:solidFill>
                <a:latin typeface="Calibri"/>
              </a:rPr>
              <a:t>$0.1029</a:t>
            </a:r>
          </a:p>
        </p:txBody>
      </p:sp>
      <p:sp>
        <p:nvSpPr>
          <p:cNvPr id="97" name="TextBox 96"/>
          <p:cNvSpPr txBox="1"/>
          <p:nvPr/>
        </p:nvSpPr>
        <p:spPr>
          <a:xfrm>
            <a:off x="9692640" y="6076187"/>
            <a:ext cx="1965960" cy="219456"/>
          </a:xfrm>
          <a:prstGeom prst="rect">
            <a:avLst/>
          </a:prstGeom>
          <a:noFill/>
        </p:spPr>
        <p:txBody>
          <a:bodyPr wrap="square" lIns="0" tIns="0" rIns="0" bIns="0" anchor="ctr">
            <a:spAutoFit/>
          </a:bodyPr>
          <a:lstStyle/>
          <a:p>
            <a:pPr algn="r"/>
            <a:r>
              <a:rPr sz="1150" b="1" i="0">
                <a:solidFill>
                  <a:srgbClr val="232F3E"/>
                </a:solidFill>
                <a:latin typeface="Calibri"/>
              </a:rPr>
              <a:t>$0.10</a:t>
            </a:r>
          </a:p>
        </p:txBody>
      </p:sp>
      <p:cxnSp>
        <p:nvCxnSpPr>
          <p:cNvPr id="98" name="Connector 97"/>
          <p:cNvCxnSpPr/>
          <p:nvPr/>
        </p:nvCxnSpPr>
        <p:spPr>
          <a:xfrm>
            <a:off x="548640" y="6291071"/>
            <a:ext cx="11109960" cy="0"/>
          </a:xfrm>
          <a:prstGeom prst="line">
            <a:avLst/>
          </a:prstGeom>
          <a:ln w="15875">
            <a:solidFill>
              <a:srgbClr val="232F3E"/>
            </a:solidFill>
          </a:ln>
          <a:effectLst/>
        </p:spPr>
        <p:style>
          <a:lnRef idx="2">
            <a:schemeClr val="accent1"/>
          </a:lnRef>
          <a:fillRef idx="0">
            <a:schemeClr val="accent1"/>
          </a:fillRef>
          <a:effectRef idx="1">
            <a:schemeClr val="accent1"/>
          </a:effectRef>
          <a:fontRef idx="minor">
            <a:schemeClr val="tx1"/>
          </a:fontRef>
        </p:style>
      </p:cxnSp>
      <p:sp>
        <p:nvSpPr>
          <p:cNvPr id="99" name="Rounded Rectangle 98">
            <a:extLst>
              <a:ext uri="{FF2B5EF4-FFF2-40B4-BE49-F238E27FC236}">
                <a16:creationId xmlns:a16="http://schemas.microsoft.com/office/drawing/2014/main" id="{3736B0EF-898D-11DA-78DD-54F666EDF247}"/>
              </a:ext>
            </a:extLst>
          </p:cNvPr>
          <p:cNvSpPr/>
          <p:nvPr/>
        </p:nvSpPr>
        <p:spPr>
          <a:xfrm>
            <a:off x="2361512" y="1272239"/>
            <a:ext cx="1062531"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Rething on this slide according to 7 and 8. You can </a:t>
            </a:r>
            <a:r>
              <a:rPr lang="en-US" dirty="0" err="1">
                <a:solidFill>
                  <a:srgbClr val="FF0000"/>
                </a:solidFill>
                <a:highlight>
                  <a:srgbClr val="FFFF00"/>
                </a:highlight>
              </a:rPr>
              <a:t>deltel</a:t>
            </a:r>
            <a:r>
              <a:rPr lang="en-US" dirty="0">
                <a:solidFill>
                  <a:srgbClr val="FF0000"/>
                </a:solidFill>
                <a:highlight>
                  <a:srgbClr val="FFFF00"/>
                </a:highlight>
              </a:rPr>
              <a:t> it if it </a:t>
            </a:r>
            <a:r>
              <a:rPr lang="en-US" dirty="0" err="1">
                <a:solidFill>
                  <a:srgbClr val="FF0000"/>
                </a:solidFill>
                <a:highlight>
                  <a:srgbClr val="FFFF00"/>
                </a:highlight>
              </a:rPr>
              <a:t>doesn</a:t>
            </a:r>
            <a:r>
              <a:rPr lang="en-US" dirty="0">
                <a:solidFill>
                  <a:srgbClr val="FF0000"/>
                </a:solidFill>
                <a:highlight>
                  <a:srgbClr val="FFFF00"/>
                </a:highlight>
              </a:rPr>
              <a:t>’ serve the narrative /. wrong</a:t>
            </a:r>
            <a:endParaRPr dirty="0">
              <a:solidFill>
                <a:srgbClr val="FF0000"/>
              </a:solidFill>
              <a:highlight>
                <a:srgbClr val="FFFF00"/>
              </a:high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9</a:t>
            </a:r>
          </a:p>
        </p:txBody>
      </p:sp>
      <p:sp>
        <p:nvSpPr>
          <p:cNvPr id="5" name="TextBox 4"/>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10 / 18</a:t>
            </a:r>
          </a:p>
        </p:txBody>
      </p:sp>
      <p:sp>
        <p:nvSpPr>
          <p:cNvPr id="7" name="TextBox 6"/>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Resilience — what one fault takes down</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11155680" cy="384048"/>
          </a:xfrm>
          <a:prstGeom prst="rect">
            <a:avLst/>
          </a:prstGeom>
          <a:noFill/>
        </p:spPr>
        <p:txBody>
          <a:bodyPr wrap="square" lIns="0" tIns="0" rIns="0" bIns="0" anchor="t">
            <a:spAutoFit/>
          </a:bodyPr>
          <a:lstStyle/>
          <a:p>
            <a:pPr algn="l"/>
            <a:r>
              <a:rPr sz="1400" b="0">
                <a:solidFill>
                  <a:srgbClr val="545B64"/>
                </a:solidFill>
                <a:latin typeface="Calibri"/>
              </a:rPr>
              <a:t>The blast radius of a crash, in each engine.</a:t>
            </a:r>
          </a:p>
        </p:txBody>
      </p:sp>
      <p:sp>
        <p:nvSpPr>
          <p:cNvPr id="10" name="Rounded Rectangle 9"/>
          <p:cNvSpPr/>
          <p:nvPr/>
        </p:nvSpPr>
        <p:spPr>
          <a:xfrm>
            <a:off x="566928"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68096"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9264" y="1755648"/>
            <a:ext cx="2157984" cy="384048"/>
          </a:xfrm>
          <a:prstGeom prst="rect">
            <a:avLst/>
          </a:prstGeom>
          <a:noFill/>
        </p:spPr>
        <p:txBody>
          <a:bodyPr wrap="square" lIns="0" tIns="0" rIns="0" bIns="0" anchor="ctr">
            <a:spAutoFit/>
          </a:bodyPr>
          <a:lstStyle/>
          <a:p>
            <a:pPr algn="l"/>
            <a:r>
              <a:rPr sz="1150" b="1">
                <a:solidFill>
                  <a:srgbClr val="FFFFFF"/>
                </a:solidFill>
                <a:latin typeface="Calibri"/>
              </a:rPr>
              <a:t>AgentCore Runtime</a:t>
            </a:r>
          </a:p>
        </p:txBody>
      </p:sp>
      <p:sp>
        <p:nvSpPr>
          <p:cNvPr id="13" name="Rounded Rectangle 12"/>
          <p:cNvSpPr/>
          <p:nvPr/>
        </p:nvSpPr>
        <p:spPr>
          <a:xfrm>
            <a:off x="3364992"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67328"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Memory</a:t>
            </a:r>
          </a:p>
        </p:txBody>
      </p:sp>
      <p:sp>
        <p:nvSpPr>
          <p:cNvPr id="15" name="Rounded Rectangle 14"/>
          <p:cNvSpPr/>
          <p:nvPr/>
        </p:nvSpPr>
        <p:spPr>
          <a:xfrm>
            <a:off x="6163056"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364224"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65392" y="1755648"/>
            <a:ext cx="2157984" cy="384048"/>
          </a:xfrm>
          <a:prstGeom prst="rect">
            <a:avLst/>
          </a:prstGeom>
          <a:noFill/>
        </p:spPr>
        <p:txBody>
          <a:bodyPr wrap="square" lIns="0" tIns="0" rIns="0" bIns="0" anchor="ctr">
            <a:spAutoFit/>
          </a:bodyPr>
          <a:lstStyle/>
          <a:p>
            <a:pPr algn="l"/>
            <a:r>
              <a:rPr sz="1150" b="1">
                <a:solidFill>
                  <a:srgbClr val="FFFFFF"/>
                </a:solidFill>
                <a:latin typeface="Calibri"/>
              </a:rPr>
              <a:t>AgentCore Gateway</a:t>
            </a:r>
          </a:p>
        </p:txBody>
      </p:sp>
      <p:sp>
        <p:nvSpPr>
          <p:cNvPr id="18" name="Rounded Rectangle 17"/>
          <p:cNvSpPr/>
          <p:nvPr/>
        </p:nvSpPr>
        <p:spPr>
          <a:xfrm>
            <a:off x="8961119"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63455"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Observability</a:t>
            </a:r>
          </a:p>
        </p:txBody>
      </p:sp>
      <p:sp>
        <p:nvSpPr>
          <p:cNvPr id="20" name="Rounded Rectangle 19"/>
          <p:cNvSpPr/>
          <p:nvPr/>
        </p:nvSpPr>
        <p:spPr>
          <a:xfrm>
            <a:off x="56692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66928" y="2395728"/>
            <a:ext cx="5394960" cy="420624"/>
          </a:xfrm>
          <a:prstGeom prst="rect">
            <a:avLst/>
          </a:prstGeom>
          <a:solidFill>
            <a:srgbClr val="545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809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A · DIY</a:t>
            </a:r>
          </a:p>
        </p:txBody>
      </p:sp>
      <p:sp>
        <p:nvSpPr>
          <p:cNvPr id="23" name="TextBox 22"/>
          <p:cNvSpPr txBox="1"/>
          <p:nvPr/>
        </p:nvSpPr>
        <p:spPr>
          <a:xfrm>
            <a:off x="768096" y="3017520"/>
            <a:ext cx="4992624" cy="310896"/>
          </a:xfrm>
          <a:prstGeom prst="rect">
            <a:avLst/>
          </a:prstGeom>
          <a:noFill/>
        </p:spPr>
        <p:txBody>
          <a:bodyPr wrap="square" lIns="0" tIns="0" rIns="0" bIns="0" anchor="t">
            <a:spAutoFit/>
          </a:bodyPr>
          <a:lstStyle/>
          <a:p>
            <a:pPr algn="l"/>
            <a:r>
              <a:rPr sz="1300" b="1">
                <a:solidFill>
                  <a:srgbClr val="232F3E"/>
                </a:solidFill>
                <a:latin typeface="Calibri"/>
              </a:rPr>
              <a:t>Forty sessions, one Node process.</a:t>
            </a:r>
          </a:p>
        </p:txBody>
      </p:sp>
      <p:sp>
        <p:nvSpPr>
          <p:cNvPr id="24" name="TextBox 23"/>
          <p:cNvSpPr txBox="1"/>
          <p:nvPr/>
        </p:nvSpPr>
        <p:spPr>
          <a:xfrm>
            <a:off x="768096" y="3346704"/>
            <a:ext cx="4992624" cy="786384"/>
          </a:xfrm>
          <a:prstGeom prst="rect">
            <a:avLst/>
          </a:prstGeom>
          <a:noFill/>
        </p:spPr>
        <p:txBody>
          <a:bodyPr wrap="square" lIns="0" tIns="0" rIns="0" bIns="0" anchor="t">
            <a:spAutoFit/>
          </a:bodyPr>
          <a:lstStyle/>
          <a:p>
            <a:pPr algn="l"/>
            <a:r>
              <a:rPr sz="1150" b="0">
                <a:solidFill>
                  <a:srgbClr val="16191F"/>
                </a:solidFill>
                <a:latin typeface="Calibri"/>
              </a:rPr>
              <a:t>One heap, one event loop, one crash — a fault anywhere travels everywhere.</a:t>
            </a:r>
          </a:p>
        </p:txBody>
      </p:sp>
      <p:sp>
        <p:nvSpPr>
          <p:cNvPr id="25" name="TextBox 24"/>
          <p:cNvSpPr txBox="1"/>
          <p:nvPr/>
        </p:nvSpPr>
        <p:spPr>
          <a:xfrm>
            <a:off x="768096" y="4224528"/>
            <a:ext cx="4992624" cy="310896"/>
          </a:xfrm>
          <a:prstGeom prst="rect">
            <a:avLst/>
          </a:prstGeom>
          <a:noFill/>
        </p:spPr>
        <p:txBody>
          <a:bodyPr wrap="square" lIns="0" tIns="0" rIns="0" bIns="0" anchor="t">
            <a:spAutoFit/>
          </a:bodyPr>
          <a:lstStyle/>
          <a:p>
            <a:pPr algn="l"/>
            <a:r>
              <a:rPr sz="1300" b="1">
                <a:solidFill>
                  <a:srgbClr val="232F3E"/>
                </a:solidFill>
                <a:latin typeface="Calibri"/>
              </a:rPr>
              <a:t>Tools crash in-process too.</a:t>
            </a:r>
          </a:p>
        </p:txBody>
      </p:sp>
      <p:sp>
        <p:nvSpPr>
          <p:cNvPr id="26" name="TextBox 25"/>
          <p:cNvSpPr txBox="1"/>
          <p:nvPr/>
        </p:nvSpPr>
        <p:spPr>
          <a:xfrm>
            <a:off x="768096" y="4553712"/>
            <a:ext cx="4992624" cy="786384"/>
          </a:xfrm>
          <a:prstGeom prst="rect">
            <a:avLst/>
          </a:prstGeom>
          <a:noFill/>
        </p:spPr>
        <p:txBody>
          <a:bodyPr wrap="square" lIns="0" tIns="0" rIns="0" bIns="0" anchor="t">
            <a:spAutoFit/>
          </a:bodyPr>
          <a:lstStyle/>
          <a:p>
            <a:pPr algn="l"/>
            <a:r>
              <a:rPr sz="1150" b="0">
                <a:solidFill>
                  <a:srgbClr val="16191F"/>
                </a:solidFill>
                <a:latin typeface="Calibri"/>
              </a:rPr>
              <a:t>A misbehaving integration takes the whole agent with it, mid-conversation.</a:t>
            </a:r>
          </a:p>
        </p:txBody>
      </p:sp>
      <p:sp>
        <p:nvSpPr>
          <p:cNvPr id="27" name="Rounded Rectangle 26"/>
          <p:cNvSpPr/>
          <p:nvPr/>
        </p:nvSpPr>
        <p:spPr>
          <a:xfrm>
            <a:off x="623620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36208" y="2395728"/>
            <a:ext cx="5394960" cy="420624"/>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3737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B · AGENTCORE</a:t>
            </a:r>
          </a:p>
        </p:txBody>
      </p:sp>
      <p:sp>
        <p:nvSpPr>
          <p:cNvPr id="30" name="TextBox 29"/>
          <p:cNvSpPr txBox="1"/>
          <p:nvPr/>
        </p:nvSpPr>
        <p:spPr>
          <a:xfrm>
            <a:off x="6437376" y="3017520"/>
            <a:ext cx="4992624" cy="310896"/>
          </a:xfrm>
          <a:prstGeom prst="rect">
            <a:avLst/>
          </a:prstGeom>
          <a:noFill/>
        </p:spPr>
        <p:txBody>
          <a:bodyPr wrap="square" lIns="0" tIns="0" rIns="0" bIns="0" anchor="t">
            <a:spAutoFit/>
          </a:bodyPr>
          <a:lstStyle/>
          <a:p>
            <a:pPr algn="l"/>
            <a:r>
              <a:rPr sz="1300" b="1">
                <a:solidFill>
                  <a:srgbClr val="232F3E"/>
                </a:solidFill>
                <a:latin typeface="Calibri"/>
              </a:rPr>
              <a:t>One microVM per session.</a:t>
            </a:r>
          </a:p>
        </p:txBody>
      </p:sp>
      <p:sp>
        <p:nvSpPr>
          <p:cNvPr id="31" name="TextBox 30"/>
          <p:cNvSpPr txBox="1"/>
          <p:nvPr/>
        </p:nvSpPr>
        <p:spPr>
          <a:xfrm>
            <a:off x="6437376" y="3346704"/>
            <a:ext cx="4992624" cy="786384"/>
          </a:xfrm>
          <a:prstGeom prst="rect">
            <a:avLst/>
          </a:prstGeom>
          <a:noFill/>
        </p:spPr>
        <p:txBody>
          <a:bodyPr wrap="square" lIns="0" tIns="0" rIns="0" bIns="0" anchor="t">
            <a:spAutoFit/>
          </a:bodyPr>
          <a:lstStyle/>
          <a:p>
            <a:pPr algn="l"/>
            <a:r>
              <a:rPr sz="1150" b="0">
                <a:solidFill>
                  <a:srgbClr val="16191F"/>
                </a:solidFill>
                <a:latin typeface="Calibri"/>
              </a:rPr>
              <a:t>A process-level fault has nowhere to travel; thirty-nine conversations never notice.</a:t>
            </a:r>
          </a:p>
        </p:txBody>
      </p:sp>
      <p:sp>
        <p:nvSpPr>
          <p:cNvPr id="32" name="TextBox 31"/>
          <p:cNvSpPr txBox="1"/>
          <p:nvPr/>
        </p:nvSpPr>
        <p:spPr>
          <a:xfrm>
            <a:off x="6437376" y="4224528"/>
            <a:ext cx="4992624" cy="310896"/>
          </a:xfrm>
          <a:prstGeom prst="rect">
            <a:avLst/>
          </a:prstGeom>
          <a:noFill/>
        </p:spPr>
        <p:txBody>
          <a:bodyPr wrap="square" lIns="0" tIns="0" rIns="0" bIns="0" anchor="t">
            <a:spAutoFit/>
          </a:bodyPr>
          <a:lstStyle/>
          <a:p>
            <a:pPr algn="l"/>
            <a:r>
              <a:rPr sz="1300" b="1">
                <a:solidFill>
                  <a:srgbClr val="232F3E"/>
                </a:solidFill>
                <a:latin typeface="Calibri"/>
              </a:rPr>
              <a:t>One Lambda per tool behind Gateway.</a:t>
            </a:r>
          </a:p>
        </p:txBody>
      </p:sp>
      <p:sp>
        <p:nvSpPr>
          <p:cNvPr id="33" name="TextBox 32"/>
          <p:cNvSpPr txBox="1"/>
          <p:nvPr/>
        </p:nvSpPr>
        <p:spPr>
          <a:xfrm>
            <a:off x="6437376" y="4553712"/>
            <a:ext cx="4992624" cy="786384"/>
          </a:xfrm>
          <a:prstGeom prst="rect">
            <a:avLst/>
          </a:prstGeom>
          <a:noFill/>
        </p:spPr>
        <p:txBody>
          <a:bodyPr wrap="square" lIns="0" tIns="0" rIns="0" bIns="0" anchor="t">
            <a:spAutoFit/>
          </a:bodyPr>
          <a:lstStyle/>
          <a:p>
            <a:pPr algn="l"/>
            <a:r>
              <a:rPr sz="1150" b="0">
                <a:solidFill>
                  <a:srgbClr val="16191F"/>
                </a:solidFill>
                <a:latin typeface="Calibri"/>
              </a:rPr>
              <a:t>A crashed tool is a failed call, not a dead agent.</a:t>
            </a:r>
          </a:p>
        </p:txBody>
      </p:sp>
      <p:sp>
        <p:nvSpPr>
          <p:cNvPr id="34" name="Rounded Rectangle 33"/>
          <p:cNvSpPr/>
          <p:nvPr/>
        </p:nvSpPr>
        <p:spPr>
          <a:xfrm>
            <a:off x="566928" y="5614416"/>
            <a:ext cx="11064240" cy="566928"/>
          </a:xfrm>
          <a:prstGeom prst="roundRect">
            <a:avLst>
              <a:gd name="adj" fmla="val 1612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04672" y="5614416"/>
            <a:ext cx="2103120" cy="566928"/>
          </a:xfrm>
          <a:prstGeom prst="rect">
            <a:avLst/>
          </a:prstGeom>
          <a:noFill/>
        </p:spPr>
        <p:txBody>
          <a:bodyPr wrap="square" lIns="0" tIns="0" rIns="0" bIns="0" anchor="ctr">
            <a:spAutoFit/>
          </a:bodyPr>
          <a:lstStyle/>
          <a:p>
            <a:pPr algn="l"/>
            <a:r>
              <a:rPr sz="2400" b="1">
                <a:solidFill>
                  <a:srgbClr val="FF9900"/>
                </a:solidFill>
                <a:latin typeface="Calibri"/>
              </a:rPr>
              <a:t>40 → 1</a:t>
            </a:r>
          </a:p>
        </p:txBody>
      </p:sp>
      <p:sp>
        <p:nvSpPr>
          <p:cNvPr id="36" name="Rounded Rectangle 35"/>
          <p:cNvSpPr/>
          <p:nvPr/>
        </p:nvSpPr>
        <p:spPr>
          <a:xfrm>
            <a:off x="9966960" y="5769864"/>
            <a:ext cx="1426464" cy="256032"/>
          </a:xfrm>
          <a:prstGeom prst="roundRect">
            <a:avLst>
              <a:gd name="adj" fmla="val 46428"/>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966960" y="5769864"/>
            <a:ext cx="1426464" cy="256032"/>
          </a:xfrm>
          <a:prstGeom prst="rect">
            <a:avLst/>
          </a:prstGeom>
          <a:noFill/>
        </p:spPr>
        <p:txBody>
          <a:bodyPr wrap="square" lIns="0" tIns="0" rIns="0" bIns="0" anchor="ctr">
            <a:spAutoFit/>
          </a:bodyPr>
          <a:lstStyle/>
          <a:p>
            <a:pPr algn="ctr"/>
            <a:r>
              <a:rPr sz="1000" b="1">
                <a:solidFill>
                  <a:srgbClr val="FFFFFF"/>
                </a:solidFill>
                <a:latin typeface="Calibri"/>
              </a:rPr>
              <a:t>AGENTCORE</a:t>
            </a:r>
          </a:p>
        </p:txBody>
      </p:sp>
      <p:sp>
        <p:nvSpPr>
          <p:cNvPr id="38" name="TextBox 37"/>
          <p:cNvSpPr txBox="1"/>
          <p:nvPr/>
        </p:nvSpPr>
        <p:spPr>
          <a:xfrm>
            <a:off x="3017520" y="5678424"/>
            <a:ext cx="6766560" cy="237744"/>
          </a:xfrm>
          <a:prstGeom prst="rect">
            <a:avLst/>
          </a:prstGeom>
          <a:noFill/>
        </p:spPr>
        <p:txBody>
          <a:bodyPr wrap="square" lIns="0" tIns="0" rIns="0" bIns="0" anchor="ctr">
            <a:spAutoFit/>
          </a:bodyPr>
          <a:lstStyle/>
          <a:p>
            <a:pPr algn="l"/>
            <a:r>
              <a:rPr sz="1200" b="1">
                <a:solidFill>
                  <a:srgbClr val="232F3E"/>
                </a:solidFill>
                <a:latin typeface="Calibri"/>
              </a:rPr>
              <a:t>sessions lost to one process fault — measured, next slide</a:t>
            </a:r>
          </a:p>
        </p:txBody>
      </p:sp>
      <p:sp>
        <p:nvSpPr>
          <p:cNvPr id="39" name="TextBox 38"/>
          <p:cNvSpPr txBox="1"/>
          <p:nvPr/>
        </p:nvSpPr>
        <p:spPr>
          <a:xfrm>
            <a:off x="3017520" y="5916168"/>
            <a:ext cx="6766560" cy="237744"/>
          </a:xfrm>
          <a:prstGeom prst="rect">
            <a:avLst/>
          </a:prstGeom>
          <a:noFill/>
        </p:spPr>
        <p:txBody>
          <a:bodyPr wrap="square" lIns="0" tIns="0" rIns="0" bIns="0" anchor="ctr">
            <a:spAutoFit/>
          </a:bodyPr>
          <a:lstStyle/>
          <a:p>
            <a:pPr algn="l"/>
            <a:r>
              <a:rPr sz="1000" b="1">
                <a:solidFill>
                  <a:srgbClr val="545B64"/>
                </a:solidFill>
                <a:latin typeface="Calibri"/>
              </a:rPr>
              <a:t>Give up:  </a:t>
            </a:r>
            <a:r>
              <a:rPr sz="1000" b="0">
                <a:solidFill>
                  <a:srgbClr val="545B64"/>
                </a:solidFill>
                <a:latin typeface="Calibri"/>
              </a:rPr>
              <a:t>container control: no sidecars, no long-lived in-process cache</a:t>
            </a:r>
          </a:p>
        </p:txBody>
      </p:sp>
      <p:sp>
        <p:nvSpPr>
          <p:cNvPr id="40" name="Rounded Rectangle 39">
            <a:extLst>
              <a:ext uri="{FF2B5EF4-FFF2-40B4-BE49-F238E27FC236}">
                <a16:creationId xmlns:a16="http://schemas.microsoft.com/office/drawing/2014/main" id="{764A659E-300D-E977-FDF8-0BAB0030297A}"/>
              </a:ext>
            </a:extLst>
          </p:cNvPr>
          <p:cNvSpPr/>
          <p:nvPr/>
        </p:nvSpPr>
        <p:spPr>
          <a:xfrm>
            <a:off x="2775726" y="1453896"/>
            <a:ext cx="3180067"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err="1">
                <a:solidFill>
                  <a:srgbClr val="FF0000"/>
                </a:solidFill>
                <a:highlight>
                  <a:srgbClr val="FFFF00"/>
                </a:highlight>
              </a:rPr>
              <a:t>Resilance</a:t>
            </a:r>
            <a:r>
              <a:rPr lang="en-US" dirty="0">
                <a:solidFill>
                  <a:srgbClr val="FF0000"/>
                </a:solidFill>
                <a:highlight>
                  <a:srgbClr val="FFFF00"/>
                </a:highlight>
              </a:rPr>
              <a:t> of what?</a:t>
            </a:r>
            <a:endParaRPr dirty="0">
              <a:solidFill>
                <a:srgbClr val="FF0000"/>
              </a:solidFill>
              <a:highlight>
                <a:srgbClr val="FFFF00"/>
              </a:high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20119"/>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10</a:t>
            </a:r>
          </a:p>
        </p:txBody>
      </p:sp>
      <p:sp>
        <p:nvSpPr>
          <p:cNvPr id="5" name="TextBox 4"/>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11 / 18</a:t>
            </a:r>
          </a:p>
        </p:txBody>
      </p:sp>
      <p:sp>
        <p:nvSpPr>
          <p:cNvPr id="7" name="TextBox 6"/>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One fault, forty sessions</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11155680" cy="384048"/>
          </a:xfrm>
          <a:prstGeom prst="rect">
            <a:avLst/>
          </a:prstGeom>
          <a:noFill/>
        </p:spPr>
        <p:txBody>
          <a:bodyPr wrap="square" lIns="0" tIns="0" rIns="0" bIns="0" anchor="t">
            <a:spAutoFit/>
          </a:bodyPr>
          <a:lstStyle/>
          <a:p>
            <a:pPr algn="l"/>
            <a:r>
              <a:rPr sz="1400" b="0">
                <a:solidFill>
                  <a:srgbClr val="545B64"/>
                </a:solidFill>
                <a:latin typeface="Calibri"/>
              </a:rPr>
              <a:t>The same process-level fault, injected into one live session on each engine.</a:t>
            </a:r>
          </a:p>
        </p:txBody>
      </p:sp>
      <p:sp>
        <p:nvSpPr>
          <p:cNvPr id="10" name="Rounded Rectangle 9"/>
          <p:cNvSpPr/>
          <p:nvPr/>
        </p:nvSpPr>
        <p:spPr>
          <a:xfrm>
            <a:off x="566928"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68096"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9264" y="1755648"/>
            <a:ext cx="2157984" cy="384048"/>
          </a:xfrm>
          <a:prstGeom prst="rect">
            <a:avLst/>
          </a:prstGeom>
          <a:noFill/>
        </p:spPr>
        <p:txBody>
          <a:bodyPr wrap="square" lIns="0" tIns="0" rIns="0" bIns="0" anchor="ctr">
            <a:spAutoFit/>
          </a:bodyPr>
          <a:lstStyle/>
          <a:p>
            <a:pPr algn="l"/>
            <a:r>
              <a:rPr sz="1150" b="1">
                <a:solidFill>
                  <a:srgbClr val="FFFFFF"/>
                </a:solidFill>
                <a:latin typeface="Calibri"/>
              </a:rPr>
              <a:t>AgentCore Runtime</a:t>
            </a:r>
          </a:p>
        </p:txBody>
      </p:sp>
      <p:sp>
        <p:nvSpPr>
          <p:cNvPr id="13" name="Rounded Rectangle 12"/>
          <p:cNvSpPr/>
          <p:nvPr/>
        </p:nvSpPr>
        <p:spPr>
          <a:xfrm>
            <a:off x="3364992"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67328"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Memory</a:t>
            </a:r>
          </a:p>
        </p:txBody>
      </p:sp>
      <p:sp>
        <p:nvSpPr>
          <p:cNvPr id="15" name="Rounded Rectangle 14"/>
          <p:cNvSpPr/>
          <p:nvPr/>
        </p:nvSpPr>
        <p:spPr>
          <a:xfrm>
            <a:off x="6163056"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364224"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65392" y="1755648"/>
            <a:ext cx="2157984" cy="384048"/>
          </a:xfrm>
          <a:prstGeom prst="rect">
            <a:avLst/>
          </a:prstGeom>
          <a:noFill/>
        </p:spPr>
        <p:txBody>
          <a:bodyPr wrap="square" lIns="0" tIns="0" rIns="0" bIns="0" anchor="ctr">
            <a:spAutoFit/>
          </a:bodyPr>
          <a:lstStyle/>
          <a:p>
            <a:pPr algn="l"/>
            <a:r>
              <a:rPr sz="1150" b="1">
                <a:solidFill>
                  <a:srgbClr val="FFFFFF"/>
                </a:solidFill>
                <a:latin typeface="Calibri"/>
              </a:rPr>
              <a:t>AgentCore Gateway</a:t>
            </a:r>
          </a:p>
        </p:txBody>
      </p:sp>
      <p:sp>
        <p:nvSpPr>
          <p:cNvPr id="18" name="Rounded Rectangle 17"/>
          <p:cNvSpPr/>
          <p:nvPr/>
        </p:nvSpPr>
        <p:spPr>
          <a:xfrm>
            <a:off x="8961119"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63455"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Observability</a:t>
            </a:r>
          </a:p>
        </p:txBody>
      </p:sp>
      <p:sp>
        <p:nvSpPr>
          <p:cNvPr id="20" name="Rounded Rectangle 19"/>
          <p:cNvSpPr/>
          <p:nvPr/>
        </p:nvSpPr>
        <p:spPr>
          <a:xfrm>
            <a:off x="566928" y="2395728"/>
            <a:ext cx="5394960" cy="2468880"/>
          </a:xfrm>
          <a:prstGeom prst="roundRect">
            <a:avLst>
              <a:gd name="adj" fmla="val 2222"/>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66928" y="2395728"/>
            <a:ext cx="5394960" cy="420624"/>
          </a:xfrm>
          <a:prstGeom prst="rect">
            <a:avLst/>
          </a:prstGeom>
          <a:solidFill>
            <a:srgbClr val="545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809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A · DIY</a:t>
            </a:r>
          </a:p>
        </p:txBody>
      </p:sp>
      <p:sp>
        <p:nvSpPr>
          <p:cNvPr id="23" name="Oval 22"/>
          <p:cNvSpPr/>
          <p:nvPr/>
        </p:nvSpPr>
        <p:spPr>
          <a:xfrm>
            <a:off x="1801368"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2089404"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2377440"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2665476"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2953512"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3241548"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3529584"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3817620"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4105656"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4393692"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1801368"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2089404"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2377440"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2665476"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2953512"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3241548"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3529584"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3817620"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4105656"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4393692"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1801368"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2089404"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2377440"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2665476"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2953512"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3241548"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3529584"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3817620"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4105656"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4393692"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1801368"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2089404"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2377440"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2665476"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2953512"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3241548"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3529584"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3817620"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4105656"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4393692"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768096" y="4297680"/>
            <a:ext cx="4992624" cy="475488"/>
          </a:xfrm>
          <a:prstGeom prst="rect">
            <a:avLst/>
          </a:prstGeom>
          <a:noFill/>
        </p:spPr>
        <p:txBody>
          <a:bodyPr wrap="square" lIns="0" tIns="0" rIns="0" bIns="0" anchor="ctr">
            <a:spAutoFit/>
          </a:bodyPr>
          <a:lstStyle/>
          <a:p>
            <a:pPr algn="l"/>
            <a:r>
              <a:rPr sz="1150" b="1">
                <a:solidFill>
                  <a:srgbClr val="232F3E"/>
                </a:solidFill>
                <a:latin typeface="Calibri"/>
              </a:rPr>
              <a:t>40 / 40 sessions lost — every user, every partner profile in flight.</a:t>
            </a:r>
          </a:p>
        </p:txBody>
      </p:sp>
      <p:sp>
        <p:nvSpPr>
          <p:cNvPr id="64" name="Rounded Rectangle 63"/>
          <p:cNvSpPr/>
          <p:nvPr/>
        </p:nvSpPr>
        <p:spPr>
          <a:xfrm>
            <a:off x="6236208" y="2395728"/>
            <a:ext cx="5394960" cy="2468880"/>
          </a:xfrm>
          <a:prstGeom prst="roundRect">
            <a:avLst>
              <a:gd name="adj" fmla="val 2222"/>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6236208" y="2395728"/>
            <a:ext cx="5394960" cy="420624"/>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643737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B · AGENTCORE</a:t>
            </a:r>
          </a:p>
        </p:txBody>
      </p:sp>
      <p:sp>
        <p:nvSpPr>
          <p:cNvPr id="67" name="Oval 66"/>
          <p:cNvSpPr/>
          <p:nvPr/>
        </p:nvSpPr>
        <p:spPr>
          <a:xfrm>
            <a:off x="7470648"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7758683"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val 68"/>
          <p:cNvSpPr/>
          <p:nvPr/>
        </p:nvSpPr>
        <p:spPr>
          <a:xfrm>
            <a:off x="8046720"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val 69"/>
          <p:cNvSpPr/>
          <p:nvPr/>
        </p:nvSpPr>
        <p:spPr>
          <a:xfrm>
            <a:off x="8334756"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8622792"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val 71"/>
          <p:cNvSpPr/>
          <p:nvPr/>
        </p:nvSpPr>
        <p:spPr>
          <a:xfrm>
            <a:off x="8910828"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val 72"/>
          <p:cNvSpPr/>
          <p:nvPr/>
        </p:nvSpPr>
        <p:spPr>
          <a:xfrm>
            <a:off x="9198864"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val 73"/>
          <p:cNvSpPr/>
          <p:nvPr/>
        </p:nvSpPr>
        <p:spPr>
          <a:xfrm>
            <a:off x="9486900"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val 74"/>
          <p:cNvSpPr/>
          <p:nvPr/>
        </p:nvSpPr>
        <p:spPr>
          <a:xfrm>
            <a:off x="9774936"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val 75"/>
          <p:cNvSpPr/>
          <p:nvPr/>
        </p:nvSpPr>
        <p:spPr>
          <a:xfrm>
            <a:off x="10062972"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val 76"/>
          <p:cNvSpPr/>
          <p:nvPr/>
        </p:nvSpPr>
        <p:spPr>
          <a:xfrm>
            <a:off x="7470648"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val 77"/>
          <p:cNvSpPr/>
          <p:nvPr/>
        </p:nvSpPr>
        <p:spPr>
          <a:xfrm>
            <a:off x="7758683"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val 78"/>
          <p:cNvSpPr/>
          <p:nvPr/>
        </p:nvSpPr>
        <p:spPr>
          <a:xfrm>
            <a:off x="8046720"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p:cNvSpPr/>
          <p:nvPr/>
        </p:nvSpPr>
        <p:spPr>
          <a:xfrm>
            <a:off x="8334756"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val 80"/>
          <p:cNvSpPr/>
          <p:nvPr/>
        </p:nvSpPr>
        <p:spPr>
          <a:xfrm>
            <a:off x="8622792"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val 81"/>
          <p:cNvSpPr/>
          <p:nvPr/>
        </p:nvSpPr>
        <p:spPr>
          <a:xfrm>
            <a:off x="8910828"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Oval 82"/>
          <p:cNvSpPr/>
          <p:nvPr/>
        </p:nvSpPr>
        <p:spPr>
          <a:xfrm>
            <a:off x="9198864"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Oval 83"/>
          <p:cNvSpPr/>
          <p:nvPr/>
        </p:nvSpPr>
        <p:spPr>
          <a:xfrm>
            <a:off x="9486900"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val 84"/>
          <p:cNvSpPr/>
          <p:nvPr/>
        </p:nvSpPr>
        <p:spPr>
          <a:xfrm>
            <a:off x="9774936"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Oval 85"/>
          <p:cNvSpPr/>
          <p:nvPr/>
        </p:nvSpPr>
        <p:spPr>
          <a:xfrm>
            <a:off x="10062972"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Oval 86"/>
          <p:cNvSpPr/>
          <p:nvPr/>
        </p:nvSpPr>
        <p:spPr>
          <a:xfrm>
            <a:off x="7470648"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Oval 87"/>
          <p:cNvSpPr/>
          <p:nvPr/>
        </p:nvSpPr>
        <p:spPr>
          <a:xfrm>
            <a:off x="7758683"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val 88"/>
          <p:cNvSpPr/>
          <p:nvPr/>
        </p:nvSpPr>
        <p:spPr>
          <a:xfrm>
            <a:off x="8046720"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val 89"/>
          <p:cNvSpPr/>
          <p:nvPr/>
        </p:nvSpPr>
        <p:spPr>
          <a:xfrm>
            <a:off x="8334756"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Oval 90"/>
          <p:cNvSpPr/>
          <p:nvPr/>
        </p:nvSpPr>
        <p:spPr>
          <a:xfrm>
            <a:off x="8622792"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val 91"/>
          <p:cNvSpPr/>
          <p:nvPr/>
        </p:nvSpPr>
        <p:spPr>
          <a:xfrm>
            <a:off x="8910828"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Oval 92"/>
          <p:cNvSpPr/>
          <p:nvPr/>
        </p:nvSpPr>
        <p:spPr>
          <a:xfrm>
            <a:off x="9198864"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Oval 93"/>
          <p:cNvSpPr/>
          <p:nvPr/>
        </p:nvSpPr>
        <p:spPr>
          <a:xfrm>
            <a:off x="9486900"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Oval 94"/>
          <p:cNvSpPr/>
          <p:nvPr/>
        </p:nvSpPr>
        <p:spPr>
          <a:xfrm>
            <a:off x="9774936"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Oval 95"/>
          <p:cNvSpPr/>
          <p:nvPr/>
        </p:nvSpPr>
        <p:spPr>
          <a:xfrm>
            <a:off x="10062972"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Oval 96"/>
          <p:cNvSpPr/>
          <p:nvPr/>
        </p:nvSpPr>
        <p:spPr>
          <a:xfrm>
            <a:off x="7470648"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Oval 97"/>
          <p:cNvSpPr/>
          <p:nvPr/>
        </p:nvSpPr>
        <p:spPr>
          <a:xfrm>
            <a:off x="7758683"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Oval 98"/>
          <p:cNvSpPr/>
          <p:nvPr/>
        </p:nvSpPr>
        <p:spPr>
          <a:xfrm>
            <a:off x="8046720"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val 99"/>
          <p:cNvSpPr/>
          <p:nvPr/>
        </p:nvSpPr>
        <p:spPr>
          <a:xfrm>
            <a:off x="8334756"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Oval 100"/>
          <p:cNvSpPr/>
          <p:nvPr/>
        </p:nvSpPr>
        <p:spPr>
          <a:xfrm>
            <a:off x="8622792"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Oval 101"/>
          <p:cNvSpPr/>
          <p:nvPr/>
        </p:nvSpPr>
        <p:spPr>
          <a:xfrm>
            <a:off x="8910828"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Oval 102"/>
          <p:cNvSpPr/>
          <p:nvPr/>
        </p:nvSpPr>
        <p:spPr>
          <a:xfrm>
            <a:off x="9198864"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val 103"/>
          <p:cNvSpPr/>
          <p:nvPr/>
        </p:nvSpPr>
        <p:spPr>
          <a:xfrm>
            <a:off x="9486900"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Oval 104"/>
          <p:cNvSpPr/>
          <p:nvPr/>
        </p:nvSpPr>
        <p:spPr>
          <a:xfrm>
            <a:off x="9774936"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val 105"/>
          <p:cNvSpPr/>
          <p:nvPr/>
        </p:nvSpPr>
        <p:spPr>
          <a:xfrm>
            <a:off x="10062972"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6437376" y="4297680"/>
            <a:ext cx="4992624" cy="475488"/>
          </a:xfrm>
          <a:prstGeom prst="rect">
            <a:avLst/>
          </a:prstGeom>
          <a:noFill/>
        </p:spPr>
        <p:txBody>
          <a:bodyPr wrap="square" lIns="0" tIns="0" rIns="0" bIns="0" anchor="ctr">
            <a:spAutoFit/>
          </a:bodyPr>
          <a:lstStyle/>
          <a:p>
            <a:pPr algn="l"/>
            <a:r>
              <a:rPr sz="1150" b="1">
                <a:solidFill>
                  <a:srgbClr val="232F3E"/>
                </a:solidFill>
                <a:latin typeface="Calibri"/>
              </a:rPr>
              <a:t>1 / 40 sessions lost — the caller. Thirty-nine never notice.</a:t>
            </a:r>
          </a:p>
        </p:txBody>
      </p:sp>
      <p:sp>
        <p:nvSpPr>
          <p:cNvPr id="108" name="Rounded Rectangle 107"/>
          <p:cNvSpPr/>
          <p:nvPr/>
        </p:nvSpPr>
        <p:spPr>
          <a:xfrm>
            <a:off x="566928" y="5029200"/>
            <a:ext cx="3584448" cy="475488"/>
          </a:xfrm>
          <a:prstGeom prst="roundRect">
            <a:avLst>
              <a:gd name="adj" fmla="val 1153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713232" y="5029200"/>
            <a:ext cx="3291840" cy="475488"/>
          </a:xfrm>
          <a:prstGeom prst="rect">
            <a:avLst/>
          </a:prstGeom>
          <a:noFill/>
        </p:spPr>
        <p:txBody>
          <a:bodyPr wrap="square" lIns="0" tIns="0" rIns="0" bIns="0" anchor="ctr">
            <a:spAutoFit/>
          </a:bodyPr>
          <a:lstStyle/>
          <a:p>
            <a:pPr algn="l"/>
            <a:r>
              <a:rPr sz="1000" b="1">
                <a:solidFill>
                  <a:srgbClr val="232F3E"/>
                </a:solidFill>
                <a:latin typeface="Calibri"/>
              </a:rPr>
              <a:t>Unhandled rejection — </a:t>
            </a:r>
            <a:r>
              <a:rPr sz="1000" b="0">
                <a:solidFill>
                  <a:srgbClr val="16191F"/>
                </a:solidFill>
                <a:latin typeface="Calibri"/>
              </a:rPr>
              <a:t>one turn throws; the shared process exits.</a:t>
            </a:r>
          </a:p>
        </p:txBody>
      </p:sp>
      <p:sp>
        <p:nvSpPr>
          <p:cNvPr id="110" name="Rounded Rectangle 109"/>
          <p:cNvSpPr/>
          <p:nvPr/>
        </p:nvSpPr>
        <p:spPr>
          <a:xfrm>
            <a:off x="4306824" y="5029200"/>
            <a:ext cx="3584448" cy="475488"/>
          </a:xfrm>
          <a:prstGeom prst="roundRect">
            <a:avLst>
              <a:gd name="adj" fmla="val 1153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TextBox 110"/>
          <p:cNvSpPr txBox="1"/>
          <p:nvPr/>
        </p:nvSpPr>
        <p:spPr>
          <a:xfrm>
            <a:off x="4453128" y="5029200"/>
            <a:ext cx="3291840" cy="475488"/>
          </a:xfrm>
          <a:prstGeom prst="rect">
            <a:avLst/>
          </a:prstGeom>
          <a:noFill/>
        </p:spPr>
        <p:txBody>
          <a:bodyPr wrap="square" lIns="0" tIns="0" rIns="0" bIns="0" anchor="ctr">
            <a:spAutoFit/>
          </a:bodyPr>
          <a:lstStyle/>
          <a:p>
            <a:pPr algn="l"/>
            <a:r>
              <a:rPr sz="1000" b="1">
                <a:solidFill>
                  <a:srgbClr val="232F3E"/>
                </a:solidFill>
                <a:latin typeface="Calibri"/>
              </a:rPr>
              <a:t>Out of memory — </a:t>
            </a:r>
            <a:r>
              <a:rPr sz="1000" b="0">
                <a:solidFill>
                  <a:srgbClr val="16191F"/>
                </a:solidFill>
                <a:latin typeface="Calibri"/>
              </a:rPr>
              <a:t>one runaway conversation exhausts the one heap.</a:t>
            </a:r>
          </a:p>
        </p:txBody>
      </p:sp>
      <p:sp>
        <p:nvSpPr>
          <p:cNvPr id="112" name="Rounded Rectangle 111"/>
          <p:cNvSpPr/>
          <p:nvPr/>
        </p:nvSpPr>
        <p:spPr>
          <a:xfrm>
            <a:off x="8046719" y="5029200"/>
            <a:ext cx="3584448" cy="475488"/>
          </a:xfrm>
          <a:prstGeom prst="roundRect">
            <a:avLst>
              <a:gd name="adj" fmla="val 1153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12"/>
          <p:cNvSpPr txBox="1"/>
          <p:nvPr/>
        </p:nvSpPr>
        <p:spPr>
          <a:xfrm>
            <a:off x="8193023" y="5029200"/>
            <a:ext cx="3291840" cy="475488"/>
          </a:xfrm>
          <a:prstGeom prst="rect">
            <a:avLst/>
          </a:prstGeom>
          <a:noFill/>
        </p:spPr>
        <p:txBody>
          <a:bodyPr wrap="square" lIns="0" tIns="0" rIns="0" bIns="0" anchor="ctr">
            <a:spAutoFit/>
          </a:bodyPr>
          <a:lstStyle/>
          <a:p>
            <a:pPr algn="l"/>
            <a:r>
              <a:rPr sz="1000" b="1">
                <a:solidFill>
                  <a:srgbClr val="232F3E"/>
                </a:solidFill>
                <a:latin typeface="Calibri"/>
              </a:rPr>
              <a:t>Injection that pivots — </a:t>
            </a:r>
            <a:r>
              <a:rPr sz="1000" b="0">
                <a:solidFill>
                  <a:srgbClr val="16191F"/>
                </a:solidFill>
                <a:latin typeface="Calibri"/>
              </a:rPr>
              <a:t>reaches the registry and every user’s tokens.</a:t>
            </a:r>
          </a:p>
        </p:txBody>
      </p:sp>
      <p:sp>
        <p:nvSpPr>
          <p:cNvPr id="114" name="Rounded Rectangle 113"/>
          <p:cNvSpPr/>
          <p:nvPr/>
        </p:nvSpPr>
        <p:spPr>
          <a:xfrm>
            <a:off x="566928" y="5614416"/>
            <a:ext cx="11064240" cy="566928"/>
          </a:xfrm>
          <a:prstGeom prst="roundRect">
            <a:avLst>
              <a:gd name="adj" fmla="val 1612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TextBox 114"/>
          <p:cNvSpPr txBox="1"/>
          <p:nvPr/>
        </p:nvSpPr>
        <p:spPr>
          <a:xfrm>
            <a:off x="804672" y="5614416"/>
            <a:ext cx="2103120" cy="566928"/>
          </a:xfrm>
          <a:prstGeom prst="rect">
            <a:avLst/>
          </a:prstGeom>
          <a:noFill/>
        </p:spPr>
        <p:txBody>
          <a:bodyPr wrap="square" lIns="0" tIns="0" rIns="0" bIns="0" anchor="ctr">
            <a:spAutoFit/>
          </a:bodyPr>
          <a:lstStyle/>
          <a:p>
            <a:pPr algn="l"/>
            <a:r>
              <a:rPr sz="2400" b="1">
                <a:solidFill>
                  <a:srgbClr val="FF9900"/>
                </a:solidFill>
                <a:latin typeface="Calibri"/>
              </a:rPr>
              <a:t>40 → 1</a:t>
            </a:r>
          </a:p>
        </p:txBody>
      </p:sp>
      <p:sp>
        <p:nvSpPr>
          <p:cNvPr id="116" name="Rounded Rectangle 115"/>
          <p:cNvSpPr/>
          <p:nvPr/>
        </p:nvSpPr>
        <p:spPr>
          <a:xfrm>
            <a:off x="9966960" y="5769864"/>
            <a:ext cx="1426464" cy="256032"/>
          </a:xfrm>
          <a:prstGeom prst="roundRect">
            <a:avLst>
              <a:gd name="adj" fmla="val 46428"/>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TextBox 116"/>
          <p:cNvSpPr txBox="1"/>
          <p:nvPr/>
        </p:nvSpPr>
        <p:spPr>
          <a:xfrm>
            <a:off x="9966960" y="5769864"/>
            <a:ext cx="1426464" cy="256032"/>
          </a:xfrm>
          <a:prstGeom prst="rect">
            <a:avLst/>
          </a:prstGeom>
          <a:noFill/>
        </p:spPr>
        <p:txBody>
          <a:bodyPr wrap="square" lIns="0" tIns="0" rIns="0" bIns="0" anchor="ctr">
            <a:spAutoFit/>
          </a:bodyPr>
          <a:lstStyle/>
          <a:p>
            <a:pPr algn="ctr"/>
            <a:r>
              <a:rPr sz="1000" b="1">
                <a:solidFill>
                  <a:srgbClr val="FFFFFF"/>
                </a:solidFill>
                <a:latin typeface="Calibri"/>
              </a:rPr>
              <a:t>AGENTCORE</a:t>
            </a:r>
          </a:p>
        </p:txBody>
      </p:sp>
      <p:sp>
        <p:nvSpPr>
          <p:cNvPr id="118" name="TextBox 117"/>
          <p:cNvSpPr txBox="1"/>
          <p:nvPr/>
        </p:nvSpPr>
        <p:spPr>
          <a:xfrm>
            <a:off x="3017520" y="5614416"/>
            <a:ext cx="6766560" cy="566928"/>
          </a:xfrm>
          <a:prstGeom prst="rect">
            <a:avLst/>
          </a:prstGeom>
          <a:noFill/>
        </p:spPr>
        <p:txBody>
          <a:bodyPr wrap="square" lIns="0" tIns="0" rIns="0" bIns="0" anchor="ctr">
            <a:spAutoFit/>
          </a:bodyPr>
          <a:lstStyle/>
          <a:p>
            <a:pPr algn="l"/>
            <a:r>
              <a:rPr sz="1200" b="1">
                <a:solidFill>
                  <a:srgbClr val="232F3E"/>
                </a:solidFill>
                <a:latin typeface="Calibri"/>
              </a:rPr>
              <a:t>sessions lost to the same fault, on the same code — the whole argument in one number</a:t>
            </a:r>
          </a:p>
        </p:txBody>
      </p:sp>
      <p:sp>
        <p:nvSpPr>
          <p:cNvPr id="119" name="Rounded Rectangle 118">
            <a:extLst>
              <a:ext uri="{FF2B5EF4-FFF2-40B4-BE49-F238E27FC236}">
                <a16:creationId xmlns:a16="http://schemas.microsoft.com/office/drawing/2014/main" id="{9754CA25-3A62-5761-A9E3-3F13B20E5B7C}"/>
              </a:ext>
            </a:extLst>
          </p:cNvPr>
          <p:cNvSpPr/>
          <p:nvPr/>
        </p:nvSpPr>
        <p:spPr>
          <a:xfrm>
            <a:off x="2775726" y="1453896"/>
            <a:ext cx="3180067"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We need to refine according to the new split of 7</a:t>
            </a:r>
            <a:endParaRPr dirty="0">
              <a:solidFill>
                <a:srgbClr val="FF0000"/>
              </a:solidFill>
              <a:highlight>
                <a:srgbClr val="FFFF00"/>
              </a:high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11</a:t>
            </a:r>
          </a:p>
        </p:txBody>
      </p:sp>
      <p:sp>
        <p:nvSpPr>
          <p:cNvPr id="5" name="TextBox 4"/>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12 / 18</a:t>
            </a:r>
          </a:p>
        </p:txBody>
      </p:sp>
      <p:sp>
        <p:nvSpPr>
          <p:cNvPr id="7" name="TextBox 6"/>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Security — what one breach reaches</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11155680" cy="384048"/>
          </a:xfrm>
          <a:prstGeom prst="rect">
            <a:avLst/>
          </a:prstGeom>
          <a:noFill/>
        </p:spPr>
        <p:txBody>
          <a:bodyPr wrap="square" lIns="0" tIns="0" rIns="0" bIns="0" anchor="t">
            <a:spAutoFit/>
          </a:bodyPr>
          <a:lstStyle/>
          <a:p>
            <a:pPr algn="l"/>
            <a:r>
              <a:rPr sz="1400" b="0">
                <a:solidFill>
                  <a:srgbClr val="545B64"/>
                </a:solidFill>
                <a:latin typeface="Calibri"/>
              </a:rPr>
              <a:t>Same two components as resilience; the question is what leaks, not what crashes.</a:t>
            </a:r>
          </a:p>
        </p:txBody>
      </p:sp>
      <p:sp>
        <p:nvSpPr>
          <p:cNvPr id="10" name="Rounded Rectangle 9"/>
          <p:cNvSpPr/>
          <p:nvPr/>
        </p:nvSpPr>
        <p:spPr>
          <a:xfrm>
            <a:off x="566928"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68096"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9264" y="1755648"/>
            <a:ext cx="2157984" cy="384048"/>
          </a:xfrm>
          <a:prstGeom prst="rect">
            <a:avLst/>
          </a:prstGeom>
          <a:noFill/>
        </p:spPr>
        <p:txBody>
          <a:bodyPr wrap="square" lIns="0" tIns="0" rIns="0" bIns="0" anchor="ctr">
            <a:spAutoFit/>
          </a:bodyPr>
          <a:lstStyle/>
          <a:p>
            <a:pPr algn="l"/>
            <a:r>
              <a:rPr sz="1150" b="1">
                <a:solidFill>
                  <a:srgbClr val="FFFFFF"/>
                </a:solidFill>
                <a:latin typeface="Calibri"/>
              </a:rPr>
              <a:t>AgentCore Runtime</a:t>
            </a:r>
          </a:p>
        </p:txBody>
      </p:sp>
      <p:sp>
        <p:nvSpPr>
          <p:cNvPr id="13" name="Rounded Rectangle 12"/>
          <p:cNvSpPr/>
          <p:nvPr/>
        </p:nvSpPr>
        <p:spPr>
          <a:xfrm>
            <a:off x="3364992"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67328"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Memory</a:t>
            </a:r>
          </a:p>
        </p:txBody>
      </p:sp>
      <p:sp>
        <p:nvSpPr>
          <p:cNvPr id="15" name="Rounded Rectangle 14"/>
          <p:cNvSpPr/>
          <p:nvPr/>
        </p:nvSpPr>
        <p:spPr>
          <a:xfrm>
            <a:off x="6163056"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364224"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65392" y="1755648"/>
            <a:ext cx="2157984" cy="384048"/>
          </a:xfrm>
          <a:prstGeom prst="rect">
            <a:avLst/>
          </a:prstGeom>
          <a:noFill/>
        </p:spPr>
        <p:txBody>
          <a:bodyPr wrap="square" lIns="0" tIns="0" rIns="0" bIns="0" anchor="ctr">
            <a:spAutoFit/>
          </a:bodyPr>
          <a:lstStyle/>
          <a:p>
            <a:pPr algn="l"/>
            <a:r>
              <a:rPr sz="1150" b="1">
                <a:solidFill>
                  <a:srgbClr val="FFFFFF"/>
                </a:solidFill>
                <a:latin typeface="Calibri"/>
              </a:rPr>
              <a:t>AgentCore Gateway</a:t>
            </a:r>
          </a:p>
        </p:txBody>
      </p:sp>
      <p:sp>
        <p:nvSpPr>
          <p:cNvPr id="18" name="Rounded Rectangle 17"/>
          <p:cNvSpPr/>
          <p:nvPr/>
        </p:nvSpPr>
        <p:spPr>
          <a:xfrm>
            <a:off x="8961119"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63455"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Observability</a:t>
            </a:r>
          </a:p>
        </p:txBody>
      </p:sp>
      <p:sp>
        <p:nvSpPr>
          <p:cNvPr id="20" name="Rounded Rectangle 19"/>
          <p:cNvSpPr/>
          <p:nvPr/>
        </p:nvSpPr>
        <p:spPr>
          <a:xfrm>
            <a:off x="56692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66928" y="2395728"/>
            <a:ext cx="5394960" cy="420624"/>
          </a:xfrm>
          <a:prstGeom prst="rect">
            <a:avLst/>
          </a:prstGeom>
          <a:solidFill>
            <a:srgbClr val="545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809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A · DIY</a:t>
            </a:r>
          </a:p>
        </p:txBody>
      </p:sp>
      <p:sp>
        <p:nvSpPr>
          <p:cNvPr id="23" name="TextBox 22"/>
          <p:cNvSpPr txBox="1"/>
          <p:nvPr/>
        </p:nvSpPr>
        <p:spPr>
          <a:xfrm>
            <a:off x="768096" y="3017520"/>
            <a:ext cx="4992624" cy="310896"/>
          </a:xfrm>
          <a:prstGeom prst="rect">
            <a:avLst/>
          </a:prstGeom>
          <a:noFill/>
        </p:spPr>
        <p:txBody>
          <a:bodyPr wrap="square" lIns="0" tIns="0" rIns="0" bIns="0" anchor="t">
            <a:spAutoFit/>
          </a:bodyPr>
          <a:lstStyle/>
          <a:p>
            <a:pPr algn="l"/>
            <a:r>
              <a:rPr sz="1300" b="1">
                <a:solidFill>
                  <a:srgbClr val="232F3E"/>
                </a:solidFill>
                <a:latin typeface="Calibri"/>
              </a:rPr>
              <a:t>Every credential in one heap.</a:t>
            </a:r>
          </a:p>
        </p:txBody>
      </p:sp>
      <p:sp>
        <p:nvSpPr>
          <p:cNvPr id="24" name="TextBox 23"/>
          <p:cNvSpPr txBox="1"/>
          <p:nvPr/>
        </p:nvSpPr>
        <p:spPr>
          <a:xfrm>
            <a:off x="768096" y="3346704"/>
            <a:ext cx="4992624" cy="786384"/>
          </a:xfrm>
          <a:prstGeom prst="rect">
            <a:avLst/>
          </a:prstGeom>
          <a:noFill/>
        </p:spPr>
        <p:txBody>
          <a:bodyPr wrap="square" lIns="0" tIns="0" rIns="0" bIns="0" anchor="t">
            <a:spAutoFit/>
          </a:bodyPr>
          <a:lstStyle/>
          <a:p>
            <a:pPr algn="l"/>
            <a:r>
              <a:rPr sz="1150" b="0">
                <a:solidFill>
                  <a:srgbClr val="16191F"/>
                </a:solidFill>
                <a:latin typeface="Calibri"/>
              </a:rPr>
              <a:t>A process-wide registry holds every user’s tokens next to every live session.</a:t>
            </a:r>
          </a:p>
        </p:txBody>
      </p:sp>
      <p:sp>
        <p:nvSpPr>
          <p:cNvPr id="25" name="TextBox 24"/>
          <p:cNvSpPr txBox="1"/>
          <p:nvPr/>
        </p:nvSpPr>
        <p:spPr>
          <a:xfrm>
            <a:off x="768096" y="4224528"/>
            <a:ext cx="4992624" cy="310896"/>
          </a:xfrm>
          <a:prstGeom prst="rect">
            <a:avLst/>
          </a:prstGeom>
          <a:noFill/>
        </p:spPr>
        <p:txBody>
          <a:bodyPr wrap="square" lIns="0" tIns="0" rIns="0" bIns="0" anchor="t">
            <a:spAutoFit/>
          </a:bodyPr>
          <a:lstStyle/>
          <a:p>
            <a:pPr algn="l"/>
            <a:r>
              <a:rPr sz="1300" b="1">
                <a:solidFill>
                  <a:srgbClr val="232F3E"/>
                </a:solidFill>
                <a:latin typeface="Calibri"/>
              </a:rPr>
              <a:t>One shared IAM role.</a:t>
            </a:r>
          </a:p>
        </p:txBody>
      </p:sp>
      <p:sp>
        <p:nvSpPr>
          <p:cNvPr id="26" name="TextBox 25"/>
          <p:cNvSpPr txBox="1"/>
          <p:nvPr/>
        </p:nvSpPr>
        <p:spPr>
          <a:xfrm>
            <a:off x="768096" y="4553712"/>
            <a:ext cx="4992624" cy="786384"/>
          </a:xfrm>
          <a:prstGeom prst="rect">
            <a:avLst/>
          </a:prstGeom>
          <a:noFill/>
        </p:spPr>
        <p:txBody>
          <a:bodyPr wrap="square" lIns="0" tIns="0" rIns="0" bIns="0" anchor="t">
            <a:spAutoFit/>
          </a:bodyPr>
          <a:lstStyle/>
          <a:p>
            <a:pPr algn="l"/>
            <a:r>
              <a:rPr sz="1150" b="0">
                <a:solidFill>
                  <a:srgbClr val="16191F"/>
                </a:solidFill>
                <a:latin typeface="Calibri"/>
              </a:rPr>
              <a:t>An injection that pivots to the registry reaches the shared Bedrock client and everyone’s tokens.</a:t>
            </a:r>
          </a:p>
        </p:txBody>
      </p:sp>
      <p:sp>
        <p:nvSpPr>
          <p:cNvPr id="27" name="Rounded Rectangle 26"/>
          <p:cNvSpPr/>
          <p:nvPr/>
        </p:nvSpPr>
        <p:spPr>
          <a:xfrm>
            <a:off x="623620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36208" y="2395728"/>
            <a:ext cx="5394960" cy="420624"/>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3737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B · AGENTCORE</a:t>
            </a:r>
          </a:p>
        </p:txBody>
      </p:sp>
      <p:sp>
        <p:nvSpPr>
          <p:cNvPr id="30" name="TextBox 29"/>
          <p:cNvSpPr txBox="1"/>
          <p:nvPr/>
        </p:nvSpPr>
        <p:spPr>
          <a:xfrm>
            <a:off x="6437376" y="3017520"/>
            <a:ext cx="4992624" cy="310896"/>
          </a:xfrm>
          <a:prstGeom prst="rect">
            <a:avLst/>
          </a:prstGeom>
          <a:noFill/>
        </p:spPr>
        <p:txBody>
          <a:bodyPr wrap="square" lIns="0" tIns="0" rIns="0" bIns="0" anchor="t">
            <a:spAutoFit/>
          </a:bodyPr>
          <a:lstStyle/>
          <a:p>
            <a:pPr algn="l"/>
            <a:r>
              <a:rPr sz="1300" b="1">
                <a:solidFill>
                  <a:srgbClr val="232F3E"/>
                </a:solidFill>
                <a:latin typeface="Calibri"/>
              </a:rPr>
              <a:t>Auth resolves per tool.</a:t>
            </a:r>
          </a:p>
        </p:txBody>
      </p:sp>
      <p:sp>
        <p:nvSpPr>
          <p:cNvPr id="31" name="TextBox 30"/>
          <p:cNvSpPr txBox="1"/>
          <p:nvPr/>
        </p:nvSpPr>
        <p:spPr>
          <a:xfrm>
            <a:off x="6437376" y="3346704"/>
            <a:ext cx="4992624" cy="786384"/>
          </a:xfrm>
          <a:prstGeom prst="rect">
            <a:avLst/>
          </a:prstGeom>
          <a:noFill/>
        </p:spPr>
        <p:txBody>
          <a:bodyPr wrap="square" lIns="0" tIns="0" rIns="0" bIns="0" anchor="t">
            <a:spAutoFit/>
          </a:bodyPr>
          <a:lstStyle/>
          <a:p>
            <a:pPr algn="l"/>
            <a:r>
              <a:rPr sz="1150" b="0">
                <a:solidFill>
                  <a:srgbClr val="16191F"/>
                </a:solidFill>
                <a:latin typeface="Calibri"/>
              </a:rPr>
              <a:t>Each tool is its own Lambda with its own role; credentials never share a heap with sessions.</a:t>
            </a:r>
          </a:p>
        </p:txBody>
      </p:sp>
      <p:sp>
        <p:nvSpPr>
          <p:cNvPr id="32" name="TextBox 31"/>
          <p:cNvSpPr txBox="1"/>
          <p:nvPr/>
        </p:nvSpPr>
        <p:spPr>
          <a:xfrm>
            <a:off x="6437376" y="4224528"/>
            <a:ext cx="4992624" cy="310896"/>
          </a:xfrm>
          <a:prstGeom prst="rect">
            <a:avLst/>
          </a:prstGeom>
          <a:noFill/>
        </p:spPr>
        <p:txBody>
          <a:bodyPr wrap="square" lIns="0" tIns="0" rIns="0" bIns="0" anchor="t">
            <a:spAutoFit/>
          </a:bodyPr>
          <a:lstStyle/>
          <a:p>
            <a:pPr algn="l"/>
            <a:r>
              <a:rPr sz="1300" b="1">
                <a:solidFill>
                  <a:srgbClr val="232F3E"/>
                </a:solidFill>
                <a:latin typeface="Calibri"/>
              </a:rPr>
              <a:t>Isolation is the boundary, twice.</a:t>
            </a:r>
          </a:p>
        </p:txBody>
      </p:sp>
      <p:sp>
        <p:nvSpPr>
          <p:cNvPr id="33" name="TextBox 32"/>
          <p:cNvSpPr txBox="1"/>
          <p:nvPr/>
        </p:nvSpPr>
        <p:spPr>
          <a:xfrm>
            <a:off x="6437376" y="4553712"/>
            <a:ext cx="4992624" cy="786384"/>
          </a:xfrm>
          <a:prstGeom prst="rect">
            <a:avLst/>
          </a:prstGeom>
          <a:noFill/>
        </p:spPr>
        <p:txBody>
          <a:bodyPr wrap="square" lIns="0" tIns="0" rIns="0" bIns="0" anchor="t">
            <a:spAutoFit/>
          </a:bodyPr>
          <a:lstStyle/>
          <a:p>
            <a:pPr algn="l"/>
            <a:r>
              <a:rPr sz="1150" b="0">
                <a:solidFill>
                  <a:srgbClr val="16191F"/>
                </a:solidFill>
                <a:latin typeface="Calibri"/>
              </a:rPr>
              <a:t>A hijacked session is walled into its own microVM — it reaches its own tokens and nothing else.</a:t>
            </a:r>
          </a:p>
        </p:txBody>
      </p:sp>
      <p:sp>
        <p:nvSpPr>
          <p:cNvPr id="34" name="Rounded Rectangle 33"/>
          <p:cNvSpPr/>
          <p:nvPr/>
        </p:nvSpPr>
        <p:spPr>
          <a:xfrm>
            <a:off x="566928" y="5614416"/>
            <a:ext cx="11064240" cy="566928"/>
          </a:xfrm>
          <a:prstGeom prst="roundRect">
            <a:avLst>
              <a:gd name="adj" fmla="val 1612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04672" y="5614416"/>
            <a:ext cx="2103120" cy="566928"/>
          </a:xfrm>
          <a:prstGeom prst="rect">
            <a:avLst/>
          </a:prstGeom>
          <a:noFill/>
        </p:spPr>
        <p:txBody>
          <a:bodyPr wrap="square" lIns="0" tIns="0" rIns="0" bIns="0" anchor="ctr">
            <a:spAutoFit/>
          </a:bodyPr>
          <a:lstStyle/>
          <a:p>
            <a:pPr algn="l"/>
            <a:r>
              <a:rPr sz="2400" b="1">
                <a:solidFill>
                  <a:srgbClr val="FF9900"/>
                </a:solidFill>
                <a:latin typeface="Calibri"/>
              </a:rPr>
              <a:t>all → one</a:t>
            </a:r>
          </a:p>
        </p:txBody>
      </p:sp>
      <p:sp>
        <p:nvSpPr>
          <p:cNvPr id="36" name="Rounded Rectangle 35"/>
          <p:cNvSpPr/>
          <p:nvPr/>
        </p:nvSpPr>
        <p:spPr>
          <a:xfrm>
            <a:off x="9966960" y="5769864"/>
            <a:ext cx="1426464" cy="256032"/>
          </a:xfrm>
          <a:prstGeom prst="roundRect">
            <a:avLst>
              <a:gd name="adj" fmla="val 46428"/>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966960" y="5769864"/>
            <a:ext cx="1426464" cy="256032"/>
          </a:xfrm>
          <a:prstGeom prst="rect">
            <a:avLst/>
          </a:prstGeom>
          <a:noFill/>
        </p:spPr>
        <p:txBody>
          <a:bodyPr wrap="square" lIns="0" tIns="0" rIns="0" bIns="0" anchor="ctr">
            <a:spAutoFit/>
          </a:bodyPr>
          <a:lstStyle/>
          <a:p>
            <a:pPr algn="ctr"/>
            <a:r>
              <a:rPr sz="1000" b="1">
                <a:solidFill>
                  <a:srgbClr val="FFFFFF"/>
                </a:solidFill>
                <a:latin typeface="Calibri"/>
              </a:rPr>
              <a:t>AGENTCORE</a:t>
            </a:r>
          </a:p>
        </p:txBody>
      </p:sp>
      <p:sp>
        <p:nvSpPr>
          <p:cNvPr id="38" name="TextBox 37"/>
          <p:cNvSpPr txBox="1"/>
          <p:nvPr/>
        </p:nvSpPr>
        <p:spPr>
          <a:xfrm>
            <a:off x="3017520" y="5678424"/>
            <a:ext cx="6766560" cy="237744"/>
          </a:xfrm>
          <a:prstGeom prst="rect">
            <a:avLst/>
          </a:prstGeom>
          <a:noFill/>
        </p:spPr>
        <p:txBody>
          <a:bodyPr wrap="square" lIns="0" tIns="0" rIns="0" bIns="0" anchor="ctr">
            <a:spAutoFit/>
          </a:bodyPr>
          <a:lstStyle/>
          <a:p>
            <a:pPr algn="l"/>
            <a:r>
              <a:rPr sz="1200" b="1">
                <a:solidFill>
                  <a:srgbClr val="232F3E"/>
                </a:solidFill>
                <a:latin typeface="Calibri"/>
              </a:rPr>
              <a:t>users’ tokens reachable from a single compromised session</a:t>
            </a:r>
          </a:p>
        </p:txBody>
      </p:sp>
      <p:sp>
        <p:nvSpPr>
          <p:cNvPr id="39" name="TextBox 38"/>
          <p:cNvSpPr txBox="1"/>
          <p:nvPr/>
        </p:nvSpPr>
        <p:spPr>
          <a:xfrm>
            <a:off x="3017520" y="5916168"/>
            <a:ext cx="6766560" cy="237744"/>
          </a:xfrm>
          <a:prstGeom prst="rect">
            <a:avLst/>
          </a:prstGeom>
          <a:noFill/>
        </p:spPr>
        <p:txBody>
          <a:bodyPr wrap="square" lIns="0" tIns="0" rIns="0" bIns="0" anchor="ctr">
            <a:spAutoFit/>
          </a:bodyPr>
          <a:lstStyle/>
          <a:p>
            <a:pPr algn="l"/>
            <a:r>
              <a:rPr sz="1000" b="1">
                <a:solidFill>
                  <a:srgbClr val="545B64"/>
                </a:solidFill>
                <a:latin typeface="Calibri"/>
              </a:rPr>
              <a:t>Give up:  </a:t>
            </a:r>
            <a:r>
              <a:rPr sz="1000" b="0">
                <a:solidFill>
                  <a:srgbClr val="545B64"/>
                </a:solidFill>
                <a:latin typeface="Calibri"/>
              </a:rPr>
              <a:t>the boundary is managed — you trust it rather than inspect it</a:t>
            </a:r>
          </a:p>
        </p:txBody>
      </p:sp>
      <p:sp>
        <p:nvSpPr>
          <p:cNvPr id="40" name="Rounded Rectangle 39">
            <a:extLst>
              <a:ext uri="{FF2B5EF4-FFF2-40B4-BE49-F238E27FC236}">
                <a16:creationId xmlns:a16="http://schemas.microsoft.com/office/drawing/2014/main" id="{D1E4CE35-9F86-80A4-7873-C6B477680803}"/>
              </a:ext>
            </a:extLst>
          </p:cNvPr>
          <p:cNvSpPr/>
          <p:nvPr/>
        </p:nvSpPr>
        <p:spPr>
          <a:xfrm>
            <a:off x="2775726" y="1453896"/>
            <a:ext cx="3180067"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We need to refine according to the new split of 7</a:t>
            </a:r>
            <a:endParaRPr dirty="0">
              <a:solidFill>
                <a:srgbClr val="FF0000"/>
              </a:solidFill>
              <a:highlight>
                <a:srgbClr val="FFFF00"/>
              </a:high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12</a:t>
            </a:r>
          </a:p>
        </p:txBody>
      </p:sp>
      <p:sp>
        <p:nvSpPr>
          <p:cNvPr id="5" name="TextBox 4"/>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13 / 18</a:t>
            </a:r>
          </a:p>
        </p:txBody>
      </p:sp>
      <p:sp>
        <p:nvSpPr>
          <p:cNvPr id="7" name="TextBox 6"/>
          <p:cNvSpPr txBox="1"/>
          <p:nvPr/>
        </p:nvSpPr>
        <p:spPr>
          <a:xfrm>
            <a:off x="1280160" y="365760"/>
            <a:ext cx="10058400" cy="594360"/>
          </a:xfrm>
          <a:prstGeom prst="rect">
            <a:avLst/>
          </a:prstGeom>
          <a:noFill/>
        </p:spPr>
        <p:txBody>
          <a:bodyPr wrap="square" lIns="0" tIns="0" rIns="0" bIns="0" anchor="ctr">
            <a:spAutoFit/>
          </a:bodyPr>
          <a:lstStyle/>
          <a:p>
            <a:pPr algn="l"/>
            <a:r>
              <a:rPr sz="2400" b="1">
                <a:solidFill>
                  <a:srgbClr val="232F3E"/>
                </a:solidFill>
                <a:latin typeface="Calibri"/>
              </a:rPr>
              <a:t>Ownership &amp; velocity — what you maintain forever</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11155680" cy="384048"/>
          </a:xfrm>
          <a:prstGeom prst="rect">
            <a:avLst/>
          </a:prstGeom>
          <a:noFill/>
        </p:spPr>
        <p:txBody>
          <a:bodyPr wrap="square" lIns="0" tIns="0" rIns="0" bIns="0" anchor="t">
            <a:spAutoFit/>
          </a:bodyPr>
          <a:lstStyle/>
          <a:p>
            <a:pPr algn="l"/>
            <a:r>
              <a:rPr sz="1400" b="0">
                <a:solidFill>
                  <a:srgbClr val="545B64"/>
                </a:solidFill>
                <a:latin typeface="Calibri"/>
              </a:rPr>
              <a:t>The code you keep owning after launch, and how fast the agent can grow.</a:t>
            </a:r>
          </a:p>
        </p:txBody>
      </p:sp>
      <p:sp>
        <p:nvSpPr>
          <p:cNvPr id="10" name="Rounded Rectangle 9"/>
          <p:cNvSpPr/>
          <p:nvPr/>
        </p:nvSpPr>
        <p:spPr>
          <a:xfrm>
            <a:off x="566928"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9264"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Runtime</a:t>
            </a:r>
          </a:p>
        </p:txBody>
      </p:sp>
      <p:sp>
        <p:nvSpPr>
          <p:cNvPr id="12" name="Rounded Rectangle 11"/>
          <p:cNvSpPr/>
          <p:nvPr/>
        </p:nvSpPr>
        <p:spPr>
          <a:xfrm>
            <a:off x="3364992"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566160"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67328" y="1755648"/>
            <a:ext cx="2157984" cy="384048"/>
          </a:xfrm>
          <a:prstGeom prst="rect">
            <a:avLst/>
          </a:prstGeom>
          <a:noFill/>
        </p:spPr>
        <p:txBody>
          <a:bodyPr wrap="square" lIns="0" tIns="0" rIns="0" bIns="0" anchor="ctr">
            <a:spAutoFit/>
          </a:bodyPr>
          <a:lstStyle/>
          <a:p>
            <a:pPr algn="l"/>
            <a:r>
              <a:rPr sz="1150" b="1">
                <a:solidFill>
                  <a:srgbClr val="FFFFFF"/>
                </a:solidFill>
                <a:latin typeface="Calibri"/>
              </a:rPr>
              <a:t>AgentCore Memory</a:t>
            </a:r>
          </a:p>
        </p:txBody>
      </p:sp>
      <p:sp>
        <p:nvSpPr>
          <p:cNvPr id="15" name="Rounded Rectangle 14"/>
          <p:cNvSpPr/>
          <p:nvPr/>
        </p:nvSpPr>
        <p:spPr>
          <a:xfrm>
            <a:off x="6163056"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364224"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65392" y="1755648"/>
            <a:ext cx="2157984" cy="384048"/>
          </a:xfrm>
          <a:prstGeom prst="rect">
            <a:avLst/>
          </a:prstGeom>
          <a:noFill/>
        </p:spPr>
        <p:txBody>
          <a:bodyPr wrap="square" lIns="0" tIns="0" rIns="0" bIns="0" anchor="ctr">
            <a:spAutoFit/>
          </a:bodyPr>
          <a:lstStyle/>
          <a:p>
            <a:pPr algn="l"/>
            <a:r>
              <a:rPr sz="1150" b="1">
                <a:solidFill>
                  <a:srgbClr val="FFFFFF"/>
                </a:solidFill>
                <a:latin typeface="Calibri"/>
              </a:rPr>
              <a:t>AgentCore Gateway</a:t>
            </a:r>
          </a:p>
        </p:txBody>
      </p:sp>
      <p:sp>
        <p:nvSpPr>
          <p:cNvPr id="18" name="Rounded Rectangle 17"/>
          <p:cNvSpPr/>
          <p:nvPr/>
        </p:nvSpPr>
        <p:spPr>
          <a:xfrm>
            <a:off x="8961119"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63455"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Observability</a:t>
            </a:r>
          </a:p>
        </p:txBody>
      </p:sp>
      <p:sp>
        <p:nvSpPr>
          <p:cNvPr id="20" name="Rounded Rectangle 19"/>
          <p:cNvSpPr/>
          <p:nvPr/>
        </p:nvSpPr>
        <p:spPr>
          <a:xfrm>
            <a:off x="56692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66928" y="2395728"/>
            <a:ext cx="5394960" cy="420624"/>
          </a:xfrm>
          <a:prstGeom prst="rect">
            <a:avLst/>
          </a:prstGeom>
          <a:solidFill>
            <a:srgbClr val="545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809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A · DIY</a:t>
            </a:r>
          </a:p>
        </p:txBody>
      </p:sp>
      <p:sp>
        <p:nvSpPr>
          <p:cNvPr id="23" name="TextBox 22"/>
          <p:cNvSpPr txBox="1"/>
          <p:nvPr/>
        </p:nvSpPr>
        <p:spPr>
          <a:xfrm>
            <a:off x="768096" y="3017520"/>
            <a:ext cx="4992624" cy="310896"/>
          </a:xfrm>
          <a:prstGeom prst="rect">
            <a:avLst/>
          </a:prstGeom>
          <a:noFill/>
        </p:spPr>
        <p:txBody>
          <a:bodyPr wrap="square" lIns="0" tIns="0" rIns="0" bIns="0" anchor="t">
            <a:spAutoFit/>
          </a:bodyPr>
          <a:lstStyle/>
          <a:p>
            <a:pPr algn="l"/>
            <a:r>
              <a:rPr sz="1300" b="1">
                <a:solidFill>
                  <a:srgbClr val="232F3E"/>
                </a:solidFill>
                <a:latin typeface="Calibri"/>
              </a:rPr>
              <a:t>The extraction prompt is mine forever.</a:t>
            </a:r>
          </a:p>
        </p:txBody>
      </p:sp>
      <p:sp>
        <p:nvSpPr>
          <p:cNvPr id="24" name="TextBox 23"/>
          <p:cNvSpPr txBox="1"/>
          <p:nvPr/>
        </p:nvSpPr>
        <p:spPr>
          <a:xfrm>
            <a:off x="768096" y="3346704"/>
            <a:ext cx="4992624" cy="786384"/>
          </a:xfrm>
          <a:prstGeom prst="rect">
            <a:avLst/>
          </a:prstGeom>
          <a:noFill/>
        </p:spPr>
        <p:txBody>
          <a:bodyPr wrap="square" lIns="0" tIns="0" rIns="0" bIns="0" anchor="t">
            <a:spAutoFit/>
          </a:bodyPr>
          <a:lstStyle/>
          <a:p>
            <a:pPr algn="l"/>
            <a:r>
              <a:rPr sz="1150" b="0">
                <a:solidFill>
                  <a:srgbClr val="16191F"/>
                </a:solidFill>
                <a:latin typeface="Calibri"/>
              </a:rPr>
              <a:t>A second prompt to version, test and babysit — on top of the agent’s own.</a:t>
            </a:r>
          </a:p>
        </p:txBody>
      </p:sp>
      <p:sp>
        <p:nvSpPr>
          <p:cNvPr id="25" name="TextBox 24"/>
          <p:cNvSpPr txBox="1"/>
          <p:nvPr/>
        </p:nvSpPr>
        <p:spPr>
          <a:xfrm>
            <a:off x="768096" y="4224528"/>
            <a:ext cx="4992624" cy="310896"/>
          </a:xfrm>
          <a:prstGeom prst="rect">
            <a:avLst/>
          </a:prstGeom>
          <a:noFill/>
        </p:spPr>
        <p:txBody>
          <a:bodyPr wrap="square" lIns="0" tIns="0" rIns="0" bIns="0" anchor="t">
            <a:spAutoFit/>
          </a:bodyPr>
          <a:lstStyle/>
          <a:p>
            <a:pPr algn="l"/>
            <a:r>
              <a:rPr sz="1300" b="1">
                <a:solidFill>
                  <a:srgbClr val="232F3E"/>
                </a:solidFill>
                <a:latin typeface="Calibri"/>
              </a:rPr>
              <a:t>Adding a tool is a deploy.</a:t>
            </a:r>
          </a:p>
        </p:txBody>
      </p:sp>
      <p:sp>
        <p:nvSpPr>
          <p:cNvPr id="26" name="TextBox 25"/>
          <p:cNvSpPr txBox="1"/>
          <p:nvPr/>
        </p:nvSpPr>
        <p:spPr>
          <a:xfrm>
            <a:off x="768096" y="4553712"/>
            <a:ext cx="4992624" cy="786384"/>
          </a:xfrm>
          <a:prstGeom prst="rect">
            <a:avLst/>
          </a:prstGeom>
          <a:noFill/>
        </p:spPr>
        <p:txBody>
          <a:bodyPr wrap="square" lIns="0" tIns="0" rIns="0" bIns="0" anchor="t">
            <a:spAutoFit/>
          </a:bodyPr>
          <a:lstStyle/>
          <a:p>
            <a:pPr algn="l"/>
            <a:r>
              <a:rPr sz="1150" b="0">
                <a:solidFill>
                  <a:srgbClr val="16191F"/>
                </a:solidFill>
                <a:latin typeface="Calibri"/>
              </a:rPr>
              <a:t>Registry change, build, rolling ECS deploy — growth at the speed of the pipeline.</a:t>
            </a:r>
          </a:p>
        </p:txBody>
      </p:sp>
      <p:sp>
        <p:nvSpPr>
          <p:cNvPr id="27" name="Rounded Rectangle 26"/>
          <p:cNvSpPr/>
          <p:nvPr/>
        </p:nvSpPr>
        <p:spPr>
          <a:xfrm>
            <a:off x="623620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36208" y="2395728"/>
            <a:ext cx="5394960" cy="420624"/>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3737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B · AGENTCORE</a:t>
            </a:r>
          </a:p>
        </p:txBody>
      </p:sp>
      <p:sp>
        <p:nvSpPr>
          <p:cNvPr id="30" name="TextBox 29"/>
          <p:cNvSpPr txBox="1"/>
          <p:nvPr/>
        </p:nvSpPr>
        <p:spPr>
          <a:xfrm>
            <a:off x="6437376" y="3017520"/>
            <a:ext cx="4992624" cy="310896"/>
          </a:xfrm>
          <a:prstGeom prst="rect">
            <a:avLst/>
          </a:prstGeom>
          <a:noFill/>
        </p:spPr>
        <p:txBody>
          <a:bodyPr wrap="square" lIns="0" tIns="0" rIns="0" bIns="0" anchor="t">
            <a:spAutoFit/>
          </a:bodyPr>
          <a:lstStyle/>
          <a:p>
            <a:pPr algn="l"/>
            <a:r>
              <a:rPr sz="1300" b="1">
                <a:solidFill>
                  <a:srgbClr val="232F3E"/>
                </a:solidFill>
                <a:latin typeface="Calibri"/>
              </a:rPr>
              <a:t>Extraction is the service’s problem.</a:t>
            </a:r>
          </a:p>
        </p:txBody>
      </p:sp>
      <p:sp>
        <p:nvSpPr>
          <p:cNvPr id="31" name="TextBox 30"/>
          <p:cNvSpPr txBox="1"/>
          <p:nvPr/>
        </p:nvSpPr>
        <p:spPr>
          <a:xfrm>
            <a:off x="6437376" y="3346704"/>
            <a:ext cx="4992624" cy="786384"/>
          </a:xfrm>
          <a:prstGeom prst="rect">
            <a:avLst/>
          </a:prstGeom>
          <a:noFill/>
        </p:spPr>
        <p:txBody>
          <a:bodyPr wrap="square" lIns="0" tIns="0" rIns="0" bIns="0" anchor="t">
            <a:spAutoFit/>
          </a:bodyPr>
          <a:lstStyle/>
          <a:p>
            <a:pPr algn="l"/>
            <a:r>
              <a:rPr sz="1150" b="0">
                <a:solidFill>
                  <a:srgbClr val="16191F"/>
                </a:solidFill>
                <a:latin typeface="Calibri"/>
              </a:rPr>
              <a:t>One event in, one retrieval out. One fewer prompt to own.</a:t>
            </a:r>
          </a:p>
        </p:txBody>
      </p:sp>
      <p:sp>
        <p:nvSpPr>
          <p:cNvPr id="32" name="TextBox 31"/>
          <p:cNvSpPr txBox="1"/>
          <p:nvPr/>
        </p:nvSpPr>
        <p:spPr>
          <a:xfrm>
            <a:off x="6437376" y="4224528"/>
            <a:ext cx="4992624" cy="310896"/>
          </a:xfrm>
          <a:prstGeom prst="rect">
            <a:avLst/>
          </a:prstGeom>
          <a:noFill/>
        </p:spPr>
        <p:txBody>
          <a:bodyPr wrap="square" lIns="0" tIns="0" rIns="0" bIns="0" anchor="t">
            <a:spAutoFit/>
          </a:bodyPr>
          <a:lstStyle/>
          <a:p>
            <a:pPr algn="l"/>
            <a:r>
              <a:rPr sz="1300" b="1">
                <a:solidFill>
                  <a:srgbClr val="232F3E"/>
                </a:solidFill>
                <a:latin typeface="Calibri"/>
              </a:rPr>
              <a:t>The tool list is data.</a:t>
            </a:r>
          </a:p>
        </p:txBody>
      </p:sp>
      <p:sp>
        <p:nvSpPr>
          <p:cNvPr id="33" name="TextBox 32"/>
          <p:cNvSpPr txBox="1"/>
          <p:nvPr/>
        </p:nvSpPr>
        <p:spPr>
          <a:xfrm>
            <a:off x="6437376" y="4553712"/>
            <a:ext cx="4992624" cy="786384"/>
          </a:xfrm>
          <a:prstGeom prst="rect">
            <a:avLst/>
          </a:prstGeom>
          <a:noFill/>
        </p:spPr>
        <p:txBody>
          <a:bodyPr wrap="square" lIns="0" tIns="0" rIns="0" bIns="0" anchor="t">
            <a:spAutoFit/>
          </a:bodyPr>
          <a:lstStyle/>
          <a:p>
            <a:pPr algn="l"/>
            <a:r>
              <a:rPr sz="1150" b="0">
                <a:solidFill>
                  <a:srgbClr val="16191F"/>
                </a:solidFill>
                <a:latin typeface="Calibri"/>
              </a:rPr>
              <a:t>Adding or revoking a tool via Gateway is a config change, not a release.</a:t>
            </a:r>
          </a:p>
        </p:txBody>
      </p:sp>
      <p:sp>
        <p:nvSpPr>
          <p:cNvPr id="34" name="Rounded Rectangle 33"/>
          <p:cNvSpPr/>
          <p:nvPr/>
        </p:nvSpPr>
        <p:spPr>
          <a:xfrm>
            <a:off x="566928" y="5614416"/>
            <a:ext cx="11064240" cy="566928"/>
          </a:xfrm>
          <a:prstGeom prst="roundRect">
            <a:avLst>
              <a:gd name="adj" fmla="val 1612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04672" y="5614416"/>
            <a:ext cx="2103120" cy="566928"/>
          </a:xfrm>
          <a:prstGeom prst="rect">
            <a:avLst/>
          </a:prstGeom>
          <a:noFill/>
        </p:spPr>
        <p:txBody>
          <a:bodyPr wrap="square" lIns="0" tIns="0" rIns="0" bIns="0" anchor="ctr">
            <a:spAutoFit/>
          </a:bodyPr>
          <a:lstStyle/>
          <a:p>
            <a:pPr algn="l"/>
            <a:r>
              <a:rPr sz="2400" b="1">
                <a:solidFill>
                  <a:srgbClr val="FF9900"/>
                </a:solidFill>
                <a:latin typeface="Calibri"/>
              </a:rPr>
              <a:t>−1 prompt</a:t>
            </a:r>
          </a:p>
        </p:txBody>
      </p:sp>
      <p:sp>
        <p:nvSpPr>
          <p:cNvPr id="36" name="Rounded Rectangle 35"/>
          <p:cNvSpPr/>
          <p:nvPr/>
        </p:nvSpPr>
        <p:spPr>
          <a:xfrm>
            <a:off x="9966960" y="5769864"/>
            <a:ext cx="1426464" cy="256032"/>
          </a:xfrm>
          <a:prstGeom prst="roundRect">
            <a:avLst>
              <a:gd name="adj" fmla="val 46428"/>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966960" y="5769864"/>
            <a:ext cx="1426464" cy="256032"/>
          </a:xfrm>
          <a:prstGeom prst="rect">
            <a:avLst/>
          </a:prstGeom>
          <a:noFill/>
        </p:spPr>
        <p:txBody>
          <a:bodyPr wrap="square" lIns="0" tIns="0" rIns="0" bIns="0" anchor="ctr">
            <a:spAutoFit/>
          </a:bodyPr>
          <a:lstStyle/>
          <a:p>
            <a:pPr algn="ctr"/>
            <a:r>
              <a:rPr sz="1000" b="1">
                <a:solidFill>
                  <a:srgbClr val="FFFFFF"/>
                </a:solidFill>
                <a:latin typeface="Calibri"/>
              </a:rPr>
              <a:t>AGENTCORE</a:t>
            </a:r>
          </a:p>
        </p:txBody>
      </p:sp>
      <p:sp>
        <p:nvSpPr>
          <p:cNvPr id="38" name="TextBox 37"/>
          <p:cNvSpPr txBox="1"/>
          <p:nvPr/>
        </p:nvSpPr>
        <p:spPr>
          <a:xfrm>
            <a:off x="3017520" y="5678424"/>
            <a:ext cx="6766560" cy="237744"/>
          </a:xfrm>
          <a:prstGeom prst="rect">
            <a:avLst/>
          </a:prstGeom>
          <a:noFill/>
        </p:spPr>
        <p:txBody>
          <a:bodyPr wrap="square" lIns="0" tIns="0" rIns="0" bIns="0" anchor="ctr">
            <a:spAutoFit/>
          </a:bodyPr>
          <a:lstStyle/>
          <a:p>
            <a:pPr algn="l"/>
            <a:r>
              <a:rPr sz="1200" b="1">
                <a:solidFill>
                  <a:srgbClr val="232F3E"/>
                </a:solidFill>
                <a:latin typeface="Calibri"/>
              </a:rPr>
              <a:t>to own, version and regression-test — and tool changes stop being releases</a:t>
            </a:r>
          </a:p>
        </p:txBody>
      </p:sp>
      <p:sp>
        <p:nvSpPr>
          <p:cNvPr id="39" name="TextBox 38"/>
          <p:cNvSpPr txBox="1"/>
          <p:nvPr/>
        </p:nvSpPr>
        <p:spPr>
          <a:xfrm>
            <a:off x="3017520" y="5916168"/>
            <a:ext cx="6766560" cy="237744"/>
          </a:xfrm>
          <a:prstGeom prst="rect">
            <a:avLst/>
          </a:prstGeom>
          <a:noFill/>
        </p:spPr>
        <p:txBody>
          <a:bodyPr wrap="square" lIns="0" tIns="0" rIns="0" bIns="0" anchor="ctr">
            <a:spAutoFit/>
          </a:bodyPr>
          <a:lstStyle/>
          <a:p>
            <a:pPr algn="l"/>
            <a:r>
              <a:rPr sz="1000" b="1">
                <a:solidFill>
                  <a:srgbClr val="545B64"/>
                </a:solidFill>
                <a:latin typeface="Calibri"/>
              </a:rPr>
              <a:t>Give up:  </a:t>
            </a:r>
            <a:r>
              <a:rPr sz="1000" b="0">
                <a:solidFill>
                  <a:srgbClr val="545B64"/>
                </a:solidFill>
                <a:latin typeface="Calibri"/>
              </a:rPr>
              <a:t>the extraction schema you designed — preferenceCategoryCount is gone</a:t>
            </a:r>
          </a:p>
        </p:txBody>
      </p:sp>
      <p:sp>
        <p:nvSpPr>
          <p:cNvPr id="40" name="Rounded Rectangle 39">
            <a:extLst>
              <a:ext uri="{FF2B5EF4-FFF2-40B4-BE49-F238E27FC236}">
                <a16:creationId xmlns:a16="http://schemas.microsoft.com/office/drawing/2014/main" id="{182F1770-0D69-4D26-E684-31D53E276A3E}"/>
              </a:ext>
            </a:extLst>
          </p:cNvPr>
          <p:cNvSpPr/>
          <p:nvPr/>
        </p:nvSpPr>
        <p:spPr>
          <a:xfrm>
            <a:off x="2775726" y="1453896"/>
            <a:ext cx="3180067"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We need to refine according to the new split of 7</a:t>
            </a:r>
            <a:endParaRPr dirty="0">
              <a:solidFill>
                <a:srgbClr val="FF0000"/>
              </a:solidFill>
              <a:highlight>
                <a:srgbClr val="FFFF00"/>
              </a:high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13</a:t>
            </a:r>
          </a:p>
        </p:txBody>
      </p:sp>
      <p:sp>
        <p:nvSpPr>
          <p:cNvPr id="5" name="TextBox 4"/>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14 / 18</a:t>
            </a:r>
          </a:p>
        </p:txBody>
      </p:sp>
      <p:sp>
        <p:nvSpPr>
          <p:cNvPr id="7" name="TextBox 6"/>
          <p:cNvSpPr txBox="1"/>
          <p:nvPr/>
        </p:nvSpPr>
        <p:spPr>
          <a:xfrm>
            <a:off x="1280160" y="432107"/>
            <a:ext cx="10058400" cy="461665"/>
          </a:xfrm>
          <a:prstGeom prst="rect">
            <a:avLst/>
          </a:prstGeom>
          <a:noFill/>
        </p:spPr>
        <p:txBody>
          <a:bodyPr wrap="square" lIns="0" tIns="0" rIns="0" bIns="0" anchor="ctr">
            <a:spAutoFit/>
          </a:bodyPr>
          <a:lstStyle/>
          <a:p>
            <a:pPr algn="l"/>
            <a:r>
              <a:rPr lang="en-US" sz="3000" b="1" dirty="0">
                <a:solidFill>
                  <a:srgbClr val="232F3E"/>
                </a:solidFill>
                <a:latin typeface="Calibri"/>
              </a:rPr>
              <a:t>Observability</a:t>
            </a:r>
            <a:endParaRPr sz="3000" b="1" dirty="0">
              <a:solidFill>
                <a:srgbClr val="232F3E"/>
              </a:solidFill>
              <a:latin typeface="Calibri"/>
            </a:endParaRP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11155680" cy="384048"/>
          </a:xfrm>
          <a:prstGeom prst="rect">
            <a:avLst/>
          </a:prstGeom>
          <a:noFill/>
        </p:spPr>
        <p:txBody>
          <a:bodyPr wrap="square" lIns="0" tIns="0" rIns="0" bIns="0" anchor="t">
            <a:spAutoFit/>
          </a:bodyPr>
          <a:lstStyle/>
          <a:p>
            <a:pPr algn="l"/>
            <a:r>
              <a:rPr sz="1400" b="0">
                <a:solidFill>
                  <a:srgbClr val="545B64"/>
                </a:solidFill>
                <a:latin typeface="Calibri"/>
              </a:rPr>
              <a:t>What you can actually see when a turn goes wrong at two in the morning.</a:t>
            </a:r>
          </a:p>
        </p:txBody>
      </p:sp>
      <p:sp>
        <p:nvSpPr>
          <p:cNvPr id="10" name="Rounded Rectangle 9"/>
          <p:cNvSpPr/>
          <p:nvPr/>
        </p:nvSpPr>
        <p:spPr>
          <a:xfrm>
            <a:off x="566928"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9264"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Runtime</a:t>
            </a:r>
          </a:p>
        </p:txBody>
      </p:sp>
      <p:sp>
        <p:nvSpPr>
          <p:cNvPr id="12" name="Rounded Rectangle 11"/>
          <p:cNvSpPr/>
          <p:nvPr/>
        </p:nvSpPr>
        <p:spPr>
          <a:xfrm>
            <a:off x="3364992"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767328"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Memory</a:t>
            </a:r>
          </a:p>
        </p:txBody>
      </p:sp>
      <p:sp>
        <p:nvSpPr>
          <p:cNvPr id="14" name="Rounded Rectangle 13"/>
          <p:cNvSpPr/>
          <p:nvPr/>
        </p:nvSpPr>
        <p:spPr>
          <a:xfrm>
            <a:off x="6163056"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65392"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Gateway</a:t>
            </a:r>
          </a:p>
        </p:txBody>
      </p:sp>
      <p:sp>
        <p:nvSpPr>
          <p:cNvPr id="16" name="Rounded Rectangle 15"/>
          <p:cNvSpPr/>
          <p:nvPr/>
        </p:nvSpPr>
        <p:spPr>
          <a:xfrm>
            <a:off x="8961119"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9162288"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363455" y="1755648"/>
            <a:ext cx="2157984" cy="384048"/>
          </a:xfrm>
          <a:prstGeom prst="rect">
            <a:avLst/>
          </a:prstGeom>
          <a:noFill/>
        </p:spPr>
        <p:txBody>
          <a:bodyPr wrap="square" lIns="0" tIns="0" rIns="0" bIns="0" anchor="ctr">
            <a:spAutoFit/>
          </a:bodyPr>
          <a:lstStyle/>
          <a:p>
            <a:pPr algn="l"/>
            <a:r>
              <a:rPr sz="1150" b="1">
                <a:solidFill>
                  <a:srgbClr val="FFFFFF"/>
                </a:solidFill>
                <a:latin typeface="Calibri"/>
              </a:rPr>
              <a:t>AgentCore Observability</a:t>
            </a:r>
          </a:p>
        </p:txBody>
      </p:sp>
      <p:sp>
        <p:nvSpPr>
          <p:cNvPr id="19" name="Rounded Rectangle 18"/>
          <p:cNvSpPr/>
          <p:nvPr/>
        </p:nvSpPr>
        <p:spPr>
          <a:xfrm>
            <a:off x="56692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66928" y="2395728"/>
            <a:ext cx="5394960" cy="420624"/>
          </a:xfrm>
          <a:prstGeom prst="rect">
            <a:avLst/>
          </a:prstGeom>
          <a:solidFill>
            <a:srgbClr val="545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6809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A · DIY</a:t>
            </a:r>
          </a:p>
        </p:txBody>
      </p:sp>
      <p:sp>
        <p:nvSpPr>
          <p:cNvPr id="22" name="TextBox 21"/>
          <p:cNvSpPr txBox="1"/>
          <p:nvPr/>
        </p:nvSpPr>
        <p:spPr>
          <a:xfrm>
            <a:off x="768096" y="3017520"/>
            <a:ext cx="4992624" cy="310896"/>
          </a:xfrm>
          <a:prstGeom prst="rect">
            <a:avLst/>
          </a:prstGeom>
          <a:noFill/>
        </p:spPr>
        <p:txBody>
          <a:bodyPr wrap="square" lIns="0" tIns="0" rIns="0" bIns="0" anchor="t">
            <a:spAutoFit/>
          </a:bodyPr>
          <a:lstStyle/>
          <a:p>
            <a:pPr algn="l"/>
            <a:r>
              <a:rPr sz="1300" b="1">
                <a:solidFill>
                  <a:srgbClr val="232F3E"/>
                </a:solidFill>
                <a:latin typeface="Calibri"/>
              </a:rPr>
              <a:t>Exactly the fields that decide an incident.</a:t>
            </a:r>
          </a:p>
        </p:txBody>
      </p:sp>
      <p:sp>
        <p:nvSpPr>
          <p:cNvPr id="23" name="TextBox 22"/>
          <p:cNvSpPr txBox="1"/>
          <p:nvPr/>
        </p:nvSpPr>
        <p:spPr>
          <a:xfrm>
            <a:off x="768096" y="3346704"/>
            <a:ext cx="4992624" cy="786384"/>
          </a:xfrm>
          <a:prstGeom prst="rect">
            <a:avLst/>
          </a:prstGeom>
          <a:noFill/>
        </p:spPr>
        <p:txBody>
          <a:bodyPr wrap="square" lIns="0" tIns="0" rIns="0" bIns="0" anchor="t">
            <a:spAutoFit/>
          </a:bodyPr>
          <a:lstStyle/>
          <a:p>
            <a:pPr algn="l"/>
            <a:r>
              <a:rPr sz="1150" b="0">
                <a:solidFill>
                  <a:srgbClr val="16191F"/>
                </a:solidFill>
                <a:latin typeface="Calibri"/>
              </a:rPr>
              <a:t>Hand-wired OTEL spans: turn id, tool name, extraction latency, which reminder fired.</a:t>
            </a:r>
          </a:p>
        </p:txBody>
      </p:sp>
      <p:sp>
        <p:nvSpPr>
          <p:cNvPr id="24" name="TextBox 23"/>
          <p:cNvSpPr txBox="1"/>
          <p:nvPr/>
        </p:nvSpPr>
        <p:spPr>
          <a:xfrm>
            <a:off x="768096" y="4224528"/>
            <a:ext cx="4992624" cy="310896"/>
          </a:xfrm>
          <a:prstGeom prst="rect">
            <a:avLst/>
          </a:prstGeom>
          <a:noFill/>
        </p:spPr>
        <p:txBody>
          <a:bodyPr wrap="square" lIns="0" tIns="0" rIns="0" bIns="0" anchor="t">
            <a:spAutoFit/>
          </a:bodyPr>
          <a:lstStyle/>
          <a:p>
            <a:pPr algn="l"/>
            <a:r>
              <a:rPr sz="1300" b="1">
                <a:solidFill>
                  <a:srgbClr val="232F3E"/>
                </a:solidFill>
                <a:latin typeface="Calibri"/>
              </a:rPr>
              <a:t>The cost is real, not rhetorical.</a:t>
            </a:r>
          </a:p>
        </p:txBody>
      </p:sp>
      <p:sp>
        <p:nvSpPr>
          <p:cNvPr id="25" name="TextBox 24"/>
          <p:cNvSpPr txBox="1"/>
          <p:nvPr/>
        </p:nvSpPr>
        <p:spPr>
          <a:xfrm>
            <a:off x="768096" y="4553712"/>
            <a:ext cx="4992624" cy="786384"/>
          </a:xfrm>
          <a:prstGeom prst="rect">
            <a:avLst/>
          </a:prstGeom>
          <a:noFill/>
        </p:spPr>
        <p:txBody>
          <a:bodyPr wrap="square" lIns="0" tIns="0" rIns="0" bIns="0" anchor="t">
            <a:spAutoFit/>
          </a:bodyPr>
          <a:lstStyle/>
          <a:p>
            <a:pPr algn="l"/>
            <a:r>
              <a:rPr sz="1150" b="0">
                <a:solidFill>
                  <a:srgbClr val="16191F"/>
                </a:solidFill>
                <a:latin typeface="Calibri"/>
              </a:rPr>
              <a:t>I wrote the span plumbing and now maintain it — and CloudWatch is another bill.</a:t>
            </a:r>
          </a:p>
        </p:txBody>
      </p:sp>
      <p:sp>
        <p:nvSpPr>
          <p:cNvPr id="26" name="Rounded Rectangle 25"/>
          <p:cNvSpPr/>
          <p:nvPr/>
        </p:nvSpPr>
        <p:spPr>
          <a:xfrm>
            <a:off x="623620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236208" y="2395728"/>
            <a:ext cx="5394960" cy="420624"/>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3737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B · AGENTCORE</a:t>
            </a:r>
          </a:p>
        </p:txBody>
      </p:sp>
      <p:sp>
        <p:nvSpPr>
          <p:cNvPr id="29" name="TextBox 28"/>
          <p:cNvSpPr txBox="1"/>
          <p:nvPr/>
        </p:nvSpPr>
        <p:spPr>
          <a:xfrm>
            <a:off x="6437376" y="3017520"/>
            <a:ext cx="4992624" cy="310896"/>
          </a:xfrm>
          <a:prstGeom prst="rect">
            <a:avLst/>
          </a:prstGeom>
          <a:noFill/>
        </p:spPr>
        <p:txBody>
          <a:bodyPr wrap="square" lIns="0" tIns="0" rIns="0" bIns="0" anchor="t">
            <a:spAutoFit/>
          </a:bodyPr>
          <a:lstStyle/>
          <a:p>
            <a:pPr algn="l"/>
            <a:r>
              <a:rPr sz="1300" b="1">
                <a:solidFill>
                  <a:srgbClr val="232F3E"/>
                </a:solidFill>
                <a:latin typeface="Calibri"/>
              </a:rPr>
              <a:t>Traces for free — on its schema.</a:t>
            </a:r>
          </a:p>
        </p:txBody>
      </p:sp>
      <p:sp>
        <p:nvSpPr>
          <p:cNvPr id="30" name="TextBox 29"/>
          <p:cNvSpPr txBox="1"/>
          <p:nvPr/>
        </p:nvSpPr>
        <p:spPr>
          <a:xfrm>
            <a:off x="6437376" y="3346704"/>
            <a:ext cx="4992624" cy="786384"/>
          </a:xfrm>
          <a:prstGeom prst="rect">
            <a:avLst/>
          </a:prstGeom>
          <a:noFill/>
        </p:spPr>
        <p:txBody>
          <a:bodyPr wrap="square" lIns="0" tIns="0" rIns="0" bIns="0" anchor="t">
            <a:spAutoFit/>
          </a:bodyPr>
          <a:lstStyle/>
          <a:p>
            <a:pPr algn="l"/>
            <a:r>
              <a:rPr sz="1150" b="0">
                <a:solidFill>
                  <a:srgbClr val="16191F"/>
                </a:solidFill>
                <a:latin typeface="Calibri"/>
              </a:rPr>
              <a:t>Session-level traces arrive with zero work, but the 2am fields are not the ones it emits.</a:t>
            </a:r>
          </a:p>
        </p:txBody>
      </p:sp>
      <p:sp>
        <p:nvSpPr>
          <p:cNvPr id="31" name="TextBox 30"/>
          <p:cNvSpPr txBox="1"/>
          <p:nvPr/>
        </p:nvSpPr>
        <p:spPr>
          <a:xfrm>
            <a:off x="6437376" y="4224528"/>
            <a:ext cx="4992624" cy="310896"/>
          </a:xfrm>
          <a:prstGeom prst="rect">
            <a:avLst/>
          </a:prstGeom>
          <a:noFill/>
        </p:spPr>
        <p:txBody>
          <a:bodyPr wrap="square" lIns="0" tIns="0" rIns="0" bIns="0" anchor="t">
            <a:spAutoFit/>
          </a:bodyPr>
          <a:lstStyle/>
          <a:p>
            <a:pPr algn="l"/>
            <a:r>
              <a:rPr sz="1300" b="1">
                <a:solidFill>
                  <a:srgbClr val="232F3E"/>
                </a:solidFill>
                <a:latin typeface="Calibri"/>
              </a:rPr>
              <a:t>Where I actually landed.</a:t>
            </a:r>
          </a:p>
        </p:txBody>
      </p:sp>
      <p:sp>
        <p:nvSpPr>
          <p:cNvPr id="32" name="TextBox 31"/>
          <p:cNvSpPr txBox="1"/>
          <p:nvPr/>
        </p:nvSpPr>
        <p:spPr>
          <a:xfrm>
            <a:off x="6437376" y="4553712"/>
            <a:ext cx="4992624" cy="786384"/>
          </a:xfrm>
          <a:prstGeom prst="rect">
            <a:avLst/>
          </a:prstGeom>
          <a:noFill/>
        </p:spPr>
        <p:txBody>
          <a:bodyPr wrap="square" lIns="0" tIns="0" rIns="0" bIns="0" anchor="t">
            <a:spAutoFit/>
          </a:bodyPr>
          <a:lstStyle/>
          <a:p>
            <a:pPr algn="l"/>
            <a:r>
              <a:rPr sz="1150" b="0">
                <a:solidFill>
                  <a:srgbClr val="16191F"/>
                </a:solidFill>
                <a:latin typeface="Calibri"/>
              </a:rPr>
              <a:t>AgentCore’s traces as the floor, my spans kept for the two or three fields that decide an incident.</a:t>
            </a:r>
          </a:p>
        </p:txBody>
      </p:sp>
      <p:sp>
        <p:nvSpPr>
          <p:cNvPr id="33" name="Rounded Rectangle 32"/>
          <p:cNvSpPr/>
          <p:nvPr/>
        </p:nvSpPr>
        <p:spPr>
          <a:xfrm>
            <a:off x="566928" y="5614416"/>
            <a:ext cx="11064240" cy="566928"/>
          </a:xfrm>
          <a:prstGeom prst="roundRect">
            <a:avLst>
              <a:gd name="adj" fmla="val 1612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04672" y="5614416"/>
            <a:ext cx="2103120" cy="566928"/>
          </a:xfrm>
          <a:prstGeom prst="rect">
            <a:avLst/>
          </a:prstGeom>
          <a:noFill/>
        </p:spPr>
        <p:txBody>
          <a:bodyPr wrap="square" lIns="0" tIns="0" rIns="0" bIns="0" anchor="ctr">
            <a:spAutoFit/>
          </a:bodyPr>
          <a:lstStyle/>
          <a:p>
            <a:pPr algn="l"/>
            <a:r>
              <a:rPr sz="2400" b="1">
                <a:solidFill>
                  <a:srgbClr val="FF9900"/>
                </a:solidFill>
                <a:latin typeface="Calibri"/>
              </a:rPr>
              <a:t>1 of 6</a:t>
            </a:r>
          </a:p>
        </p:txBody>
      </p:sp>
      <p:sp>
        <p:nvSpPr>
          <p:cNvPr id="35" name="Rounded Rectangle 34"/>
          <p:cNvSpPr/>
          <p:nvPr/>
        </p:nvSpPr>
        <p:spPr>
          <a:xfrm>
            <a:off x="9966960" y="5769864"/>
            <a:ext cx="1426464" cy="256032"/>
          </a:xfrm>
          <a:prstGeom prst="roundRect">
            <a:avLst>
              <a:gd name="adj" fmla="val 46428"/>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966960" y="5769864"/>
            <a:ext cx="1426464" cy="256032"/>
          </a:xfrm>
          <a:prstGeom prst="rect">
            <a:avLst/>
          </a:prstGeom>
          <a:noFill/>
        </p:spPr>
        <p:txBody>
          <a:bodyPr wrap="square" lIns="0" tIns="0" rIns="0" bIns="0" anchor="ctr">
            <a:spAutoFit/>
          </a:bodyPr>
          <a:lstStyle/>
          <a:p>
            <a:pPr algn="ctr"/>
            <a:r>
              <a:rPr sz="1000" b="1">
                <a:solidFill>
                  <a:srgbClr val="FFFFFF"/>
                </a:solidFill>
                <a:latin typeface="Calibri"/>
              </a:rPr>
              <a:t>DIY</a:t>
            </a:r>
          </a:p>
        </p:txBody>
      </p:sp>
      <p:sp>
        <p:nvSpPr>
          <p:cNvPr id="37" name="TextBox 36"/>
          <p:cNvSpPr txBox="1"/>
          <p:nvPr/>
        </p:nvSpPr>
        <p:spPr>
          <a:xfrm>
            <a:off x="3017520" y="5614416"/>
            <a:ext cx="6766560" cy="566928"/>
          </a:xfrm>
          <a:prstGeom prst="rect">
            <a:avLst/>
          </a:prstGeom>
          <a:noFill/>
        </p:spPr>
        <p:txBody>
          <a:bodyPr wrap="square" lIns="0" tIns="0" rIns="0" bIns="0" anchor="ctr">
            <a:spAutoFit/>
          </a:bodyPr>
          <a:lstStyle/>
          <a:p>
            <a:pPr algn="l"/>
            <a:r>
              <a:rPr sz="1200" b="1">
                <a:solidFill>
                  <a:srgbClr val="232F3E"/>
                </a:solidFill>
                <a:latin typeface="Calibri"/>
              </a:rPr>
              <a:t>the lens DIY keeps — a 6–0 comparison would be a sales pitch</a:t>
            </a:r>
          </a:p>
        </p:txBody>
      </p:sp>
      <p:sp>
        <p:nvSpPr>
          <p:cNvPr id="38" name="Rounded Rectangle 37">
            <a:extLst>
              <a:ext uri="{FF2B5EF4-FFF2-40B4-BE49-F238E27FC236}">
                <a16:creationId xmlns:a16="http://schemas.microsoft.com/office/drawing/2014/main" id="{155FAA7F-CA23-B809-60A4-D5CC360A6AA7}"/>
              </a:ext>
            </a:extLst>
          </p:cNvPr>
          <p:cNvSpPr/>
          <p:nvPr/>
        </p:nvSpPr>
        <p:spPr>
          <a:xfrm>
            <a:off x="2775726" y="1453896"/>
            <a:ext cx="3180067"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We need to refine according to the new split of 7</a:t>
            </a:r>
            <a:endParaRPr dirty="0">
              <a:solidFill>
                <a:srgbClr val="FF0000"/>
              </a:solidFill>
              <a:highlight>
                <a:srgbClr val="FFFF00"/>
              </a:high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14</a:t>
            </a:r>
          </a:p>
        </p:txBody>
      </p:sp>
      <p:sp>
        <p:nvSpPr>
          <p:cNvPr id="5" name="TextBox 4"/>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15 / 18</a:t>
            </a:r>
          </a:p>
        </p:txBody>
      </p:sp>
      <p:sp>
        <p:nvSpPr>
          <p:cNvPr id="7" name="TextBox 6"/>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I didn’t write it. They did.</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11155680" cy="384048"/>
          </a:xfrm>
          <a:prstGeom prst="rect">
            <a:avLst/>
          </a:prstGeom>
          <a:noFill/>
        </p:spPr>
        <p:txBody>
          <a:bodyPr wrap="square" lIns="0" tIns="0" rIns="0" bIns="0" anchor="t">
            <a:spAutoFit/>
          </a:bodyPr>
          <a:lstStyle/>
          <a:p>
            <a:pPr algn="l"/>
            <a:r>
              <a:rPr sz="1400" b="0">
                <a:solidFill>
                  <a:srgbClr val="545B64"/>
                </a:solidFill>
                <a:latin typeface="Calibri"/>
              </a:rPr>
              <a:t>Six agent personas with disjoint file ownership, and one human who holds the veto.</a:t>
            </a:r>
          </a:p>
        </p:txBody>
      </p:sp>
      <p:sp>
        <p:nvSpPr>
          <p:cNvPr id="10" name="Rounded Rectangle 9"/>
          <p:cNvSpPr/>
          <p:nvPr/>
        </p:nvSpPr>
        <p:spPr>
          <a:xfrm>
            <a:off x="566928" y="1810512"/>
            <a:ext cx="5394960" cy="841248"/>
          </a:xfrm>
          <a:prstGeom prst="roundRect">
            <a:avLst>
              <a:gd name="adj" fmla="val 6521"/>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66928" y="1810512"/>
            <a:ext cx="54864" cy="841248"/>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1901952"/>
            <a:ext cx="4937760" cy="274320"/>
          </a:xfrm>
          <a:prstGeom prst="rect">
            <a:avLst/>
          </a:prstGeom>
          <a:noFill/>
        </p:spPr>
        <p:txBody>
          <a:bodyPr wrap="square" lIns="0" tIns="0" rIns="0" bIns="0" anchor="ctr">
            <a:spAutoFit/>
          </a:bodyPr>
          <a:lstStyle/>
          <a:p>
            <a:pPr algn="l"/>
            <a:r>
              <a:rPr sz="1300" b="1">
                <a:solidFill>
                  <a:srgbClr val="232F3E"/>
                </a:solidFill>
                <a:latin typeface="Calibri"/>
              </a:rPr>
              <a:t>Coral · human</a:t>
            </a:r>
          </a:p>
        </p:txBody>
      </p:sp>
      <p:sp>
        <p:nvSpPr>
          <p:cNvPr id="13" name="TextBox 12"/>
          <p:cNvSpPr txBox="1"/>
          <p:nvPr/>
        </p:nvSpPr>
        <p:spPr>
          <a:xfrm>
            <a:off x="822960" y="2194560"/>
            <a:ext cx="4937760" cy="365760"/>
          </a:xfrm>
          <a:prstGeom prst="rect">
            <a:avLst/>
          </a:prstGeom>
          <a:noFill/>
        </p:spPr>
        <p:txBody>
          <a:bodyPr wrap="square" lIns="0" tIns="0" rIns="0" bIns="0" anchor="t">
            <a:spAutoFit/>
          </a:bodyPr>
          <a:lstStyle/>
          <a:p>
            <a:pPr algn="l"/>
            <a:r>
              <a:rPr sz="1100" b="0">
                <a:solidFill>
                  <a:srgbClr val="16191F"/>
                </a:solidFill>
                <a:latin typeface="Calibri"/>
              </a:rPr>
              <a:t>Product intent, final say, veto. Wrote none of the application code.</a:t>
            </a:r>
          </a:p>
        </p:txBody>
      </p:sp>
      <p:sp>
        <p:nvSpPr>
          <p:cNvPr id="14" name="Rounded Rectangle 13"/>
          <p:cNvSpPr/>
          <p:nvPr/>
        </p:nvSpPr>
        <p:spPr>
          <a:xfrm>
            <a:off x="6236208" y="1810512"/>
            <a:ext cx="5394960" cy="841248"/>
          </a:xfrm>
          <a:prstGeom prst="roundRect">
            <a:avLst>
              <a:gd name="adj" fmla="val 6521"/>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36208" y="1810512"/>
            <a:ext cx="54864" cy="841248"/>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92240" y="1901952"/>
            <a:ext cx="4937760" cy="274320"/>
          </a:xfrm>
          <a:prstGeom prst="rect">
            <a:avLst/>
          </a:prstGeom>
          <a:noFill/>
        </p:spPr>
        <p:txBody>
          <a:bodyPr wrap="square" lIns="0" tIns="0" rIns="0" bIns="0" anchor="ctr">
            <a:spAutoFit/>
          </a:bodyPr>
          <a:lstStyle/>
          <a:p>
            <a:pPr algn="l"/>
            <a:r>
              <a:rPr sz="1300" b="1">
                <a:solidFill>
                  <a:srgbClr val="232F3E"/>
                </a:solidFill>
                <a:latin typeface="Calibri"/>
              </a:rPr>
              <a:t>Master Agent  ·  .kiro/  ·  .github/</a:t>
            </a:r>
          </a:p>
        </p:txBody>
      </p:sp>
      <p:sp>
        <p:nvSpPr>
          <p:cNvPr id="17" name="TextBox 16"/>
          <p:cNvSpPr txBox="1"/>
          <p:nvPr/>
        </p:nvSpPr>
        <p:spPr>
          <a:xfrm>
            <a:off x="6492240" y="2194560"/>
            <a:ext cx="4937760" cy="365760"/>
          </a:xfrm>
          <a:prstGeom prst="rect">
            <a:avLst/>
          </a:prstGeom>
          <a:noFill/>
        </p:spPr>
        <p:txBody>
          <a:bodyPr wrap="square" lIns="0" tIns="0" rIns="0" bIns="0" anchor="t">
            <a:spAutoFit/>
          </a:bodyPr>
          <a:lstStyle/>
          <a:p>
            <a:pPr algn="l"/>
            <a:r>
              <a:rPr sz="1100" b="0">
                <a:solidFill>
                  <a:srgbClr val="16191F"/>
                </a:solidFill>
                <a:latin typeface="Calibri"/>
              </a:rPr>
              <a:t>Decomposes, delegates, reviews, merges — and posts the last word.</a:t>
            </a:r>
          </a:p>
        </p:txBody>
      </p:sp>
      <p:sp>
        <p:nvSpPr>
          <p:cNvPr id="18" name="Rounded Rectangle 17"/>
          <p:cNvSpPr/>
          <p:nvPr/>
        </p:nvSpPr>
        <p:spPr>
          <a:xfrm>
            <a:off x="566928" y="2871216"/>
            <a:ext cx="2095804" cy="2212848"/>
          </a:xfrm>
          <a:prstGeom prst="roundRect">
            <a:avLst>
              <a:gd name="adj" fmla="val 2617"/>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66928" y="2871216"/>
            <a:ext cx="2095804" cy="4572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13232" y="2999232"/>
            <a:ext cx="1803196" cy="256032"/>
          </a:xfrm>
          <a:prstGeom prst="rect">
            <a:avLst/>
          </a:prstGeom>
          <a:noFill/>
        </p:spPr>
        <p:txBody>
          <a:bodyPr wrap="square" lIns="0" tIns="0" rIns="0" bIns="0" anchor="ctr">
            <a:spAutoFit/>
          </a:bodyPr>
          <a:lstStyle/>
          <a:p>
            <a:pPr algn="l"/>
            <a:r>
              <a:rPr sz="1250" b="1">
                <a:solidFill>
                  <a:srgbClr val="232F3E"/>
                </a:solidFill>
                <a:latin typeface="Calibri"/>
              </a:rPr>
              <a:t>System Architect</a:t>
            </a:r>
          </a:p>
        </p:txBody>
      </p:sp>
      <p:sp>
        <p:nvSpPr>
          <p:cNvPr id="21" name="Rounded Rectangle 20"/>
          <p:cNvSpPr/>
          <p:nvPr/>
        </p:nvSpPr>
        <p:spPr>
          <a:xfrm>
            <a:off x="713232" y="3291840"/>
            <a:ext cx="1803196" cy="237744"/>
          </a:xfrm>
          <a:prstGeom prst="roundRect">
            <a:avLst>
              <a:gd name="adj" fmla="val 3076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13232" y="3291840"/>
            <a:ext cx="1803196" cy="237744"/>
          </a:xfrm>
          <a:prstGeom prst="rect">
            <a:avLst/>
          </a:prstGeom>
          <a:noFill/>
        </p:spPr>
        <p:txBody>
          <a:bodyPr wrap="square" lIns="0" tIns="0" rIns="0" bIns="0" anchor="ctr">
            <a:spAutoFit/>
          </a:bodyPr>
          <a:lstStyle/>
          <a:p>
            <a:pPr algn="ctr"/>
            <a:r>
              <a:rPr sz="1000" b="1">
                <a:solidFill>
                  <a:srgbClr val="545B64"/>
                </a:solidFill>
                <a:latin typeface="Calibri"/>
              </a:rPr>
              <a:t>src/shared/</a:t>
            </a:r>
          </a:p>
        </p:txBody>
      </p:sp>
      <p:sp>
        <p:nvSpPr>
          <p:cNvPr id="23" name="TextBox 22"/>
          <p:cNvSpPr txBox="1"/>
          <p:nvPr/>
        </p:nvSpPr>
        <p:spPr>
          <a:xfrm>
            <a:off x="713232" y="3621024"/>
            <a:ext cx="1803196" cy="676656"/>
          </a:xfrm>
          <a:prstGeom prst="rect">
            <a:avLst/>
          </a:prstGeom>
          <a:noFill/>
        </p:spPr>
        <p:txBody>
          <a:bodyPr wrap="square" lIns="0" tIns="0" rIns="0" bIns="0" anchor="t">
            <a:spAutoFit/>
          </a:bodyPr>
          <a:lstStyle/>
          <a:p>
            <a:pPr algn="l"/>
            <a:r>
              <a:rPr sz="1050" b="0">
                <a:solidFill>
                  <a:srgbClr val="16191F"/>
                </a:solidFill>
                <a:latin typeface="Calibri"/>
              </a:rPr>
              <a:t>Contracts and shared types. Writes the spec before anyone branches.</a:t>
            </a:r>
          </a:p>
        </p:txBody>
      </p:sp>
      <p:sp>
        <p:nvSpPr>
          <p:cNvPr id="24" name="Rectangle 23"/>
          <p:cNvSpPr/>
          <p:nvPr/>
        </p:nvSpPr>
        <p:spPr>
          <a:xfrm>
            <a:off x="713232" y="4334256"/>
            <a:ext cx="1803196"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13232" y="4407408"/>
            <a:ext cx="1803196" cy="603504"/>
          </a:xfrm>
          <a:prstGeom prst="rect">
            <a:avLst/>
          </a:prstGeom>
          <a:noFill/>
        </p:spPr>
        <p:txBody>
          <a:bodyPr wrap="square" lIns="0" tIns="0" rIns="0" bIns="0" anchor="t">
            <a:spAutoFit/>
          </a:bodyPr>
          <a:lstStyle/>
          <a:p>
            <a:pPr algn="l"/>
            <a:r>
              <a:rPr sz="1000" b="0">
                <a:solidFill>
                  <a:srgbClr val="545B64"/>
                </a:solidFill>
                <a:latin typeface="Calibri"/>
              </a:rPr>
              <a:t>#2 shared types · #41 category lookups · #44 preferenceCategoryCount</a:t>
            </a:r>
          </a:p>
        </p:txBody>
      </p:sp>
      <p:sp>
        <p:nvSpPr>
          <p:cNvPr id="26" name="Rounded Rectangle 25"/>
          <p:cNvSpPr/>
          <p:nvPr/>
        </p:nvSpPr>
        <p:spPr>
          <a:xfrm>
            <a:off x="2809036" y="2871216"/>
            <a:ext cx="2095804" cy="2212848"/>
          </a:xfrm>
          <a:prstGeom prst="roundRect">
            <a:avLst>
              <a:gd name="adj" fmla="val 2617"/>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2809036" y="2871216"/>
            <a:ext cx="2095804" cy="4572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955340" y="2999232"/>
            <a:ext cx="1803196" cy="256032"/>
          </a:xfrm>
          <a:prstGeom prst="rect">
            <a:avLst/>
          </a:prstGeom>
          <a:noFill/>
        </p:spPr>
        <p:txBody>
          <a:bodyPr wrap="square" lIns="0" tIns="0" rIns="0" bIns="0" anchor="ctr">
            <a:spAutoFit/>
          </a:bodyPr>
          <a:lstStyle/>
          <a:p>
            <a:pPr algn="l"/>
            <a:r>
              <a:rPr sz="1250" b="1">
                <a:solidFill>
                  <a:srgbClr val="232F3E"/>
                </a:solidFill>
                <a:latin typeface="Calibri"/>
              </a:rPr>
              <a:t>Frontend Dev</a:t>
            </a:r>
          </a:p>
        </p:txBody>
      </p:sp>
      <p:sp>
        <p:nvSpPr>
          <p:cNvPr id="29" name="Rounded Rectangle 28"/>
          <p:cNvSpPr/>
          <p:nvPr/>
        </p:nvSpPr>
        <p:spPr>
          <a:xfrm>
            <a:off x="2955340" y="3291840"/>
            <a:ext cx="1803196" cy="237744"/>
          </a:xfrm>
          <a:prstGeom prst="roundRect">
            <a:avLst>
              <a:gd name="adj" fmla="val 3076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955340" y="3291840"/>
            <a:ext cx="1803196" cy="237744"/>
          </a:xfrm>
          <a:prstGeom prst="rect">
            <a:avLst/>
          </a:prstGeom>
          <a:noFill/>
        </p:spPr>
        <p:txBody>
          <a:bodyPr wrap="square" lIns="0" tIns="0" rIns="0" bIns="0" anchor="ctr">
            <a:spAutoFit/>
          </a:bodyPr>
          <a:lstStyle/>
          <a:p>
            <a:pPr algn="ctr"/>
            <a:r>
              <a:rPr sz="1000" b="1">
                <a:solidFill>
                  <a:srgbClr val="545B64"/>
                </a:solidFill>
                <a:latin typeface="Calibri"/>
              </a:rPr>
              <a:t>src/client/</a:t>
            </a:r>
          </a:p>
        </p:txBody>
      </p:sp>
      <p:sp>
        <p:nvSpPr>
          <p:cNvPr id="31" name="TextBox 30"/>
          <p:cNvSpPr txBox="1"/>
          <p:nvPr/>
        </p:nvSpPr>
        <p:spPr>
          <a:xfrm>
            <a:off x="2955340" y="3621024"/>
            <a:ext cx="1803196" cy="676656"/>
          </a:xfrm>
          <a:prstGeom prst="rect">
            <a:avLst/>
          </a:prstGeom>
          <a:noFill/>
        </p:spPr>
        <p:txBody>
          <a:bodyPr wrap="square" lIns="0" tIns="0" rIns="0" bIns="0" anchor="t">
            <a:spAutoFit/>
          </a:bodyPr>
          <a:lstStyle/>
          <a:p>
            <a:pPr algn="l"/>
            <a:r>
              <a:rPr sz="1050" b="0">
                <a:solidFill>
                  <a:srgbClr val="16191F"/>
                </a:solidFill>
                <a:latin typeface="Calibri"/>
              </a:rPr>
              <a:t>Components, hooks, state. Cannot touch shared types.</a:t>
            </a:r>
          </a:p>
        </p:txBody>
      </p:sp>
      <p:sp>
        <p:nvSpPr>
          <p:cNvPr id="32" name="Rectangle 31"/>
          <p:cNvSpPr/>
          <p:nvPr/>
        </p:nvSpPr>
        <p:spPr>
          <a:xfrm>
            <a:off x="2955340" y="4334256"/>
            <a:ext cx="1803196"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955340" y="4407408"/>
            <a:ext cx="1803196" cy="603504"/>
          </a:xfrm>
          <a:prstGeom prst="rect">
            <a:avLst/>
          </a:prstGeom>
          <a:noFill/>
        </p:spPr>
        <p:txBody>
          <a:bodyPr wrap="square" lIns="0" tIns="0" rIns="0" bIns="0" anchor="t">
            <a:spAutoFit/>
          </a:bodyPr>
          <a:lstStyle/>
          <a:p>
            <a:pPr algn="l"/>
            <a:r>
              <a:rPr sz="1000" b="0">
                <a:solidFill>
                  <a:srgbClr val="545B64"/>
                </a:solidFill>
                <a:latin typeface="Calibri"/>
              </a:rPr>
              <a:t>#3 chat UI · #58 Partner Profile Panel, 27 files · #65 live architecture view</a:t>
            </a:r>
          </a:p>
        </p:txBody>
      </p:sp>
      <p:sp>
        <p:nvSpPr>
          <p:cNvPr id="34" name="Rounded Rectangle 33"/>
          <p:cNvSpPr/>
          <p:nvPr/>
        </p:nvSpPr>
        <p:spPr>
          <a:xfrm>
            <a:off x="5051145" y="2871216"/>
            <a:ext cx="2095804" cy="2212848"/>
          </a:xfrm>
          <a:prstGeom prst="roundRect">
            <a:avLst>
              <a:gd name="adj" fmla="val 2617"/>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5051145" y="2871216"/>
            <a:ext cx="2095804" cy="4572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197449" y="2999232"/>
            <a:ext cx="1803196" cy="256032"/>
          </a:xfrm>
          <a:prstGeom prst="rect">
            <a:avLst/>
          </a:prstGeom>
          <a:noFill/>
        </p:spPr>
        <p:txBody>
          <a:bodyPr wrap="square" lIns="0" tIns="0" rIns="0" bIns="0" anchor="ctr">
            <a:spAutoFit/>
          </a:bodyPr>
          <a:lstStyle/>
          <a:p>
            <a:pPr algn="l"/>
            <a:r>
              <a:rPr sz="1250" b="1">
                <a:solidFill>
                  <a:srgbClr val="232F3E"/>
                </a:solidFill>
                <a:latin typeface="Calibri"/>
              </a:rPr>
              <a:t>Backend Dev</a:t>
            </a:r>
          </a:p>
        </p:txBody>
      </p:sp>
      <p:sp>
        <p:nvSpPr>
          <p:cNvPr id="37" name="Rounded Rectangle 36"/>
          <p:cNvSpPr/>
          <p:nvPr/>
        </p:nvSpPr>
        <p:spPr>
          <a:xfrm>
            <a:off x="5197449" y="3291840"/>
            <a:ext cx="1803196" cy="237744"/>
          </a:xfrm>
          <a:prstGeom prst="roundRect">
            <a:avLst>
              <a:gd name="adj" fmla="val 3076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197449" y="3291840"/>
            <a:ext cx="1803196" cy="237744"/>
          </a:xfrm>
          <a:prstGeom prst="rect">
            <a:avLst/>
          </a:prstGeom>
          <a:noFill/>
        </p:spPr>
        <p:txBody>
          <a:bodyPr wrap="square" lIns="0" tIns="0" rIns="0" bIns="0" anchor="ctr">
            <a:spAutoFit/>
          </a:bodyPr>
          <a:lstStyle/>
          <a:p>
            <a:pPr algn="ctr"/>
            <a:r>
              <a:rPr sz="1000" b="1">
                <a:solidFill>
                  <a:srgbClr val="545B64"/>
                </a:solidFill>
                <a:latin typeface="Calibri"/>
              </a:rPr>
              <a:t>src/server/</a:t>
            </a:r>
          </a:p>
        </p:txBody>
      </p:sp>
      <p:sp>
        <p:nvSpPr>
          <p:cNvPr id="39" name="TextBox 38"/>
          <p:cNvSpPr txBox="1"/>
          <p:nvPr/>
        </p:nvSpPr>
        <p:spPr>
          <a:xfrm>
            <a:off x="5197449" y="3621024"/>
            <a:ext cx="1803196" cy="676656"/>
          </a:xfrm>
          <a:prstGeom prst="rect">
            <a:avLst/>
          </a:prstGeom>
          <a:noFill/>
        </p:spPr>
        <p:txBody>
          <a:bodyPr wrap="square" lIns="0" tIns="0" rIns="0" bIns="0" anchor="t">
            <a:spAutoFit/>
          </a:bodyPr>
          <a:lstStyle/>
          <a:p>
            <a:pPr algn="l"/>
            <a:r>
              <a:rPr sz="1050" b="0">
                <a:solidFill>
                  <a:srgbClr val="16191F"/>
                </a:solidFill>
                <a:latin typeface="Calibri"/>
              </a:rPr>
              <a:t>API, Bedrock extraction, persistence. Cannot touch the client.</a:t>
            </a:r>
          </a:p>
        </p:txBody>
      </p:sp>
      <p:sp>
        <p:nvSpPr>
          <p:cNvPr id="40" name="Rectangle 39"/>
          <p:cNvSpPr/>
          <p:nvPr/>
        </p:nvSpPr>
        <p:spPr>
          <a:xfrm>
            <a:off x="5197449" y="4334256"/>
            <a:ext cx="1803196"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197449" y="4407408"/>
            <a:ext cx="1803196" cy="603504"/>
          </a:xfrm>
          <a:prstGeom prst="rect">
            <a:avLst/>
          </a:prstGeom>
          <a:noFill/>
        </p:spPr>
        <p:txBody>
          <a:bodyPr wrap="square" lIns="0" tIns="0" rIns="0" bIns="0" anchor="t">
            <a:spAutoFit/>
          </a:bodyPr>
          <a:lstStyle/>
          <a:p>
            <a:pPr algn="l"/>
            <a:r>
              <a:rPr sz="1000" b="0">
                <a:solidFill>
                  <a:srgbClr val="545B64"/>
                </a:solidFill>
                <a:latin typeface="Calibri"/>
              </a:rPr>
              <a:t>#4 API and orchestrator · #15 real Bedrock SDK · #64 demo seeding and reset</a:t>
            </a:r>
          </a:p>
        </p:txBody>
      </p:sp>
      <p:sp>
        <p:nvSpPr>
          <p:cNvPr id="42" name="Rounded Rectangle 41"/>
          <p:cNvSpPr/>
          <p:nvPr/>
        </p:nvSpPr>
        <p:spPr>
          <a:xfrm>
            <a:off x="7293254" y="2871216"/>
            <a:ext cx="2095804" cy="2212848"/>
          </a:xfrm>
          <a:prstGeom prst="roundRect">
            <a:avLst>
              <a:gd name="adj" fmla="val 2617"/>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7293254" y="2871216"/>
            <a:ext cx="2095804" cy="4572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439558" y="2999232"/>
            <a:ext cx="1803196" cy="256032"/>
          </a:xfrm>
          <a:prstGeom prst="rect">
            <a:avLst/>
          </a:prstGeom>
          <a:noFill/>
        </p:spPr>
        <p:txBody>
          <a:bodyPr wrap="square" lIns="0" tIns="0" rIns="0" bIns="0" anchor="ctr">
            <a:spAutoFit/>
          </a:bodyPr>
          <a:lstStyle/>
          <a:p>
            <a:pPr algn="l"/>
            <a:r>
              <a:rPr sz="1250" b="1">
                <a:solidFill>
                  <a:srgbClr val="232F3E"/>
                </a:solidFill>
                <a:latin typeface="Calibri"/>
              </a:rPr>
              <a:t>UI Designer</a:t>
            </a:r>
          </a:p>
        </p:txBody>
      </p:sp>
      <p:sp>
        <p:nvSpPr>
          <p:cNvPr id="45" name="Rounded Rectangle 44"/>
          <p:cNvSpPr/>
          <p:nvPr/>
        </p:nvSpPr>
        <p:spPr>
          <a:xfrm>
            <a:off x="7439558" y="3291840"/>
            <a:ext cx="1803196" cy="237744"/>
          </a:xfrm>
          <a:prstGeom prst="roundRect">
            <a:avLst>
              <a:gd name="adj" fmla="val 3076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439558" y="3291840"/>
            <a:ext cx="1803196" cy="237744"/>
          </a:xfrm>
          <a:prstGeom prst="rect">
            <a:avLst/>
          </a:prstGeom>
          <a:noFill/>
        </p:spPr>
        <p:txBody>
          <a:bodyPr wrap="square" lIns="0" tIns="0" rIns="0" bIns="0" anchor="ctr">
            <a:spAutoFit/>
          </a:bodyPr>
          <a:lstStyle/>
          <a:p>
            <a:pPr algn="ctr"/>
            <a:r>
              <a:rPr sz="1000" b="1">
                <a:solidFill>
                  <a:srgbClr val="545B64"/>
                </a:solidFill>
                <a:latin typeface="Calibri"/>
              </a:rPr>
              <a:t>design-system/</a:t>
            </a:r>
          </a:p>
        </p:txBody>
      </p:sp>
      <p:sp>
        <p:nvSpPr>
          <p:cNvPr id="47" name="TextBox 46"/>
          <p:cNvSpPr txBox="1"/>
          <p:nvPr/>
        </p:nvSpPr>
        <p:spPr>
          <a:xfrm>
            <a:off x="7439558" y="3621024"/>
            <a:ext cx="1803196" cy="676656"/>
          </a:xfrm>
          <a:prstGeom prst="rect">
            <a:avLst/>
          </a:prstGeom>
          <a:noFill/>
        </p:spPr>
        <p:txBody>
          <a:bodyPr wrap="square" lIns="0" tIns="0" rIns="0" bIns="0" anchor="t">
            <a:spAutoFit/>
          </a:bodyPr>
          <a:lstStyle/>
          <a:p>
            <a:pPr algn="l"/>
            <a:r>
              <a:rPr sz="1050" b="0">
                <a:solidFill>
                  <a:srgbClr val="16191F"/>
                </a:solidFill>
                <a:latin typeface="Calibri"/>
              </a:rPr>
              <a:t>Tokens, accessibility, eight real mockups to choose from.</a:t>
            </a:r>
          </a:p>
        </p:txBody>
      </p:sp>
      <p:sp>
        <p:nvSpPr>
          <p:cNvPr id="48" name="Rectangle 47"/>
          <p:cNvSpPr/>
          <p:nvPr/>
        </p:nvSpPr>
        <p:spPr>
          <a:xfrm>
            <a:off x="7439558" y="4334256"/>
            <a:ext cx="1803196"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439558" y="4407408"/>
            <a:ext cx="1803196" cy="603504"/>
          </a:xfrm>
          <a:prstGeom prst="rect">
            <a:avLst/>
          </a:prstGeom>
          <a:noFill/>
        </p:spPr>
        <p:txBody>
          <a:bodyPr wrap="square" lIns="0" tIns="0" rIns="0" bIns="0" anchor="t">
            <a:spAutoFit/>
          </a:bodyPr>
          <a:lstStyle/>
          <a:p>
            <a:pPr algn="l"/>
            <a:r>
              <a:rPr sz="1000" b="0">
                <a:solidFill>
                  <a:srgbClr val="545B64"/>
                </a:solidFill>
                <a:latin typeface="Calibri"/>
              </a:rPr>
              <a:t>#16 refined palette · #22 component pass · 8 mockups, one shipped</a:t>
            </a:r>
          </a:p>
        </p:txBody>
      </p:sp>
      <p:sp>
        <p:nvSpPr>
          <p:cNvPr id="50" name="Rounded Rectangle 49"/>
          <p:cNvSpPr/>
          <p:nvPr/>
        </p:nvSpPr>
        <p:spPr>
          <a:xfrm>
            <a:off x="9535363" y="2871216"/>
            <a:ext cx="2095804" cy="2212848"/>
          </a:xfrm>
          <a:prstGeom prst="roundRect">
            <a:avLst>
              <a:gd name="adj" fmla="val 2617"/>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9535363" y="2871216"/>
            <a:ext cx="2095804" cy="4572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9681667" y="2999232"/>
            <a:ext cx="1803196" cy="256032"/>
          </a:xfrm>
          <a:prstGeom prst="rect">
            <a:avLst/>
          </a:prstGeom>
          <a:noFill/>
        </p:spPr>
        <p:txBody>
          <a:bodyPr wrap="square" lIns="0" tIns="0" rIns="0" bIns="0" anchor="ctr">
            <a:spAutoFit/>
          </a:bodyPr>
          <a:lstStyle/>
          <a:p>
            <a:pPr algn="l"/>
            <a:r>
              <a:rPr sz="1250" b="1">
                <a:solidFill>
                  <a:srgbClr val="232F3E"/>
                </a:solidFill>
                <a:latin typeface="Calibri"/>
              </a:rPr>
              <a:t>QA Agent</a:t>
            </a:r>
          </a:p>
        </p:txBody>
      </p:sp>
      <p:sp>
        <p:nvSpPr>
          <p:cNvPr id="53" name="Rounded Rectangle 52"/>
          <p:cNvSpPr/>
          <p:nvPr/>
        </p:nvSpPr>
        <p:spPr>
          <a:xfrm>
            <a:off x="9681667" y="3291840"/>
            <a:ext cx="1803196" cy="237744"/>
          </a:xfrm>
          <a:prstGeom prst="roundRect">
            <a:avLst>
              <a:gd name="adj" fmla="val 3076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9681667" y="3291840"/>
            <a:ext cx="1803196" cy="237744"/>
          </a:xfrm>
          <a:prstGeom prst="rect">
            <a:avLst/>
          </a:prstGeom>
          <a:noFill/>
        </p:spPr>
        <p:txBody>
          <a:bodyPr wrap="square" lIns="0" tIns="0" rIns="0" bIns="0" anchor="ctr">
            <a:spAutoFit/>
          </a:bodyPr>
          <a:lstStyle/>
          <a:p>
            <a:pPr algn="ctr"/>
            <a:r>
              <a:rPr sz="1000" b="1">
                <a:solidFill>
                  <a:srgbClr val="545B64"/>
                </a:solidFill>
                <a:latin typeface="Calibri"/>
              </a:rPr>
              <a:t>e2e/</a:t>
            </a:r>
          </a:p>
        </p:txBody>
      </p:sp>
      <p:sp>
        <p:nvSpPr>
          <p:cNvPr id="55" name="TextBox 54"/>
          <p:cNvSpPr txBox="1"/>
          <p:nvPr/>
        </p:nvSpPr>
        <p:spPr>
          <a:xfrm>
            <a:off x="9681667" y="3621024"/>
            <a:ext cx="1803196" cy="676656"/>
          </a:xfrm>
          <a:prstGeom prst="rect">
            <a:avLst/>
          </a:prstGeom>
          <a:noFill/>
        </p:spPr>
        <p:txBody>
          <a:bodyPr wrap="square" lIns="0" tIns="0" rIns="0" bIns="0" anchor="t">
            <a:spAutoFit/>
          </a:bodyPr>
          <a:lstStyle/>
          <a:p>
            <a:pPr algn="l"/>
            <a:r>
              <a:rPr sz="1050" b="0">
                <a:solidFill>
                  <a:srgbClr val="16191F"/>
                </a:solidFill>
                <a:latin typeface="Calibri"/>
              </a:rPr>
              <a:t>Playwright E2E and regression coverage. Cannot touch src at all.</a:t>
            </a:r>
          </a:p>
        </p:txBody>
      </p:sp>
      <p:sp>
        <p:nvSpPr>
          <p:cNvPr id="56" name="Rectangle 55"/>
          <p:cNvSpPr/>
          <p:nvPr/>
        </p:nvSpPr>
        <p:spPr>
          <a:xfrm>
            <a:off x="9681667" y="4334256"/>
            <a:ext cx="1803196"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681667" y="4407408"/>
            <a:ext cx="1803196" cy="603504"/>
          </a:xfrm>
          <a:prstGeom prst="rect">
            <a:avLst/>
          </a:prstGeom>
          <a:noFill/>
        </p:spPr>
        <p:txBody>
          <a:bodyPr wrap="square" lIns="0" tIns="0" rIns="0" bIns="0" anchor="t">
            <a:spAutoFit/>
          </a:bodyPr>
          <a:lstStyle/>
          <a:p>
            <a:pPr algn="l"/>
            <a:r>
              <a:rPr sz="1000" b="0">
                <a:solidFill>
                  <a:srgbClr val="545B64"/>
                </a:solidFill>
                <a:latin typeface="Calibri"/>
              </a:rPr>
              <a:t>#8 onboarding and responsive · 5 PRs purely for coverage · 376 tests green</a:t>
            </a:r>
          </a:p>
        </p:txBody>
      </p:sp>
      <p:sp>
        <p:nvSpPr>
          <p:cNvPr id="58" name="TextBox 57"/>
          <p:cNvSpPr txBox="1"/>
          <p:nvPr/>
        </p:nvSpPr>
        <p:spPr>
          <a:xfrm>
            <a:off x="566928" y="5285232"/>
            <a:ext cx="11064240" cy="512064"/>
          </a:xfrm>
          <a:prstGeom prst="rect">
            <a:avLst/>
          </a:prstGeom>
          <a:noFill/>
        </p:spPr>
        <p:txBody>
          <a:bodyPr wrap="square" lIns="0" tIns="0" rIns="0" bIns="0" anchor="t">
            <a:spAutoFit/>
          </a:bodyPr>
          <a:lstStyle/>
          <a:p>
            <a:pPr algn="l"/>
            <a:r>
              <a:rPr sz="1100" b="0">
                <a:solidFill>
                  <a:srgbClr val="545B64"/>
                </a:solidFill>
                <a:latin typeface="Calibri"/>
              </a:rPr>
              <a:t>Each is a prompt file in .kiro/agents/ with a voice exemplar and an explicit do-not-modify list. Disjoint ownership is what keeps five agents editing at once from being a merge-conflict generator.</a:t>
            </a:r>
          </a:p>
        </p:txBody>
      </p:sp>
      <p:sp>
        <p:nvSpPr>
          <p:cNvPr id="59" name="Rounded Rectangle 58"/>
          <p:cNvSpPr/>
          <p:nvPr/>
        </p:nvSpPr>
        <p:spPr>
          <a:xfrm>
            <a:off x="566928" y="5870448"/>
            <a:ext cx="11064240" cy="384048"/>
          </a:xfrm>
          <a:prstGeom prst="roundRect">
            <a:avLst>
              <a:gd name="adj" fmla="val 2380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768096" y="5870448"/>
            <a:ext cx="10661904" cy="384048"/>
          </a:xfrm>
          <a:prstGeom prst="rect">
            <a:avLst/>
          </a:prstGeom>
          <a:noFill/>
        </p:spPr>
        <p:txBody>
          <a:bodyPr wrap="square" lIns="0" tIns="0" rIns="0" bIns="0" anchor="ctr">
            <a:spAutoFit/>
          </a:bodyPr>
          <a:lstStyle/>
          <a:p>
            <a:pPr algn="l"/>
            <a:r>
              <a:rPr sz="1100" b="1">
                <a:solidFill>
                  <a:srgbClr val="232F3E"/>
                </a:solidFill>
                <a:latin typeface="Calibri"/>
              </a:rPr>
              <a:t>57 pull requests  ·  49 merged  ·  93 review comments  ·  </a:t>
            </a:r>
            <a:r>
              <a:rPr sz="1100" b="0">
                <a:solidFill>
                  <a:srgbClr val="232F3E"/>
                </a:solidFill>
                <a:latin typeface="Calibri"/>
              </a:rPr>
              <a:t>I wrote none of the application code.</a:t>
            </a:r>
          </a:p>
        </p:txBody>
      </p:sp>
      <p:sp>
        <p:nvSpPr>
          <p:cNvPr id="61" name="Rounded Rectangle 60">
            <a:extLst>
              <a:ext uri="{FF2B5EF4-FFF2-40B4-BE49-F238E27FC236}">
                <a16:creationId xmlns:a16="http://schemas.microsoft.com/office/drawing/2014/main" id="{681E6B9F-A12F-11AD-EA98-6F20384615ED}"/>
              </a:ext>
            </a:extLst>
          </p:cNvPr>
          <p:cNvSpPr/>
          <p:nvPr/>
        </p:nvSpPr>
        <p:spPr>
          <a:xfrm>
            <a:off x="2775726" y="1453896"/>
            <a:ext cx="3180067"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Take the old cutest version with the icons and </a:t>
            </a:r>
            <a:r>
              <a:rPr lang="he-IL" dirty="0">
                <a:solidFill>
                  <a:srgbClr val="FF0000"/>
                </a:solidFill>
                <a:highlight>
                  <a:srgbClr val="FFFF00"/>
                </a:highlight>
              </a:rPr>
              <a:t>אילן יוחסין</a:t>
            </a:r>
            <a:r>
              <a:rPr lang="en-US" dirty="0">
                <a:solidFill>
                  <a:srgbClr val="FF0000"/>
                </a:solidFill>
                <a:highlight>
                  <a:srgbClr val="FFFF00"/>
                </a:highlight>
              </a:rPr>
              <a:t>of the old one</a:t>
            </a:r>
            <a:endParaRPr dirty="0">
              <a:solidFill>
                <a:srgbClr val="FF0000"/>
              </a:solidFill>
              <a:highlight>
                <a:srgbClr val="FFFF00"/>
              </a:high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15</a:t>
            </a:r>
          </a:p>
        </p:txBody>
      </p:sp>
      <p:sp>
        <p:nvSpPr>
          <p:cNvPr id="5" name="TextBox 4"/>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16 / 18</a:t>
            </a:r>
          </a:p>
        </p:txBody>
      </p:sp>
      <p:sp>
        <p:nvSpPr>
          <p:cNvPr id="7" name="TextBox 6"/>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Every node is a real pull request</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11155680" cy="384048"/>
          </a:xfrm>
          <a:prstGeom prst="rect">
            <a:avLst/>
          </a:prstGeom>
          <a:noFill/>
        </p:spPr>
        <p:txBody>
          <a:bodyPr wrap="square" lIns="0" tIns="0" rIns="0" bIns="0" anchor="t">
            <a:spAutoFit/>
          </a:bodyPr>
          <a:lstStyle/>
          <a:p>
            <a:pPr algn="l"/>
            <a:r>
              <a:rPr sz="1400" b="0">
                <a:solidFill>
                  <a:srgbClr val="545B64"/>
                </a:solidFill>
                <a:latin typeface="Calibri"/>
              </a:rPr>
              <a:t>Fifty-seven of them, in the order they were opened, connected to where they merged.</a:t>
            </a:r>
          </a:p>
        </p:txBody>
      </p:sp>
      <p:sp>
        <p:nvSpPr>
          <p:cNvPr id="10" name="Rounded Rectangle 9"/>
          <p:cNvSpPr/>
          <p:nvPr/>
        </p:nvSpPr>
        <p:spPr>
          <a:xfrm>
            <a:off x="566928" y="4956048"/>
            <a:ext cx="2656332" cy="786384"/>
          </a:xfrm>
          <a:prstGeom prst="roundRect">
            <a:avLst>
              <a:gd name="adj" fmla="val 6976"/>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5010912"/>
            <a:ext cx="914400" cy="365760"/>
          </a:xfrm>
          <a:prstGeom prst="rect">
            <a:avLst/>
          </a:prstGeom>
          <a:noFill/>
        </p:spPr>
        <p:txBody>
          <a:bodyPr wrap="square" lIns="0" tIns="0" rIns="0" bIns="0" anchor="ctr">
            <a:spAutoFit/>
          </a:bodyPr>
          <a:lstStyle/>
          <a:p>
            <a:pPr algn="l"/>
            <a:r>
              <a:rPr sz="2000" b="1">
                <a:solidFill>
                  <a:srgbClr val="232F3E"/>
                </a:solidFill>
                <a:latin typeface="Calibri"/>
              </a:rPr>
              <a:t>57</a:t>
            </a:r>
          </a:p>
        </p:txBody>
      </p:sp>
      <p:sp>
        <p:nvSpPr>
          <p:cNvPr id="12" name="TextBox 11"/>
          <p:cNvSpPr txBox="1"/>
          <p:nvPr/>
        </p:nvSpPr>
        <p:spPr>
          <a:xfrm>
            <a:off x="1627631" y="5010912"/>
            <a:ext cx="1431035" cy="365760"/>
          </a:xfrm>
          <a:prstGeom prst="rect">
            <a:avLst/>
          </a:prstGeom>
          <a:noFill/>
        </p:spPr>
        <p:txBody>
          <a:bodyPr wrap="square" lIns="0" tIns="0" rIns="0" bIns="0" anchor="ctr">
            <a:spAutoFit/>
          </a:bodyPr>
          <a:lstStyle/>
          <a:p>
            <a:pPr algn="l"/>
            <a:r>
              <a:rPr sz="1200" b="1">
                <a:solidFill>
                  <a:srgbClr val="232F3E"/>
                </a:solidFill>
                <a:latin typeface="Calibri"/>
              </a:rPr>
              <a:t>pull requests</a:t>
            </a:r>
          </a:p>
        </p:txBody>
      </p:sp>
      <p:sp>
        <p:nvSpPr>
          <p:cNvPr id="13" name="TextBox 12"/>
          <p:cNvSpPr txBox="1"/>
          <p:nvPr/>
        </p:nvSpPr>
        <p:spPr>
          <a:xfrm>
            <a:off x="731520" y="5394960"/>
            <a:ext cx="2327148" cy="292608"/>
          </a:xfrm>
          <a:prstGeom prst="rect">
            <a:avLst/>
          </a:prstGeom>
          <a:noFill/>
        </p:spPr>
        <p:txBody>
          <a:bodyPr wrap="square" lIns="0" tIns="0" rIns="0" bIns="0" anchor="ctr">
            <a:spAutoFit/>
          </a:bodyPr>
          <a:lstStyle/>
          <a:p>
            <a:pPr algn="l"/>
            <a:r>
              <a:rPr sz="1000" b="0">
                <a:solidFill>
                  <a:srgbClr val="545B64"/>
                </a:solidFill>
                <a:latin typeface="Calibri"/>
              </a:rPr>
              <a:t>49 merged · 7 closed · 1 open</a:t>
            </a:r>
          </a:p>
        </p:txBody>
      </p:sp>
      <p:sp>
        <p:nvSpPr>
          <p:cNvPr id="14" name="Rounded Rectangle 13"/>
          <p:cNvSpPr/>
          <p:nvPr/>
        </p:nvSpPr>
        <p:spPr>
          <a:xfrm>
            <a:off x="3369564" y="4956048"/>
            <a:ext cx="2656332" cy="786384"/>
          </a:xfrm>
          <a:prstGeom prst="roundRect">
            <a:avLst>
              <a:gd name="adj" fmla="val 6976"/>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34156" y="5010912"/>
            <a:ext cx="914400" cy="365760"/>
          </a:xfrm>
          <a:prstGeom prst="rect">
            <a:avLst/>
          </a:prstGeom>
          <a:noFill/>
        </p:spPr>
        <p:txBody>
          <a:bodyPr wrap="square" lIns="0" tIns="0" rIns="0" bIns="0" anchor="ctr">
            <a:spAutoFit/>
          </a:bodyPr>
          <a:lstStyle/>
          <a:p>
            <a:pPr algn="l"/>
            <a:r>
              <a:rPr sz="2000" b="1">
                <a:solidFill>
                  <a:srgbClr val="232F3E"/>
                </a:solidFill>
                <a:latin typeface="Calibri"/>
              </a:rPr>
              <a:t>176</a:t>
            </a:r>
          </a:p>
        </p:txBody>
      </p:sp>
      <p:sp>
        <p:nvSpPr>
          <p:cNvPr id="16" name="TextBox 15"/>
          <p:cNvSpPr txBox="1"/>
          <p:nvPr/>
        </p:nvSpPr>
        <p:spPr>
          <a:xfrm>
            <a:off x="4430268" y="5010912"/>
            <a:ext cx="1431035" cy="365760"/>
          </a:xfrm>
          <a:prstGeom prst="rect">
            <a:avLst/>
          </a:prstGeom>
          <a:noFill/>
        </p:spPr>
        <p:txBody>
          <a:bodyPr wrap="square" lIns="0" tIns="0" rIns="0" bIns="0" anchor="ctr">
            <a:spAutoFit/>
          </a:bodyPr>
          <a:lstStyle/>
          <a:p>
            <a:pPr algn="l"/>
            <a:r>
              <a:rPr sz="1200" b="1">
                <a:solidFill>
                  <a:srgbClr val="232F3E"/>
                </a:solidFill>
                <a:latin typeface="Calibri"/>
              </a:rPr>
              <a:t>commits</a:t>
            </a:r>
          </a:p>
        </p:txBody>
      </p:sp>
      <p:sp>
        <p:nvSpPr>
          <p:cNvPr id="17" name="TextBox 16"/>
          <p:cNvSpPr txBox="1"/>
          <p:nvPr/>
        </p:nvSpPr>
        <p:spPr>
          <a:xfrm>
            <a:off x="3534156" y="5394960"/>
            <a:ext cx="2327148" cy="292608"/>
          </a:xfrm>
          <a:prstGeom prst="rect">
            <a:avLst/>
          </a:prstGeom>
          <a:noFill/>
        </p:spPr>
        <p:txBody>
          <a:bodyPr wrap="square" lIns="0" tIns="0" rIns="0" bIns="0" anchor="ctr">
            <a:spAutoFit/>
          </a:bodyPr>
          <a:lstStyle/>
          <a:p>
            <a:pPr algn="l"/>
            <a:r>
              <a:rPr sz="1000" b="0">
                <a:solidFill>
                  <a:srgbClr val="545B64"/>
                </a:solidFill>
                <a:latin typeface="Calibri"/>
              </a:rPr>
              <a:t>+34,549 lines, 436 files</a:t>
            </a:r>
          </a:p>
        </p:txBody>
      </p:sp>
      <p:sp>
        <p:nvSpPr>
          <p:cNvPr id="18" name="Rounded Rectangle 17"/>
          <p:cNvSpPr/>
          <p:nvPr/>
        </p:nvSpPr>
        <p:spPr>
          <a:xfrm>
            <a:off x="6172200" y="4956048"/>
            <a:ext cx="2656332" cy="786384"/>
          </a:xfrm>
          <a:prstGeom prst="roundRect">
            <a:avLst>
              <a:gd name="adj" fmla="val 6976"/>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36792" y="5010912"/>
            <a:ext cx="914400" cy="365760"/>
          </a:xfrm>
          <a:prstGeom prst="rect">
            <a:avLst/>
          </a:prstGeom>
          <a:noFill/>
        </p:spPr>
        <p:txBody>
          <a:bodyPr wrap="square" lIns="0" tIns="0" rIns="0" bIns="0" anchor="ctr">
            <a:spAutoFit/>
          </a:bodyPr>
          <a:lstStyle/>
          <a:p>
            <a:pPr algn="l"/>
            <a:r>
              <a:rPr sz="2000" b="1">
                <a:solidFill>
                  <a:srgbClr val="232F3E"/>
                </a:solidFill>
                <a:latin typeface="Calibri"/>
              </a:rPr>
              <a:t>93</a:t>
            </a:r>
          </a:p>
        </p:txBody>
      </p:sp>
      <p:sp>
        <p:nvSpPr>
          <p:cNvPr id="20" name="TextBox 19"/>
          <p:cNvSpPr txBox="1"/>
          <p:nvPr/>
        </p:nvSpPr>
        <p:spPr>
          <a:xfrm>
            <a:off x="7232904" y="5010912"/>
            <a:ext cx="1431035" cy="365760"/>
          </a:xfrm>
          <a:prstGeom prst="rect">
            <a:avLst/>
          </a:prstGeom>
          <a:noFill/>
        </p:spPr>
        <p:txBody>
          <a:bodyPr wrap="square" lIns="0" tIns="0" rIns="0" bIns="0" anchor="ctr">
            <a:spAutoFit/>
          </a:bodyPr>
          <a:lstStyle/>
          <a:p>
            <a:pPr algn="l"/>
            <a:r>
              <a:rPr sz="1200" b="1">
                <a:solidFill>
                  <a:srgbClr val="232F3E"/>
                </a:solidFill>
                <a:latin typeface="Calibri"/>
              </a:rPr>
              <a:t>review comments</a:t>
            </a:r>
          </a:p>
        </p:txBody>
      </p:sp>
      <p:sp>
        <p:nvSpPr>
          <p:cNvPr id="21" name="TextBox 20"/>
          <p:cNvSpPr txBox="1"/>
          <p:nvPr/>
        </p:nvSpPr>
        <p:spPr>
          <a:xfrm>
            <a:off x="6336792" y="5394960"/>
            <a:ext cx="2327148" cy="292608"/>
          </a:xfrm>
          <a:prstGeom prst="rect">
            <a:avLst/>
          </a:prstGeom>
          <a:noFill/>
        </p:spPr>
        <p:txBody>
          <a:bodyPr wrap="square" lIns="0" tIns="0" rIns="0" bIns="0" anchor="ctr">
            <a:spAutoFit/>
          </a:bodyPr>
          <a:lstStyle/>
          <a:p>
            <a:pPr algn="l"/>
            <a:r>
              <a:rPr sz="1000" b="0">
                <a:solidFill>
                  <a:srgbClr val="545B64"/>
                </a:solidFill>
                <a:latin typeface="Calibri"/>
              </a:rPr>
              <a:t>longest threads run dozens deep</a:t>
            </a:r>
          </a:p>
        </p:txBody>
      </p:sp>
      <p:sp>
        <p:nvSpPr>
          <p:cNvPr id="22" name="Rounded Rectangle 21"/>
          <p:cNvSpPr/>
          <p:nvPr/>
        </p:nvSpPr>
        <p:spPr>
          <a:xfrm>
            <a:off x="8974836" y="4956048"/>
            <a:ext cx="2656332" cy="786384"/>
          </a:xfrm>
          <a:prstGeom prst="roundRect">
            <a:avLst>
              <a:gd name="adj" fmla="val 6976"/>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39428" y="5010912"/>
            <a:ext cx="914400" cy="365760"/>
          </a:xfrm>
          <a:prstGeom prst="rect">
            <a:avLst/>
          </a:prstGeom>
          <a:noFill/>
        </p:spPr>
        <p:txBody>
          <a:bodyPr wrap="square" lIns="0" tIns="0" rIns="0" bIns="0" anchor="ctr">
            <a:spAutoFit/>
          </a:bodyPr>
          <a:lstStyle/>
          <a:p>
            <a:pPr algn="l"/>
            <a:r>
              <a:rPr sz="2000" b="1">
                <a:solidFill>
                  <a:srgbClr val="232F3E"/>
                </a:solidFill>
                <a:latin typeface="Calibri"/>
              </a:rPr>
              <a:t>32</a:t>
            </a:r>
          </a:p>
        </p:txBody>
      </p:sp>
      <p:sp>
        <p:nvSpPr>
          <p:cNvPr id="24" name="TextBox 23"/>
          <p:cNvSpPr txBox="1"/>
          <p:nvPr/>
        </p:nvSpPr>
        <p:spPr>
          <a:xfrm>
            <a:off x="10035540" y="5010912"/>
            <a:ext cx="1431035" cy="365760"/>
          </a:xfrm>
          <a:prstGeom prst="rect">
            <a:avLst/>
          </a:prstGeom>
          <a:noFill/>
        </p:spPr>
        <p:txBody>
          <a:bodyPr wrap="square" lIns="0" tIns="0" rIns="0" bIns="0" anchor="ctr">
            <a:spAutoFit/>
          </a:bodyPr>
          <a:lstStyle/>
          <a:p>
            <a:pPr algn="l"/>
            <a:r>
              <a:rPr sz="1200" b="1">
                <a:solidFill>
                  <a:srgbClr val="232F3E"/>
                </a:solidFill>
                <a:latin typeface="Calibri"/>
              </a:rPr>
              <a:t>workflow PRs</a:t>
            </a:r>
          </a:p>
        </p:txBody>
      </p:sp>
      <p:sp>
        <p:nvSpPr>
          <p:cNvPr id="25" name="TextBox 24"/>
          <p:cNvSpPr txBox="1"/>
          <p:nvPr/>
        </p:nvSpPr>
        <p:spPr>
          <a:xfrm>
            <a:off x="9139428" y="5394960"/>
            <a:ext cx="2327148" cy="292608"/>
          </a:xfrm>
          <a:prstGeom prst="rect">
            <a:avLst/>
          </a:prstGeom>
          <a:noFill/>
        </p:spPr>
        <p:txBody>
          <a:bodyPr wrap="square" lIns="0" tIns="0" rIns="0" bIns="0" anchor="ctr">
            <a:spAutoFit/>
          </a:bodyPr>
          <a:lstStyle/>
          <a:p>
            <a:pPr algn="l"/>
            <a:r>
              <a:rPr sz="1000" b="0">
                <a:solidFill>
                  <a:srgbClr val="545B64"/>
                </a:solidFill>
                <a:latin typeface="Calibri"/>
              </a:rPr>
              <a:t>the methodology is the biggest lane</a:t>
            </a:r>
          </a:p>
        </p:txBody>
      </p:sp>
      <p:sp>
        <p:nvSpPr>
          <p:cNvPr id="26" name="TextBox 25"/>
          <p:cNvSpPr txBox="1"/>
          <p:nvPr/>
        </p:nvSpPr>
        <p:spPr>
          <a:xfrm>
            <a:off x="566928" y="5888736"/>
            <a:ext cx="11064240" cy="475488"/>
          </a:xfrm>
          <a:prstGeom prst="rect">
            <a:avLst/>
          </a:prstGeom>
          <a:noFill/>
        </p:spPr>
        <p:txBody>
          <a:bodyPr wrap="square" lIns="0" tIns="0" rIns="0" bIns="0" anchor="t">
            <a:spAutoFit/>
          </a:bodyPr>
          <a:lstStyle/>
          <a:p>
            <a:pPr algn="l"/>
            <a:r>
              <a:rPr sz="1050" b="0">
                <a:solidFill>
                  <a:srgbClr val="545B64"/>
                </a:solidFill>
                <a:latin typeface="Calibri"/>
              </a:rPr>
              <a:t>Generated from the repo’s PR history by a script, so it cannot drift. Node size is files changed; a ring means a genuine multi-agent review thread; the axis is PR order, not a calendar. At the peak, five PRs were open at once.</a:t>
            </a:r>
          </a:p>
        </p:txBody>
      </p:sp>
      <p:sp>
        <p:nvSpPr>
          <p:cNvPr id="27" name="TextBox 26"/>
          <p:cNvSpPr txBox="1"/>
          <p:nvPr/>
        </p:nvSpPr>
        <p:spPr>
          <a:xfrm>
            <a:off x="566928" y="1792224"/>
            <a:ext cx="11064240" cy="256032"/>
          </a:xfrm>
          <a:prstGeom prst="rect">
            <a:avLst/>
          </a:prstGeom>
          <a:noFill/>
        </p:spPr>
        <p:txBody>
          <a:bodyPr wrap="square" lIns="0" tIns="0" rIns="0" bIns="0" anchor="ctr">
            <a:spAutoFit/>
          </a:bodyPr>
          <a:lstStyle/>
          <a:p>
            <a:pPr algn="l"/>
            <a:r>
              <a:rPr sz="1050" b="0">
                <a:solidFill>
                  <a:srgbClr val="545B64"/>
                </a:solidFill>
                <a:latin typeface="Calibri"/>
              </a:rPr>
              <a:t>node size = files changed   ·   ring = a genuine multi-agent review thread   ·   dashed = reviewed, then closed without merging   ·   left to right = the order the PRs were opened</a:t>
            </a:r>
          </a:p>
        </p:txBody>
      </p:sp>
      <p:sp>
        <p:nvSpPr>
          <p:cNvPr id="28" name="TextBox 27"/>
          <p:cNvSpPr txBox="1"/>
          <p:nvPr/>
        </p:nvSpPr>
        <p:spPr>
          <a:xfrm>
            <a:off x="566928" y="2447773"/>
            <a:ext cx="1207008" cy="237744"/>
          </a:xfrm>
          <a:prstGeom prst="rect">
            <a:avLst/>
          </a:prstGeom>
          <a:noFill/>
        </p:spPr>
        <p:txBody>
          <a:bodyPr wrap="square" lIns="0" tIns="0" rIns="0" bIns="0" anchor="ctr">
            <a:spAutoFit/>
          </a:bodyPr>
          <a:lstStyle/>
          <a:p>
            <a:pPr algn="r"/>
            <a:r>
              <a:rPr sz="1000" b="1">
                <a:solidFill>
                  <a:srgbClr val="232F3E"/>
                </a:solidFill>
                <a:latin typeface="Calibri"/>
              </a:rPr>
              <a:t>Master Agent</a:t>
            </a:r>
          </a:p>
        </p:txBody>
      </p:sp>
      <p:sp>
        <p:nvSpPr>
          <p:cNvPr id="29" name="TextBox 28"/>
          <p:cNvSpPr txBox="1"/>
          <p:nvPr/>
        </p:nvSpPr>
        <p:spPr>
          <a:xfrm>
            <a:off x="566928" y="2733176"/>
            <a:ext cx="1207008" cy="237744"/>
          </a:xfrm>
          <a:prstGeom prst="rect">
            <a:avLst/>
          </a:prstGeom>
          <a:noFill/>
        </p:spPr>
        <p:txBody>
          <a:bodyPr wrap="square" lIns="0" tIns="0" rIns="0" bIns="0" anchor="ctr">
            <a:spAutoFit/>
          </a:bodyPr>
          <a:lstStyle/>
          <a:p>
            <a:pPr algn="r"/>
            <a:r>
              <a:rPr sz="1000" b="1">
                <a:solidFill>
                  <a:srgbClr val="232F3E"/>
                </a:solidFill>
                <a:latin typeface="Calibri"/>
              </a:rPr>
              <a:t>System Architect</a:t>
            </a:r>
          </a:p>
        </p:txBody>
      </p:sp>
      <p:sp>
        <p:nvSpPr>
          <p:cNvPr id="30" name="TextBox 29"/>
          <p:cNvSpPr txBox="1"/>
          <p:nvPr/>
        </p:nvSpPr>
        <p:spPr>
          <a:xfrm>
            <a:off x="566928" y="3018578"/>
            <a:ext cx="1207008" cy="237744"/>
          </a:xfrm>
          <a:prstGeom prst="rect">
            <a:avLst/>
          </a:prstGeom>
          <a:noFill/>
        </p:spPr>
        <p:txBody>
          <a:bodyPr wrap="square" lIns="0" tIns="0" rIns="0" bIns="0" anchor="ctr">
            <a:spAutoFit/>
          </a:bodyPr>
          <a:lstStyle/>
          <a:p>
            <a:pPr algn="r"/>
            <a:r>
              <a:rPr sz="1000" b="1">
                <a:solidFill>
                  <a:srgbClr val="232F3E"/>
                </a:solidFill>
                <a:latin typeface="Calibri"/>
              </a:rPr>
              <a:t>Frontend Dev</a:t>
            </a:r>
          </a:p>
        </p:txBody>
      </p:sp>
      <p:sp>
        <p:nvSpPr>
          <p:cNvPr id="31" name="TextBox 30"/>
          <p:cNvSpPr txBox="1"/>
          <p:nvPr/>
        </p:nvSpPr>
        <p:spPr>
          <a:xfrm>
            <a:off x="566928" y="3303981"/>
            <a:ext cx="1207008" cy="237744"/>
          </a:xfrm>
          <a:prstGeom prst="rect">
            <a:avLst/>
          </a:prstGeom>
          <a:noFill/>
        </p:spPr>
        <p:txBody>
          <a:bodyPr wrap="square" lIns="0" tIns="0" rIns="0" bIns="0" anchor="ctr">
            <a:spAutoFit/>
          </a:bodyPr>
          <a:lstStyle/>
          <a:p>
            <a:pPr algn="r"/>
            <a:r>
              <a:rPr sz="1000" b="1">
                <a:solidFill>
                  <a:srgbClr val="232F3E"/>
                </a:solidFill>
                <a:latin typeface="Calibri"/>
              </a:rPr>
              <a:t>Backend Dev</a:t>
            </a:r>
          </a:p>
        </p:txBody>
      </p:sp>
      <p:sp>
        <p:nvSpPr>
          <p:cNvPr id="32" name="TextBox 31"/>
          <p:cNvSpPr txBox="1"/>
          <p:nvPr/>
        </p:nvSpPr>
        <p:spPr>
          <a:xfrm>
            <a:off x="566928" y="3589383"/>
            <a:ext cx="1207008" cy="237744"/>
          </a:xfrm>
          <a:prstGeom prst="rect">
            <a:avLst/>
          </a:prstGeom>
          <a:noFill/>
        </p:spPr>
        <p:txBody>
          <a:bodyPr wrap="square" lIns="0" tIns="0" rIns="0" bIns="0" anchor="ctr">
            <a:spAutoFit/>
          </a:bodyPr>
          <a:lstStyle/>
          <a:p>
            <a:pPr algn="r"/>
            <a:r>
              <a:rPr sz="1000" b="1">
                <a:solidFill>
                  <a:srgbClr val="232F3E"/>
                </a:solidFill>
                <a:latin typeface="Calibri"/>
              </a:rPr>
              <a:t>UI Designer</a:t>
            </a:r>
          </a:p>
        </p:txBody>
      </p:sp>
      <p:sp>
        <p:nvSpPr>
          <p:cNvPr id="33" name="TextBox 32"/>
          <p:cNvSpPr txBox="1"/>
          <p:nvPr/>
        </p:nvSpPr>
        <p:spPr>
          <a:xfrm>
            <a:off x="566928" y="3874786"/>
            <a:ext cx="1207008" cy="237744"/>
          </a:xfrm>
          <a:prstGeom prst="rect">
            <a:avLst/>
          </a:prstGeom>
          <a:noFill/>
        </p:spPr>
        <p:txBody>
          <a:bodyPr wrap="square" lIns="0" tIns="0" rIns="0" bIns="0" anchor="ctr">
            <a:spAutoFit/>
          </a:bodyPr>
          <a:lstStyle/>
          <a:p>
            <a:pPr algn="r"/>
            <a:r>
              <a:rPr sz="1000" b="1">
                <a:solidFill>
                  <a:srgbClr val="232F3E"/>
                </a:solidFill>
                <a:latin typeface="Calibri"/>
              </a:rPr>
              <a:t>QA Agent</a:t>
            </a:r>
          </a:p>
        </p:txBody>
      </p:sp>
      <p:sp>
        <p:nvSpPr>
          <p:cNvPr id="34" name="TextBox 33"/>
          <p:cNvSpPr txBox="1"/>
          <p:nvPr/>
        </p:nvSpPr>
        <p:spPr>
          <a:xfrm>
            <a:off x="566928" y="4160189"/>
            <a:ext cx="1207008" cy="237744"/>
          </a:xfrm>
          <a:prstGeom prst="rect">
            <a:avLst/>
          </a:prstGeom>
          <a:noFill/>
        </p:spPr>
        <p:txBody>
          <a:bodyPr wrap="square" lIns="0" tIns="0" rIns="0" bIns="0" anchor="ctr">
            <a:spAutoFit/>
          </a:bodyPr>
          <a:lstStyle/>
          <a:p>
            <a:pPr algn="r"/>
            <a:r>
              <a:rPr sz="1000" b="1">
                <a:solidFill>
                  <a:srgbClr val="232F3E"/>
                </a:solidFill>
                <a:latin typeface="Calibri"/>
              </a:rPr>
              <a:t>Infra / Workflow</a:t>
            </a:r>
          </a:p>
        </p:txBody>
      </p:sp>
      <p:pic>
        <p:nvPicPr>
          <p:cNvPr id="35" name="Picture 2" descr="How I built it: the work. Every node is a real pull request, in the order it was opened, joined to where it merged."/>
          <p:cNvPicPr>
            <a:picLocks noChangeAspect="1"/>
          </p:cNvPicPr>
          <p:nvPr/>
        </p:nvPicPr>
        <p:blipFill>
          <a:blip r:embed="rId3"/>
          <a:srcRect l="18833" t="31361" r="12083" b="40385"/>
          <a:stretch>
            <a:fillRect/>
          </a:stretch>
        </p:blipFill>
        <p:spPr>
          <a:xfrm>
            <a:off x="1874519" y="2148840"/>
            <a:ext cx="9756648" cy="224791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16</a:t>
            </a:r>
          </a:p>
        </p:txBody>
      </p:sp>
      <p:sp>
        <p:nvSpPr>
          <p:cNvPr id="5" name="TextBox 4"/>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17 / 18</a:t>
            </a:r>
          </a:p>
        </p:txBody>
      </p:sp>
      <p:sp>
        <p:nvSpPr>
          <p:cNvPr id="7" name="TextBox 6"/>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What I learned</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11155680" cy="384048"/>
          </a:xfrm>
          <a:prstGeom prst="rect">
            <a:avLst/>
          </a:prstGeom>
          <a:noFill/>
        </p:spPr>
        <p:txBody>
          <a:bodyPr wrap="square" lIns="0" tIns="0" rIns="0" bIns="0" anchor="t">
            <a:spAutoFit/>
          </a:bodyPr>
          <a:lstStyle/>
          <a:p>
            <a:pPr algn="l"/>
            <a:r>
              <a:rPr sz="1400" b="0">
                <a:solidFill>
                  <a:srgbClr val="545B64"/>
                </a:solidFill>
                <a:latin typeface="Calibri"/>
              </a:rPr>
              <a:t>Five things I would tell the next person building one of these — three about the agent, two about building it.</a:t>
            </a:r>
          </a:p>
        </p:txBody>
      </p:sp>
      <p:sp>
        <p:nvSpPr>
          <p:cNvPr id="10" name="Rounded Rectangle 9"/>
          <p:cNvSpPr/>
          <p:nvPr/>
        </p:nvSpPr>
        <p:spPr>
          <a:xfrm>
            <a:off x="566928" y="1700784"/>
            <a:ext cx="11064240" cy="804672"/>
          </a:xfrm>
          <a:prstGeom prst="roundRect">
            <a:avLst>
              <a:gd name="adj" fmla="val 6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66928" y="1700784"/>
            <a:ext cx="64008" cy="80467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3232" y="1700784"/>
            <a:ext cx="420624" cy="804672"/>
          </a:xfrm>
          <a:prstGeom prst="rect">
            <a:avLst/>
          </a:prstGeom>
          <a:noFill/>
        </p:spPr>
        <p:txBody>
          <a:bodyPr wrap="square" lIns="0" tIns="0" rIns="0" bIns="0" anchor="ctr">
            <a:spAutoFit/>
          </a:bodyPr>
          <a:lstStyle/>
          <a:p>
            <a:pPr algn="ctr"/>
            <a:r>
              <a:rPr sz="2000" b="1">
                <a:solidFill>
                  <a:srgbClr val="FF9900"/>
                </a:solidFill>
                <a:latin typeface="Calibri"/>
              </a:rPr>
              <a:t>1</a:t>
            </a:r>
          </a:p>
        </p:txBody>
      </p:sp>
      <p:sp>
        <p:nvSpPr>
          <p:cNvPr id="13" name="TextBox 12"/>
          <p:cNvSpPr txBox="1"/>
          <p:nvPr/>
        </p:nvSpPr>
        <p:spPr>
          <a:xfrm>
            <a:off x="1207008" y="1718399"/>
            <a:ext cx="10277856" cy="769441"/>
          </a:xfrm>
          <a:prstGeom prst="rect">
            <a:avLst/>
          </a:prstGeom>
          <a:noFill/>
        </p:spPr>
        <p:txBody>
          <a:bodyPr wrap="square" lIns="0" tIns="0" rIns="0" bIns="0" anchor="ctr">
            <a:spAutoFit/>
          </a:bodyPr>
          <a:lstStyle/>
          <a:p>
            <a:r>
              <a:rPr lang="en-US" sz="1250" b="1" dirty="0">
                <a:solidFill>
                  <a:srgbClr val="232F3E"/>
                </a:solidFill>
              </a:rPr>
              <a:t>It's easy to gate “the service is up,” hard to gate “the LLM works.”  A missing Bedrock permission still returned a polite fallback with HTTP 200. A “#” in the actorId made Memory store nothing at all while the chat carried on cheerfully. Neither tripped a health check — only a live conversation that asserted on what the agent actually remembered caught them.</a:t>
            </a:r>
            <a:endParaRPr sz="1250" b="0" dirty="0">
              <a:solidFill>
                <a:srgbClr val="16191F"/>
              </a:solidFill>
              <a:latin typeface="Calibri"/>
            </a:endParaRPr>
          </a:p>
        </p:txBody>
      </p:sp>
      <p:sp>
        <p:nvSpPr>
          <p:cNvPr id="14" name="Rounded Rectangle 13"/>
          <p:cNvSpPr/>
          <p:nvPr/>
        </p:nvSpPr>
        <p:spPr>
          <a:xfrm>
            <a:off x="566928" y="2560320"/>
            <a:ext cx="11064240" cy="804672"/>
          </a:xfrm>
          <a:prstGeom prst="roundRect">
            <a:avLst>
              <a:gd name="adj" fmla="val 6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66928" y="2560320"/>
            <a:ext cx="64008" cy="80467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3232" y="2808767"/>
            <a:ext cx="420624" cy="307777"/>
          </a:xfrm>
          <a:prstGeom prst="rect">
            <a:avLst/>
          </a:prstGeom>
          <a:noFill/>
        </p:spPr>
        <p:txBody>
          <a:bodyPr wrap="square" lIns="0" tIns="0" rIns="0" bIns="0" anchor="ctr">
            <a:spAutoFit/>
          </a:bodyPr>
          <a:lstStyle/>
          <a:p>
            <a:pPr algn="ctr"/>
            <a:r>
              <a:rPr sz="2000" b="1">
                <a:solidFill>
                  <a:srgbClr val="FF9900"/>
                </a:solidFill>
                <a:highlight>
                  <a:srgbClr val="FFFF00"/>
                </a:highlight>
                <a:latin typeface="Calibri"/>
              </a:rPr>
              <a:t>2</a:t>
            </a:r>
          </a:p>
        </p:txBody>
      </p:sp>
      <p:sp>
        <p:nvSpPr>
          <p:cNvPr id="17" name="TextBox 16"/>
          <p:cNvSpPr txBox="1"/>
          <p:nvPr/>
        </p:nvSpPr>
        <p:spPr>
          <a:xfrm>
            <a:off x="1207008" y="2866475"/>
            <a:ext cx="10277856" cy="192360"/>
          </a:xfrm>
          <a:prstGeom prst="rect">
            <a:avLst/>
          </a:prstGeom>
          <a:noFill/>
        </p:spPr>
        <p:txBody>
          <a:bodyPr wrap="square" lIns="0" tIns="0" rIns="0" bIns="0" anchor="ctr">
            <a:spAutoFit/>
          </a:bodyPr>
          <a:lstStyle/>
          <a:p>
            <a:r>
              <a:rPr lang="en-US" sz="1250" b="1" dirty="0" err="1">
                <a:solidFill>
                  <a:srgbClr val="232F3E"/>
                </a:solidFill>
              </a:rPr>
              <a:t>[ 2 — TO WRITE: choose from the options in the review notes ]</a:t>
            </a:r>
            <a:endParaRPr lang="en-US" sz="1250" dirty="0">
              <a:solidFill>
                <a:srgbClr val="16191F"/>
              </a:solidFill>
            </a:endParaRPr>
          </a:p>
        </p:txBody>
      </p:sp>
      <p:sp>
        <p:nvSpPr>
          <p:cNvPr id="18" name="Rounded Rectangle 17"/>
          <p:cNvSpPr/>
          <p:nvPr/>
        </p:nvSpPr>
        <p:spPr>
          <a:xfrm>
            <a:off x="566928" y="3419856"/>
            <a:ext cx="11064240" cy="804672"/>
          </a:xfrm>
          <a:prstGeom prst="roundRect">
            <a:avLst>
              <a:gd name="adj" fmla="val 6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66928" y="3419856"/>
            <a:ext cx="64008" cy="80467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13232" y="3668303"/>
            <a:ext cx="420624" cy="307777"/>
          </a:xfrm>
          <a:prstGeom prst="rect">
            <a:avLst/>
          </a:prstGeom>
          <a:noFill/>
        </p:spPr>
        <p:txBody>
          <a:bodyPr wrap="square" lIns="0" tIns="0" rIns="0" bIns="0" anchor="ctr">
            <a:spAutoFit/>
          </a:bodyPr>
          <a:lstStyle/>
          <a:p>
            <a:pPr algn="ctr"/>
            <a:r>
              <a:rPr sz="2000" b="1" dirty="0">
                <a:solidFill>
                  <a:srgbClr val="FF9900"/>
                </a:solidFill>
                <a:highlight>
                  <a:srgbClr val="FFFF00"/>
                </a:highlight>
                <a:latin typeface="Calibri"/>
              </a:rPr>
              <a:t>3</a:t>
            </a:r>
          </a:p>
        </p:txBody>
      </p:sp>
      <p:sp>
        <p:nvSpPr>
          <p:cNvPr id="22" name="Rounded Rectangle 21"/>
          <p:cNvSpPr/>
          <p:nvPr/>
        </p:nvSpPr>
        <p:spPr>
          <a:xfrm>
            <a:off x="566928" y="4279392"/>
            <a:ext cx="11064240" cy="804672"/>
          </a:xfrm>
          <a:prstGeom prst="roundRect">
            <a:avLst>
              <a:gd name="adj" fmla="val 6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66928" y="4279392"/>
            <a:ext cx="64008" cy="80467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13232" y="4279392"/>
            <a:ext cx="420624" cy="804672"/>
          </a:xfrm>
          <a:prstGeom prst="rect">
            <a:avLst/>
          </a:prstGeom>
          <a:noFill/>
        </p:spPr>
        <p:txBody>
          <a:bodyPr wrap="square" lIns="0" tIns="0" rIns="0" bIns="0" anchor="ctr">
            <a:spAutoFit/>
          </a:bodyPr>
          <a:lstStyle/>
          <a:p>
            <a:pPr algn="ctr"/>
            <a:r>
              <a:rPr sz="2000" b="1">
                <a:solidFill>
                  <a:srgbClr val="FF9900"/>
                </a:solidFill>
                <a:latin typeface="Calibri"/>
              </a:rPr>
              <a:t>4</a:t>
            </a:r>
          </a:p>
        </p:txBody>
      </p:sp>
      <p:sp>
        <p:nvSpPr>
          <p:cNvPr id="25" name="TextBox 24"/>
          <p:cNvSpPr txBox="1"/>
          <p:nvPr/>
        </p:nvSpPr>
        <p:spPr>
          <a:xfrm>
            <a:off x="1207008" y="4343400"/>
            <a:ext cx="10277856" cy="676656"/>
          </a:xfrm>
          <a:prstGeom prst="rect">
            <a:avLst/>
          </a:prstGeom>
          <a:noFill/>
        </p:spPr>
        <p:txBody>
          <a:bodyPr wrap="square" lIns="0" tIns="0" rIns="0" bIns="0" anchor="ctr">
            <a:spAutoFit/>
          </a:bodyPr>
          <a:lstStyle/>
          <a:p>
            <a:pPr algn="l"/>
            <a:r>
              <a:rPr sz="1250" b="1" dirty="0">
                <a:solidFill>
                  <a:srgbClr val="232F3E"/>
                </a:solidFill>
                <a:latin typeface="Calibri"/>
              </a:rPr>
              <a:t>The strongest case for AgentCore may be blast radius rather than the bill.  In-process, one crashed tool can take every session with it, and a single shared IAM role means a prompt injection reaches everything that role can touch. Behind Gateway each tool is its own Lambda with its own role, so a fault or a hijack should stay contained to one tool — though I never tried to breach it, and the managed boundary is one I cannot inspect.</a:t>
            </a:r>
          </a:p>
        </p:txBody>
      </p:sp>
      <p:sp>
        <p:nvSpPr>
          <p:cNvPr id="26" name="Rounded Rectangle 25"/>
          <p:cNvSpPr/>
          <p:nvPr/>
        </p:nvSpPr>
        <p:spPr>
          <a:xfrm>
            <a:off x="566928" y="5138928"/>
            <a:ext cx="11064240" cy="804672"/>
          </a:xfrm>
          <a:prstGeom prst="roundRect">
            <a:avLst>
              <a:gd name="adj" fmla="val 6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66928" y="5138928"/>
            <a:ext cx="64008" cy="80467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13232" y="5138928"/>
            <a:ext cx="420624" cy="804672"/>
          </a:xfrm>
          <a:prstGeom prst="rect">
            <a:avLst/>
          </a:prstGeom>
          <a:noFill/>
        </p:spPr>
        <p:txBody>
          <a:bodyPr wrap="square" lIns="0" tIns="0" rIns="0" bIns="0" anchor="ctr">
            <a:spAutoFit/>
          </a:bodyPr>
          <a:lstStyle/>
          <a:p>
            <a:pPr algn="ctr"/>
            <a:r>
              <a:rPr sz="2000" b="1">
                <a:solidFill>
                  <a:srgbClr val="FF9900"/>
                </a:solidFill>
                <a:latin typeface="Calibri"/>
              </a:rPr>
              <a:t>5</a:t>
            </a:r>
          </a:p>
        </p:txBody>
      </p:sp>
      <p:sp>
        <p:nvSpPr>
          <p:cNvPr id="29" name="TextBox 28"/>
          <p:cNvSpPr txBox="1"/>
          <p:nvPr/>
        </p:nvSpPr>
        <p:spPr>
          <a:xfrm>
            <a:off x="1207008" y="5348904"/>
            <a:ext cx="10277856" cy="384721"/>
          </a:xfrm>
          <a:prstGeom prst="rect">
            <a:avLst/>
          </a:prstGeom>
          <a:noFill/>
        </p:spPr>
        <p:txBody>
          <a:bodyPr wrap="square" lIns="0" tIns="0" rIns="0" bIns="0" anchor="ctr">
            <a:spAutoFit/>
          </a:bodyPr>
          <a:lstStyle/>
          <a:p>
            <a:r>
              <a:rPr lang="en-US" sz="1250" b="1" dirty="0">
                <a:solidFill>
                  <a:srgbClr val="232F3E"/>
                </a:solidFill>
              </a:rPr>
              <a:t>Most of the tokens went to the workflow, not the code.  </a:t>
            </a:r>
            <a:r>
              <a:rPr lang="en-US" sz="1250" dirty="0">
                <a:solidFill>
                  <a:srgbClr val="16191F"/>
                </a:solidFill>
              </a:rPr>
              <a:t>31 of 56 PRs built the factory — specs, review loops, merge gates, regression tests for the automation itself. That is what made the other 25 safe to merge.</a:t>
            </a:r>
          </a:p>
        </p:txBody>
      </p:sp>
      <p:sp>
        <p:nvSpPr>
          <p:cNvPr id="32" name="Rounded Rectangle 31">
            <a:extLst>
              <a:ext uri="{FF2B5EF4-FFF2-40B4-BE49-F238E27FC236}">
                <a16:creationId xmlns:a16="http://schemas.microsoft.com/office/drawing/2014/main" id="{402AD38E-DC4D-A140-22B5-6A487B43FE7A}"/>
              </a:ext>
            </a:extLst>
          </p:cNvPr>
          <p:cNvSpPr/>
          <p:nvPr/>
        </p:nvSpPr>
        <p:spPr>
          <a:xfrm>
            <a:off x="-2695435" y="4419705"/>
            <a:ext cx="3180067" cy="664359"/>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Make it les confident and nuanced</a:t>
            </a:r>
            <a:endParaRPr dirty="0">
              <a:solidFill>
                <a:srgbClr val="FF0000"/>
              </a:solidFill>
              <a:highlight>
                <a:srgbClr val="FFFF00"/>
              </a:highlight>
            </a:endParaRPr>
          </a:p>
        </p:txBody>
      </p:sp>
      <p:sp>
        <p:nvSpPr>
          <p:cNvPr id="33" name="Rounded Rectangle 32">
            <a:extLst>
              <a:ext uri="{FF2B5EF4-FFF2-40B4-BE49-F238E27FC236}">
                <a16:creationId xmlns:a16="http://schemas.microsoft.com/office/drawing/2014/main" id="{0732CA8B-D09E-2205-00B2-3EFD8C0096D4}"/>
              </a:ext>
            </a:extLst>
          </p:cNvPr>
          <p:cNvSpPr/>
          <p:nvPr/>
        </p:nvSpPr>
        <p:spPr>
          <a:xfrm>
            <a:off x="-2759443" y="1700784"/>
            <a:ext cx="3180067" cy="664359"/>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A good one refine it</a:t>
            </a:r>
            <a:endParaRPr dirty="0">
              <a:solidFill>
                <a:srgbClr val="FF0000"/>
              </a:solidFill>
              <a:highlight>
                <a:srgbClr val="FFFF00"/>
              </a:highlight>
            </a:endParaRPr>
          </a:p>
        </p:txBody>
      </p:sp>
      <p:sp>
        <p:nvSpPr>
          <p:cNvPr id="34" name="Rounded Rectangle 33">
            <a:extLst>
              <a:ext uri="{FF2B5EF4-FFF2-40B4-BE49-F238E27FC236}">
                <a16:creationId xmlns:a16="http://schemas.microsoft.com/office/drawing/2014/main" id="{B61AFBC0-1838-9A5F-C8A5-BB2AD13A8274}"/>
              </a:ext>
            </a:extLst>
          </p:cNvPr>
          <p:cNvSpPr/>
          <p:nvPr/>
        </p:nvSpPr>
        <p:spPr>
          <a:xfrm>
            <a:off x="1800345" y="2658580"/>
            <a:ext cx="3180067" cy="1529372"/>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Make a list of options to 2 and 3</a:t>
            </a:r>
            <a:endParaRPr dirty="0">
              <a:solidFill>
                <a:srgbClr val="FF0000"/>
              </a:solidFill>
              <a:highlight>
                <a:srgbClr val="FFFF00"/>
              </a:highlight>
            </a:endParaRPr>
          </a:p>
        </p:txBody>
      </p:sp>
      <p:sp>
        <p:nvSpPr>
          <p:cNvPr id="35" name="TextBox 34"/>
          <p:cNvSpPr txBox="1"/>
          <p:nvPr/>
        </p:nvSpPr>
        <p:spPr>
          <a:xfrm>
            <a:off x="1188720" y="3749039"/>
            <a:ext cx="10241280" cy="219456"/>
          </a:xfrm>
          <a:prstGeom prst="rect">
            <a:avLst/>
          </a:prstGeom>
          <a:noFill/>
        </p:spPr>
        <p:txBody>
          <a:bodyPr wrap="square" lIns="0" rIns="0" tIns="0" bIns="0" anchor="t">
            <a:spAutoFit/>
          </a:bodyPr>
          <a:lstStyle/>
          <a:p>
            <a:pPr algn="l">
              <a:spcAft>
                <a:spcPts val="200"/>
              </a:spcAft>
            </a:pPr>
            <a:r>
              <a:rPr sz="1000" b="0">
                <a:solidFill>
                  <a:srgbClr val="545B64"/>
                </a:solidFill>
                <a:latin typeface="Calibri"/>
              </a:rPr>
              <a:t>[ 3 — TO WRITE: choose from the options in the review notes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1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126480"/>
            <a:ext cx="12191695" cy="73152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194560"/>
            <a:ext cx="11247120" cy="1463040"/>
          </a:xfrm>
          <a:prstGeom prst="rect">
            <a:avLst/>
          </a:prstGeom>
          <a:noFill/>
        </p:spPr>
        <p:txBody>
          <a:bodyPr wrap="square" lIns="0" tIns="0" rIns="0" bIns="0" anchor="t">
            <a:spAutoFit/>
          </a:bodyPr>
          <a:lstStyle/>
          <a:p>
            <a:pPr algn="ctr"/>
            <a:r>
              <a:rPr sz="10000" b="1">
                <a:solidFill>
                  <a:srgbClr val="FFFFFF"/>
                </a:solidFill>
                <a:latin typeface="Calibri"/>
              </a:rPr>
              <a:t>Thank you.</a:t>
            </a:r>
          </a:p>
        </p:txBody>
      </p:sp>
      <p:sp>
        <p:nvSpPr>
          <p:cNvPr id="5" name="TextBox 4"/>
          <p:cNvSpPr txBox="1"/>
          <p:nvPr/>
        </p:nvSpPr>
        <p:spPr>
          <a:xfrm>
            <a:off x="457200" y="3931920"/>
            <a:ext cx="11247120" cy="457200"/>
          </a:xfrm>
          <a:prstGeom prst="rect">
            <a:avLst/>
          </a:prstGeom>
          <a:noFill/>
        </p:spPr>
        <p:txBody>
          <a:bodyPr wrap="square" lIns="0" tIns="0" rIns="0" bIns="0" anchor="t">
            <a:spAutoFit/>
          </a:bodyPr>
          <a:lstStyle/>
          <a:p>
            <a:pPr algn="ctr"/>
            <a:r>
              <a:rPr sz="2400" b="0">
                <a:solidFill>
                  <a:srgbClr val="FF9900"/>
                </a:solidFill>
                <a:latin typeface="Calibri"/>
              </a:rPr>
              <a:t>Questions?</a:t>
            </a:r>
          </a:p>
        </p:txBody>
      </p:sp>
      <p:sp>
        <p:nvSpPr>
          <p:cNvPr id="6" name="Rectangle 5"/>
          <p:cNvSpPr/>
          <p:nvPr/>
        </p:nvSpPr>
        <p:spPr>
          <a:xfrm>
            <a:off x="5120640" y="4892040"/>
            <a:ext cx="1920240" cy="4572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5029200"/>
            <a:ext cx="11247120" cy="457200"/>
          </a:xfrm>
          <a:prstGeom prst="rect">
            <a:avLst/>
          </a:prstGeom>
          <a:noFill/>
        </p:spPr>
        <p:txBody>
          <a:bodyPr wrap="square" lIns="0" tIns="0" rIns="0" bIns="0" anchor="t">
            <a:spAutoFit/>
          </a:bodyPr>
          <a:lstStyle/>
          <a:p>
            <a:pPr algn="ctr"/>
            <a:r>
              <a:rPr sz="2200" b="1">
                <a:solidFill>
                  <a:srgbClr val="FFFFFF"/>
                </a:solidFill>
                <a:latin typeface="Calibri"/>
              </a:rPr>
              <a:t>Coral Magen</a:t>
            </a:r>
          </a:p>
        </p:txBody>
      </p:sp>
      <p:sp>
        <p:nvSpPr>
          <p:cNvPr id="8" name="TextBox 7"/>
          <p:cNvSpPr txBox="1"/>
          <p:nvPr/>
        </p:nvSpPr>
        <p:spPr>
          <a:xfrm>
            <a:off x="457200" y="5532120"/>
            <a:ext cx="11247120" cy="365760"/>
          </a:xfrm>
          <a:prstGeom prst="rect">
            <a:avLst/>
          </a:prstGeom>
          <a:noFill/>
        </p:spPr>
        <p:txBody>
          <a:bodyPr wrap="square" lIns="0" tIns="0" rIns="0" bIns="0" anchor="t">
            <a:spAutoFit/>
          </a:bodyPr>
          <a:lstStyle/>
          <a:p>
            <a:pPr algn="ctr"/>
            <a:r>
              <a:rPr sz="1400" b="0">
                <a:solidFill>
                  <a:srgbClr val="879596"/>
                </a:solidFill>
                <a:latin typeface="Calibri"/>
              </a:rPr>
              <a:t>Technical Account Manager   ·   coralst@amazon.com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02920" y="365760"/>
            <a:ext cx="594360" cy="594360"/>
          </a:xfrm>
          <a:prstGeom prst="rect">
            <a:avLst/>
          </a:prstGeom>
          <a:noFill/>
        </p:spPr>
        <p:txBody>
          <a:bodyPr wrap="square" anchor="ctr" lIns="0" rIns="0" tIns="0" bIns="0">
            <a:spAutoFit/>
          </a:bodyPr>
          <a:lstStyle/>
          <a:p>
            <a:pPr algn="ctr">
              <a:spcAft>
                <a:spcPts val="200"/>
              </a:spcAft>
            </a:pPr>
            <a:r>
              <a:rPr sz="1600" b="1" i="0">
                <a:solidFill>
                  <a:srgbClr val="FFFFFF"/>
                </a:solidFill>
                <a:latin typeface="Calibri"/>
              </a:rPr>
              <a:t>5</a:t>
            </a:r>
          </a:p>
        </p:txBody>
      </p:sp>
      <p:sp>
        <p:nvSpPr>
          <p:cNvPr id="4" name="TextBox 3"/>
          <p:cNvSpPr txBox="1"/>
          <p:nvPr/>
        </p:nvSpPr>
        <p:spPr>
          <a:xfrm>
            <a:off x="1280160" y="420624"/>
            <a:ext cx="10058400" cy="411480"/>
          </a:xfrm>
          <a:prstGeom prst="rect">
            <a:avLst/>
          </a:prstGeom>
          <a:noFill/>
        </p:spPr>
        <p:txBody>
          <a:bodyPr wrap="square" anchor="t" lIns="0" rIns="0" tIns="0" bIns="0">
            <a:spAutoFit/>
          </a:bodyPr>
          <a:lstStyle/>
          <a:p>
            <a:pPr algn="l">
              <a:spcAft>
                <a:spcPts val="200"/>
              </a:spcAft>
            </a:pPr>
            <a:r>
              <a:rPr sz="2400" b="1" i="0">
                <a:solidFill>
                  <a:srgbClr val="232F3E"/>
                </a:solidFill>
                <a:latin typeface="Calibri"/>
              </a:rPr>
              <a:t>Engine A is the framework I wrote</a:t>
            </a:r>
          </a:p>
        </p:txBody>
      </p:sp>
      <p:sp>
        <p:nvSpPr>
          <p:cNvPr id="5" name="Rectangle 4"/>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02920" y="1170432"/>
            <a:ext cx="11338560" cy="274320"/>
          </a:xfrm>
          <a:prstGeom prst="rect">
            <a:avLst/>
          </a:prstGeom>
          <a:noFill/>
        </p:spPr>
        <p:txBody>
          <a:bodyPr wrap="square" anchor="t" lIns="0" rIns="0" tIns="0" bIns="0">
            <a:spAutoFit/>
          </a:bodyPr>
          <a:lstStyle/>
          <a:p>
            <a:pPr algn="l">
              <a:spcAft>
                <a:spcPts val="200"/>
              </a:spcAft>
            </a:pPr>
            <a:r>
              <a:rPr sz="1100" b="0" i="0">
                <a:solidFill>
                  <a:srgbClr val="545B64"/>
                </a:solidFill>
                <a:latin typeface="Calibri"/>
              </a:rPr>
              <a:t>AWS runs the model. Everything between the user's sentence and that one Converse call is my code — and engine B is the experiment of renting most of it.</a:t>
            </a:r>
          </a:p>
        </p:txBody>
      </p:sp>
      <p:sp>
        <p:nvSpPr>
          <p:cNvPr id="7" name="TextBox 6"/>
          <p:cNvSpPr txBox="1"/>
          <p:nvPr/>
        </p:nvSpPr>
        <p:spPr>
          <a:xfrm>
            <a:off x="384048" y="1572768"/>
            <a:ext cx="2606040" cy="237744"/>
          </a:xfrm>
          <a:prstGeom prst="rect">
            <a:avLst/>
          </a:prstGeom>
          <a:noFill/>
        </p:spPr>
        <p:txBody>
          <a:bodyPr wrap="square" anchor="t" lIns="0" rIns="0" tIns="0" bIns="0">
            <a:spAutoFit/>
          </a:bodyPr>
          <a:lstStyle/>
          <a:p>
            <a:pPr algn="l">
              <a:spcAft>
                <a:spcPts val="200"/>
              </a:spcAft>
            </a:pPr>
            <a:r>
              <a:rPr sz="850" b="1" i="0">
                <a:solidFill>
                  <a:srgbClr val="545B64"/>
                </a:solidFill>
                <a:latin typeface="Calibri"/>
              </a:rPr>
              <a:t>THE AGENT'S JOB</a:t>
            </a:r>
          </a:p>
        </p:txBody>
      </p:sp>
      <p:sp>
        <p:nvSpPr>
          <p:cNvPr id="8" name="TextBox 7"/>
          <p:cNvSpPr txBox="1"/>
          <p:nvPr/>
        </p:nvSpPr>
        <p:spPr>
          <a:xfrm>
            <a:off x="3154680" y="1572768"/>
            <a:ext cx="4434840" cy="237744"/>
          </a:xfrm>
          <a:prstGeom prst="rect">
            <a:avLst/>
          </a:prstGeom>
          <a:noFill/>
        </p:spPr>
        <p:txBody>
          <a:bodyPr wrap="square" anchor="t" lIns="0" rIns="0" tIns="0" bIns="0">
            <a:spAutoFit/>
          </a:bodyPr>
          <a:lstStyle/>
          <a:p>
            <a:pPr algn="l">
              <a:spcAft>
                <a:spcPts val="200"/>
              </a:spcAft>
            </a:pPr>
            <a:r>
              <a:rPr sz="850" b="1" i="0">
                <a:solidFill>
                  <a:srgbClr val="FF9900"/>
                </a:solidFill>
                <a:latin typeface="Calibri"/>
              </a:rPr>
              <a:t>ENGINE A · MY CODE</a:t>
            </a:r>
          </a:p>
        </p:txBody>
      </p:sp>
      <p:sp>
        <p:nvSpPr>
          <p:cNvPr id="9" name="TextBox 8"/>
          <p:cNvSpPr txBox="1"/>
          <p:nvPr/>
        </p:nvSpPr>
        <p:spPr>
          <a:xfrm>
            <a:off x="7818120" y="1572768"/>
            <a:ext cx="4005072" cy="237744"/>
          </a:xfrm>
          <a:prstGeom prst="rect">
            <a:avLst/>
          </a:prstGeom>
          <a:noFill/>
        </p:spPr>
        <p:txBody>
          <a:bodyPr wrap="square" anchor="t" lIns="0" rIns="0" tIns="0" bIns="0">
            <a:spAutoFit/>
          </a:bodyPr>
          <a:lstStyle/>
          <a:p>
            <a:pPr algn="l">
              <a:spcAft>
                <a:spcPts val="200"/>
              </a:spcAft>
            </a:pPr>
            <a:r>
              <a:rPr sz="850" b="1" i="0">
                <a:solidFill>
                  <a:srgbClr val="1E7C3C"/>
                </a:solidFill>
                <a:latin typeface="Calibri"/>
              </a:rPr>
              <a:t>ENGINE B · AGENTCORE</a:t>
            </a:r>
          </a:p>
        </p:txBody>
      </p:sp>
      <p:sp>
        <p:nvSpPr>
          <p:cNvPr id="10" name="Rectangle 9"/>
          <p:cNvSpPr/>
          <p:nvPr/>
        </p:nvSpPr>
        <p:spPr>
          <a:xfrm>
            <a:off x="384048" y="1847088"/>
            <a:ext cx="11439144" cy="603503"/>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84048" y="3035808"/>
            <a:ext cx="11439144" cy="603503"/>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84048" y="4224528"/>
            <a:ext cx="11439144" cy="603503"/>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3081528" y="1810512"/>
            <a:ext cx="4581144" cy="3666744"/>
          </a:xfrm>
          <a:prstGeom prst="roundRect">
            <a:avLst>
              <a:gd name="adj" fmla="val 4000"/>
            </a:avLst>
          </a:prstGeom>
          <a:noFill/>
          <a:ln w="12700">
            <a:solidFill>
              <a:srgbClr val="FF99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7744968" y="1810512"/>
            <a:ext cx="4151376" cy="3666744"/>
          </a:xfrm>
          <a:prstGeom prst="roundRect">
            <a:avLst>
              <a:gd name="adj" fmla="val 4000"/>
            </a:avLst>
          </a:prstGeom>
          <a:noFill/>
          <a:ln w="12700">
            <a:solidFill>
              <a:srgbClr val="1E7C3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8912" y="1975104"/>
            <a:ext cx="2496312" cy="548640"/>
          </a:xfrm>
          <a:prstGeom prst="rect">
            <a:avLst/>
          </a:prstGeom>
          <a:noFill/>
        </p:spPr>
        <p:txBody>
          <a:bodyPr wrap="square" anchor="t" lIns="0" rIns="0" tIns="0" bIns="0">
            <a:spAutoFit/>
          </a:bodyPr>
          <a:lstStyle/>
          <a:p>
            <a:pPr algn="l">
              <a:spcAft>
                <a:spcPts val="200"/>
              </a:spcAft>
            </a:pPr>
            <a:r>
              <a:rPr sz="1000" b="1" i="0">
                <a:solidFill>
                  <a:srgbClr val="232F3E"/>
                </a:solidFill>
                <a:latin typeface="Calibri"/>
              </a:rPr>
              <a:t>The agent loop</a:t>
            </a:r>
          </a:p>
        </p:txBody>
      </p:sp>
      <p:sp>
        <p:nvSpPr>
          <p:cNvPr id="16" name="TextBox 15"/>
          <p:cNvSpPr txBox="1"/>
          <p:nvPr/>
        </p:nvSpPr>
        <p:spPr>
          <a:xfrm>
            <a:off x="3209544" y="1883664"/>
            <a:ext cx="4325112" cy="548640"/>
          </a:xfrm>
          <a:prstGeom prst="rect">
            <a:avLst/>
          </a:prstGeom>
          <a:noFill/>
        </p:spPr>
        <p:txBody>
          <a:bodyPr wrap="square" anchor="t" lIns="0" rIns="0" tIns="0" bIns="0">
            <a:spAutoFit/>
          </a:bodyPr>
          <a:lstStyle/>
          <a:p>
            <a:pPr algn="l">
              <a:spcAft>
                <a:spcPts val="100"/>
              </a:spcAft>
            </a:pPr>
            <a:r>
              <a:rPr sz="950" b="1" i="0">
                <a:solidFill>
                  <a:srgbClr val="16191F"/>
                </a:solidFill>
                <a:latin typeface="Calibri"/>
              </a:rPr>
              <a:t>tool-loop.ts — 343 lines</a:t>
            </a:r>
          </a:p>
          <a:p>
            <a:pPr algn="l">
              <a:spcAft>
                <a:spcPts val="100"/>
              </a:spcAft>
            </a:pPr>
            <a:r>
              <a:rPr sz="850" b="0" i="0">
                <a:solidFill>
                  <a:srgbClr val="545B64"/>
                </a:solidFill>
                <a:latin typeface="Calibri"/>
              </a:rPr>
              <a:t>call Converse, run the toolUse blocks, feed toolResult back, repeat; my own 5-iteration cap</a:t>
            </a:r>
          </a:p>
        </p:txBody>
      </p:sp>
      <p:sp>
        <p:nvSpPr>
          <p:cNvPr id="17" name="TextBox 16"/>
          <p:cNvSpPr txBox="1"/>
          <p:nvPr/>
        </p:nvSpPr>
        <p:spPr>
          <a:xfrm>
            <a:off x="7872984" y="1883664"/>
            <a:ext cx="3895344" cy="548640"/>
          </a:xfrm>
          <a:prstGeom prst="rect">
            <a:avLst/>
          </a:prstGeom>
          <a:noFill/>
        </p:spPr>
        <p:txBody>
          <a:bodyPr wrap="square" anchor="t" lIns="0" rIns="0" tIns="0" bIns="0">
            <a:spAutoFit/>
          </a:bodyPr>
          <a:lstStyle/>
          <a:p>
            <a:pPr algn="l">
              <a:spcAft>
                <a:spcPts val="100"/>
              </a:spcAft>
            </a:pPr>
            <a:r>
              <a:rPr sz="950" b="1" i="0">
                <a:solidFill>
                  <a:srgbClr val="16191F"/>
                </a:solidFill>
                <a:latin typeface="Calibri"/>
              </a:rPr>
              <a:t>Runtime runs the loop</a:t>
            </a:r>
          </a:p>
          <a:p>
            <a:pPr algn="l">
              <a:spcAft>
                <a:spcPts val="100"/>
              </a:spcAft>
            </a:pPr>
            <a:r>
              <a:rPr sz="850" b="0" i="0">
                <a:solidFill>
                  <a:srgbClr val="545B64"/>
                </a:solidFill>
                <a:latin typeface="Calibri"/>
              </a:rPr>
              <a:t>agent code inside a managed session</a:t>
            </a:r>
          </a:p>
        </p:txBody>
      </p:sp>
      <p:sp>
        <p:nvSpPr>
          <p:cNvPr id="18" name="TextBox 17"/>
          <p:cNvSpPr txBox="1"/>
          <p:nvPr/>
        </p:nvSpPr>
        <p:spPr>
          <a:xfrm>
            <a:off x="438912" y="2569464"/>
            <a:ext cx="2496312" cy="548640"/>
          </a:xfrm>
          <a:prstGeom prst="rect">
            <a:avLst/>
          </a:prstGeom>
          <a:noFill/>
        </p:spPr>
        <p:txBody>
          <a:bodyPr wrap="square" anchor="t" lIns="0" rIns="0" tIns="0" bIns="0">
            <a:spAutoFit/>
          </a:bodyPr>
          <a:lstStyle/>
          <a:p>
            <a:pPr algn="l">
              <a:spcAft>
                <a:spcPts val="200"/>
              </a:spcAft>
            </a:pPr>
            <a:r>
              <a:rPr sz="1000" b="1" i="0">
                <a:solidFill>
                  <a:srgbClr val="232F3E"/>
                </a:solidFill>
                <a:latin typeface="Calibri"/>
              </a:rPr>
              <a:t>Tool catalogue + dispatch</a:t>
            </a:r>
          </a:p>
        </p:txBody>
      </p:sp>
      <p:sp>
        <p:nvSpPr>
          <p:cNvPr id="19" name="TextBox 18"/>
          <p:cNvSpPr txBox="1"/>
          <p:nvPr/>
        </p:nvSpPr>
        <p:spPr>
          <a:xfrm>
            <a:off x="3209544" y="2478024"/>
            <a:ext cx="4325112" cy="548640"/>
          </a:xfrm>
          <a:prstGeom prst="rect">
            <a:avLst/>
          </a:prstGeom>
          <a:noFill/>
        </p:spPr>
        <p:txBody>
          <a:bodyPr wrap="square" anchor="t" lIns="0" rIns="0" tIns="0" bIns="0">
            <a:spAutoFit/>
          </a:bodyPr>
          <a:lstStyle/>
          <a:p>
            <a:pPr algn="l">
              <a:spcAft>
                <a:spcPts val="100"/>
              </a:spcAft>
            </a:pPr>
            <a:r>
              <a:rPr sz="950" b="1" i="0">
                <a:solidFill>
                  <a:srgbClr val="16191F"/>
                </a:solidFill>
                <a:latin typeface="Calibri"/>
              </a:rPr>
              <a:t>tool-registry.ts + 20 tools</a:t>
            </a:r>
          </a:p>
          <a:p>
            <a:pPr algn="l">
              <a:spcAft>
                <a:spcPts val="100"/>
              </a:spcAft>
            </a:pPr>
            <a:r>
              <a:rPr sz="850" b="0" i="0">
                <a:solidFill>
                  <a:srgbClr val="545B64"/>
                </a:solidFill>
                <a:latin typeface="Calibri"/>
              </a:rPr>
              <a:t>schemas, OAuth, per-tool error→prose, so a dead vendor costs a sentence</a:t>
            </a:r>
          </a:p>
        </p:txBody>
      </p:sp>
      <p:sp>
        <p:nvSpPr>
          <p:cNvPr id="20" name="TextBox 19"/>
          <p:cNvSpPr txBox="1"/>
          <p:nvPr/>
        </p:nvSpPr>
        <p:spPr>
          <a:xfrm>
            <a:off x="7872984" y="2478024"/>
            <a:ext cx="3895344" cy="548640"/>
          </a:xfrm>
          <a:prstGeom prst="rect">
            <a:avLst/>
          </a:prstGeom>
          <a:noFill/>
        </p:spPr>
        <p:txBody>
          <a:bodyPr wrap="square" anchor="t" lIns="0" rIns="0" tIns="0" bIns="0">
            <a:spAutoFit/>
          </a:bodyPr>
          <a:lstStyle/>
          <a:p>
            <a:pPr algn="l">
              <a:spcAft>
                <a:spcPts val="100"/>
              </a:spcAft>
            </a:pPr>
            <a:r>
              <a:rPr sz="950" b="1" i="0">
                <a:solidFill>
                  <a:srgbClr val="16191F"/>
                </a:solidFill>
                <a:latin typeface="Calibri"/>
              </a:rPr>
              <a:t>Gateway (MCP target)</a:t>
            </a:r>
          </a:p>
          <a:p>
            <a:pPr algn="l">
              <a:spcAft>
                <a:spcPts val="100"/>
              </a:spcAft>
            </a:pPr>
            <a:r>
              <a:rPr sz="850" b="0" i="0">
                <a:solidFill>
                  <a:srgbClr val="545B64"/>
                </a:solidFill>
                <a:latin typeface="Calibri"/>
              </a:rPr>
              <a:t>valentin-integrations___* over CUSTOM_JWT</a:t>
            </a:r>
          </a:p>
        </p:txBody>
      </p:sp>
      <p:sp>
        <p:nvSpPr>
          <p:cNvPr id="21" name="TextBox 20"/>
          <p:cNvSpPr txBox="1"/>
          <p:nvPr/>
        </p:nvSpPr>
        <p:spPr>
          <a:xfrm>
            <a:off x="438912" y="3163824"/>
            <a:ext cx="2496312" cy="548640"/>
          </a:xfrm>
          <a:prstGeom prst="rect">
            <a:avLst/>
          </a:prstGeom>
          <a:noFill/>
        </p:spPr>
        <p:txBody>
          <a:bodyPr wrap="square" anchor="t" lIns="0" rIns="0" tIns="0" bIns="0">
            <a:spAutoFit/>
          </a:bodyPr>
          <a:lstStyle/>
          <a:p>
            <a:pPr algn="l">
              <a:spcAft>
                <a:spcPts val="200"/>
              </a:spcAft>
            </a:pPr>
            <a:r>
              <a:rPr sz="1000" b="1" i="0">
                <a:solidFill>
                  <a:srgbClr val="232F3E"/>
                </a:solidFill>
                <a:latin typeface="Calibri"/>
              </a:rPr>
              <a:t>Long-term memory</a:t>
            </a:r>
          </a:p>
        </p:txBody>
      </p:sp>
      <p:sp>
        <p:nvSpPr>
          <p:cNvPr id="22" name="TextBox 21"/>
          <p:cNvSpPr txBox="1"/>
          <p:nvPr/>
        </p:nvSpPr>
        <p:spPr>
          <a:xfrm>
            <a:off x="3209544" y="3072384"/>
            <a:ext cx="4325112" cy="548640"/>
          </a:xfrm>
          <a:prstGeom prst="rect">
            <a:avLst/>
          </a:prstGeom>
          <a:noFill/>
        </p:spPr>
        <p:txBody>
          <a:bodyPr wrap="square" anchor="t" lIns="0" rIns="0" tIns="0" bIns="0">
            <a:spAutoFit/>
          </a:bodyPr>
          <a:lstStyle/>
          <a:p>
            <a:pPr algn="l">
              <a:spcAft>
                <a:spcPts val="100"/>
              </a:spcAft>
            </a:pPr>
            <a:r>
              <a:rPr sz="950" b="1" i="0">
                <a:solidFill>
                  <a:srgbClr val="16191F"/>
                </a:solidFill>
                <a:latin typeface="Calibri"/>
              </a:rPr>
              <a:t>preference-extractor.ts — 577 lines</a:t>
            </a:r>
          </a:p>
          <a:p>
            <a:pPr algn="l">
              <a:spcAft>
                <a:spcPts val="100"/>
              </a:spcAft>
            </a:pPr>
            <a:r>
              <a:rPr sz="850" b="0" i="0">
                <a:solidFill>
                  <a:srgbClr val="545B64"/>
                </a:solidFill>
                <a:latin typeface="Calibri"/>
              </a:rPr>
              <a:t>a second LLM call per turn, then my own person-identity resolution and conflict merge</a:t>
            </a:r>
          </a:p>
        </p:txBody>
      </p:sp>
      <p:sp>
        <p:nvSpPr>
          <p:cNvPr id="23" name="TextBox 22"/>
          <p:cNvSpPr txBox="1"/>
          <p:nvPr/>
        </p:nvSpPr>
        <p:spPr>
          <a:xfrm>
            <a:off x="7872984" y="3072384"/>
            <a:ext cx="3895344" cy="548640"/>
          </a:xfrm>
          <a:prstGeom prst="rect">
            <a:avLst/>
          </a:prstGeom>
          <a:noFill/>
        </p:spPr>
        <p:txBody>
          <a:bodyPr wrap="square" anchor="t" lIns="0" rIns="0" tIns="0" bIns="0">
            <a:spAutoFit/>
          </a:bodyPr>
          <a:lstStyle/>
          <a:p>
            <a:pPr algn="l">
              <a:spcAft>
                <a:spcPts val="100"/>
              </a:spcAft>
            </a:pPr>
            <a:r>
              <a:rPr sz="950" b="1" i="0">
                <a:solidFill>
                  <a:srgbClr val="16191F"/>
                </a:solidFill>
                <a:latin typeface="Calibri"/>
              </a:rPr>
              <a:t>Memory, managed strategy</a:t>
            </a:r>
          </a:p>
          <a:p>
            <a:pPr algn="l">
              <a:spcAft>
                <a:spcPts val="100"/>
              </a:spcAft>
            </a:pPr>
            <a:r>
              <a:rPr sz="850" b="0" i="0">
                <a:solidFill>
                  <a:srgbClr val="545B64"/>
                </a:solidFill>
                <a:latin typeface="Calibri"/>
              </a:rPr>
              <a:t>userPreferenceMemoryStrategy extracts; I only mirror</a:t>
            </a:r>
          </a:p>
        </p:txBody>
      </p:sp>
      <p:sp>
        <p:nvSpPr>
          <p:cNvPr id="24" name="TextBox 23"/>
          <p:cNvSpPr txBox="1"/>
          <p:nvPr/>
        </p:nvSpPr>
        <p:spPr>
          <a:xfrm>
            <a:off x="438912" y="3758183"/>
            <a:ext cx="2496312" cy="548640"/>
          </a:xfrm>
          <a:prstGeom prst="rect">
            <a:avLst/>
          </a:prstGeom>
          <a:noFill/>
        </p:spPr>
        <p:txBody>
          <a:bodyPr wrap="square" anchor="t" lIns="0" rIns="0" tIns="0" bIns="0">
            <a:spAutoFit/>
          </a:bodyPr>
          <a:lstStyle/>
          <a:p>
            <a:pPr algn="l">
              <a:spcAft>
                <a:spcPts val="200"/>
              </a:spcAft>
            </a:pPr>
            <a:r>
              <a:rPr sz="1000" b="1" i="0">
                <a:solidFill>
                  <a:srgbClr val="232F3E"/>
                </a:solidFill>
                <a:latin typeface="Calibri"/>
              </a:rPr>
              <a:t>Conversation window</a:t>
            </a:r>
          </a:p>
        </p:txBody>
      </p:sp>
      <p:sp>
        <p:nvSpPr>
          <p:cNvPr id="25" name="TextBox 24"/>
          <p:cNvSpPr txBox="1"/>
          <p:nvPr/>
        </p:nvSpPr>
        <p:spPr>
          <a:xfrm>
            <a:off x="3209544" y="3666744"/>
            <a:ext cx="4325112" cy="548640"/>
          </a:xfrm>
          <a:prstGeom prst="rect">
            <a:avLst/>
          </a:prstGeom>
          <a:noFill/>
        </p:spPr>
        <p:txBody>
          <a:bodyPr wrap="square" anchor="t" lIns="0" rIns="0" tIns="0" bIns="0">
            <a:spAutoFit/>
          </a:bodyPr>
          <a:lstStyle/>
          <a:p>
            <a:pPr algn="l">
              <a:spcAft>
                <a:spcPts val="100"/>
              </a:spcAft>
            </a:pPr>
            <a:r>
              <a:rPr sz="950" b="1" i="0">
                <a:solidFill>
                  <a:srgbClr val="16191F"/>
                </a:solidFill>
                <a:latin typeface="Calibri"/>
              </a:rPr>
              <a:t>conversation-memory.ts</a:t>
            </a:r>
          </a:p>
          <a:p>
            <a:pPr algn="l">
              <a:spcAft>
                <a:spcPts val="100"/>
              </a:spcAft>
            </a:pPr>
            <a:r>
              <a:rPr sz="850" b="0" i="0">
                <a:solidFill>
                  <a:srgbClr val="545B64"/>
                </a:solidFill>
                <a:latin typeface="Calibri"/>
              </a:rPr>
              <a:t>chars÷4 token estimate, drop-oldest truncation, placeholder summary</a:t>
            </a:r>
          </a:p>
        </p:txBody>
      </p:sp>
      <p:sp>
        <p:nvSpPr>
          <p:cNvPr id="26" name="TextBox 25"/>
          <p:cNvSpPr txBox="1"/>
          <p:nvPr/>
        </p:nvSpPr>
        <p:spPr>
          <a:xfrm>
            <a:off x="7872984" y="3666744"/>
            <a:ext cx="3895344" cy="548640"/>
          </a:xfrm>
          <a:prstGeom prst="rect">
            <a:avLst/>
          </a:prstGeom>
          <a:noFill/>
        </p:spPr>
        <p:txBody>
          <a:bodyPr wrap="square" anchor="t" lIns="0" rIns="0" tIns="0" bIns="0">
            <a:spAutoFit/>
          </a:bodyPr>
          <a:lstStyle/>
          <a:p>
            <a:pPr algn="l">
              <a:spcAft>
                <a:spcPts val="100"/>
              </a:spcAft>
            </a:pPr>
            <a:r>
              <a:rPr sz="950" b="1" i="0">
                <a:solidFill>
                  <a:srgbClr val="16191F"/>
                </a:solidFill>
                <a:latin typeface="Calibri"/>
              </a:rPr>
              <a:t>deliberately still mine</a:t>
            </a:r>
          </a:p>
          <a:p>
            <a:pPr algn="l">
              <a:spcAft>
                <a:spcPts val="100"/>
              </a:spcAft>
            </a:pPr>
            <a:r>
              <a:rPr sz="850" b="0" i="0">
                <a:solidFill>
                  <a:srgbClr val="545B64"/>
                </a:solidFill>
                <a:latin typeface="Calibri"/>
              </a:rPr>
              <a:t>shared so a measured difference is AgentCore's, not the prompt's</a:t>
            </a:r>
          </a:p>
        </p:txBody>
      </p:sp>
      <p:sp>
        <p:nvSpPr>
          <p:cNvPr id="27" name="TextBox 26"/>
          <p:cNvSpPr txBox="1"/>
          <p:nvPr/>
        </p:nvSpPr>
        <p:spPr>
          <a:xfrm>
            <a:off x="438912" y="4352544"/>
            <a:ext cx="2496312" cy="548640"/>
          </a:xfrm>
          <a:prstGeom prst="rect">
            <a:avLst/>
          </a:prstGeom>
          <a:noFill/>
        </p:spPr>
        <p:txBody>
          <a:bodyPr wrap="square" anchor="t" lIns="0" rIns="0" tIns="0" bIns="0">
            <a:spAutoFit/>
          </a:bodyPr>
          <a:lstStyle/>
          <a:p>
            <a:pPr algn="l">
              <a:spcAft>
                <a:spcPts val="200"/>
              </a:spcAft>
            </a:pPr>
            <a:r>
              <a:rPr sz="1000" b="1" i="0">
                <a:solidFill>
                  <a:srgbClr val="232F3E"/>
                </a:solidFill>
                <a:latin typeface="Calibri"/>
              </a:rPr>
              <a:t>Confirm before acting</a:t>
            </a:r>
          </a:p>
        </p:txBody>
      </p:sp>
      <p:sp>
        <p:nvSpPr>
          <p:cNvPr id="28" name="TextBox 27"/>
          <p:cNvSpPr txBox="1"/>
          <p:nvPr/>
        </p:nvSpPr>
        <p:spPr>
          <a:xfrm>
            <a:off x="3209544" y="4261104"/>
            <a:ext cx="4325112" cy="548640"/>
          </a:xfrm>
          <a:prstGeom prst="rect">
            <a:avLst/>
          </a:prstGeom>
          <a:noFill/>
        </p:spPr>
        <p:txBody>
          <a:bodyPr wrap="square" anchor="t" lIns="0" rIns="0" tIns="0" bIns="0">
            <a:spAutoFit/>
          </a:bodyPr>
          <a:lstStyle/>
          <a:p>
            <a:pPr algn="l">
              <a:spcAft>
                <a:spcPts val="100"/>
              </a:spcAft>
            </a:pPr>
            <a:r>
              <a:rPr sz="950" b="1" i="0">
                <a:solidFill>
                  <a:srgbClr val="16191F"/>
                </a:solidFill>
                <a:latin typeface="Calibri"/>
              </a:rPr>
              <a:t>6 × propose_* + pending-proposals.ts</a:t>
            </a:r>
          </a:p>
          <a:p>
            <a:pPr algn="l">
              <a:spcAft>
                <a:spcPts val="100"/>
              </a:spcAft>
            </a:pPr>
            <a:r>
              <a:rPr sz="850" b="0" i="0">
                <a:solidFill>
                  <a:srgbClr val="545B64"/>
                </a:solidFill>
                <a:latin typeface="Calibri"/>
              </a:rPr>
              <a:t>nothing reaches the outside world until a human accepts it</a:t>
            </a:r>
          </a:p>
        </p:txBody>
      </p:sp>
      <p:sp>
        <p:nvSpPr>
          <p:cNvPr id="29" name="TextBox 28"/>
          <p:cNvSpPr txBox="1"/>
          <p:nvPr/>
        </p:nvSpPr>
        <p:spPr>
          <a:xfrm>
            <a:off x="7872984" y="4261104"/>
            <a:ext cx="3895344" cy="548640"/>
          </a:xfrm>
          <a:prstGeom prst="rect">
            <a:avLst/>
          </a:prstGeom>
          <a:noFill/>
        </p:spPr>
        <p:txBody>
          <a:bodyPr wrap="square" anchor="t" lIns="0" rIns="0" tIns="0" bIns="0">
            <a:spAutoFit/>
          </a:bodyPr>
          <a:lstStyle/>
          <a:p>
            <a:pPr algn="l">
              <a:spcAft>
                <a:spcPts val="100"/>
              </a:spcAft>
            </a:pPr>
            <a:r>
              <a:rPr sz="950" b="1" i="0">
                <a:solidFill>
                  <a:srgbClr val="16191F"/>
                </a:solidFill>
                <a:latin typeface="Calibri"/>
              </a:rPr>
              <a:t>still mine</a:t>
            </a:r>
          </a:p>
          <a:p>
            <a:pPr algn="l">
              <a:spcAft>
                <a:spcPts val="100"/>
              </a:spcAft>
            </a:pPr>
            <a:r>
              <a:rPr sz="850" b="0" i="0">
                <a:solidFill>
                  <a:srgbClr val="545B64"/>
                </a:solidFill>
                <a:latin typeface="Calibri"/>
              </a:rPr>
              <a:t>not a platform feature on either side</a:t>
            </a:r>
          </a:p>
        </p:txBody>
      </p:sp>
      <p:sp>
        <p:nvSpPr>
          <p:cNvPr id="30" name="TextBox 29"/>
          <p:cNvSpPr txBox="1"/>
          <p:nvPr/>
        </p:nvSpPr>
        <p:spPr>
          <a:xfrm>
            <a:off x="438912" y="4946904"/>
            <a:ext cx="2496312" cy="548640"/>
          </a:xfrm>
          <a:prstGeom prst="rect">
            <a:avLst/>
          </a:prstGeom>
          <a:noFill/>
        </p:spPr>
        <p:txBody>
          <a:bodyPr wrap="square" anchor="t" lIns="0" rIns="0" tIns="0" bIns="0">
            <a:spAutoFit/>
          </a:bodyPr>
          <a:lstStyle/>
          <a:p>
            <a:pPr algn="l">
              <a:spcAft>
                <a:spcPts val="200"/>
              </a:spcAft>
            </a:pPr>
            <a:r>
              <a:rPr sz="1000" b="1" i="0">
                <a:solidFill>
                  <a:srgbClr val="232F3E"/>
                </a:solidFill>
                <a:latin typeface="Calibri"/>
              </a:rPr>
              <a:t>Traces + metrics</a:t>
            </a:r>
          </a:p>
        </p:txBody>
      </p:sp>
      <p:sp>
        <p:nvSpPr>
          <p:cNvPr id="31" name="TextBox 30"/>
          <p:cNvSpPr txBox="1"/>
          <p:nvPr/>
        </p:nvSpPr>
        <p:spPr>
          <a:xfrm>
            <a:off x="3209544" y="4855464"/>
            <a:ext cx="4325112" cy="548640"/>
          </a:xfrm>
          <a:prstGeom prst="rect">
            <a:avLst/>
          </a:prstGeom>
          <a:noFill/>
        </p:spPr>
        <p:txBody>
          <a:bodyPr wrap="square" anchor="t" lIns="0" rIns="0" tIns="0" bIns="0">
            <a:spAutoFit/>
          </a:bodyPr>
          <a:lstStyle/>
          <a:p>
            <a:pPr algn="l">
              <a:spcAft>
                <a:spcPts val="100"/>
              </a:spcAft>
            </a:pPr>
            <a:r>
              <a:rPr sz="950" b="1" i="0">
                <a:solidFill>
                  <a:srgbClr val="16191F"/>
                </a:solidFill>
                <a:latin typeface="Calibri"/>
              </a:rPr>
              <a:t>span-bridge.ts, turn-metrics.ts</a:t>
            </a:r>
          </a:p>
          <a:p>
            <a:pPr algn="l">
              <a:spcAft>
                <a:spcPts val="100"/>
              </a:spcAft>
            </a:pPr>
            <a:r>
              <a:rPr sz="850" b="0" i="0">
                <a:solidFill>
                  <a:srgbClr val="545B64"/>
                </a:solidFill>
                <a:latin typeface="Calibri"/>
              </a:rPr>
              <a:t>spans derived from my own log lines</a:t>
            </a:r>
          </a:p>
        </p:txBody>
      </p:sp>
      <p:sp>
        <p:nvSpPr>
          <p:cNvPr id="32" name="TextBox 31"/>
          <p:cNvSpPr txBox="1"/>
          <p:nvPr/>
        </p:nvSpPr>
        <p:spPr>
          <a:xfrm>
            <a:off x="7872984" y="4855464"/>
            <a:ext cx="3895344" cy="548640"/>
          </a:xfrm>
          <a:prstGeom prst="rect">
            <a:avLst/>
          </a:prstGeom>
          <a:noFill/>
        </p:spPr>
        <p:txBody>
          <a:bodyPr wrap="square" anchor="t" lIns="0" rIns="0" tIns="0" bIns="0">
            <a:spAutoFit/>
          </a:bodyPr>
          <a:lstStyle/>
          <a:p>
            <a:pPr algn="l">
              <a:spcAft>
                <a:spcPts val="100"/>
              </a:spcAft>
            </a:pPr>
            <a:r>
              <a:rPr sz="950" b="1" i="0">
                <a:solidFill>
                  <a:srgbClr val="16191F"/>
                </a:solidFill>
                <a:latin typeface="Calibri"/>
              </a:rPr>
              <a:t>Observability, session traces</a:t>
            </a:r>
          </a:p>
          <a:p>
            <a:pPr algn="l">
              <a:spcAft>
                <a:spcPts val="100"/>
              </a:spcAft>
            </a:pPr>
            <a:r>
              <a:rPr sz="850" b="0" i="0">
                <a:solidFill>
                  <a:srgbClr val="545B64"/>
                </a:solidFill>
                <a:latin typeface="Calibri"/>
              </a:rPr>
              <a:t>per-session view for free</a:t>
            </a:r>
          </a:p>
        </p:txBody>
      </p:sp>
      <p:sp>
        <p:nvSpPr>
          <p:cNvPr id="33" name="Rounded Rectangle 32"/>
          <p:cNvSpPr/>
          <p:nvPr/>
        </p:nvSpPr>
        <p:spPr>
          <a:xfrm>
            <a:off x="384048" y="5568696"/>
            <a:ext cx="11439144" cy="786384"/>
          </a:xfrm>
          <a:prstGeom prst="roundRect">
            <a:avLst>
              <a:gd name="adj" fmla="val 5000"/>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384048" y="5568696"/>
            <a:ext cx="45720" cy="786384"/>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566928" y="5669280"/>
            <a:ext cx="11109960" cy="274320"/>
          </a:xfrm>
          <a:prstGeom prst="rect">
            <a:avLst/>
          </a:prstGeom>
          <a:noFill/>
        </p:spPr>
        <p:txBody>
          <a:bodyPr wrap="square" anchor="t" lIns="0" rIns="0" tIns="0" bIns="0">
            <a:spAutoFit/>
          </a:bodyPr>
          <a:lstStyle/>
          <a:p>
            <a:pPr algn="l">
              <a:spcAft>
                <a:spcPts val="200"/>
              </a:spcAft>
            </a:pPr>
            <a:r>
              <a:rPr sz="950" b="1" i="0">
                <a:solidFill>
                  <a:srgbClr val="232F3E"/>
                </a:solidFill>
                <a:latin typeface="Calibri"/>
              </a:rPr>
              <a:t>Why DynamoDB is shared and AgentCore Memory is not</a:t>
            </a:r>
          </a:p>
        </p:txBody>
      </p:sp>
      <p:sp>
        <p:nvSpPr>
          <p:cNvPr id="36" name="TextBox 35"/>
          <p:cNvSpPr txBox="1"/>
          <p:nvPr/>
        </p:nvSpPr>
        <p:spPr>
          <a:xfrm>
            <a:off x="566928" y="5897880"/>
            <a:ext cx="11109960" cy="402336"/>
          </a:xfrm>
          <a:prstGeom prst="rect">
            <a:avLst/>
          </a:prstGeom>
          <a:noFill/>
        </p:spPr>
        <p:txBody>
          <a:bodyPr wrap="square" anchor="t" lIns="0" rIns="0" tIns="0" bIns="0">
            <a:spAutoFit/>
          </a:bodyPr>
          <a:lstStyle/>
          <a:p>
            <a:pPr algn="l">
              <a:spcAft>
                <a:spcPts val="0"/>
              </a:spcAft>
            </a:pPr>
            <a:r>
              <a:rPr sz="850" b="0" i="0">
                <a:solidFill>
                  <a:srgbClr val="545B64"/>
                </a:solidFill>
                <a:latin typeface="Calibri"/>
              </a:rPr>
              <a:t>DynamoDB is the product's system of record — transcript, the partner dossier, outings, reminders, credentials — so both engines write it and one UI reads one source. AgentCore Memory is engine B only, and holds just the preference records its managed strategy extracted; engine B mirrors them back into DynamoDB. Nothing is stored twice on purpose: Memory replaces my extractor, not my table.</a:t>
            </a:r>
          </a:p>
        </p:txBody>
      </p:sp>
      <p:sp>
        <p:nvSpPr>
          <p:cNvPr id="37" name="TextBox 36"/>
          <p:cNvSpPr txBox="1"/>
          <p:nvPr/>
        </p:nvSpPr>
        <p:spPr>
          <a:xfrm>
            <a:off x="502920" y="6492240"/>
            <a:ext cx="8229600" cy="347472"/>
          </a:xfrm>
          <a:prstGeom prst="rect">
            <a:avLst/>
          </a:prstGeom>
          <a:noFill/>
        </p:spPr>
        <p:txBody>
          <a:bodyPr wrap="square" anchor="t" lIns="0" rIns="0" tIns="0" bIns="0">
            <a:spAutoFit/>
          </a:bodyPr>
          <a:lstStyle/>
          <a:p>
            <a:pPr algn="l">
              <a:spcAft>
                <a:spcPts val="200"/>
              </a:spcAft>
            </a:pPr>
            <a:r>
              <a:rPr sz="850" b="0" i="0">
                <a:solidFill>
                  <a:srgbClr val="545B64"/>
                </a:solidFill>
                <a:latin typeface="Calibri"/>
              </a:rPr>
              <a:t>VALENTIN   ·   GenAI TFC Capstone Deep-Dive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7917</TotalTime>
  <Words>4166</Words>
  <Application>Microsoft Macintosh PowerPoint</Application>
  <PresentationFormat>Widescreen</PresentationFormat>
  <Paragraphs>573</Paragraphs>
  <Slides>20</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Coral Steinberg</cp:lastModifiedBy>
  <cp:revision>8</cp:revision>
  <dcterms:created xsi:type="dcterms:W3CDTF">2013-01-27T09:14:16Z</dcterms:created>
  <dcterms:modified xsi:type="dcterms:W3CDTF">2026-09-12T07:48:25Z</dcterms:modified>
  <cp:category/>
</cp:coreProperties>
</file>