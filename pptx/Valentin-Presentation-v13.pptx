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93" r:id="rId5"/>
    <p:sldId id="296" r:id="rId6"/>
    <p:sldId id="259" r:id="rId7"/>
    <p:sldId id="297" r:id="rId8"/>
    <p:sldId id="298" r:id="rId9"/>
    <p:sldId id="299" r:id="rId10"/>
    <p:sldId id="295" r:id="rId11"/>
    <p:sldId id="300" r:id="rId12"/>
    <p:sldId id="301" r:id="rId13"/>
    <p:sldId id="302" r:id="rId14"/>
    <p:sldId id="303" r:id="rId15"/>
    <p:sldId id="304" r:id="rId16"/>
    <p:sldId id="305" r:id="rId17"/>
    <p:sldId id="306" r:id="rId18"/>
    <p:sldId id="308" r:id="rId19"/>
    <p:sldId id="290" r:id="rId20"/>
    <p:sldId id="291" r:id="rId21"/>
    <p:sldId id="292" r:id="rId22"/>
    <p:sldId id="283" r:id="rId23"/>
    <p:sldId id="287" r:id="rId24"/>
    <p:sldId id="284" r:id="rId25"/>
    <p:sldId id="285" r:id="rId26"/>
    <p:sldId id="286" r:id="rId27"/>
    <p:sldId id="289" r:id="rId28"/>
    <p:sldId id="277" r:id="rId29"/>
    <p:sldId id="278" r:id="rId30"/>
    <p:sldId id="267"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69"/>
    <p:restoredTop sz="80830"/>
  </p:normalViewPr>
  <p:slideViewPr>
    <p:cSldViewPr snapToGrid="0" snapToObjects="1">
      <p:cViewPr>
        <p:scale>
          <a:sx n="190" d="100"/>
          <a:sy n="190" d="100"/>
        </p:scale>
        <p:origin x="3712" y="-4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7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[0:20 · cumulative 0:20 of 10:00]</a:t>
            </a:r>
          </a:p>
          <a:p>
            <a:endParaRPr/>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[0:45 · cumulative 1:05 of 10:00]</a:t>
            </a:r>
          </a:p>
          <a:p>
            <a:endParaRPr dirty="0"/>
          </a:p>
          <a:p>
            <a:r>
              <a:rPr dirty="0"/>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pPr marL="0" algn="l" defTabSz="457200" rtl="0" eaLnBrk="1" latinLnBrk="0" hangingPunct="1"/>
            <a:r>
              <a:rPr lang="en-US" dirty="0">
                <a:solidFill>
                  <a:srgbClr val="FF0000"/>
                </a:solidFill>
              </a:rPr>
              <a:t>Deep dive to different definitions of what is an </a:t>
            </a:r>
            <a:r>
              <a:rPr lang="en-US" dirty="0" err="1">
                <a:solidFill>
                  <a:srgbClr val="FF0000"/>
                </a:solidFill>
              </a:rPr>
              <a:t>Agnet</a:t>
            </a:r>
            <a:r>
              <a:rPr lang="en-US" dirty="0">
                <a:solidFill>
                  <a:srgbClr val="FF0000"/>
                </a:solidFill>
              </a:rPr>
              <a:t> exactly</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rPr dirty="0"/>
              <a:t>[0:25 · cumulative 3:50 of 10:00]</a:t>
            </a:r>
          </a:p>
          <a:p>
            <a:endParaRPr dirty="0"/>
          </a:p>
          <a:p>
            <a:r>
              <a:rPr dirty="0"/>
              <a:t>Now the real content. Same product, built twice: engine A is the DIY build I own on Fargate; engine B is the same model on AgentCore. Everything from here judges those two engines through six lenses.</a:t>
            </a:r>
            <a:endParaRPr lang="en-US" dirty="0"/>
          </a:p>
          <a:p>
            <a:endParaRPr lang="en-IL"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highlight>
                  <a:srgbClr val="FFFF00"/>
                </a:highlight>
              </a:rPr>
              <a:t>To </a:t>
            </a:r>
            <a:r>
              <a:rPr lang="en-US" dirty="0" err="1">
                <a:solidFill>
                  <a:srgbClr val="FF0000"/>
                </a:solidFill>
                <a:highlight>
                  <a:srgbClr val="FFFF00"/>
                </a:highlight>
              </a:rPr>
              <a:t>emphasie</a:t>
            </a:r>
            <a:r>
              <a:rPr lang="en-US" dirty="0">
                <a:solidFill>
                  <a:srgbClr val="FF0000"/>
                </a:solidFill>
                <a:highlight>
                  <a:srgbClr val="FFFF00"/>
                </a:highlight>
              </a:rPr>
              <a:t> to myself why the DynamoDB is shared (to distinguish demo reasons </a:t>
            </a:r>
            <a:r>
              <a:rPr lang="en-US" dirty="0" err="1">
                <a:solidFill>
                  <a:srgbClr val="FF0000"/>
                </a:solidFill>
                <a:highlight>
                  <a:srgbClr val="FFFF00"/>
                </a:highlight>
              </a:rPr>
              <a:t>tha</a:t>
            </a:r>
            <a:r>
              <a:rPr lang="en-US" dirty="0">
                <a:solidFill>
                  <a:srgbClr val="FF0000"/>
                </a:solidFill>
                <a:highlight>
                  <a:srgbClr val="FFFF00"/>
                </a:highlight>
              </a:rPr>
              <a:t> </a:t>
            </a:r>
            <a:r>
              <a:rPr lang="en-US" dirty="0" err="1">
                <a:solidFill>
                  <a:srgbClr val="FF0000"/>
                </a:solidFill>
                <a:highlight>
                  <a:srgbClr val="FFFF00"/>
                </a:highlight>
              </a:rPr>
              <a:t>tcmes</a:t>
            </a:r>
            <a:r>
              <a:rPr lang="en-US" dirty="0">
                <a:solidFill>
                  <a:srgbClr val="FF0000"/>
                </a:solidFill>
                <a:highlight>
                  <a:srgbClr val="FFFF00"/>
                </a:highlight>
              </a:rPr>
              <a:t> from the two architecture, to real reason why we may want both DynamoDB and AgentCore Memory (list to </a:t>
            </a:r>
            <a:r>
              <a:rPr lang="en-US" dirty="0" err="1">
                <a:solidFill>
                  <a:srgbClr val="FF0000"/>
                </a:solidFill>
                <a:highlight>
                  <a:srgbClr val="FFFF00"/>
                </a:highlight>
              </a:rPr>
              <a:t>myxelf</a:t>
            </a:r>
            <a:r>
              <a:rPr lang="en-US" dirty="0">
                <a:solidFill>
                  <a:srgbClr val="FF0000"/>
                </a:solidFill>
                <a:highlight>
                  <a:srgbClr val="FFFF00"/>
                </a:highlight>
              </a:rPr>
              <a:t> exactly what is </a:t>
            </a:r>
            <a:r>
              <a:rPr lang="en-US" dirty="0" err="1">
                <a:solidFill>
                  <a:srgbClr val="FF0000"/>
                </a:solidFill>
                <a:highlight>
                  <a:srgbClr val="FFFF00"/>
                </a:highlight>
              </a:rPr>
              <a:t>aved</a:t>
            </a:r>
            <a:r>
              <a:rPr lang="en-US" dirty="0">
                <a:solidFill>
                  <a:srgbClr val="FF0000"/>
                </a:solidFill>
                <a:highlight>
                  <a:srgbClr val="FFFF00"/>
                </a:highlight>
              </a:rPr>
              <a:t> where: conversation, preference, more </a:t>
            </a:r>
            <a:r>
              <a:rPr lang="en-US" dirty="0" err="1">
                <a:solidFill>
                  <a:srgbClr val="FF0000"/>
                </a:solidFill>
                <a:highlight>
                  <a:srgbClr val="FFFF00"/>
                </a:highlight>
              </a:rPr>
              <a:t>thigns</a:t>
            </a:r>
            <a:r>
              <a:rPr lang="en-US" dirty="0">
                <a:solidFill>
                  <a:srgbClr val="FF0000"/>
                </a:solidFill>
                <a:highlight>
                  <a:srgbClr val="FFFF00"/>
                </a:highlight>
              </a:rPr>
              <a:t>?, dates? Does Observability </a:t>
            </a:r>
            <a:r>
              <a:rPr lang="en-US" dirty="0" err="1">
                <a:solidFill>
                  <a:srgbClr val="FF0000"/>
                </a:solidFill>
                <a:highlight>
                  <a:srgbClr val="FFFF00"/>
                </a:highlight>
              </a:rPr>
              <a:t>seeesiosn</a:t>
            </a:r>
            <a:r>
              <a:rPr lang="en-US" dirty="0">
                <a:solidFill>
                  <a:srgbClr val="FF0000"/>
                </a:solidFill>
                <a:highlight>
                  <a:srgbClr val="FFFF00"/>
                </a:highlight>
              </a:rPr>
              <a:t> really </a:t>
            </a:r>
            <a:r>
              <a:rPr lang="en-US" dirty="0" err="1">
                <a:solidFill>
                  <a:srgbClr val="FF0000"/>
                </a:solidFill>
                <a:highlight>
                  <a:srgbClr val="FFFF00"/>
                </a:highlight>
              </a:rPr>
              <a:t>sved</a:t>
            </a:r>
            <a:r>
              <a:rPr lang="en-US" dirty="0">
                <a:solidFill>
                  <a:srgbClr val="FF0000"/>
                </a:solidFill>
                <a:highlight>
                  <a:srgbClr val="FFFF00"/>
                </a:highlight>
              </a:rPr>
              <a:t>? I think not?</a:t>
            </a:r>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[1:15 · cumulative 3:25 of 10:00]</a:t>
            </a:r>
          </a:p>
          <a:p>
            <a:endParaRPr/>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laceholder 99"/>
          <p:cNvSpPr>
            <a:spLocks noGrp="1"/>
          </p:cNvSpPr>
          <p:nvPr>
            <p:ph type="body" idx="1"/>
          </p:nvPr>
        </p:nvSpPr>
        <p:spPr/>
        <p:txBody>
          <a:bodyPr/>
          <a:lstStyle/>
          <a:p>
            <a:r>
              <a:rPr lang="en-US" dirty="0"/>
              <a:t>AgentCore needs no NAT because it's a managed service — AWS runs the compute in its network and handles egress for you, so there's no VPC of yours to route out of; Fargate needs one because you own the VPC the task runs in, and a task in a private subnet with no public IP has literally no other path to the internet.</a:t>
            </a:r>
          </a:p>
          <a:p>
            <a:r>
              <a:rPr lang="en-US" dirty="0"/>
              <a:t>A single Converse call returns either text or a </a:t>
            </a:r>
            <a:r>
              <a:rPr lang="en-US" dirty="0" err="1"/>
              <a:t>tool_use</a:t>
            </a:r>
            <a:r>
              <a:rPr lang="en-US" dirty="0"/>
              <a:t> block, not both. And extraction pins </a:t>
            </a:r>
            <a:r>
              <a:rPr lang="en-US" dirty="0" err="1"/>
              <a:t>toolChoice</a:t>
            </a:r>
            <a:r>
              <a:rPr lang="en-US" dirty="0"/>
              <a:t> to that one named tool (bedrock-client.ts:732) — which is the whole point. If you instead offered </a:t>
            </a:r>
            <a:r>
              <a:rPr lang="en-US" dirty="0" err="1"/>
              <a:t>extract_preferences</a:t>
            </a:r>
            <a:r>
              <a:rPr lang="en-US" dirty="0"/>
              <a:t> alongside the 20 integration tools and let the model decide, it would call it when it felt like it. Memory would become a coin flip. Forcing the tool is what makes "she's vegetarian" get recorded 100% of the time instead of 60%.</a:t>
            </a:r>
          </a:p>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00AA-A608-F681-D9C5-9E8FAC2E9885}"/>
            </a:ext>
          </a:extLst>
        </p:cNvPr>
        <p:cNvGrpSpPr/>
        <p:nvPr/>
      </p:nvGrpSpPr>
      <p:grpSpPr>
        <a:xfrm>
          <a:off x="0" y="0"/>
          <a:ext cx="0" cy="0"/>
          <a:chOff x="0" y="0"/>
          <a:chExt cx="0" cy="0"/>
        </a:xfrm>
      </p:grpSpPr>
      <p:sp>
        <p:nvSpPr>
          <p:cNvPr id="99" name="Notes Placeholder 99">
            <a:extLst>
              <a:ext uri="{FF2B5EF4-FFF2-40B4-BE49-F238E27FC236}">
                <a16:creationId xmlns:a16="http://schemas.microsoft.com/office/drawing/2014/main" id="{908EDE3A-F150-1CC7-D5BD-4BBDEAC34417}"/>
              </a:ext>
            </a:extLst>
          </p:cNvPr>
          <p:cNvSpPr>
            <a:spLocks noGrp="1"/>
          </p:cNvSpPr>
          <p:nvPr>
            <p:ph type="body" idx="1"/>
          </p:nvPr>
        </p:nvSpPr>
        <p:spPr/>
        <p:txBody>
          <a:bodyPr/>
          <a:lstStyle/>
          <a:p>
            <a:r>
              <a:rPr lang="en-US" dirty="0"/>
              <a:t>Í</a:t>
            </a:r>
            <a:r>
              <a:rPr dirty="0"/>
              <a:t>THE THREE KINDS OF NUMBER ON THIS SLIDE</a:t>
            </a:r>
          </a:p>
          <a:p>
            <a:r>
              <a:rPr dirty="0"/>
              <a:t>Everything in this cost comparison is one of exactly three things, and the slide is laid out in</a:t>
            </a:r>
          </a:p>
          <a:p>
            <a:r>
              <a:rPr dirty="0"/>
              <a:t>that order so nobody has to wonder which they are looking at.</a:t>
            </a:r>
          </a:p>
          <a:p>
            <a:endParaRPr dirty="0"/>
          </a:p>
          <a:p>
            <a:r>
              <a:rPr dirty="0"/>
              <a:t>1. RAW PRICES - what AWS charges. Not ours, not negotiable, straight off the vendor pricing pages.</a:t>
            </a:r>
          </a:p>
          <a:p>
            <a:r>
              <a:rPr dirty="0"/>
              <a:t>   If one of these is wrong, AWS changed its price list (they do; re-check before presenting).</a:t>
            </a:r>
          </a:p>
          <a:p>
            <a:r>
              <a:rPr dirty="0"/>
              <a:t>2. QUANTITIES COUNTED FROM OUR OWN CODE - how much of each thing this system actually consumes.</a:t>
            </a:r>
          </a:p>
          <a:p>
            <a:r>
              <a:rPr dirty="0"/>
              <a:t>   Every one was read out of a source file in this repository, not estimated. If one of these is</a:t>
            </a:r>
          </a:p>
          <a:p>
            <a:r>
              <a:rPr dirty="0"/>
              <a:t>   wrong, the code is wrong, not the model.</a:t>
            </a:r>
          </a:p>
          <a:p>
            <a:r>
              <a:rPr dirty="0"/>
              <a:t>3. GUESSES - the handful of things no page and no file could tell us. Each is named, and each is</a:t>
            </a:r>
          </a:p>
          <a:p>
            <a:r>
              <a:rPr dirty="0"/>
              <a:t>   labelled with how much of the answer it can move.</a:t>
            </a:r>
          </a:p>
          <a:p>
            <a:endParaRPr dirty="0"/>
          </a:p>
          <a:p>
            <a:r>
              <a:rPr dirty="0"/>
              <a:t>THE HEADLINE, IF YOU ONLY SAY ONE THING</a:t>
            </a:r>
          </a:p>
          <a:p>
            <a:r>
              <a:rPr dirty="0"/>
              <a:t>98% of what one user costs, on EITHER engine, is the Bedrock call that writes the reply. All of</a:t>
            </a:r>
          </a:p>
          <a:p>
            <a:r>
              <a:rPr dirty="0" err="1"/>
              <a:t>AgentCore's</a:t>
            </a:r>
            <a:r>
              <a:rPr dirty="0"/>
              <a:t> metering - Runtime, Memory, Gateway, tool indexing - adds up to $0.13 of engine B's</a:t>
            </a:r>
          </a:p>
          <a:p>
            <a:r>
              <a:rPr dirty="0"/>
              <a:t>$5.39. The deck's earlier 13.8x ratio was a true ratio measured on 2% of the bill; this slide is</a:t>
            </a:r>
          </a:p>
          <a:p>
            <a:r>
              <a:rPr dirty="0"/>
              <a:t>the other 98%. The real gap between the engines is one line: engine A pays $1.99 a month per user</a:t>
            </a:r>
          </a:p>
          <a:p>
            <a:r>
              <a:rPr dirty="0"/>
              <a:t>for a second Bedrock call that extracts preferences, and AgentCore Memory does that job for $0.11.</a:t>
            </a:r>
          </a:p>
          <a:p>
            <a:endParaRPr dirty="0"/>
          </a:p>
          <a:p>
            <a:r>
              <a:rPr dirty="0"/>
              <a:t>WHAT "COUNTED FROM OUR OWN CODE" MEANS, FILE BY FILE</a:t>
            </a:r>
          </a:p>
          <a:p>
            <a:r>
              <a:rPr dirty="0"/>
              <a:t>This is the card people ask about, so say it plainly: these are not estimates. Each one is a</a:t>
            </a:r>
          </a:p>
          <a:p>
            <a:r>
              <a:rPr dirty="0"/>
              <a:t>measurement taken by reading the repository.</a:t>
            </a:r>
          </a:p>
          <a:p>
            <a:r>
              <a:rPr dirty="0"/>
              <a:t>- 1,667 tokens of system prompt - </a:t>
            </a:r>
            <a:r>
              <a:rPr dirty="0" err="1"/>
              <a:t>prompts.ts</a:t>
            </a:r>
            <a:r>
              <a:rPr dirty="0"/>
              <a:t>: VALENTIN_SYSTEM_PROMPT (2,333 chars) + TOOL_GUIDANCE</a:t>
            </a:r>
          </a:p>
          <a:p>
            <a:r>
              <a:rPr dirty="0"/>
              <a:t>  (3,284) + </a:t>
            </a:r>
            <a:r>
              <a:rPr dirty="0" err="1"/>
              <a:t>nowBlock</a:t>
            </a:r>
            <a:r>
              <a:rPr dirty="0"/>
              <a:t> (383) = 6,000 characters. Identical on engine B, because </a:t>
            </a:r>
            <a:r>
              <a:rPr dirty="0" err="1"/>
              <a:t>agentcore</a:t>
            </a:r>
            <a:r>
              <a:rPr dirty="0"/>
              <a:t>/agent.py:327</a:t>
            </a:r>
          </a:p>
          <a:p>
            <a:r>
              <a:rPr dirty="0"/>
              <a:t>  takes the system prompt from the payload the proxy sends it.</a:t>
            </a:r>
          </a:p>
          <a:p>
            <a:r>
              <a:rPr dirty="0"/>
              <a:t>- 6,219 tokens of tool schemas on A, 6,385 on B - </a:t>
            </a:r>
            <a:r>
              <a:rPr dirty="0" err="1"/>
              <a:t>serialised</a:t>
            </a:r>
            <a:r>
              <a:rPr dirty="0"/>
              <a:t> from</a:t>
            </a:r>
          </a:p>
          <a:p>
            <a:r>
              <a:rPr dirty="0"/>
              <a:t>  infra/lib/generated/integration-tool-</a:t>
            </a:r>
            <a:r>
              <a:rPr dirty="0" err="1"/>
              <a:t>schemas.json</a:t>
            </a:r>
            <a:r>
              <a:rPr dirty="0"/>
              <a:t>. Engine A sends its whole registry on every</a:t>
            </a:r>
          </a:p>
          <a:p>
            <a:r>
              <a:rPr dirty="0"/>
              <a:t>  reply call (tool-loop.ts:138); engine B withholds </a:t>
            </a:r>
            <a:r>
              <a:rPr dirty="0" err="1"/>
              <a:t>create_conversation_link</a:t>
            </a:r>
            <a:r>
              <a:rPr dirty="0"/>
              <a:t> and adds three inline</a:t>
            </a:r>
          </a:p>
          <a:p>
            <a:r>
              <a:rPr dirty="0"/>
              <a:t>  profile tools. Two thirds of every prompt is this menu, re-sent because Converse is stateless.</a:t>
            </a:r>
          </a:p>
          <a:p>
            <a:r>
              <a:rPr dirty="0"/>
              <a:t>- 20 / 22 / 29 tools - 20 in the generated schema file; the model on engine B sees 19 offered plus</a:t>
            </a:r>
          </a:p>
          <a:p>
            <a:r>
              <a:rPr dirty="0"/>
              <a:t>  3 profile tools; the Gateway INDEXES 29, because the 7 confirm_* tools are routed even though</a:t>
            </a:r>
          </a:p>
          <a:p>
            <a:r>
              <a:rPr dirty="0"/>
              <a:t>  </a:t>
            </a:r>
            <a:r>
              <a:rPr dirty="0" err="1"/>
              <a:t>agentcore</a:t>
            </a:r>
            <a:r>
              <a:rPr dirty="0"/>
              <a:t>/</a:t>
            </a:r>
            <a:r>
              <a:rPr dirty="0" err="1"/>
              <a:t>agent.py</a:t>
            </a:r>
            <a:r>
              <a:rPr dirty="0"/>
              <a:t> filters them out of the model's list. The old model said 3 - it had counted</a:t>
            </a:r>
          </a:p>
          <a:p>
            <a:r>
              <a:rPr dirty="0"/>
              <a:t>  only the first of the Gateway's two targets.</a:t>
            </a:r>
          </a:p>
          <a:p>
            <a:r>
              <a:rPr dirty="0"/>
              <a:t>- 1,260 tokens of history, average - derived, not measured: each finished turn adds a ~30-token</a:t>
            </a:r>
          </a:p>
          <a:p>
            <a:r>
              <a:rPr dirty="0"/>
              <a:t>  user message and a ~250-token reply, so turn k carries (k-1) x 280 and the 10-turn average is</a:t>
            </a:r>
          </a:p>
          <a:p>
            <a:r>
              <a:rPr dirty="0"/>
              <a:t>  4.5 x 280. Worth knowing: MAX_CONTEXT_TOKENS is 4,096 and is never reached, so the trim does</a:t>
            </a:r>
          </a:p>
          <a:p>
            <a:r>
              <a:rPr dirty="0"/>
              <a:t>  no work at this level of use.</a:t>
            </a:r>
          </a:p>
          <a:p>
            <a:r>
              <a:rPr dirty="0"/>
              <a:t>- 4,041 input, 300 output tokens - engine A's forced-tool extraction call. It sends the full</a:t>
            </a:r>
          </a:p>
          <a:p>
            <a:r>
              <a:rPr dirty="0"/>
              <a:t>  UNTRIMMED history (preference-extractor.ts:227 - there is no trim anywhere on that path) plus a</a:t>
            </a:r>
          </a:p>
          <a:p>
            <a:r>
              <a:rPr dirty="0"/>
              <a:t>  9,903-character tool schema = 2,751 tokens. The old figure of 2,940 assumed a flat history.</a:t>
            </a:r>
          </a:p>
          <a:p>
            <a:r>
              <a:rPr dirty="0"/>
              <a:t>- 7 reads / 9 write units per turn on A, 8 / 10 on B - counted in </a:t>
            </a:r>
            <a:r>
              <a:rPr dirty="0" err="1"/>
              <a:t>dynamodb-store.ts</a:t>
            </a:r>
            <a:r>
              <a:rPr dirty="0"/>
              <a:t>: 6 Query + 1</a:t>
            </a:r>
          </a:p>
          <a:p>
            <a:r>
              <a:rPr dirty="0"/>
              <a:t>  </a:t>
            </a:r>
            <a:r>
              <a:rPr dirty="0" err="1"/>
              <a:t>GetItem</a:t>
            </a:r>
            <a:r>
              <a:rPr dirty="0"/>
              <a:t>, and 2 Put + 1 </a:t>
            </a:r>
            <a:r>
              <a:rPr dirty="0" err="1"/>
              <a:t>BatchWrite</a:t>
            </a:r>
            <a:r>
              <a:rPr dirty="0"/>
              <a:t> + 3 Update, three replicating into the sparse GSI1. Engine B is</a:t>
            </a:r>
          </a:p>
          <a:p>
            <a:r>
              <a:rPr dirty="0"/>
              <a:t>  NOT free of DynamoDB: </a:t>
            </a:r>
            <a:r>
              <a:rPr dirty="0" err="1"/>
              <a:t>agentcore-orchestrator.ts</a:t>
            </a:r>
            <a:r>
              <a:rPr dirty="0"/>
              <a:t> keeps DynamoDB as the source of truth for the</a:t>
            </a:r>
          </a:p>
          <a:p>
            <a:r>
              <a:rPr dirty="0"/>
              <a:t>  profile (:172, :226) and mirrors </a:t>
            </a:r>
            <a:r>
              <a:rPr dirty="0" err="1"/>
              <a:t>AgentCore's</a:t>
            </a:r>
            <a:r>
              <a:rPr dirty="0"/>
              <a:t> extractions back into it (:422), which adds a read</a:t>
            </a:r>
          </a:p>
          <a:p>
            <a:r>
              <a:rPr dirty="0"/>
              <a:t>  and a write.</a:t>
            </a:r>
          </a:p>
          <a:p>
            <a:r>
              <a:rPr dirty="0"/>
              <a:t>- 26 profile fields - PROFILE_FIELD_IDS. One AgentCore Memory long-term record each.</a:t>
            </a:r>
          </a:p>
          <a:p>
            <a:r>
              <a:rPr dirty="0"/>
              <a:t>- 0.5 vCPU, 1 GiB - infra/config/</a:t>
            </a:r>
            <a:r>
              <a:rPr dirty="0" err="1"/>
              <a:t>environments.ts</a:t>
            </a:r>
            <a:r>
              <a:rPr dirty="0"/>
              <a:t>, dev: </a:t>
            </a:r>
            <a:r>
              <a:rPr dirty="0" err="1"/>
              <a:t>cpu</a:t>
            </a:r>
            <a:r>
              <a:rPr dirty="0"/>
              <a:t> 512, </a:t>
            </a:r>
            <a:r>
              <a:rPr dirty="0" err="1"/>
              <a:t>memoryLimitMiB</a:t>
            </a:r>
            <a:r>
              <a:rPr dirty="0"/>
              <a:t> 1024. That is</a:t>
            </a:r>
          </a:p>
          <a:p>
            <a:r>
              <a:rPr dirty="0"/>
              <a:t>  literally the container we deploy, and BOTH engines run one: compute-stack.ts:900 creates</a:t>
            </a:r>
          </a:p>
          <a:p>
            <a:r>
              <a:rPr dirty="0"/>
              <a:t>  </a:t>
            </a:r>
            <a:r>
              <a:rPr dirty="0" err="1"/>
              <a:t>valentin</a:t>
            </a:r>
            <a:r>
              <a:rPr dirty="0"/>
              <a:t>-ac-proxy-dev at the same size on purpose, so a proxy on a smaller task cannot be</a:t>
            </a:r>
          </a:p>
          <a:p>
            <a:r>
              <a:rPr dirty="0"/>
              <a:t>  misread as an AgentCore latency result.</a:t>
            </a:r>
          </a:p>
          <a:p>
            <a:endParaRPr dirty="0"/>
          </a:p>
          <a:p>
            <a:r>
              <a:rPr dirty="0"/>
              <a:t>THE TWO LAMBDAS, SINCE THEY WERE ASKED ABOUT</a:t>
            </a:r>
          </a:p>
          <a:p>
            <a:r>
              <a:rPr dirty="0" err="1"/>
              <a:t>agentcore-stack.ts</a:t>
            </a:r>
            <a:r>
              <a:rPr dirty="0"/>
              <a:t> stands up two: </a:t>
            </a:r>
            <a:r>
              <a:rPr dirty="0" err="1"/>
              <a:t>valentin</a:t>
            </a:r>
            <a:r>
              <a:rPr dirty="0"/>
              <a:t>-profile-tools (arm64, 256 MB, 10 s timeout, one DynamoDB</a:t>
            </a:r>
          </a:p>
          <a:p>
            <a:r>
              <a:rPr dirty="0"/>
              <a:t>read) and </a:t>
            </a:r>
            <a:r>
              <a:rPr dirty="0" err="1"/>
              <a:t>valentin</a:t>
            </a:r>
            <a:r>
              <a:rPr dirty="0"/>
              <a:t>-integration-tools (arm64, 512 MB, 30 s timeout, calls Google / Spotify / Ontopo).</a:t>
            </a:r>
          </a:p>
          <a:p>
            <a:r>
              <a:rPr dirty="0"/>
              <a:t>Together they are $0.0006 per user per month. They are IN the bill now. The earlier "under 6% of</a:t>
            </a:r>
          </a:p>
          <a:p>
            <a:r>
              <a:rPr dirty="0"/>
              <a:t>engine B" line was wrong twice over: it used 1.4 invocations per turn when </a:t>
            </a:r>
            <a:r>
              <a:rPr dirty="0" err="1"/>
              <a:t>ListTools</a:t>
            </a:r>
            <a:r>
              <a:rPr dirty="0"/>
              <a:t> never reaches a</a:t>
            </a:r>
          </a:p>
          <a:p>
            <a:r>
              <a:rPr dirty="0"/>
              <a:t>Lambda (the real </a:t>
            </a:r>
            <a:r>
              <a:rPr dirty="0" err="1"/>
              <a:t>InvokeTool</a:t>
            </a:r>
            <a:r>
              <a:rPr dirty="0"/>
              <a:t> share is 0.4), and it assumed one function when there are two.</a:t>
            </a:r>
          </a:p>
          <a:p>
            <a:endParaRPr dirty="0"/>
          </a:p>
          <a:p>
            <a:r>
              <a:rPr dirty="0"/>
              <a:t>THE RAW PRICE TABLE (the detail behind the left card)</a:t>
            </a:r>
          </a:p>
          <a:p>
            <a:r>
              <a:rPr dirty="0"/>
              <a:t>- Fargate: $0.04048 / vCPU-hour, $0.004446 / GB-hour. From the pricing page's own per-second</a:t>
            </a:r>
          </a:p>
          <a:p>
            <a:r>
              <a:rPr dirty="0"/>
              <a:t>  worked example, $0.000011244 / vCPU-s.</a:t>
            </a:r>
          </a:p>
          <a:p>
            <a:r>
              <a:rPr dirty="0"/>
              <a:t>- AgentCore Runtime: $0.0895 / vCPU-hour, $0.00945 / GB-hour. </a:t>
            </a:r>
            <a:r>
              <a:rPr dirty="0" err="1"/>
              <a:t>microVM</a:t>
            </a:r>
            <a:r>
              <a:rPr dirty="0"/>
              <a:t> compute type, billed per</a:t>
            </a:r>
          </a:p>
          <a:p>
            <a:r>
              <a:rPr dirty="0"/>
              <a:t>  second with a 1-second minimum. 2.2x dearer per hour than Fargate - the win is the idle floor,</a:t>
            </a:r>
          </a:p>
          <a:p>
            <a:r>
              <a:rPr dirty="0"/>
              <a:t>  not the rate.</a:t>
            </a:r>
          </a:p>
          <a:p>
            <a:r>
              <a:rPr dirty="0"/>
              <a:t>- AgentCore Memory: $0.25 / 1,000 new events, $0.50 / 1,000 retrievals, $0.75 / 1,000 long-term</a:t>
            </a:r>
          </a:p>
          <a:p>
            <a:r>
              <a:rPr dirty="0"/>
              <a:t>  records per month on the built-in strategy.</a:t>
            </a:r>
          </a:p>
          <a:p>
            <a:r>
              <a:rPr dirty="0"/>
              <a:t>- AgentCore Gateway: $0.005 / 1,000 API invocations, $0.02 / 100 tools indexed per month.</a:t>
            </a:r>
          </a:p>
          <a:p>
            <a:r>
              <a:rPr dirty="0"/>
              <a:t>- DynamoDB on-demand, us-east-1 standard: $0.625 / M WRU, $0.125 / M RRU. 1 WRU per 1 KB;</a:t>
            </a:r>
          </a:p>
          <a:p>
            <a:r>
              <a:rPr dirty="0"/>
              <a:t>  0.5 RRU per 4 KB eventually consistent.</a:t>
            </a:r>
          </a:p>
          <a:p>
            <a:r>
              <a:rPr dirty="0"/>
              <a:t>- Lambda arm64, us-east-1: $0.0000133334 / GB-second, $0.20 / M requests.</a:t>
            </a:r>
          </a:p>
          <a:p>
            <a:r>
              <a:rPr dirty="0"/>
              <a:t>- Claude Sonnet 4.5: $3 / M input, $15 / M output - THIS ONE IS A GUESS. Bedrock's Anthropic</a:t>
            </a:r>
          </a:p>
          <a:p>
            <a:r>
              <a:rPr dirty="0"/>
              <a:t>  table is JS-rendered and never loaded. It sets 98% of BOTH bills, so it is the single biggest</a:t>
            </a:r>
          </a:p>
          <a:p>
            <a:r>
              <a:rPr dirty="0"/>
              <a:t>  citation gap in the whole deck. Re-verify it before you present.</a:t>
            </a:r>
          </a:p>
          <a:p>
            <a:endParaRPr dirty="0"/>
          </a:p>
          <a:p>
            <a:r>
              <a:rPr dirty="0"/>
              <a:t>THE ONE-USER BILL, ITEMISED (run: node scripts/cost-one-</a:t>
            </a:r>
            <a:r>
              <a:rPr dirty="0" err="1"/>
              <a:t>user.mjs</a:t>
            </a:r>
            <a:r>
              <a:rPr dirty="0"/>
              <a:t>)</a:t>
            </a:r>
          </a:p>
          <a:p>
            <a:r>
              <a:rPr dirty="0"/>
              <a:t>ENGINE A                                        ENGINE B</a:t>
            </a:r>
          </a:p>
          <a:p>
            <a:r>
              <a:rPr dirty="0"/>
              <a:t>  the reply the user reads      $5.17             the reply the user reads      $5.26</a:t>
            </a:r>
          </a:p>
          <a:p>
            <a:r>
              <a:rPr dirty="0"/>
              <a:t>  our extraction call           $1.99             AgentCore Memory              $0.11</a:t>
            </a:r>
          </a:p>
          <a:p>
            <a:r>
              <a:rPr dirty="0"/>
              <a:t>  DynamoDB                      $0.0007          AgentCore Runtime             $0.013</a:t>
            </a:r>
          </a:p>
          <a:p>
            <a:r>
              <a:rPr dirty="0"/>
              <a:t>                                                 AgentCore Gateway             $0.007</a:t>
            </a:r>
          </a:p>
          <a:p>
            <a:r>
              <a:rPr dirty="0"/>
              <a:t>                                                 DynamoDB                      $0.0008</a:t>
            </a:r>
          </a:p>
          <a:p>
            <a:r>
              <a:rPr dirty="0"/>
              <a:t>                                                 both Lambdas                  $0.0006</a:t>
            </a:r>
          </a:p>
          <a:p>
            <a:r>
              <a:rPr dirty="0"/>
              <a:t>  TOTAL                         $7.17            TOTAL                         $5.39</a:t>
            </a:r>
          </a:p>
          <a:p>
            <a:r>
              <a:rPr dirty="0"/>
              <a:t>Engine B is 1.33x cheaper per user, not 13.8x. Add the always-on container - $18.02, and BOTH</a:t>
            </a:r>
          </a:p>
          <a:p>
            <a:r>
              <a:rPr dirty="0"/>
              <a:t>engines have one in this deployment - and it is $25.19 vs $23.41, i.e. 1.08x.</a:t>
            </a:r>
          </a:p>
          <a:p>
            <a:endParaRPr dirty="0"/>
          </a:p>
          <a:p>
            <a:r>
              <a:rPr dirty="0"/>
              <a:t>THE BIGGEST THING THIS SLIDE DOES NOT MODEL: PROMPT CACHING</a:t>
            </a:r>
          </a:p>
          <a:p>
            <a:r>
              <a:rPr dirty="0"/>
              <a:t>7,886 of the ~9,200 input tokens are byte-identical on every single turn - the system prompt and</a:t>
            </a:r>
          </a:p>
          <a:p>
            <a:r>
              <a:rPr dirty="0"/>
              <a:t>the tool schemas. Neither engine caches them today. Caching would cut input cost by roughly 90%,</a:t>
            </a:r>
          </a:p>
          <a:p>
            <a:r>
              <a:rPr dirty="0"/>
              <a:t>taking engine A from $7.17 to about $2.10 and engine B from $5.39 to about $1.60. If someone in the</a:t>
            </a:r>
          </a:p>
          <a:p>
            <a:r>
              <a:rPr dirty="0"/>
              <a:t>room asks "what is the one change that saves the most money", that is the answer, and it has nothing</a:t>
            </a:r>
          </a:p>
          <a:p>
            <a:r>
              <a:rPr dirty="0"/>
              <a:t>to do with which engine you pick.</a:t>
            </a:r>
          </a:p>
          <a:p>
            <a:endParaRPr dirty="0"/>
          </a:p>
          <a:p>
            <a:r>
              <a:rPr dirty="0"/>
              <a:t>WHY THE MONTH IS FOUR WEEKS</a:t>
            </a:r>
          </a:p>
          <a:p>
            <a:r>
              <a:rPr dirty="0"/>
              <a:t>120 = 10 turns x 3 conversations a week x 4 weeks. A calendar month is 4.33 weeks, which would give</a:t>
            </a:r>
          </a:p>
          <a:p>
            <a:r>
              <a:rPr dirty="0"/>
              <a:t>130. Four is deliberate: the point of this line is that a listener can re-derive it in their head</a:t>
            </a:r>
          </a:p>
          <a:p>
            <a:r>
              <a:rPr dirty="0"/>
              <a:t>without trusting us. The 8% we round away is far smaller than the error in any of the three</a:t>
            </a:r>
          </a:p>
          <a:p>
            <a:r>
              <a:rPr dirty="0"/>
              <a:t>assumptions feeding it.</a:t>
            </a:r>
          </a:p>
          <a:p>
            <a:endParaRPr dirty="0"/>
          </a:p>
          <a:p>
            <a:r>
              <a:rPr dirty="0"/>
              <a:t>IF ASKED ABOUT THE NAT GATEWAY</a:t>
            </a:r>
          </a:p>
          <a:p>
            <a:r>
              <a:rPr dirty="0"/>
              <a:t>The VPC's private subnets are PRIVATE_WITH_EGRESS (network-stack.ts:19-55), which means CDK creates</a:t>
            </a:r>
          </a:p>
          <a:p>
            <a:r>
              <a:rPr dirty="0"/>
              <a:t>a NAT by definition - one in dev, two in prod. It is NOT there for the data stores: DynamoDB and S3</a:t>
            </a:r>
          </a:p>
          <a:p>
            <a:r>
              <a:rPr dirty="0"/>
              <a:t>already have free gateway endpoints, and Bedrock Runtime and CloudWatch Logs have interface</a:t>
            </a:r>
          </a:p>
          <a:p>
            <a:r>
              <a:rPr dirty="0"/>
              <a:t>endpoints. What still leaves for the public internet is Secrets Manager, ECR image pulls, and the</a:t>
            </a:r>
          </a:p>
          <a:p>
            <a:r>
              <a:rPr dirty="0"/>
              <a:t>Google and Spotify APIs. It is excluded from both bills as shared infrastructure - and excluding it</a:t>
            </a:r>
          </a:p>
          <a:p>
            <a:r>
              <a:rPr dirty="0"/>
              <a:t>flatters engine A, which is the side that needs it.</a:t>
            </a:r>
          </a:p>
          <a:p>
            <a:endParaRPr dirty="0"/>
          </a:p>
        </p:txBody>
      </p:sp>
    </p:spTree>
    <p:extLst>
      <p:ext uri="{BB962C8B-B14F-4D97-AF65-F5344CB8AC3E}">
        <p14:creationId xmlns:p14="http://schemas.microsoft.com/office/powerpoint/2010/main" val="1106015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[0:50 · cumulative 4:40 of 10:00]</a:t>
            </a:r>
          </a:p>
          <a:p>
            <a:endParaRPr/>
          </a:p>
          <a:p>
            <a:r>
              <a:t>The whole section in one slide. Six lenses down the side; the four AgentCore components across the top, lit when they matter to that lens. Cost lights everything. Security is Runtime plus Gateway. Debuggability and latency go to DIY — four-two, and the two it loses are why this is a comparison and not a sales pitch.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Notes Placeholder 99"/>
          <p:cNvSpPr>
            <a:spLocks noGrp="1"/>
          </p:cNvSpPr>
          <p:nvPr>
            <p:ph type="body" idx="1"/>
          </p:nvPr>
        </p:nvSpPr>
        <p:spPr/>
        <p:txBody>
          <a:bodyPr/>
          <a:lstStyle/>
          <a:p>
            <a:r>
              <a:t>WHERE EVERY NUMBER COMES FROM</a:t>
            </a:r>
          </a:p>
          <a:p>
            <a:r>
              <a:t>Authority for this slide is scripts/cost-model.mjs. Run `node scripts/cost-model.mjs` and every</a:t>
            </a:r>
          </a:p>
          <a:p>
            <a:r>
              <a:t>figure below falls out. Rates were captured into that file from the vendor pricing pages; re-verify</a:t>
            </a:r>
          </a:p>
          <a:p>
            <a:r>
              <a:t>them against the live pages before presenting, because AWS prices change.</a:t>
            </a:r>
          </a:p>
          <a:p>
            <a:endParaRPr/>
          </a:p>
          <a:p>
            <a:r>
              <a:t>RAW PRICES - STRAIGHT OFF THE VENDOR PRICING PAGES</a:t>
            </a:r>
          </a:p>
          <a:p>
            <a:r>
              <a:t>- AWS Fargate, $0.04048 / vCPU-hour and $0.004446 / GB-hour.</a:t>
            </a:r>
          </a:p>
          <a:p>
            <a:r>
              <a:t>  Source: AWS Fargate pricing page, from its own per-second worked example ($0.000011244/vCPU-s).</a:t>
            </a:r>
          </a:p>
          <a:p>
            <a:r>
              <a:t>  cost-model.mjs: FARGATE_VCPU_HR, FARGATE_GB_HR.</a:t>
            </a:r>
          </a:p>
          <a:p>
            <a:r>
              <a:t>- AgentCore Runtime, $0.0895 / vCPU-hour and $0.00945 / GB-hour, microVM compute type, billed per</a:t>
            </a:r>
          </a:p>
          <a:p>
            <a:r>
              <a:t>  second with a 1-second minimum.</a:t>
            </a:r>
          </a:p>
          <a:p>
            <a:r>
              <a:t>  Source: Amazon Bedrock AgentCore pricing page. cost-model.mjs: AC_VCPU_HR, AC_GB_HR.</a:t>
            </a:r>
          </a:p>
          <a:p>
            <a:r>
              <a:t>- AgentCore Memory, $0.25 per 1,000 new events; $0.50 per 1,000 retrievals; $0.75 per 1,000</a:t>
            </a:r>
          </a:p>
          <a:p>
            <a:r>
              <a:t>  long-term records per month on the built-in strategy.</a:t>
            </a:r>
          </a:p>
          <a:p>
            <a:r>
              <a:t>  Source: Amazon Bedrock AgentCore pricing page. cost-model.mjs: AC_EVENT, AC_RETRIEVAL, AC_RECORD_MO.</a:t>
            </a:r>
          </a:p>
          <a:p>
            <a:r>
              <a:t>- AgentCore Gateway, $0.005 per 1,000 API invocations (ListTools, InvokeTool, Ping); $0.02 per 100</a:t>
            </a:r>
          </a:p>
          <a:p>
            <a:r>
              <a:t>  tools indexed per month.</a:t>
            </a:r>
          </a:p>
          <a:p>
            <a:r>
              <a:t>  Source: Amazon Bedrock AgentCore pricing page. cost-model.mjs: AC_GATEWAY_INVOKE, AC_TOOL_INDEX_MO.</a:t>
            </a:r>
          </a:p>
          <a:p>
            <a:r>
              <a:t>- DynamoDB on-demand, $0.625 per million WRU and $0.125 per million RRU, us-east-1 standard table</a:t>
            </a:r>
          </a:p>
          <a:p>
            <a:r>
              <a:t>  class. 1 WRU per 1 KB; 0.5 RRU per 4 KB eventually consistent.</a:t>
            </a:r>
          </a:p>
          <a:p>
            <a:r>
              <a:t>  Source: DynamoDB on-demand pricing page. cost-model.mjs: DDB_WRU, DDB_RRU.</a:t>
            </a:r>
          </a:p>
          <a:p>
            <a:endParaRPr/>
          </a:p>
          <a:p>
            <a:r>
              <a:t>TWO RAW PRICES WE COULD NOT READ - GUESSED, AND FLAGGED AS SUCH</a:t>
            </a:r>
          </a:p>
          <a:p>
            <a:r>
              <a:t>- Claude Sonnet $3 / M input and $15 / M output tokens. Bedrock's Anthropic pricing table is</a:t>
            </a:r>
          </a:p>
          <a:p>
            <a:r>
              <a:t>  JS-rendered and did not load when the model was built. Every extraction figure scales linearly</a:t>
            </a:r>
          </a:p>
          <a:p>
            <a:r>
              <a:t>  with these two numbers, so this is the single biggest citation gap on the slide.</a:t>
            </a:r>
          </a:p>
          <a:p>
            <a:r>
              <a:t>  cost-model.mjs: SONNET_IN, SONNET_OUT.</a:t>
            </a:r>
          </a:p>
          <a:p>
            <a:r>
              <a:t>- 3 seconds of Runtime compute per turn. No measurement exists; all durations in the repo are</a:t>
            </a:r>
          </a:p>
          <a:p>
            <a:r>
              <a:t>  authored, not observed. cost-model.mjs: SEC_PER_TURN.</a:t>
            </a:r>
          </a:p>
          <a:p>
            <a:endParaRPr/>
          </a:p>
          <a:p>
            <a:r>
              <a:t>QUANTITIES COUNTED FROM OUR OWN CODE - i.e. read out of this repository's source files rather</a:t>
            </a:r>
          </a:p>
          <a:p>
            <a:r>
              <a:t>than assumed. If one of these is wrong, the code is wrong, not the model.</a:t>
            </a:r>
          </a:p>
          <a:p>
            <a:r>
              <a:t>- 0.5 vCPU, 1 GiB: infra/config/environments.ts, dev (cpu 512, memoryLimitMiB 1024).</a:t>
            </a:r>
          </a:p>
          <a:p>
            <a:r>
              <a:t>- 730 hours/month for one always-on task.</a:t>
            </a:r>
          </a:p>
          <a:p>
            <a:r>
              <a:t>- 7 reads and 9 write units per turn: dynamodb-store.ts - a typical turn is 6 Query + 1 GetItem</a:t>
            </a:r>
          </a:p>
          <a:p>
            <a:r>
              <a:t>  reads; 2 Put + 1 BatchWrite + 3 Update writes, three of which replicate into the ALL-projected</a:t>
            </a:r>
          </a:p>
          <a:p>
            <a:r>
              <a:t>  sparse GSI1.</a:t>
            </a:r>
          </a:p>
          <a:p>
            <a:r>
              <a:t>- 2,940 input and 300 output tokens per extraction call: bedrock-client.ts:594. That call sends the</a:t>
            </a:r>
          </a:p>
          <a:p>
            <a:r>
              <a:t>  full untrimmed history plus a 7,519-character tool schema and sets no maxTokens at all - which is</a:t>
            </a:r>
          </a:p>
          <a:p>
            <a:r>
              <a:t>  why it dominates, and why it is fixable.</a:t>
            </a:r>
          </a:p>
          <a:p>
            <a:r>
              <a:t>- 26 long-term records per user: the 26 fields in PROFILE_FIELD_IDS.</a:t>
            </a:r>
          </a:p>
          <a:p>
            <a:r>
              <a:t>- 3 tools indexed in Gateway: get_partner_profile, save_preference, list_preferences.</a:t>
            </a:r>
          </a:p>
          <a:p>
            <a:r>
              <a:t>- 1.4 Gateway invocations per turn: agentcore/agent.py:190 calls list_tools_sync() once per invoke</a:t>
            </a:r>
          </a:p>
          <a:p>
            <a:r>
              <a:t>  (1.0), plus an assumed 0.4 share of turns that actually call a tool.</a:t>
            </a:r>
          </a:p>
          <a:p>
            <a:r>
              <a:t>- 120 turns per user per month: 10 turns in a conversation x 3 conversations a week x 4 weeks</a:t>
            </a:r>
          </a:p>
          <a:p>
            <a:r>
              <a:t>  (USAGE in cost-model.mjs). ASSUMPTION - the only quantity here that is not read from code. The</a:t>
            </a:r>
          </a:p>
          <a:p>
            <a:r>
              <a:t>  month is deliberately 4 weeks, not 52/12 = 4.33, so the chain lands on a round, checkable number.</a:t>
            </a:r>
          </a:p>
          <a:p>
            <a:endParaRPr/>
          </a:p>
          <a:p>
            <a:r>
              <a:t>HOW THE THREE COLUMNS ARE DERIVED</a:t>
            </a:r>
          </a:p>
          <a:p>
            <a:r>
              <a:t>- FIXED. A: fargatePerMonth = (0.5 x 0.04048 + 1 x 0.004446) x 730 = $18.02. B: toolIndexPerMonth</a:t>
            </a:r>
          </a:p>
          <a:p>
            <a:r>
              <a:t>  = 3 x $0.0002 = $0.0006. Ratio 18.02 / 0.0006 = 30,033x.</a:t>
            </a:r>
          </a:p>
          <a:p>
            <a:r>
              <a:t>- PER USER / MONTH. A: 0.00005 GB x ($0.25 storage + $0.20 PITR) = $0.000023 - the GB figure is an</a:t>
            </a:r>
          </a:p>
          <a:p>
            <a:r>
              <a:t>  assumption. B: 26 x $0.00075 = $0.0195. Ratio 0.0195 / 0.000023 = 848x, engine B dearer.</a:t>
            </a:r>
          </a:p>
          <a:p>
            <a:r>
              <a:t>- PER TURN. A: extraction (2,940 x $3/M + 300 x $15/M = $0.013320) + DynamoDB (7 x 0.5 x $0.125/M +</a:t>
            </a:r>
          </a:p>
          <a:p>
            <a:r>
              <a:t>  9 x $0.625/M = $0.0000061) = $0.013326. B: Memory ($0.00025 event + $0.0005 retrieval = $0.00075)</a:t>
            </a:r>
          </a:p>
          <a:p>
            <a:r>
              <a:t>  + Runtime (3 s x $1.5056e-5/s = $0.0000452) + Gateway (1.4 x $0.000005 = $0.000014) = $0.0008022.</a:t>
            </a:r>
          </a:p>
          <a:p>
            <a:r>
              <a:t>  Ratio 16.6x.</a:t>
            </a:r>
          </a:p>
          <a:p>
            <a:endParaRPr/>
          </a:p>
          <a:p>
            <a:r>
              <a:t>THE HEADLINE CLAIM</a:t>
            </a:r>
          </a:p>
          <a:p>
            <a:r>
              <a:t>$0.013320 of engine A's $0.013326 per turn is the extraction call: 99.95%. Remove it and A's per-turn</a:t>
            </a:r>
          </a:p>
          <a:p>
            <a:r>
              <a:t>cost is the DynamoDB line alone, $0.0000061, which is 0.0008022 / 0.0000061 = 132x cheaper than</a:t>
            </a:r>
          </a:p>
          <a:p>
            <a:r>
              <a:t>engine B. So the 13.8x is a verdict on one unoptimised LLM call, not on Fargate vs AgentCore Runtime.</a:t>
            </a:r>
          </a:p>
          <a:p>
            <a:r>
              <a:t>Say this out loud - it is the honest reading, and it is also the cheapest thing on the roadmap to fix.</a:t>
            </a:r>
          </a:p>
          <a:p>
            <a:endParaRPr/>
          </a:p>
          <a:p>
            <a:r>
              <a:t>THE SCALE ROW</a:t>
            </a:r>
          </a:p>
          <a:p>
            <a:r>
              <a:t>scaledA/scaledB in cost-model.mjs, which steps Fargate with peak concurrency (500 sessions per task,</a:t>
            </a:r>
          </a:p>
          <a:p>
            <a:r>
              <a:t>15-minute sessions, 70% of turns in a 4-hour evening window - all assumptions).</a:t>
            </a:r>
          </a:p>
          <a:p>
            <a:r>
              <a:t>1 user $19.62 vs $0.12 (168.6x). 10,000 users $16,009.52 vs $1,157.60 (13.8x). 1,000,000 users</a:t>
            </a:r>
          </a:p>
          <a:p>
            <a:r>
              <a:t>$1,599,780.73 vs $115,760.00 (13.8x), by which point engine A needs 35 tasks. Annual saving at 1M</a:t>
            </a:r>
          </a:p>
          <a:p>
            <a:r>
              <a:t>users $17,808,248.72.</a:t>
            </a:r>
          </a:p>
          <a:p>
            <a:endParaRPr/>
          </a:p>
          <a:p>
            <a:r>
              <a:t>THE SENSITIVITY WARNING</a:t>
            </a:r>
          </a:p>
          <a:p>
            <a:r>
              <a:t>cost-model.mjs computes B_VAR_PER_RECORD: if a Memory "retrieval" bills per record returned rather</a:t>
            </a:r>
          </a:p>
          <a:p>
            <a:r>
              <a:t>than per retrieval call, and the adapter's cap of 100 records is hit (agentcore-adapter.ts:138), B's</a:t>
            </a:r>
          </a:p>
          <a:p>
            <a:r>
              <a:t>per-turn becomes $0.00025 + 100 x $0.0005 = $0.0503, i.e. 3.8x worse than engine A. The pricing page</a:t>
            </a:r>
          </a:p>
          <a:p>
            <a:r>
              <a:t>does not settle which it is. If asked which number you least trust, this is the one.</a:t>
            </a:r>
          </a:p>
          <a:p>
            <a:endParaRPr/>
          </a:p>
          <a:p>
            <a:r>
              <a:t>NOT COUNTED, AND IT COUNTS AGAINST ENGINE B</a:t>
            </a:r>
          </a:p>
          <a:p>
            <a:r>
              <a:t>The Lambda behind Gateway bills requests and GB-seconds of its own. Rather than leave this as an</a:t>
            </a:r>
          </a:p>
          <a:p>
            <a:r>
              <a:t>open caveat, bound it from the real config (agentcore-stack.ts:144-168 - Node 22, arm64, 256 MB,</a:t>
            </a:r>
          </a:p>
          <a:p>
            <a:r>
              <a:t>10 s timeout): worst case 1.4 x (10 s x 0.25 GB x $0.0000133334 + $0.0000002) = $0.0000469 per turn,</a:t>
            </a:r>
          </a:p>
          <a:p>
            <a:r>
              <a:t>which is 5.9% of engine B's $0.0008022. So counting it would move engine B by under 6% - it cannot</a:t>
            </a:r>
          </a:p>
          <a:p>
            <a:r>
              <a:t>change any conclusion on the slide.</a:t>
            </a:r>
          </a:p>
          <a:p>
            <a:endParaRPr/>
          </a:p>
          <a:p>
            <a:r>
              <a:t>EXCLUDED FROM BOTH SIDES</a:t>
            </a:r>
          </a:p>
          <a:p>
            <a:r>
              <a:t>The reply Converse call is identical on both engines and is excluded from both. ALB, NAT Gateway,</a:t>
            </a:r>
          </a:p>
          <a:p>
            <a:r>
              <a:t>CloudFront, S3 and Secrets Manager are excluded as shared/learning infrastructure - note that this</a:t>
            </a:r>
          </a:p>
          <a:p>
            <a:r>
              <a:t>is generous to engine A, since AgentCore Runtime is managed and needs neither NAT nor a load</a:t>
            </a:r>
          </a:p>
          <a:p>
            <a:r>
              <a:t>balancer. The deployed dev stack also runs a second Fargate service (compute-stack.ts:900), which</a:t>
            </a:r>
          </a:p>
          <a:p>
            <a:r>
              <a:t>this model does not count.</a:t>
            </a:r>
          </a:p>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endParaRPr/>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endParaRPr/>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endParaRPr/>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endParaRPr/>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endParaRPr/>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endParaRPr/>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endParaRPr/>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7:25 of 10:00]</a:t>
            </a:r>
          </a:p>
          <a:p>
            <a:endParaRPr/>
          </a:p>
          <a:p>
            <a:r>
              <a:t>Ownership and velocity — Memory plus Gateway. On engine A the extraction prompt is mine to maintain forever, and adding a tool is a deploy. On B, extraction is the service’s problem and the tool list is data. The give-up is real: I lose the extraction schema I designed.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endParaRPr/>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8:25 of 10:00]</a:t>
            </a:r>
          </a:p>
          <a:p>
            <a:endParaRPr/>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[0:25 · cumulative 8:50 of 10:00]</a:t>
            </a:r>
          </a:p>
          <a:p>
            <a:endParaRPr/>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[1:00 · cumulative 9:50 of 10:00]</a:t>
            </a:r>
          </a:p>
          <a:p>
            <a:endParaRPr/>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[0:10 · cumulative 10:00 of 10:00]</a:t>
            </a:r>
          </a:p>
          <a:p>
            <a:endParaRPr/>
          </a:p>
          <a:p>
            <a:r>
              <a:t>That is Valentin. Happy to go deeper on any of the five lenses, or on the agent workflow that built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2.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3"/>
          <a:stretch>
            <a:fillRect/>
          </a:stretch>
        </p:blipFill>
        <p:spPr>
          <a:xfrm>
            <a:off x="1085049" y="4390858"/>
            <a:ext cx="640080" cy="640080"/>
          </a:xfrm>
          <a:prstGeom prst="rect">
            <a:avLst/>
          </a:prstGeom>
        </p:spPr>
      </p:pic>
      <p:pic>
        <p:nvPicPr>
          <p:cNvPr id="20" name="Picture 19" descr="agentcore.png"/>
          <p:cNvPicPr>
            <a:picLocks noChangeAspect="1"/>
          </p:cNvPicPr>
          <p:nvPr/>
        </p:nvPicPr>
        <p:blipFill>
          <a:blip r:embed="rId4"/>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5"/>
          <a:stretch>
            <a:fillRect/>
          </a:stretch>
        </p:blipFill>
        <p:spPr>
          <a:xfrm>
            <a:off x="3922660" y="4390858"/>
            <a:ext cx="640080" cy="640080"/>
          </a:xfrm>
          <a:prstGeom prst="rect">
            <a:avLst/>
          </a:prstGeom>
        </p:spPr>
      </p:pic>
      <p:pic>
        <p:nvPicPr>
          <p:cNvPr id="30" name="Picture 29" descr="agentcore.png"/>
          <p:cNvPicPr>
            <a:picLocks noChangeAspect="1"/>
          </p:cNvPicPr>
          <p:nvPr/>
        </p:nvPicPr>
        <p:blipFill>
          <a:blip r:embed="rId4"/>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6"/>
          <a:stretch>
            <a:fillRect/>
          </a:stretch>
        </p:blipFill>
        <p:spPr>
          <a:xfrm>
            <a:off x="6670548" y="4389120"/>
            <a:ext cx="640080" cy="64008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dirty="0">
                <a:solidFill>
                  <a:srgbClr val="232F3E"/>
                </a:solidFill>
                <a:latin typeface="Calibri"/>
              </a:rPr>
              <a:t>Tool Using</a:t>
            </a:r>
          </a:p>
        </p:txBody>
      </p:sp>
      <p:sp>
        <p:nvSpPr>
          <p:cNvPr id="40" name="TextBox 39"/>
          <p:cNvSpPr txBox="1"/>
          <p:nvPr/>
        </p:nvSpPr>
        <p:spPr>
          <a:xfrm>
            <a:off x="6107137" y="5532120"/>
            <a:ext cx="2926080" cy="274320"/>
          </a:xfrm>
          <a:prstGeom prst="rect">
            <a:avLst/>
          </a:prstGeom>
          <a:noFill/>
        </p:spPr>
        <p:txBody>
          <a:bodyPr wrap="square" lIns="0" tIns="0" rIns="0" bIns="0" anchor="t">
            <a:spAutoFit/>
          </a:bodyPr>
          <a:lstStyle/>
          <a:p>
            <a:pPr algn="ctr"/>
            <a:r>
              <a:rPr sz="1000" b="1" dirty="0">
                <a:solidFill>
                  <a:srgbClr val="C07000"/>
                </a:solidFill>
                <a:latin typeface="Calibri"/>
              </a:rPr>
              <a:t>AWS Lambda</a:t>
            </a:r>
            <a:r>
              <a:rPr lang="en-IL" sz="1000" b="1" dirty="0">
                <a:solidFill>
                  <a:srgbClr val="C07000"/>
                </a:solidFill>
                <a:latin typeface="Calibri"/>
              </a:rPr>
              <a:t> · </a:t>
            </a:r>
            <a:r>
              <a:rPr lang="en-US" sz="1000" b="1" dirty="0">
                <a:solidFill>
                  <a:srgbClr val="C07000"/>
                </a:solidFill>
                <a:latin typeface="Calibri"/>
              </a:rPr>
              <a:t>MCP </a:t>
            </a:r>
            <a:r>
              <a:rPr sz="1000" b="1" dirty="0">
                <a:solidFill>
                  <a:srgbClr val="C07000"/>
                </a:solidFill>
                <a:latin typeface="Calibri"/>
              </a:rPr>
              <a:t>· AgentCore Gateway</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18</a:t>
            </a:r>
          </a:p>
        </p:txBody>
      </p:sp>
      <p:pic>
        <p:nvPicPr>
          <p:cNvPr id="54" name="Picture 53" descr="image.png"/>
          <p:cNvPicPr>
            <a:picLocks noChangeAspect="1"/>
          </p:cNvPicPr>
          <p:nvPr/>
        </p:nvPicPr>
        <p:blipFill>
          <a:blip r:embed="rId4"/>
          <a:stretch>
            <a:fillRect/>
          </a:stretch>
        </p:blipFill>
        <p:spPr>
          <a:xfrm>
            <a:off x="7722108" y="4389120"/>
            <a:ext cx="640080" cy="640080"/>
          </a:xfrm>
          <a:prstGeom prst="rect">
            <a:avLst/>
          </a:prstGeom>
        </p:spPr>
      </p:pic>
      <p:sp>
        <p:nvSpPr>
          <p:cNvPr id="23" name="Right Arrow 22">
            <a:extLst>
              <a:ext uri="{FF2B5EF4-FFF2-40B4-BE49-F238E27FC236}">
                <a16:creationId xmlns:a16="http://schemas.microsoft.com/office/drawing/2014/main" id="{09AA57CD-BADF-0C7B-2194-5C9478B86042}"/>
              </a:ext>
            </a:extLst>
          </p:cNvPr>
          <p:cNvSpPr/>
          <p:nvPr/>
        </p:nvSpPr>
        <p:spPr>
          <a:xfrm>
            <a:off x="8888625"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a:extLst>
              <a:ext uri="{FF2B5EF4-FFF2-40B4-BE49-F238E27FC236}">
                <a16:creationId xmlns:a16="http://schemas.microsoft.com/office/drawing/2014/main" id="{046924A2-B3FC-1D9C-FC1C-A682B6DD43BB}"/>
              </a:ext>
            </a:extLst>
          </p:cNvPr>
          <p:cNvSpPr/>
          <p:nvPr/>
        </p:nvSpPr>
        <p:spPr>
          <a:xfrm>
            <a:off x="9043217"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3" name="Rounded Rectangle 32">
            <a:extLst>
              <a:ext uri="{FF2B5EF4-FFF2-40B4-BE49-F238E27FC236}">
                <a16:creationId xmlns:a16="http://schemas.microsoft.com/office/drawing/2014/main" id="{CF5293A2-B370-3F6A-267A-F8DE348ACD31}"/>
              </a:ext>
            </a:extLst>
          </p:cNvPr>
          <p:cNvSpPr/>
          <p:nvPr/>
        </p:nvSpPr>
        <p:spPr>
          <a:xfrm>
            <a:off x="9043217"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a:extLst>
              <a:ext uri="{FF2B5EF4-FFF2-40B4-BE49-F238E27FC236}">
                <a16:creationId xmlns:a16="http://schemas.microsoft.com/office/drawing/2014/main" id="{0730203A-CCC9-77B7-086D-35CAAE4D872B}"/>
              </a:ext>
            </a:extLst>
          </p:cNvPr>
          <p:cNvSpPr/>
          <p:nvPr/>
        </p:nvSpPr>
        <p:spPr>
          <a:xfrm>
            <a:off x="9271817"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600" b="1" dirty="0">
                <a:solidFill>
                  <a:srgbClr val="FF9900"/>
                </a:solidFill>
                <a:latin typeface="Calibri"/>
              </a:rPr>
              <a:t>4</a:t>
            </a:r>
            <a:endParaRPr sz="1600" b="1" dirty="0">
              <a:solidFill>
                <a:srgbClr val="FF9900"/>
              </a:solidFill>
              <a:latin typeface="Calibri"/>
            </a:endParaRPr>
          </a:p>
        </p:txBody>
      </p:sp>
      <p:sp>
        <p:nvSpPr>
          <p:cNvPr id="55" name="TextBox 54">
            <a:extLst>
              <a:ext uri="{FF2B5EF4-FFF2-40B4-BE49-F238E27FC236}">
                <a16:creationId xmlns:a16="http://schemas.microsoft.com/office/drawing/2014/main" id="{21B6785E-164A-6469-4214-856EBC74865C}"/>
              </a:ext>
            </a:extLst>
          </p:cNvPr>
          <p:cNvSpPr txBox="1"/>
          <p:nvPr/>
        </p:nvSpPr>
        <p:spPr>
          <a:xfrm>
            <a:off x="9226097" y="5120640"/>
            <a:ext cx="2307259" cy="261610"/>
          </a:xfrm>
          <a:prstGeom prst="rect">
            <a:avLst/>
          </a:prstGeom>
          <a:noFill/>
        </p:spPr>
        <p:txBody>
          <a:bodyPr wrap="square" lIns="0" tIns="0" rIns="0" bIns="0" anchor="t">
            <a:spAutoFit/>
          </a:bodyPr>
          <a:lstStyle/>
          <a:p>
            <a:pPr algn="ctr"/>
            <a:r>
              <a:rPr lang="en-US" sz="1700" b="1" dirty="0">
                <a:solidFill>
                  <a:srgbClr val="232F3E"/>
                </a:solidFill>
                <a:latin typeface="Calibri"/>
              </a:rPr>
              <a:t>Observability </a:t>
            </a:r>
            <a:endParaRPr sz="1700" b="1" dirty="0">
              <a:solidFill>
                <a:srgbClr val="232F3E"/>
              </a:solidFill>
              <a:latin typeface="Calibri"/>
            </a:endParaRPr>
          </a:p>
        </p:txBody>
      </p:sp>
      <p:sp>
        <p:nvSpPr>
          <p:cNvPr id="56" name="TextBox 55">
            <a:extLst>
              <a:ext uri="{FF2B5EF4-FFF2-40B4-BE49-F238E27FC236}">
                <a16:creationId xmlns:a16="http://schemas.microsoft.com/office/drawing/2014/main" id="{E92CD143-92E5-04FE-7928-022620B7EF68}"/>
              </a:ext>
            </a:extLst>
          </p:cNvPr>
          <p:cNvSpPr txBox="1"/>
          <p:nvPr/>
        </p:nvSpPr>
        <p:spPr>
          <a:xfrm>
            <a:off x="8972211" y="5532120"/>
            <a:ext cx="2926080" cy="153888"/>
          </a:xfrm>
          <a:prstGeom prst="rect">
            <a:avLst/>
          </a:prstGeom>
          <a:noFill/>
        </p:spPr>
        <p:txBody>
          <a:bodyPr wrap="square" lIns="0" tIns="0" rIns="0" bIns="0" anchor="t">
            <a:spAutoFit/>
          </a:bodyPr>
          <a:lstStyle/>
          <a:p>
            <a:pPr algn="ctr"/>
            <a:r>
              <a:rPr lang="en-US" sz="1000" b="1" dirty="0">
                <a:solidFill>
                  <a:srgbClr val="C07000"/>
                </a:solidFill>
              </a:rPr>
              <a:t>CloudWatch </a:t>
            </a:r>
            <a:r>
              <a:rPr lang="en-IL" sz="1000" b="1" dirty="0">
                <a:solidFill>
                  <a:srgbClr val="C07000"/>
                </a:solidFill>
              </a:rPr>
              <a:t>·  </a:t>
            </a:r>
            <a:r>
              <a:rPr lang="en-US" sz="1000" b="1" dirty="0">
                <a:solidFill>
                  <a:srgbClr val="C07000"/>
                </a:solidFill>
                <a:latin typeface="Calibri"/>
              </a:rPr>
              <a:t>AgentCore Observability</a:t>
            </a:r>
            <a:endParaRPr sz="1000" b="1" dirty="0">
              <a:solidFill>
                <a:srgbClr val="C07000"/>
              </a:solidFill>
              <a:latin typeface="Calibri"/>
            </a:endParaRPr>
          </a:p>
        </p:txBody>
      </p:sp>
      <p:pic>
        <p:nvPicPr>
          <p:cNvPr id="58" name="Picture 57" descr="image.png">
            <a:extLst>
              <a:ext uri="{FF2B5EF4-FFF2-40B4-BE49-F238E27FC236}">
                <a16:creationId xmlns:a16="http://schemas.microsoft.com/office/drawing/2014/main" id="{0CFEA74A-6649-770C-8F36-9EF5739EC8CE}"/>
              </a:ext>
            </a:extLst>
          </p:cNvPr>
          <p:cNvPicPr>
            <a:picLocks noChangeAspect="1"/>
          </p:cNvPicPr>
          <p:nvPr/>
        </p:nvPicPr>
        <p:blipFill>
          <a:blip r:embed="rId4"/>
          <a:stretch>
            <a:fillRect/>
          </a:stretch>
        </p:blipFill>
        <p:spPr>
          <a:xfrm>
            <a:off x="10581594" y="4377568"/>
            <a:ext cx="640080" cy="640080"/>
          </a:xfrm>
          <a:prstGeom prst="rect">
            <a:avLst/>
          </a:prstGeom>
        </p:spPr>
      </p:pic>
      <p:pic>
        <p:nvPicPr>
          <p:cNvPr id="59" name="Graphic 17" descr="Amazon CloudWatch service icon.">
            <a:extLst>
              <a:ext uri="{FF2B5EF4-FFF2-40B4-BE49-F238E27FC236}">
                <a16:creationId xmlns:a16="http://schemas.microsoft.com/office/drawing/2014/main" id="{BEA27371-7C65-7581-0630-88CA88D8EF59}"/>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9551408" y="4373529"/>
            <a:ext cx="640081" cy="640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makes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dirty="0"/>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639406"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1000" b="1" spc="120">
                <a:solidFill>
                  <a:srgbClr val="FF9900"/>
                </a:solidFill>
                <a:latin typeface="Calibri"/>
              </a:rPr>
              <a:t>GOAL</a:t>
            </a:r>
          </a:p>
        </p:txBody>
      </p:sp>
      <p:sp>
        <p:nvSpPr>
          <p:cNvPr id="39" name="TextBox 38"/>
          <p:cNvSpPr txBox="1"/>
          <p:nvPr/>
        </p:nvSpPr>
        <p:spPr>
          <a:xfrm>
            <a:off x="2809875" y="3373078"/>
            <a:ext cx="1238250" cy="409343"/>
          </a:xfrm>
          <a:prstGeom prst="rect">
            <a:avLst/>
          </a:prstGeom>
          <a:noFill/>
        </p:spPr>
        <p:txBody>
          <a:bodyPr wrap="square" lIns="0" tIns="0" rIns="0" bIns="0">
            <a:spAutoFit/>
          </a:bodyPr>
          <a:lstStyle/>
          <a:p>
            <a:pPr algn="ctr">
              <a:lnSpc>
                <a:spcPct val="95000"/>
              </a:lnSpc>
            </a:pPr>
            <a:r>
              <a:rPr sz="1400" b="1" dirty="0">
                <a:solidFill>
                  <a:srgbClr val="FFFFFF"/>
                </a:solidFill>
                <a:latin typeface="Calibri"/>
              </a:rPr>
              <a:t>Make her feel seen</a:t>
            </a:r>
            <a:r>
              <a:rPr lang="en-US" sz="1400" b="1" dirty="0">
                <a:solidFill>
                  <a:srgbClr val="FFFFFF"/>
                </a:solidFill>
                <a:latin typeface="Calibri"/>
              </a:rPr>
              <a:t>!</a:t>
            </a:r>
            <a:endParaRPr sz="1400" b="1" dirty="0">
              <a:solidFill>
                <a:srgbClr val="FFFFFF"/>
              </a:solidFill>
              <a:latin typeface="Calibri"/>
            </a:endParaRP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check_shabbat</a:t>
            </a:r>
            <a:endParaRPr sz="800" dirty="0">
              <a:solidFill>
                <a:srgbClr val="C07000"/>
              </a:solidFill>
              <a:latin typeface="Consolas"/>
            </a:endParaRP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find_restaurants</a:t>
            </a:r>
            <a:endParaRPr sz="800" dirty="0">
              <a:solidFill>
                <a:srgbClr val="C07000"/>
              </a:solidFill>
              <a:latin typeface="Consolas"/>
            </a:endParaRP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232F3E"/>
                </a:solidFill>
                <a:latin typeface="Consolas"/>
              </a:rPr>
              <a:t>propose_whatsapp_nudge</a:t>
            </a:r>
            <a:endParaRPr sz="800" dirty="0">
              <a:solidFill>
                <a:srgbClr val="232F3E"/>
              </a:solidFill>
              <a:latin typeface="Consolas"/>
            </a:endParaRP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set_reminder</a:t>
            </a:r>
            <a:endParaRPr sz="800" dirty="0">
              <a:solidFill>
                <a:srgbClr val="C07000"/>
              </a:solidFill>
              <a:latin typeface="Consolas"/>
            </a:endParaRP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1000"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1000"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1000"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1000"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1000"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10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1000" b="0">
                <a:solidFill>
                  <a:srgbClr val="545B64"/>
                </a:solidFill>
                <a:latin typeface="Calibri"/>
              </a:rPr>
              <a:t>3 / 18</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a:endParaRPr/>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a:endParaRPr/>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a:endParaRPr/>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a:endParaRPr/>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a:endParaRPr/>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tIns="0" rIns="0" bIns="0" anchor="ctr">
            <a:spAutoFit/>
          </a:bodyPr>
          <a:lstStyle/>
          <a:p>
            <a:pPr algn="r"/>
            <a:r>
              <a:rPr sz="1000" b="1">
                <a:solidFill>
                  <a:srgbClr val="FF9900"/>
                </a:solidFill>
                <a:latin typeface="Calibri"/>
              </a:rPr>
              <a:t>sets a new event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FB8C9FB7-A2FF-782A-D490-C1538A5BAB64}"/>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72D50C0-9D66-26EE-1205-FC111A25DF37}"/>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4</a:t>
            </a:r>
          </a:p>
        </p:txBody>
      </p:sp>
      <p:sp>
        <p:nvSpPr>
          <p:cNvPr id="7" name="TextBox 6">
            <a:extLst>
              <a:ext uri="{FF2B5EF4-FFF2-40B4-BE49-F238E27FC236}">
                <a16:creationId xmlns:a16="http://schemas.microsoft.com/office/drawing/2014/main" id="{E9C4E456-3B3E-C842-4CEC-16C9CB606914}"/>
              </a:ext>
            </a:extLst>
          </p:cNvPr>
          <p:cNvSpPr txBox="1"/>
          <p:nvPr/>
        </p:nvSpPr>
        <p:spPr>
          <a:xfrm>
            <a:off x="1280160" y="478274"/>
            <a:ext cx="10058400" cy="369332"/>
          </a:xfrm>
          <a:prstGeom prst="rect">
            <a:avLst/>
          </a:prstGeom>
          <a:noFill/>
        </p:spPr>
        <p:txBody>
          <a:bodyPr wrap="square" lIns="0" tIns="0" rIns="0" bIns="0" anchor="ctr">
            <a:spAutoFit/>
          </a:bodyPr>
          <a:lstStyle/>
          <a:p>
            <a:pPr algn="l"/>
            <a:r>
              <a:rPr sz="2400" b="1" dirty="0">
                <a:solidFill>
                  <a:srgbClr val="232F3E"/>
                </a:solidFill>
                <a:latin typeface="Calibri"/>
              </a:rPr>
              <a:t>Architecture</a:t>
            </a:r>
          </a:p>
        </p:txBody>
      </p:sp>
      <p:sp>
        <p:nvSpPr>
          <p:cNvPr id="8" name="Rectangle 7">
            <a:extLst>
              <a:ext uri="{FF2B5EF4-FFF2-40B4-BE49-F238E27FC236}">
                <a16:creationId xmlns:a16="http://schemas.microsoft.com/office/drawing/2014/main" id="{C6F24A49-16D2-FFEA-53A1-A5952FDE03C1}"/>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3" name="TextBox 2">
            <a:extLst>
              <a:ext uri="{FF2B5EF4-FFF2-40B4-BE49-F238E27FC236}">
                <a16:creationId xmlns:a16="http://schemas.microsoft.com/office/drawing/2014/main" id="{6BB02DB8-2FD8-196B-CF8F-F2FEDBB1C9A2}"/>
              </a:ext>
            </a:extLst>
          </p:cNvPr>
          <p:cNvSpPr txBox="1"/>
          <p:nvPr/>
        </p:nvSpPr>
        <p:spPr>
          <a:xfrm>
            <a:off x="10332720" y="6515795"/>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4" name="TextBox 3">
            <a:extLst>
              <a:ext uri="{FF2B5EF4-FFF2-40B4-BE49-F238E27FC236}">
                <a16:creationId xmlns:a16="http://schemas.microsoft.com/office/drawing/2014/main" id="{0BC841D3-41D4-DCD2-CA41-7A0617FEE132}"/>
              </a:ext>
            </a:extLst>
          </p:cNvPr>
          <p:cNvSpPr txBox="1"/>
          <p:nvPr/>
        </p:nvSpPr>
        <p:spPr>
          <a:xfrm>
            <a:off x="502920" y="6488363"/>
            <a:ext cx="8229600" cy="347472"/>
          </a:xfrm>
          <a:prstGeom prst="rect">
            <a:avLst/>
          </a:prstGeom>
          <a:noFill/>
        </p:spPr>
        <p:txBody>
          <a:bodyPr wrap="square" lIns="0" tIns="0" rIns="0" bIns="0" anchor="ctr">
            <a:spAutoFit/>
          </a:bodyPr>
          <a:lstStyle/>
          <a:p>
            <a:pPr algn="l"/>
            <a:r>
              <a:rPr sz="1400" b="1">
                <a:solidFill>
                  <a:srgbClr val="545B64"/>
                </a:solidFill>
                <a:latin typeface="Calibri"/>
              </a:rPr>
              <a:t>VALENTIN   ·   GenAI TFC Capstone Deep-Dive</a:t>
            </a:r>
          </a:p>
        </p:txBody>
      </p:sp>
      <p:sp>
        <p:nvSpPr>
          <p:cNvPr id="10" name="TextBox 9">
            <a:extLst>
              <a:ext uri="{FF2B5EF4-FFF2-40B4-BE49-F238E27FC236}">
                <a16:creationId xmlns:a16="http://schemas.microsoft.com/office/drawing/2014/main" id="{324F32A4-D7EB-B535-8E43-DFE1C5FCC53B}"/>
              </a:ext>
            </a:extLst>
          </p:cNvPr>
          <p:cNvSpPr txBox="1"/>
          <p:nvPr/>
        </p:nvSpPr>
        <p:spPr>
          <a:xfrm>
            <a:off x="384048" y="1203131"/>
            <a:ext cx="4160520" cy="237744"/>
          </a:xfrm>
          <a:prstGeom prst="rect">
            <a:avLst/>
          </a:prstGeom>
          <a:noFill/>
        </p:spPr>
        <p:txBody>
          <a:bodyPr wrap="square" lIns="0" tIns="0" rIns="0" bIns="0" anchor="ctr">
            <a:spAutoFit/>
          </a:bodyPr>
          <a:lstStyle/>
          <a:p>
            <a:pPr algn="l"/>
            <a:r>
              <a:rPr sz="1400" b="1">
                <a:solidFill>
                  <a:srgbClr val="545B64"/>
                </a:solidFill>
                <a:latin typeface="Calibri"/>
              </a:rPr>
              <a:t>SHARED FRONT DOOR</a:t>
            </a:r>
          </a:p>
        </p:txBody>
      </p:sp>
      <p:sp>
        <p:nvSpPr>
          <p:cNvPr id="11" name="TextBox 10">
            <a:extLst>
              <a:ext uri="{FF2B5EF4-FFF2-40B4-BE49-F238E27FC236}">
                <a16:creationId xmlns:a16="http://schemas.microsoft.com/office/drawing/2014/main" id="{E70D775F-A371-DCB2-FCE8-CC20E5FC4C2D}"/>
              </a:ext>
            </a:extLst>
          </p:cNvPr>
          <p:cNvSpPr txBox="1"/>
          <p:nvPr/>
        </p:nvSpPr>
        <p:spPr>
          <a:xfrm>
            <a:off x="4672584" y="1203131"/>
            <a:ext cx="3099816" cy="237744"/>
          </a:xfrm>
          <a:prstGeom prst="rect">
            <a:avLst/>
          </a:prstGeom>
          <a:noFill/>
        </p:spPr>
        <p:txBody>
          <a:bodyPr wrap="square" lIns="0" tIns="0" rIns="0" bIns="0" anchor="ctr">
            <a:spAutoFit/>
          </a:bodyPr>
          <a:lstStyle/>
          <a:p>
            <a:pPr algn="l"/>
            <a:r>
              <a:rPr sz="1400" b="1" dirty="0">
                <a:solidFill>
                  <a:srgbClr val="232F3E"/>
                </a:solidFill>
                <a:latin typeface="Calibri"/>
              </a:rPr>
              <a:t>ENGINE A · GLUE CODE</a:t>
            </a:r>
          </a:p>
        </p:txBody>
      </p:sp>
      <p:sp>
        <p:nvSpPr>
          <p:cNvPr id="12" name="TextBox 11">
            <a:extLst>
              <a:ext uri="{FF2B5EF4-FFF2-40B4-BE49-F238E27FC236}">
                <a16:creationId xmlns:a16="http://schemas.microsoft.com/office/drawing/2014/main" id="{75BDD028-8D4A-C3C5-C3ED-387ECE395153}"/>
              </a:ext>
            </a:extLst>
          </p:cNvPr>
          <p:cNvSpPr txBox="1"/>
          <p:nvPr/>
        </p:nvSpPr>
        <p:spPr>
          <a:xfrm>
            <a:off x="8138160" y="1203131"/>
            <a:ext cx="3694176" cy="237744"/>
          </a:xfrm>
          <a:prstGeom prst="rect">
            <a:avLst/>
          </a:prstGeom>
          <a:noFill/>
        </p:spPr>
        <p:txBody>
          <a:bodyPr wrap="square" lIns="0" tIns="0" rIns="0" bIns="0" anchor="ctr">
            <a:spAutoFit/>
          </a:bodyPr>
          <a:lstStyle/>
          <a:p>
            <a:pPr algn="l"/>
            <a:r>
              <a:rPr sz="1400" b="1" dirty="0">
                <a:solidFill>
                  <a:srgbClr val="545B64"/>
                </a:solidFill>
                <a:latin typeface="Calibri"/>
              </a:rPr>
              <a:t>SHARED BY BOTH ENGINES</a:t>
            </a:r>
          </a:p>
        </p:txBody>
      </p:sp>
      <p:sp>
        <p:nvSpPr>
          <p:cNvPr id="13" name="TextBox 12">
            <a:extLst>
              <a:ext uri="{FF2B5EF4-FFF2-40B4-BE49-F238E27FC236}">
                <a16:creationId xmlns:a16="http://schemas.microsoft.com/office/drawing/2014/main" id="{DB47A9C6-66E6-3823-FE0F-C19E947F69E0}"/>
              </a:ext>
            </a:extLst>
          </p:cNvPr>
          <p:cNvSpPr txBox="1"/>
          <p:nvPr/>
        </p:nvSpPr>
        <p:spPr>
          <a:xfrm>
            <a:off x="384048" y="4138355"/>
            <a:ext cx="2926080" cy="237744"/>
          </a:xfrm>
          <a:prstGeom prst="rect">
            <a:avLst/>
          </a:prstGeom>
          <a:noFill/>
        </p:spPr>
        <p:txBody>
          <a:bodyPr wrap="square" lIns="0" tIns="0" rIns="0" bIns="0" anchor="ctr">
            <a:spAutoFit/>
          </a:bodyPr>
          <a:lstStyle/>
          <a:p>
            <a:pPr algn="l"/>
            <a:r>
              <a:rPr sz="1400" b="1" dirty="0">
                <a:solidFill>
                  <a:srgbClr val="1E7C3C"/>
                </a:solidFill>
                <a:latin typeface="Calibri"/>
              </a:rPr>
              <a:t>ENGINE B · AGENTCORE</a:t>
            </a:r>
          </a:p>
        </p:txBody>
      </p:sp>
      <p:sp>
        <p:nvSpPr>
          <p:cNvPr id="14" name="Rounded Rectangle 13">
            <a:extLst>
              <a:ext uri="{FF2B5EF4-FFF2-40B4-BE49-F238E27FC236}">
                <a16:creationId xmlns:a16="http://schemas.microsoft.com/office/drawing/2014/main" id="{B588D894-9337-EB85-361C-443EC8C31F72}"/>
              </a:ext>
            </a:extLst>
          </p:cNvPr>
          <p:cNvSpPr/>
          <p:nvPr/>
        </p:nvSpPr>
        <p:spPr>
          <a:xfrm>
            <a:off x="384048" y="1459163"/>
            <a:ext cx="4160520" cy="1709928"/>
          </a:xfrm>
          <a:prstGeom prst="roundRect">
            <a:avLst>
              <a:gd name="adj" fmla="val 4278"/>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48D7DF11-F5EB-AB55-A6BF-34CF181BD99F}"/>
              </a:ext>
            </a:extLst>
          </p:cNvPr>
          <p:cNvSpPr/>
          <p:nvPr/>
        </p:nvSpPr>
        <p:spPr>
          <a:xfrm>
            <a:off x="4672584" y="1472879"/>
            <a:ext cx="3099816" cy="850391"/>
          </a:xfrm>
          <a:prstGeom prst="roundRect">
            <a:avLst>
              <a:gd name="adj" fmla="val 8602"/>
            </a:avLst>
          </a:prstGeom>
          <a:no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a:extLst>
              <a:ext uri="{FF2B5EF4-FFF2-40B4-BE49-F238E27FC236}">
                <a16:creationId xmlns:a16="http://schemas.microsoft.com/office/drawing/2014/main" id="{F86C7E28-B0BD-ADE0-E8BC-2612B513AB2C}"/>
              </a:ext>
            </a:extLst>
          </p:cNvPr>
          <p:cNvSpPr/>
          <p:nvPr/>
        </p:nvSpPr>
        <p:spPr>
          <a:xfrm>
            <a:off x="8138160" y="1459163"/>
            <a:ext cx="3694176" cy="2569464"/>
          </a:xfrm>
          <a:prstGeom prst="roundRect">
            <a:avLst>
              <a:gd name="adj" fmla="val 2846"/>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0EB73FF7-DDB9-3CA7-79FF-639717CDD1DB}"/>
              </a:ext>
            </a:extLst>
          </p:cNvPr>
          <p:cNvSpPr/>
          <p:nvPr/>
        </p:nvSpPr>
        <p:spPr>
          <a:xfrm>
            <a:off x="384048" y="4394387"/>
            <a:ext cx="11448288" cy="1609343"/>
          </a:xfrm>
          <a:prstGeom prst="roundRect">
            <a:avLst>
              <a:gd name="adj" fmla="val 4545"/>
            </a:avLst>
          </a:prstGeom>
          <a:no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a:extLst>
              <a:ext uri="{FF2B5EF4-FFF2-40B4-BE49-F238E27FC236}">
                <a16:creationId xmlns:a16="http://schemas.microsoft.com/office/drawing/2014/main" id="{590C25A0-E9B4-84CC-7E1C-AD1C1955C897}"/>
              </a:ext>
            </a:extLst>
          </p:cNvPr>
          <p:cNvSpPr/>
          <p:nvPr/>
        </p:nvSpPr>
        <p:spPr>
          <a:xfrm>
            <a:off x="484632"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Browser icon">
            <a:extLst>
              <a:ext uri="{FF2B5EF4-FFF2-40B4-BE49-F238E27FC236}">
                <a16:creationId xmlns:a16="http://schemas.microsoft.com/office/drawing/2014/main" id="{5BE99B3B-38D2-1444-2C22-473BBAA1B97E}"/>
              </a:ext>
            </a:extLst>
          </p:cNvPr>
          <p:cNvPicPr>
            <a:picLocks noChangeAspect="1"/>
          </p:cNvPicPr>
          <p:nvPr/>
        </p:nvPicPr>
        <p:blipFill>
          <a:blip r:embed="rId3"/>
          <a:stretch>
            <a:fillRect/>
          </a:stretch>
        </p:blipFill>
        <p:spPr>
          <a:xfrm>
            <a:off x="585216" y="1706051"/>
            <a:ext cx="384048" cy="384048"/>
          </a:xfrm>
          <a:prstGeom prst="rect">
            <a:avLst/>
          </a:prstGeom>
        </p:spPr>
      </p:pic>
      <p:sp>
        <p:nvSpPr>
          <p:cNvPr id="20" name="TextBox 19">
            <a:extLst>
              <a:ext uri="{FF2B5EF4-FFF2-40B4-BE49-F238E27FC236}">
                <a16:creationId xmlns:a16="http://schemas.microsoft.com/office/drawing/2014/main" id="{1A2D3A9F-BCDE-7F47-1223-9E422A2EEAF3}"/>
              </a:ext>
            </a:extLst>
          </p:cNvPr>
          <p:cNvSpPr txBox="1"/>
          <p:nvPr/>
        </p:nvSpPr>
        <p:spPr>
          <a:xfrm>
            <a:off x="1069848"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Browser</a:t>
            </a:r>
          </a:p>
        </p:txBody>
      </p:sp>
      <p:sp>
        <p:nvSpPr>
          <p:cNvPr id="21" name="TextBox 20">
            <a:extLst>
              <a:ext uri="{FF2B5EF4-FFF2-40B4-BE49-F238E27FC236}">
                <a16:creationId xmlns:a16="http://schemas.microsoft.com/office/drawing/2014/main" id="{7B462E29-790F-BB38-0450-4A0116AB691C}"/>
              </a:ext>
            </a:extLst>
          </p:cNvPr>
          <p:cNvSpPr txBox="1"/>
          <p:nvPr/>
        </p:nvSpPr>
        <p:spPr>
          <a:xfrm>
            <a:off x="1069848"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the chat UI</a:t>
            </a:r>
          </a:p>
        </p:txBody>
      </p:sp>
      <p:sp>
        <p:nvSpPr>
          <p:cNvPr id="22" name="Rounded Rectangle 21">
            <a:extLst>
              <a:ext uri="{FF2B5EF4-FFF2-40B4-BE49-F238E27FC236}">
                <a16:creationId xmlns:a16="http://schemas.microsoft.com/office/drawing/2014/main" id="{393D84D6-882D-AF08-1275-BF1BA932DEE1}"/>
              </a:ext>
            </a:extLst>
          </p:cNvPr>
          <p:cNvSpPr/>
          <p:nvPr/>
        </p:nvSpPr>
        <p:spPr>
          <a:xfrm>
            <a:off x="2528316"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loudFront icon">
            <a:extLst>
              <a:ext uri="{FF2B5EF4-FFF2-40B4-BE49-F238E27FC236}">
                <a16:creationId xmlns:a16="http://schemas.microsoft.com/office/drawing/2014/main" id="{8E1BFA6D-92B4-1CF3-04F4-90A7A4E18781}"/>
              </a:ext>
            </a:extLst>
          </p:cNvPr>
          <p:cNvPicPr>
            <a:picLocks noChangeAspect="1"/>
          </p:cNvPicPr>
          <p:nvPr/>
        </p:nvPicPr>
        <p:blipFill>
          <a:blip r:embed="rId4"/>
          <a:stretch>
            <a:fillRect/>
          </a:stretch>
        </p:blipFill>
        <p:spPr>
          <a:xfrm>
            <a:off x="2628900" y="1706051"/>
            <a:ext cx="384048" cy="384048"/>
          </a:xfrm>
          <a:prstGeom prst="rect">
            <a:avLst/>
          </a:prstGeom>
        </p:spPr>
      </p:pic>
      <p:sp>
        <p:nvSpPr>
          <p:cNvPr id="24" name="TextBox 23">
            <a:extLst>
              <a:ext uri="{FF2B5EF4-FFF2-40B4-BE49-F238E27FC236}">
                <a16:creationId xmlns:a16="http://schemas.microsoft.com/office/drawing/2014/main" id="{1D8F3174-34ED-09C3-FF63-0E05F54F1AED}"/>
              </a:ext>
            </a:extLst>
          </p:cNvPr>
          <p:cNvSpPr txBox="1"/>
          <p:nvPr/>
        </p:nvSpPr>
        <p:spPr>
          <a:xfrm>
            <a:off x="3113532"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CloudFront</a:t>
            </a:r>
          </a:p>
        </p:txBody>
      </p:sp>
      <p:sp>
        <p:nvSpPr>
          <p:cNvPr id="25" name="TextBox 24">
            <a:extLst>
              <a:ext uri="{FF2B5EF4-FFF2-40B4-BE49-F238E27FC236}">
                <a16:creationId xmlns:a16="http://schemas.microsoft.com/office/drawing/2014/main" id="{F1700249-882F-A87D-3A46-CF1F9BFEFFDF}"/>
              </a:ext>
            </a:extLst>
          </p:cNvPr>
          <p:cNvSpPr txBox="1"/>
          <p:nvPr/>
        </p:nvSpPr>
        <p:spPr>
          <a:xfrm>
            <a:off x="3113532"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one origin</a:t>
            </a:r>
          </a:p>
        </p:txBody>
      </p:sp>
      <p:sp>
        <p:nvSpPr>
          <p:cNvPr id="26" name="Rounded Rectangle 25">
            <a:extLst>
              <a:ext uri="{FF2B5EF4-FFF2-40B4-BE49-F238E27FC236}">
                <a16:creationId xmlns:a16="http://schemas.microsoft.com/office/drawing/2014/main" id="{0FDF2217-4D85-25D5-C9CE-9D511A808C6C}"/>
              </a:ext>
            </a:extLst>
          </p:cNvPr>
          <p:cNvSpPr/>
          <p:nvPr/>
        </p:nvSpPr>
        <p:spPr>
          <a:xfrm>
            <a:off x="484632" y="2446715"/>
            <a:ext cx="1915668" cy="621792"/>
          </a:xfrm>
          <a:prstGeom prst="roundRect">
            <a:avLst>
              <a:gd name="adj" fmla="val 11764"/>
            </a:avLst>
          </a:prstGeom>
          <a:solidFill>
            <a:srgbClr val="FFFFFF"/>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S3 icon">
            <a:extLst>
              <a:ext uri="{FF2B5EF4-FFF2-40B4-BE49-F238E27FC236}">
                <a16:creationId xmlns:a16="http://schemas.microsoft.com/office/drawing/2014/main" id="{C42EDD12-059A-2FC3-63B7-317E11F44CD3}"/>
              </a:ext>
            </a:extLst>
          </p:cNvPr>
          <p:cNvPicPr>
            <a:picLocks noChangeAspect="1"/>
          </p:cNvPicPr>
          <p:nvPr/>
        </p:nvPicPr>
        <p:blipFill>
          <a:blip r:embed="rId5"/>
          <a:stretch>
            <a:fillRect/>
          </a:stretch>
        </p:blipFill>
        <p:spPr>
          <a:xfrm>
            <a:off x="585216" y="2565587"/>
            <a:ext cx="384048" cy="384048"/>
          </a:xfrm>
          <a:prstGeom prst="rect">
            <a:avLst/>
          </a:prstGeom>
        </p:spPr>
      </p:pic>
      <p:sp>
        <p:nvSpPr>
          <p:cNvPr id="28" name="TextBox 27">
            <a:extLst>
              <a:ext uri="{FF2B5EF4-FFF2-40B4-BE49-F238E27FC236}">
                <a16:creationId xmlns:a16="http://schemas.microsoft.com/office/drawing/2014/main" id="{E44BDB06-8834-3D3E-F1BB-46F52595E58E}"/>
              </a:ext>
            </a:extLst>
          </p:cNvPr>
          <p:cNvSpPr txBox="1"/>
          <p:nvPr/>
        </p:nvSpPr>
        <p:spPr>
          <a:xfrm>
            <a:off x="1069848" y="2501579"/>
            <a:ext cx="1248156" cy="246888"/>
          </a:xfrm>
          <a:prstGeom prst="rect">
            <a:avLst/>
          </a:prstGeom>
          <a:noFill/>
        </p:spPr>
        <p:txBody>
          <a:bodyPr wrap="square" lIns="0" tIns="0" rIns="0" bIns="0" anchor="t">
            <a:spAutoFit/>
          </a:bodyPr>
          <a:lstStyle/>
          <a:p>
            <a:pPr algn="l"/>
            <a:r>
              <a:rPr sz="1500" b="1">
                <a:solidFill>
                  <a:srgbClr val="545B64"/>
                </a:solidFill>
                <a:latin typeface="Calibri"/>
              </a:rPr>
              <a:t>S3</a:t>
            </a:r>
          </a:p>
        </p:txBody>
      </p:sp>
      <p:sp>
        <p:nvSpPr>
          <p:cNvPr id="29" name="TextBox 28">
            <a:extLst>
              <a:ext uri="{FF2B5EF4-FFF2-40B4-BE49-F238E27FC236}">
                <a16:creationId xmlns:a16="http://schemas.microsoft.com/office/drawing/2014/main" id="{64A8C0AF-F0F9-73E6-80F6-99B77CAC5004}"/>
              </a:ext>
            </a:extLst>
          </p:cNvPr>
          <p:cNvSpPr txBox="1"/>
          <p:nvPr/>
        </p:nvSpPr>
        <p:spPr>
          <a:xfrm>
            <a:off x="1069848"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app bundle</a:t>
            </a:r>
          </a:p>
        </p:txBody>
      </p:sp>
      <p:sp>
        <p:nvSpPr>
          <p:cNvPr id="30" name="Rounded Rectangle 29">
            <a:extLst>
              <a:ext uri="{FF2B5EF4-FFF2-40B4-BE49-F238E27FC236}">
                <a16:creationId xmlns:a16="http://schemas.microsoft.com/office/drawing/2014/main" id="{46724EAA-2194-9CE1-8DDE-F3592FC4CA68}"/>
              </a:ext>
            </a:extLst>
          </p:cNvPr>
          <p:cNvSpPr/>
          <p:nvPr/>
        </p:nvSpPr>
        <p:spPr>
          <a:xfrm>
            <a:off x="2528316" y="2446715"/>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ALB icon">
            <a:extLst>
              <a:ext uri="{FF2B5EF4-FFF2-40B4-BE49-F238E27FC236}">
                <a16:creationId xmlns:a16="http://schemas.microsoft.com/office/drawing/2014/main" id="{EB83EC53-9981-E971-1B75-8F076E1AD6BC}"/>
              </a:ext>
            </a:extLst>
          </p:cNvPr>
          <p:cNvPicPr>
            <a:picLocks noChangeAspect="1"/>
          </p:cNvPicPr>
          <p:nvPr/>
        </p:nvPicPr>
        <p:blipFill>
          <a:blip r:embed="rId6"/>
          <a:stretch>
            <a:fillRect/>
          </a:stretch>
        </p:blipFill>
        <p:spPr>
          <a:xfrm>
            <a:off x="2628900" y="2565587"/>
            <a:ext cx="384048" cy="384048"/>
          </a:xfrm>
          <a:prstGeom prst="rect">
            <a:avLst/>
          </a:prstGeom>
        </p:spPr>
      </p:pic>
      <p:sp>
        <p:nvSpPr>
          <p:cNvPr id="32" name="TextBox 31">
            <a:extLst>
              <a:ext uri="{FF2B5EF4-FFF2-40B4-BE49-F238E27FC236}">
                <a16:creationId xmlns:a16="http://schemas.microsoft.com/office/drawing/2014/main" id="{29F73C16-C03B-A3B1-B21E-7D4DDDDE32ED}"/>
              </a:ext>
            </a:extLst>
          </p:cNvPr>
          <p:cNvSpPr txBox="1"/>
          <p:nvPr/>
        </p:nvSpPr>
        <p:spPr>
          <a:xfrm>
            <a:off x="3113532" y="2501579"/>
            <a:ext cx="1248156" cy="246888"/>
          </a:xfrm>
          <a:prstGeom prst="rect">
            <a:avLst/>
          </a:prstGeom>
          <a:noFill/>
        </p:spPr>
        <p:txBody>
          <a:bodyPr wrap="square" lIns="0" tIns="0" rIns="0" bIns="0" anchor="t">
            <a:spAutoFit/>
          </a:bodyPr>
          <a:lstStyle/>
          <a:p>
            <a:pPr algn="l"/>
            <a:r>
              <a:rPr sz="1500" b="1">
                <a:solidFill>
                  <a:srgbClr val="232F3E"/>
                </a:solidFill>
                <a:latin typeface="Calibri"/>
              </a:rPr>
              <a:t>ALB</a:t>
            </a:r>
          </a:p>
        </p:txBody>
      </p:sp>
      <p:sp>
        <p:nvSpPr>
          <p:cNvPr id="33" name="TextBox 32">
            <a:extLst>
              <a:ext uri="{FF2B5EF4-FFF2-40B4-BE49-F238E27FC236}">
                <a16:creationId xmlns:a16="http://schemas.microsoft.com/office/drawing/2014/main" id="{30EFF3F0-CCDE-1F09-4AA5-051F878D0049}"/>
              </a:ext>
            </a:extLst>
          </p:cNvPr>
          <p:cNvSpPr txBox="1"/>
          <p:nvPr/>
        </p:nvSpPr>
        <p:spPr>
          <a:xfrm>
            <a:off x="3113532"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/api/* · /ws</a:t>
            </a:r>
          </a:p>
        </p:txBody>
      </p:sp>
      <p:sp>
        <p:nvSpPr>
          <p:cNvPr id="34" name="Rounded Rectangle 33">
            <a:extLst>
              <a:ext uri="{FF2B5EF4-FFF2-40B4-BE49-F238E27FC236}">
                <a16:creationId xmlns:a16="http://schemas.microsoft.com/office/drawing/2014/main" id="{EE8AF2B8-9DEA-775F-A4BD-C669F9A669B0}"/>
              </a:ext>
            </a:extLst>
          </p:cNvPr>
          <p:cNvSpPr/>
          <p:nvPr/>
        </p:nvSpPr>
        <p:spPr>
          <a:xfrm>
            <a:off x="4773168" y="1587179"/>
            <a:ext cx="289864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Fargate icon">
            <a:extLst>
              <a:ext uri="{FF2B5EF4-FFF2-40B4-BE49-F238E27FC236}">
                <a16:creationId xmlns:a16="http://schemas.microsoft.com/office/drawing/2014/main" id="{2C6B3231-1075-4492-7DDE-210EB3182522}"/>
              </a:ext>
            </a:extLst>
          </p:cNvPr>
          <p:cNvPicPr>
            <a:picLocks noChangeAspect="1"/>
          </p:cNvPicPr>
          <p:nvPr/>
        </p:nvPicPr>
        <p:blipFill>
          <a:blip r:embed="rId7"/>
          <a:stretch>
            <a:fillRect/>
          </a:stretch>
        </p:blipFill>
        <p:spPr>
          <a:xfrm>
            <a:off x="4873752" y="1706051"/>
            <a:ext cx="384048" cy="384048"/>
          </a:xfrm>
          <a:prstGeom prst="rect">
            <a:avLst/>
          </a:prstGeom>
        </p:spPr>
      </p:pic>
      <p:sp>
        <p:nvSpPr>
          <p:cNvPr id="36" name="TextBox 35">
            <a:extLst>
              <a:ext uri="{FF2B5EF4-FFF2-40B4-BE49-F238E27FC236}">
                <a16:creationId xmlns:a16="http://schemas.microsoft.com/office/drawing/2014/main" id="{BC80B77B-D9B8-14A0-973F-82F4B3E8CF65}"/>
              </a:ext>
            </a:extLst>
          </p:cNvPr>
          <p:cNvSpPr txBox="1"/>
          <p:nvPr/>
        </p:nvSpPr>
        <p:spPr>
          <a:xfrm>
            <a:off x="5358384" y="1642043"/>
            <a:ext cx="2231135"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37" name="TextBox 36">
            <a:extLst>
              <a:ext uri="{FF2B5EF4-FFF2-40B4-BE49-F238E27FC236}">
                <a16:creationId xmlns:a16="http://schemas.microsoft.com/office/drawing/2014/main" id="{D5226F65-46AF-8096-CF7B-18E31AB00C9D}"/>
              </a:ext>
            </a:extLst>
          </p:cNvPr>
          <p:cNvSpPr txBox="1"/>
          <p:nvPr/>
        </p:nvSpPr>
        <p:spPr>
          <a:xfrm>
            <a:off x="5358384" y="1898075"/>
            <a:ext cx="2231135" cy="274320"/>
          </a:xfrm>
          <a:prstGeom prst="rect">
            <a:avLst/>
          </a:prstGeom>
          <a:noFill/>
        </p:spPr>
        <p:txBody>
          <a:bodyPr wrap="square" lIns="0" tIns="0" rIns="0" bIns="0" anchor="t">
            <a:spAutoFit/>
          </a:bodyPr>
          <a:lstStyle/>
          <a:p>
            <a:pPr algn="l"/>
            <a:r>
              <a:rPr sz="1400" b="0">
                <a:solidFill>
                  <a:srgbClr val="545B64"/>
                </a:solidFill>
                <a:latin typeface="Calibri"/>
              </a:rPr>
              <a:t>valentin-service-dev</a:t>
            </a:r>
          </a:p>
        </p:txBody>
      </p:sp>
      <p:sp>
        <p:nvSpPr>
          <p:cNvPr id="38" name="Rounded Rectangle 37">
            <a:extLst>
              <a:ext uri="{FF2B5EF4-FFF2-40B4-BE49-F238E27FC236}">
                <a16:creationId xmlns:a16="http://schemas.microsoft.com/office/drawing/2014/main" id="{EFA5807A-271E-3F5A-CDEE-7AA04F7B434E}"/>
              </a:ext>
            </a:extLst>
          </p:cNvPr>
          <p:cNvSpPr/>
          <p:nvPr/>
        </p:nvSpPr>
        <p:spPr>
          <a:xfrm>
            <a:off x="8238744" y="1587179"/>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Bedrock icon">
            <a:extLst>
              <a:ext uri="{FF2B5EF4-FFF2-40B4-BE49-F238E27FC236}">
                <a16:creationId xmlns:a16="http://schemas.microsoft.com/office/drawing/2014/main" id="{AC4CB1CB-577A-4EC9-7D2F-6FEBDA9068D8}"/>
              </a:ext>
            </a:extLst>
          </p:cNvPr>
          <p:cNvPicPr>
            <a:picLocks noChangeAspect="1"/>
          </p:cNvPicPr>
          <p:nvPr/>
        </p:nvPicPr>
        <p:blipFill>
          <a:blip r:embed="rId8"/>
          <a:stretch>
            <a:fillRect/>
          </a:stretch>
        </p:blipFill>
        <p:spPr>
          <a:xfrm>
            <a:off x="8339327" y="1706051"/>
            <a:ext cx="384048" cy="384048"/>
          </a:xfrm>
          <a:prstGeom prst="rect">
            <a:avLst/>
          </a:prstGeom>
        </p:spPr>
      </p:pic>
      <p:sp>
        <p:nvSpPr>
          <p:cNvPr id="40" name="TextBox 39">
            <a:extLst>
              <a:ext uri="{FF2B5EF4-FFF2-40B4-BE49-F238E27FC236}">
                <a16:creationId xmlns:a16="http://schemas.microsoft.com/office/drawing/2014/main" id="{08F45306-048B-1AC1-ADBB-34D78091B5BD}"/>
              </a:ext>
            </a:extLst>
          </p:cNvPr>
          <p:cNvSpPr txBox="1"/>
          <p:nvPr/>
        </p:nvSpPr>
        <p:spPr>
          <a:xfrm>
            <a:off x="8823959" y="1642043"/>
            <a:ext cx="2825496" cy="246888"/>
          </a:xfrm>
          <a:prstGeom prst="rect">
            <a:avLst/>
          </a:prstGeom>
          <a:noFill/>
        </p:spPr>
        <p:txBody>
          <a:bodyPr wrap="square" lIns="0" tIns="0" rIns="0" bIns="0" anchor="t">
            <a:spAutoFit/>
          </a:bodyPr>
          <a:lstStyle/>
          <a:p>
            <a:pPr algn="l"/>
            <a:r>
              <a:rPr sz="1500" b="1">
                <a:solidFill>
                  <a:srgbClr val="232F3E"/>
                </a:solidFill>
                <a:latin typeface="Calibri"/>
              </a:rPr>
              <a:t>Bedrock</a:t>
            </a:r>
          </a:p>
        </p:txBody>
      </p:sp>
      <p:sp>
        <p:nvSpPr>
          <p:cNvPr id="41" name="TextBox 40">
            <a:extLst>
              <a:ext uri="{FF2B5EF4-FFF2-40B4-BE49-F238E27FC236}">
                <a16:creationId xmlns:a16="http://schemas.microsoft.com/office/drawing/2014/main" id="{2C08F902-6A20-2688-5D7C-445682418029}"/>
              </a:ext>
            </a:extLst>
          </p:cNvPr>
          <p:cNvSpPr txBox="1"/>
          <p:nvPr/>
        </p:nvSpPr>
        <p:spPr>
          <a:xfrm>
            <a:off x="8823959" y="1898075"/>
            <a:ext cx="2825496" cy="274320"/>
          </a:xfrm>
          <a:prstGeom prst="rect">
            <a:avLst/>
          </a:prstGeom>
          <a:noFill/>
        </p:spPr>
        <p:txBody>
          <a:bodyPr wrap="square" lIns="0" tIns="0" rIns="0" bIns="0" anchor="t">
            <a:spAutoFit/>
          </a:bodyPr>
          <a:lstStyle/>
          <a:p>
            <a:pPr algn="l"/>
            <a:r>
              <a:rPr sz="1400" b="0">
                <a:solidFill>
                  <a:srgbClr val="545B64"/>
                </a:solidFill>
                <a:latin typeface="Calibri"/>
              </a:rPr>
              <a:t>Claude Sonnet 4.5</a:t>
            </a:r>
          </a:p>
        </p:txBody>
      </p:sp>
      <p:sp>
        <p:nvSpPr>
          <p:cNvPr id="42" name="Rounded Rectangle 41">
            <a:extLst>
              <a:ext uri="{FF2B5EF4-FFF2-40B4-BE49-F238E27FC236}">
                <a16:creationId xmlns:a16="http://schemas.microsoft.com/office/drawing/2014/main" id="{3A80D245-F757-7BEA-0D15-523D7CAB75EE}"/>
              </a:ext>
            </a:extLst>
          </p:cNvPr>
          <p:cNvSpPr/>
          <p:nvPr/>
        </p:nvSpPr>
        <p:spPr>
          <a:xfrm>
            <a:off x="8214360" y="2446715"/>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CloudWatch icon">
            <a:extLst>
              <a:ext uri="{FF2B5EF4-FFF2-40B4-BE49-F238E27FC236}">
                <a16:creationId xmlns:a16="http://schemas.microsoft.com/office/drawing/2014/main" id="{0B2FBCE3-755D-A3BC-99C1-CBF8E4B8D880}"/>
              </a:ext>
            </a:extLst>
          </p:cNvPr>
          <p:cNvPicPr>
            <a:picLocks noChangeAspect="1"/>
          </p:cNvPicPr>
          <p:nvPr/>
        </p:nvPicPr>
        <p:blipFill>
          <a:blip r:embed="rId9"/>
          <a:stretch>
            <a:fillRect/>
          </a:stretch>
        </p:blipFill>
        <p:spPr>
          <a:xfrm>
            <a:off x="8314943" y="2565587"/>
            <a:ext cx="384048" cy="384048"/>
          </a:xfrm>
          <a:prstGeom prst="rect">
            <a:avLst/>
          </a:prstGeom>
        </p:spPr>
      </p:pic>
      <p:sp>
        <p:nvSpPr>
          <p:cNvPr id="44" name="TextBox 43">
            <a:extLst>
              <a:ext uri="{FF2B5EF4-FFF2-40B4-BE49-F238E27FC236}">
                <a16:creationId xmlns:a16="http://schemas.microsoft.com/office/drawing/2014/main" id="{28DF0C5B-7E62-611A-3A2E-12608D386D45}"/>
              </a:ext>
            </a:extLst>
          </p:cNvPr>
          <p:cNvSpPr txBox="1"/>
          <p:nvPr/>
        </p:nvSpPr>
        <p:spPr>
          <a:xfrm>
            <a:off x="8799575" y="2501579"/>
            <a:ext cx="2825496" cy="246888"/>
          </a:xfrm>
          <a:prstGeom prst="rect">
            <a:avLst/>
          </a:prstGeom>
          <a:noFill/>
        </p:spPr>
        <p:txBody>
          <a:bodyPr wrap="square" lIns="0" tIns="0" rIns="0" bIns="0" anchor="t">
            <a:spAutoFit/>
          </a:bodyPr>
          <a:lstStyle/>
          <a:p>
            <a:pPr algn="l"/>
            <a:r>
              <a:rPr sz="1500" b="1">
                <a:solidFill>
                  <a:srgbClr val="232F3E"/>
                </a:solidFill>
                <a:latin typeface="Calibri"/>
              </a:rPr>
              <a:t>CloudWatch</a:t>
            </a:r>
          </a:p>
        </p:txBody>
      </p:sp>
      <p:sp>
        <p:nvSpPr>
          <p:cNvPr id="45" name="TextBox 44">
            <a:extLst>
              <a:ext uri="{FF2B5EF4-FFF2-40B4-BE49-F238E27FC236}">
                <a16:creationId xmlns:a16="http://schemas.microsoft.com/office/drawing/2014/main" id="{57A74078-3F09-9BD9-FE90-268C2EC61EA3}"/>
              </a:ext>
            </a:extLst>
          </p:cNvPr>
          <p:cNvSpPr txBox="1"/>
          <p:nvPr/>
        </p:nvSpPr>
        <p:spPr>
          <a:xfrm>
            <a:off x="8799575" y="2757611"/>
            <a:ext cx="2825496" cy="274320"/>
          </a:xfrm>
          <a:prstGeom prst="rect">
            <a:avLst/>
          </a:prstGeom>
          <a:noFill/>
        </p:spPr>
        <p:txBody>
          <a:bodyPr wrap="square" lIns="0" tIns="0" rIns="0" bIns="0" anchor="t">
            <a:spAutoFit/>
          </a:bodyPr>
          <a:lstStyle/>
          <a:p>
            <a:pPr algn="l"/>
            <a:r>
              <a:rPr sz="1400" b="0" dirty="0">
                <a:solidFill>
                  <a:srgbClr val="545B64"/>
                </a:solidFill>
                <a:latin typeface="Calibri"/>
              </a:rPr>
              <a:t>one dashboard, both engines</a:t>
            </a:r>
          </a:p>
        </p:txBody>
      </p:sp>
      <p:sp>
        <p:nvSpPr>
          <p:cNvPr id="46" name="Rounded Rectangle 45">
            <a:extLst>
              <a:ext uri="{FF2B5EF4-FFF2-40B4-BE49-F238E27FC236}">
                <a16:creationId xmlns:a16="http://schemas.microsoft.com/office/drawing/2014/main" id="{E91FA248-A40A-E408-AF14-505C6F096AB8}"/>
              </a:ext>
            </a:extLst>
          </p:cNvPr>
          <p:cNvSpPr/>
          <p:nvPr/>
        </p:nvSpPr>
        <p:spPr>
          <a:xfrm>
            <a:off x="8238744" y="3306251"/>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DynamoDB icon">
            <a:extLst>
              <a:ext uri="{FF2B5EF4-FFF2-40B4-BE49-F238E27FC236}">
                <a16:creationId xmlns:a16="http://schemas.microsoft.com/office/drawing/2014/main" id="{99E4B1DD-64E9-4FC1-F8AD-75AC9A64C395}"/>
              </a:ext>
            </a:extLst>
          </p:cNvPr>
          <p:cNvPicPr>
            <a:picLocks noChangeAspect="1"/>
          </p:cNvPicPr>
          <p:nvPr/>
        </p:nvPicPr>
        <p:blipFill>
          <a:blip r:embed="rId10"/>
          <a:stretch>
            <a:fillRect/>
          </a:stretch>
        </p:blipFill>
        <p:spPr>
          <a:xfrm>
            <a:off x="8339327" y="3425123"/>
            <a:ext cx="384048" cy="384048"/>
          </a:xfrm>
          <a:prstGeom prst="rect">
            <a:avLst/>
          </a:prstGeom>
        </p:spPr>
      </p:pic>
      <p:sp>
        <p:nvSpPr>
          <p:cNvPr id="48" name="TextBox 47">
            <a:extLst>
              <a:ext uri="{FF2B5EF4-FFF2-40B4-BE49-F238E27FC236}">
                <a16:creationId xmlns:a16="http://schemas.microsoft.com/office/drawing/2014/main" id="{2D9D8D90-32D8-8338-16EB-39D7ABF43545}"/>
              </a:ext>
            </a:extLst>
          </p:cNvPr>
          <p:cNvSpPr txBox="1"/>
          <p:nvPr/>
        </p:nvSpPr>
        <p:spPr>
          <a:xfrm>
            <a:off x="8823959" y="3361115"/>
            <a:ext cx="2037329" cy="230832"/>
          </a:xfrm>
          <a:prstGeom prst="rect">
            <a:avLst/>
          </a:prstGeom>
          <a:noFill/>
        </p:spPr>
        <p:txBody>
          <a:bodyPr wrap="square" lIns="0" tIns="0" rIns="0" bIns="0" anchor="t">
            <a:spAutoFit/>
          </a:bodyPr>
          <a:lstStyle/>
          <a:p>
            <a:pPr algn="l"/>
            <a:r>
              <a:rPr sz="1500" b="1">
                <a:solidFill>
                  <a:srgbClr val="232F3E"/>
                </a:solidFill>
                <a:latin typeface="Calibri"/>
              </a:rPr>
              <a:t>DynamoDB</a:t>
            </a:r>
          </a:p>
        </p:txBody>
      </p:sp>
      <p:sp>
        <p:nvSpPr>
          <p:cNvPr id="49" name="TextBox 48">
            <a:extLst>
              <a:ext uri="{FF2B5EF4-FFF2-40B4-BE49-F238E27FC236}">
                <a16:creationId xmlns:a16="http://schemas.microsoft.com/office/drawing/2014/main" id="{66257748-63A0-DD2F-16A9-7DCD81627473}"/>
              </a:ext>
            </a:extLst>
          </p:cNvPr>
          <p:cNvSpPr txBox="1"/>
          <p:nvPr/>
        </p:nvSpPr>
        <p:spPr>
          <a:xfrm>
            <a:off x="8823959" y="3617147"/>
            <a:ext cx="2825496" cy="274320"/>
          </a:xfrm>
          <a:prstGeom prst="rect">
            <a:avLst/>
          </a:prstGeom>
          <a:noFill/>
        </p:spPr>
        <p:txBody>
          <a:bodyPr wrap="square" lIns="0" tIns="0" rIns="0" bIns="0" anchor="t">
            <a:spAutoFit/>
          </a:bodyPr>
          <a:lstStyle/>
          <a:p>
            <a:pPr algn="l"/>
            <a:r>
              <a:rPr sz="1400" b="0">
                <a:solidFill>
                  <a:srgbClr val="545B64"/>
                </a:solidFill>
                <a:latin typeface="Calibri"/>
              </a:rPr>
              <a:t>ValentinTable-dev · shared</a:t>
            </a:r>
          </a:p>
        </p:txBody>
      </p:sp>
      <p:sp>
        <p:nvSpPr>
          <p:cNvPr id="50" name="Rounded Rectangle 49">
            <a:extLst>
              <a:ext uri="{FF2B5EF4-FFF2-40B4-BE49-F238E27FC236}">
                <a16:creationId xmlns:a16="http://schemas.microsoft.com/office/drawing/2014/main" id="{E385E9D8-62B3-319F-3584-8294F0C1155D}"/>
              </a:ext>
            </a:extLst>
          </p:cNvPr>
          <p:cNvSpPr/>
          <p:nvPr/>
        </p:nvSpPr>
        <p:spPr>
          <a:xfrm>
            <a:off x="484632" y="4494971"/>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Fargate icon">
            <a:extLst>
              <a:ext uri="{FF2B5EF4-FFF2-40B4-BE49-F238E27FC236}">
                <a16:creationId xmlns:a16="http://schemas.microsoft.com/office/drawing/2014/main" id="{13207643-4B4B-D94E-A8B7-8711C03D71AD}"/>
              </a:ext>
            </a:extLst>
          </p:cNvPr>
          <p:cNvPicPr>
            <a:picLocks noChangeAspect="1"/>
          </p:cNvPicPr>
          <p:nvPr/>
        </p:nvPicPr>
        <p:blipFill>
          <a:blip r:embed="rId7"/>
          <a:stretch>
            <a:fillRect/>
          </a:stretch>
        </p:blipFill>
        <p:spPr>
          <a:xfrm>
            <a:off x="585216" y="4613843"/>
            <a:ext cx="384048" cy="384048"/>
          </a:xfrm>
          <a:prstGeom prst="rect">
            <a:avLst/>
          </a:prstGeom>
        </p:spPr>
      </p:pic>
      <p:sp>
        <p:nvSpPr>
          <p:cNvPr id="52" name="TextBox 51">
            <a:extLst>
              <a:ext uri="{FF2B5EF4-FFF2-40B4-BE49-F238E27FC236}">
                <a16:creationId xmlns:a16="http://schemas.microsoft.com/office/drawing/2014/main" id="{CCA4DB43-7280-8D46-06A8-C70B822E7063}"/>
              </a:ext>
            </a:extLst>
          </p:cNvPr>
          <p:cNvSpPr txBox="1"/>
          <p:nvPr/>
        </p:nvSpPr>
        <p:spPr>
          <a:xfrm>
            <a:off x="1069848"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53" name="TextBox 52">
            <a:extLst>
              <a:ext uri="{FF2B5EF4-FFF2-40B4-BE49-F238E27FC236}">
                <a16:creationId xmlns:a16="http://schemas.microsoft.com/office/drawing/2014/main" id="{748D5690-A8A5-576E-7E2F-64298742B042}"/>
              </a:ext>
            </a:extLst>
          </p:cNvPr>
          <p:cNvSpPr txBox="1"/>
          <p:nvPr/>
        </p:nvSpPr>
        <p:spPr>
          <a:xfrm>
            <a:off x="1069848"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valentin-ac-proxy-dev</a:t>
            </a:r>
          </a:p>
        </p:txBody>
      </p:sp>
      <p:sp>
        <p:nvSpPr>
          <p:cNvPr id="54" name="Rounded Rectangle 53">
            <a:extLst>
              <a:ext uri="{FF2B5EF4-FFF2-40B4-BE49-F238E27FC236}">
                <a16:creationId xmlns:a16="http://schemas.microsoft.com/office/drawing/2014/main" id="{6CADBBD7-613E-3808-8052-55CEA985F76F}"/>
              </a:ext>
            </a:extLst>
          </p:cNvPr>
          <p:cNvSpPr/>
          <p:nvPr/>
        </p:nvSpPr>
        <p:spPr>
          <a:xfrm>
            <a:off x="4276648"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Runtime icon">
            <a:extLst>
              <a:ext uri="{FF2B5EF4-FFF2-40B4-BE49-F238E27FC236}">
                <a16:creationId xmlns:a16="http://schemas.microsoft.com/office/drawing/2014/main" id="{BF0AE213-06C0-6260-44C6-197D194F8B24}"/>
              </a:ext>
            </a:extLst>
          </p:cNvPr>
          <p:cNvPicPr>
            <a:picLocks noChangeAspect="1"/>
          </p:cNvPicPr>
          <p:nvPr/>
        </p:nvPicPr>
        <p:blipFill>
          <a:blip r:embed="rId11"/>
          <a:stretch>
            <a:fillRect/>
          </a:stretch>
        </p:blipFill>
        <p:spPr>
          <a:xfrm>
            <a:off x="4377232" y="4613843"/>
            <a:ext cx="384048" cy="384048"/>
          </a:xfrm>
          <a:prstGeom prst="rect">
            <a:avLst/>
          </a:prstGeom>
        </p:spPr>
      </p:pic>
      <p:sp>
        <p:nvSpPr>
          <p:cNvPr id="56" name="TextBox 55">
            <a:extLst>
              <a:ext uri="{FF2B5EF4-FFF2-40B4-BE49-F238E27FC236}">
                <a16:creationId xmlns:a16="http://schemas.microsoft.com/office/drawing/2014/main" id="{C26CC816-F035-0D8C-53CB-1018763CBDC8}"/>
              </a:ext>
            </a:extLst>
          </p:cNvPr>
          <p:cNvSpPr txBox="1"/>
          <p:nvPr/>
        </p:nvSpPr>
        <p:spPr>
          <a:xfrm>
            <a:off x="4861864"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Runtime</a:t>
            </a:r>
          </a:p>
        </p:txBody>
      </p:sp>
      <p:sp>
        <p:nvSpPr>
          <p:cNvPr id="57" name="TextBox 56">
            <a:extLst>
              <a:ext uri="{FF2B5EF4-FFF2-40B4-BE49-F238E27FC236}">
                <a16:creationId xmlns:a16="http://schemas.microsoft.com/office/drawing/2014/main" id="{1F850EE8-D071-3ED8-3A16-32A5ECF1ACF9}"/>
              </a:ext>
            </a:extLst>
          </p:cNvPr>
          <p:cNvSpPr txBox="1"/>
          <p:nvPr/>
        </p:nvSpPr>
        <p:spPr>
          <a:xfrm>
            <a:off x="4861864"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valentin_agent_dev</a:t>
            </a:r>
          </a:p>
        </p:txBody>
      </p:sp>
      <p:sp>
        <p:nvSpPr>
          <p:cNvPr id="58" name="Rounded Rectangle 57">
            <a:extLst>
              <a:ext uri="{FF2B5EF4-FFF2-40B4-BE49-F238E27FC236}">
                <a16:creationId xmlns:a16="http://schemas.microsoft.com/office/drawing/2014/main" id="{76AF5DD0-0B5B-3A22-B46E-4547A45B7201}"/>
              </a:ext>
            </a:extLst>
          </p:cNvPr>
          <p:cNvSpPr/>
          <p:nvPr/>
        </p:nvSpPr>
        <p:spPr>
          <a:xfrm>
            <a:off x="8068665"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Memory icon">
            <a:extLst>
              <a:ext uri="{FF2B5EF4-FFF2-40B4-BE49-F238E27FC236}">
                <a16:creationId xmlns:a16="http://schemas.microsoft.com/office/drawing/2014/main" id="{F2F2E4D4-4460-5209-5795-E33070FEDA76}"/>
              </a:ext>
            </a:extLst>
          </p:cNvPr>
          <p:cNvPicPr>
            <a:picLocks noChangeAspect="1"/>
          </p:cNvPicPr>
          <p:nvPr/>
        </p:nvPicPr>
        <p:blipFill>
          <a:blip r:embed="rId11"/>
          <a:stretch>
            <a:fillRect/>
          </a:stretch>
        </p:blipFill>
        <p:spPr>
          <a:xfrm>
            <a:off x="8169249" y="4613843"/>
            <a:ext cx="384048" cy="384048"/>
          </a:xfrm>
          <a:prstGeom prst="rect">
            <a:avLst/>
          </a:prstGeom>
        </p:spPr>
      </p:pic>
      <p:sp>
        <p:nvSpPr>
          <p:cNvPr id="60" name="TextBox 59">
            <a:extLst>
              <a:ext uri="{FF2B5EF4-FFF2-40B4-BE49-F238E27FC236}">
                <a16:creationId xmlns:a16="http://schemas.microsoft.com/office/drawing/2014/main" id="{AC51B26E-5FBA-9C7D-4922-D5F60DE3CB03}"/>
              </a:ext>
            </a:extLst>
          </p:cNvPr>
          <p:cNvSpPr txBox="1"/>
          <p:nvPr/>
        </p:nvSpPr>
        <p:spPr>
          <a:xfrm>
            <a:off x="8653881"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Memory</a:t>
            </a:r>
          </a:p>
        </p:txBody>
      </p:sp>
      <p:sp>
        <p:nvSpPr>
          <p:cNvPr id="61" name="TextBox 60">
            <a:extLst>
              <a:ext uri="{FF2B5EF4-FFF2-40B4-BE49-F238E27FC236}">
                <a16:creationId xmlns:a16="http://schemas.microsoft.com/office/drawing/2014/main" id="{2466A223-3636-1606-0F81-F9E439F8F847}"/>
              </a:ext>
            </a:extLst>
          </p:cNvPr>
          <p:cNvSpPr txBox="1"/>
          <p:nvPr/>
        </p:nvSpPr>
        <p:spPr>
          <a:xfrm>
            <a:off x="8653881"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valentin_memory_dev</a:t>
            </a:r>
          </a:p>
        </p:txBody>
      </p:sp>
      <p:sp>
        <p:nvSpPr>
          <p:cNvPr id="62" name="Rounded Rectangle 61">
            <a:extLst>
              <a:ext uri="{FF2B5EF4-FFF2-40B4-BE49-F238E27FC236}">
                <a16:creationId xmlns:a16="http://schemas.microsoft.com/office/drawing/2014/main" id="{1ECB9BC3-16E8-B555-5FE6-E00360AE8B6B}"/>
              </a:ext>
            </a:extLst>
          </p:cNvPr>
          <p:cNvSpPr/>
          <p:nvPr/>
        </p:nvSpPr>
        <p:spPr>
          <a:xfrm>
            <a:off x="484632" y="5281355"/>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Observability icon">
            <a:extLst>
              <a:ext uri="{FF2B5EF4-FFF2-40B4-BE49-F238E27FC236}">
                <a16:creationId xmlns:a16="http://schemas.microsoft.com/office/drawing/2014/main" id="{9DD709B5-D6DC-1FFD-A4E6-56D55311892F}"/>
              </a:ext>
            </a:extLst>
          </p:cNvPr>
          <p:cNvPicPr>
            <a:picLocks noChangeAspect="1"/>
          </p:cNvPicPr>
          <p:nvPr/>
        </p:nvPicPr>
        <p:blipFill>
          <a:blip r:embed="rId11"/>
          <a:stretch>
            <a:fillRect/>
          </a:stretch>
        </p:blipFill>
        <p:spPr>
          <a:xfrm>
            <a:off x="585216" y="5400227"/>
            <a:ext cx="384048" cy="384048"/>
          </a:xfrm>
          <a:prstGeom prst="rect">
            <a:avLst/>
          </a:prstGeom>
        </p:spPr>
      </p:pic>
      <p:sp>
        <p:nvSpPr>
          <p:cNvPr id="64" name="TextBox 63">
            <a:extLst>
              <a:ext uri="{FF2B5EF4-FFF2-40B4-BE49-F238E27FC236}">
                <a16:creationId xmlns:a16="http://schemas.microsoft.com/office/drawing/2014/main" id="{7588979E-450A-7FDC-1ED6-8CBD252643E0}"/>
              </a:ext>
            </a:extLst>
          </p:cNvPr>
          <p:cNvSpPr txBox="1"/>
          <p:nvPr/>
        </p:nvSpPr>
        <p:spPr>
          <a:xfrm>
            <a:off x="1069848" y="5336219"/>
            <a:ext cx="2203704" cy="237744"/>
          </a:xfrm>
          <a:prstGeom prst="rect">
            <a:avLst/>
          </a:prstGeom>
          <a:noFill/>
        </p:spPr>
        <p:txBody>
          <a:bodyPr wrap="square" lIns="0" tIns="0" rIns="0" bIns="0" anchor="t">
            <a:spAutoFit/>
          </a:bodyPr>
          <a:lstStyle/>
          <a:p>
            <a:pPr algn="l"/>
            <a:r>
              <a:rPr sz="1500" b="1">
                <a:solidFill>
                  <a:srgbClr val="232F3E"/>
                </a:solidFill>
                <a:latin typeface="Calibri"/>
              </a:rPr>
              <a:t>Observability</a:t>
            </a:r>
          </a:p>
        </p:txBody>
      </p:sp>
      <p:sp>
        <p:nvSpPr>
          <p:cNvPr id="65" name="TextBox 64">
            <a:extLst>
              <a:ext uri="{FF2B5EF4-FFF2-40B4-BE49-F238E27FC236}">
                <a16:creationId xmlns:a16="http://schemas.microsoft.com/office/drawing/2014/main" id="{E9C8831A-74BE-4842-51CA-A5CCE8751267}"/>
              </a:ext>
            </a:extLst>
          </p:cNvPr>
          <p:cNvSpPr txBox="1"/>
          <p:nvPr/>
        </p:nvSpPr>
        <p:spPr>
          <a:xfrm>
            <a:off x="1069848" y="5592251"/>
            <a:ext cx="2043684" cy="215444"/>
          </a:xfrm>
          <a:prstGeom prst="rect">
            <a:avLst/>
          </a:prstGeom>
          <a:noFill/>
        </p:spPr>
        <p:txBody>
          <a:bodyPr wrap="square" lIns="0" tIns="0" rIns="0" bIns="0" anchor="t">
            <a:spAutoFit/>
          </a:bodyPr>
          <a:lstStyle/>
          <a:p>
            <a:pPr algn="l"/>
            <a:r>
              <a:rPr sz="1400" b="0">
                <a:solidFill>
                  <a:srgbClr val="545B64"/>
                </a:solidFill>
                <a:latin typeface="Calibri"/>
              </a:rPr>
              <a:t>session traces</a:t>
            </a:r>
          </a:p>
        </p:txBody>
      </p:sp>
      <p:sp>
        <p:nvSpPr>
          <p:cNvPr id="66" name="Rounded Rectangle 65">
            <a:extLst>
              <a:ext uri="{FF2B5EF4-FFF2-40B4-BE49-F238E27FC236}">
                <a16:creationId xmlns:a16="http://schemas.microsoft.com/office/drawing/2014/main" id="{CB77FD2C-5144-23F4-D0B1-20C619D5B63E}"/>
              </a:ext>
            </a:extLst>
          </p:cNvPr>
          <p:cNvSpPr/>
          <p:nvPr/>
        </p:nvSpPr>
        <p:spPr>
          <a:xfrm>
            <a:off x="4276648"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Gateway icon">
            <a:extLst>
              <a:ext uri="{FF2B5EF4-FFF2-40B4-BE49-F238E27FC236}">
                <a16:creationId xmlns:a16="http://schemas.microsoft.com/office/drawing/2014/main" id="{35EFC596-3463-A497-7069-36FE715DD426}"/>
              </a:ext>
            </a:extLst>
          </p:cNvPr>
          <p:cNvPicPr>
            <a:picLocks noChangeAspect="1"/>
          </p:cNvPicPr>
          <p:nvPr/>
        </p:nvPicPr>
        <p:blipFill>
          <a:blip r:embed="rId11"/>
          <a:stretch>
            <a:fillRect/>
          </a:stretch>
        </p:blipFill>
        <p:spPr>
          <a:xfrm>
            <a:off x="4377232" y="5400227"/>
            <a:ext cx="384048" cy="384048"/>
          </a:xfrm>
          <a:prstGeom prst="rect">
            <a:avLst/>
          </a:prstGeom>
        </p:spPr>
      </p:pic>
      <p:sp>
        <p:nvSpPr>
          <p:cNvPr id="68" name="TextBox 67">
            <a:extLst>
              <a:ext uri="{FF2B5EF4-FFF2-40B4-BE49-F238E27FC236}">
                <a16:creationId xmlns:a16="http://schemas.microsoft.com/office/drawing/2014/main" id="{9D4BC0DB-A450-C673-D86C-5F6206BAE170}"/>
              </a:ext>
            </a:extLst>
          </p:cNvPr>
          <p:cNvSpPr txBox="1"/>
          <p:nvPr/>
        </p:nvSpPr>
        <p:spPr>
          <a:xfrm>
            <a:off x="4861864"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Gateway</a:t>
            </a:r>
          </a:p>
        </p:txBody>
      </p:sp>
      <p:sp>
        <p:nvSpPr>
          <p:cNvPr id="69" name="TextBox 68">
            <a:extLst>
              <a:ext uri="{FF2B5EF4-FFF2-40B4-BE49-F238E27FC236}">
                <a16:creationId xmlns:a16="http://schemas.microsoft.com/office/drawing/2014/main" id="{498A4003-7463-EF0B-997F-A44545D01C3F}"/>
              </a:ext>
            </a:extLst>
          </p:cNvPr>
          <p:cNvSpPr txBox="1"/>
          <p:nvPr/>
        </p:nvSpPr>
        <p:spPr>
          <a:xfrm>
            <a:off x="4861864"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MCP · CUSTOM_JWT</a:t>
            </a:r>
          </a:p>
        </p:txBody>
      </p:sp>
      <p:sp>
        <p:nvSpPr>
          <p:cNvPr id="70" name="Rounded Rectangle 69">
            <a:extLst>
              <a:ext uri="{FF2B5EF4-FFF2-40B4-BE49-F238E27FC236}">
                <a16:creationId xmlns:a16="http://schemas.microsoft.com/office/drawing/2014/main" id="{9B04AEEA-CF18-A0B4-4C6F-CDAA571202BC}"/>
              </a:ext>
            </a:extLst>
          </p:cNvPr>
          <p:cNvSpPr/>
          <p:nvPr/>
        </p:nvSpPr>
        <p:spPr>
          <a:xfrm>
            <a:off x="8068665"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1" name="Picture 70" descr="Lambda icon">
            <a:extLst>
              <a:ext uri="{FF2B5EF4-FFF2-40B4-BE49-F238E27FC236}">
                <a16:creationId xmlns:a16="http://schemas.microsoft.com/office/drawing/2014/main" id="{AFA201F7-E1A8-E3BC-B7AB-2C06CA1D4C8B}"/>
              </a:ext>
            </a:extLst>
          </p:cNvPr>
          <p:cNvPicPr>
            <a:picLocks noChangeAspect="1"/>
          </p:cNvPicPr>
          <p:nvPr/>
        </p:nvPicPr>
        <p:blipFill>
          <a:blip r:embed="rId12"/>
          <a:stretch>
            <a:fillRect/>
          </a:stretch>
        </p:blipFill>
        <p:spPr>
          <a:xfrm>
            <a:off x="8169249" y="5400227"/>
            <a:ext cx="384048" cy="384048"/>
          </a:xfrm>
          <a:prstGeom prst="rect">
            <a:avLst/>
          </a:prstGeom>
        </p:spPr>
      </p:pic>
      <p:sp>
        <p:nvSpPr>
          <p:cNvPr id="72" name="TextBox 71">
            <a:extLst>
              <a:ext uri="{FF2B5EF4-FFF2-40B4-BE49-F238E27FC236}">
                <a16:creationId xmlns:a16="http://schemas.microsoft.com/office/drawing/2014/main" id="{82D5506C-8F17-C286-4CD2-250289104540}"/>
              </a:ext>
            </a:extLst>
          </p:cNvPr>
          <p:cNvSpPr txBox="1"/>
          <p:nvPr/>
        </p:nvSpPr>
        <p:spPr>
          <a:xfrm>
            <a:off x="8653881"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Lambda</a:t>
            </a:r>
          </a:p>
        </p:txBody>
      </p:sp>
      <p:sp>
        <p:nvSpPr>
          <p:cNvPr id="73" name="TextBox 72">
            <a:extLst>
              <a:ext uri="{FF2B5EF4-FFF2-40B4-BE49-F238E27FC236}">
                <a16:creationId xmlns:a16="http://schemas.microsoft.com/office/drawing/2014/main" id="{15846E44-8355-40AF-6E11-F8EBB73074D8}"/>
              </a:ext>
            </a:extLst>
          </p:cNvPr>
          <p:cNvSpPr txBox="1"/>
          <p:nvPr/>
        </p:nvSpPr>
        <p:spPr>
          <a:xfrm>
            <a:off x="8653881"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valentin-profile-tools-dev</a:t>
            </a:r>
          </a:p>
        </p:txBody>
      </p:sp>
      <p:cxnSp>
        <p:nvCxnSpPr>
          <p:cNvPr id="74" name="Connector 69">
            <a:extLst>
              <a:ext uri="{FF2B5EF4-FFF2-40B4-BE49-F238E27FC236}">
                <a16:creationId xmlns:a16="http://schemas.microsoft.com/office/drawing/2014/main" id="{F62525F7-403C-D95D-6093-3ABE491DFB28}"/>
              </a:ext>
            </a:extLst>
          </p:cNvPr>
          <p:cNvCxnSpPr/>
          <p:nvPr/>
        </p:nvCxnSpPr>
        <p:spPr>
          <a:xfrm>
            <a:off x="502920" y="6278051"/>
            <a:ext cx="50292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9CA7A883-53A0-138B-2C5D-4F666E7868BD}"/>
              </a:ext>
            </a:extLst>
          </p:cNvPr>
          <p:cNvSpPr txBox="1"/>
          <p:nvPr/>
        </p:nvSpPr>
        <p:spPr>
          <a:xfrm>
            <a:off x="1124712"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the request path</a:t>
            </a:r>
          </a:p>
        </p:txBody>
      </p:sp>
      <p:sp>
        <p:nvSpPr>
          <p:cNvPr id="76" name="Rounded Rectangle 75">
            <a:extLst>
              <a:ext uri="{FF2B5EF4-FFF2-40B4-BE49-F238E27FC236}">
                <a16:creationId xmlns:a16="http://schemas.microsoft.com/office/drawing/2014/main" id="{3D8F36A9-0203-C26D-D641-716B9F1BA4FF}"/>
              </a:ext>
            </a:extLst>
          </p:cNvPr>
          <p:cNvSpPr/>
          <p:nvPr/>
        </p:nvSpPr>
        <p:spPr>
          <a:xfrm>
            <a:off x="3310128" y="6159179"/>
            <a:ext cx="502920" cy="237744"/>
          </a:xfrm>
          <a:prstGeom prst="roundRect">
            <a:avLst>
              <a:gd name="adj" fmla="val 15384"/>
            </a:avLst>
          </a:prstGeom>
          <a:solidFill>
            <a:srgbClr val="F7F8FA"/>
          </a:solid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BE0B10EF-5851-3850-466C-5940922129D2}"/>
              </a:ext>
            </a:extLst>
          </p:cNvPr>
          <p:cNvSpPr txBox="1"/>
          <p:nvPr/>
        </p:nvSpPr>
        <p:spPr>
          <a:xfrm>
            <a:off x="3931920"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A · my code</a:t>
            </a:r>
          </a:p>
        </p:txBody>
      </p:sp>
      <p:sp>
        <p:nvSpPr>
          <p:cNvPr id="78" name="Rounded Rectangle 77">
            <a:extLst>
              <a:ext uri="{FF2B5EF4-FFF2-40B4-BE49-F238E27FC236}">
                <a16:creationId xmlns:a16="http://schemas.microsoft.com/office/drawing/2014/main" id="{F3B40E0D-FC87-70CF-6FD0-7818E4D58932}"/>
              </a:ext>
            </a:extLst>
          </p:cNvPr>
          <p:cNvSpPr/>
          <p:nvPr/>
        </p:nvSpPr>
        <p:spPr>
          <a:xfrm>
            <a:off x="6117336" y="6159179"/>
            <a:ext cx="502920" cy="237744"/>
          </a:xfrm>
          <a:prstGeom prst="roundRect">
            <a:avLst>
              <a:gd name="adj" fmla="val 15384"/>
            </a:avLst>
          </a:prstGeom>
          <a:solidFill>
            <a:srgbClr val="F7F8FA"/>
          </a:solid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99EE8193-42BF-C869-00BF-DC638D8639A7}"/>
              </a:ext>
            </a:extLst>
          </p:cNvPr>
          <p:cNvSpPr txBox="1"/>
          <p:nvPr/>
        </p:nvSpPr>
        <p:spPr>
          <a:xfrm>
            <a:off x="6739127"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B · AgentCore</a:t>
            </a:r>
          </a:p>
        </p:txBody>
      </p:sp>
      <p:sp>
        <p:nvSpPr>
          <p:cNvPr id="80" name="Rounded Rectangle 79">
            <a:extLst>
              <a:ext uri="{FF2B5EF4-FFF2-40B4-BE49-F238E27FC236}">
                <a16:creationId xmlns:a16="http://schemas.microsoft.com/office/drawing/2014/main" id="{71F33B3A-7ED1-3B42-2134-12E4D785D3DE}"/>
              </a:ext>
            </a:extLst>
          </p:cNvPr>
          <p:cNvSpPr/>
          <p:nvPr/>
        </p:nvSpPr>
        <p:spPr>
          <a:xfrm>
            <a:off x="8924544" y="6159179"/>
            <a:ext cx="502920" cy="237744"/>
          </a:xfrm>
          <a:prstGeom prst="roundRect">
            <a:avLst>
              <a:gd name="adj" fmla="val 15384"/>
            </a:avLst>
          </a:prstGeom>
          <a:solidFill>
            <a:srgbClr val="F7F8FA"/>
          </a:solidFill>
          <a:ln w="2222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CBD85F31-15B6-B520-891F-31404183B476}"/>
              </a:ext>
            </a:extLst>
          </p:cNvPr>
          <p:cNvSpPr txBox="1"/>
          <p:nvPr/>
        </p:nvSpPr>
        <p:spPr>
          <a:xfrm>
            <a:off x="9546336"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shared · both engines</a:t>
            </a:r>
          </a:p>
        </p:txBody>
      </p:sp>
      <p:cxnSp>
        <p:nvCxnSpPr>
          <p:cNvPr id="82" name="Connector 77">
            <a:extLst>
              <a:ext uri="{FF2B5EF4-FFF2-40B4-BE49-F238E27FC236}">
                <a16:creationId xmlns:a16="http://schemas.microsoft.com/office/drawing/2014/main" id="{86785538-F13E-1A7F-546E-C8151307D93B}"/>
              </a:ext>
            </a:extLst>
          </p:cNvPr>
          <p:cNvCxnSpPr/>
          <p:nvPr/>
        </p:nvCxnSpPr>
        <p:spPr>
          <a:xfrm>
            <a:off x="2400300" y="1898075"/>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78">
            <a:extLst>
              <a:ext uri="{FF2B5EF4-FFF2-40B4-BE49-F238E27FC236}">
                <a16:creationId xmlns:a16="http://schemas.microsoft.com/office/drawing/2014/main" id="{CB9EDD0E-DC4A-A6AA-D255-B941C4058CF5}"/>
              </a:ext>
            </a:extLst>
          </p:cNvPr>
          <p:cNvCxnSpPr/>
          <p:nvPr/>
        </p:nvCxnSpPr>
        <p:spPr>
          <a:xfrm>
            <a:off x="3486150" y="2208971"/>
            <a:ext cx="0" cy="237744"/>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79">
            <a:extLst>
              <a:ext uri="{FF2B5EF4-FFF2-40B4-BE49-F238E27FC236}">
                <a16:creationId xmlns:a16="http://schemas.microsoft.com/office/drawing/2014/main" id="{C140B896-168D-7EFD-059D-9C21EEAFCD6A}"/>
              </a:ext>
            </a:extLst>
          </p:cNvPr>
          <p:cNvCxnSpPr/>
          <p:nvPr/>
        </p:nvCxnSpPr>
        <p:spPr>
          <a:xfrm>
            <a:off x="2784348" y="2208971"/>
            <a:ext cx="0" cy="118872"/>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5" name="Connector 80">
            <a:extLst>
              <a:ext uri="{FF2B5EF4-FFF2-40B4-BE49-F238E27FC236}">
                <a16:creationId xmlns:a16="http://schemas.microsoft.com/office/drawing/2014/main" id="{2427965A-8896-6F50-2274-0AE9D1582B8B}"/>
              </a:ext>
            </a:extLst>
          </p:cNvPr>
          <p:cNvCxnSpPr/>
          <p:nvPr/>
        </p:nvCxnSpPr>
        <p:spPr>
          <a:xfrm flipH="1">
            <a:off x="1442466" y="2327843"/>
            <a:ext cx="1341882"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6" name="Connector 81">
            <a:extLst>
              <a:ext uri="{FF2B5EF4-FFF2-40B4-BE49-F238E27FC236}">
                <a16:creationId xmlns:a16="http://schemas.microsoft.com/office/drawing/2014/main" id="{666ABABF-B2B3-74C6-08BC-17CC328F2DF4}"/>
              </a:ext>
            </a:extLst>
          </p:cNvPr>
          <p:cNvCxnSpPr/>
          <p:nvPr/>
        </p:nvCxnSpPr>
        <p:spPr>
          <a:xfrm>
            <a:off x="1442466" y="2327843"/>
            <a:ext cx="0" cy="118872"/>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Connector 82">
            <a:extLst>
              <a:ext uri="{FF2B5EF4-FFF2-40B4-BE49-F238E27FC236}">
                <a16:creationId xmlns:a16="http://schemas.microsoft.com/office/drawing/2014/main" id="{BD6DEF2A-5407-4DCC-9E95-C94166B82BA2}"/>
              </a:ext>
            </a:extLst>
          </p:cNvPr>
          <p:cNvCxnSpPr/>
          <p:nvPr/>
        </p:nvCxnSpPr>
        <p:spPr>
          <a:xfrm>
            <a:off x="4443984" y="2757611"/>
            <a:ext cx="164592" cy="0"/>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8" name="Connector 83">
            <a:extLst>
              <a:ext uri="{FF2B5EF4-FFF2-40B4-BE49-F238E27FC236}">
                <a16:creationId xmlns:a16="http://schemas.microsoft.com/office/drawing/2014/main" id="{41FDCD60-154B-B076-AAAC-095789EFB9EE}"/>
              </a:ext>
            </a:extLst>
          </p:cNvPr>
          <p:cNvCxnSpPr/>
          <p:nvPr/>
        </p:nvCxnSpPr>
        <p:spPr>
          <a:xfrm flipV="1">
            <a:off x="4608576" y="1898075"/>
            <a:ext cx="0" cy="8595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9" name="Connector 84">
            <a:extLst>
              <a:ext uri="{FF2B5EF4-FFF2-40B4-BE49-F238E27FC236}">
                <a16:creationId xmlns:a16="http://schemas.microsoft.com/office/drawing/2014/main" id="{AFC48D9C-990E-3695-C8A0-396039650229}"/>
              </a:ext>
            </a:extLst>
          </p:cNvPr>
          <p:cNvCxnSpPr/>
          <p:nvPr/>
        </p:nvCxnSpPr>
        <p:spPr>
          <a:xfrm>
            <a:off x="4608576" y="1898075"/>
            <a:ext cx="164592"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5">
            <a:extLst>
              <a:ext uri="{FF2B5EF4-FFF2-40B4-BE49-F238E27FC236}">
                <a16:creationId xmlns:a16="http://schemas.microsoft.com/office/drawing/2014/main" id="{446DA898-5874-9F20-C426-3103CDE3EE4A}"/>
              </a:ext>
            </a:extLst>
          </p:cNvPr>
          <p:cNvCxnSpPr/>
          <p:nvPr/>
        </p:nvCxnSpPr>
        <p:spPr>
          <a:xfrm>
            <a:off x="3486150" y="3068507"/>
            <a:ext cx="0" cy="132588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86">
            <a:extLst>
              <a:ext uri="{FF2B5EF4-FFF2-40B4-BE49-F238E27FC236}">
                <a16:creationId xmlns:a16="http://schemas.microsoft.com/office/drawing/2014/main" id="{18FD3414-A26D-E797-C48D-0360C954EADE}"/>
              </a:ext>
            </a:extLst>
          </p:cNvPr>
          <p:cNvCxnSpPr/>
          <p:nvPr/>
        </p:nvCxnSpPr>
        <p:spPr>
          <a:xfrm>
            <a:off x="7671816" y="1806635"/>
            <a:ext cx="566928"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87">
            <a:extLst>
              <a:ext uri="{FF2B5EF4-FFF2-40B4-BE49-F238E27FC236}">
                <a16:creationId xmlns:a16="http://schemas.microsoft.com/office/drawing/2014/main" id="{6B294470-428C-CE19-FE9E-B40F1D503230}"/>
              </a:ext>
            </a:extLst>
          </p:cNvPr>
          <p:cNvCxnSpPr/>
          <p:nvPr/>
        </p:nvCxnSpPr>
        <p:spPr>
          <a:xfrm>
            <a:off x="7498080" y="2208971"/>
            <a:ext cx="0" cy="140817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3" name="Connector 88">
            <a:extLst>
              <a:ext uri="{FF2B5EF4-FFF2-40B4-BE49-F238E27FC236}">
                <a16:creationId xmlns:a16="http://schemas.microsoft.com/office/drawing/2014/main" id="{9E56131B-D3E3-BE6F-74A9-914DD4986652}"/>
              </a:ext>
            </a:extLst>
          </p:cNvPr>
          <p:cNvCxnSpPr/>
          <p:nvPr/>
        </p:nvCxnSpPr>
        <p:spPr>
          <a:xfrm>
            <a:off x="7498080" y="3617147"/>
            <a:ext cx="740664"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89">
            <a:extLst>
              <a:ext uri="{FF2B5EF4-FFF2-40B4-BE49-F238E27FC236}">
                <a16:creationId xmlns:a16="http://schemas.microsoft.com/office/drawing/2014/main" id="{A48EDD06-F84C-B7DC-09B0-5EB4BB5FFBA2}"/>
              </a:ext>
            </a:extLst>
          </p:cNvPr>
          <p:cNvCxnSpPr>
            <a:cxnSpLocks/>
          </p:cNvCxnSpPr>
          <p:nvPr/>
        </p:nvCxnSpPr>
        <p:spPr>
          <a:xfrm>
            <a:off x="3813048" y="4805867"/>
            <a:ext cx="46360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0">
            <a:extLst>
              <a:ext uri="{FF2B5EF4-FFF2-40B4-BE49-F238E27FC236}">
                <a16:creationId xmlns:a16="http://schemas.microsoft.com/office/drawing/2014/main" id="{06566D52-374B-BD7E-FA13-7C546950E907}"/>
              </a:ext>
            </a:extLst>
          </p:cNvPr>
          <p:cNvCxnSpPr/>
          <p:nvPr/>
        </p:nvCxnSpPr>
        <p:spPr>
          <a:xfrm>
            <a:off x="7940649" y="4805867"/>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1">
            <a:extLst>
              <a:ext uri="{FF2B5EF4-FFF2-40B4-BE49-F238E27FC236}">
                <a16:creationId xmlns:a16="http://schemas.microsoft.com/office/drawing/2014/main" id="{E8F9B5CF-50E4-ED38-661D-12DFC643532C}"/>
              </a:ext>
            </a:extLst>
          </p:cNvPr>
          <p:cNvCxnSpPr/>
          <p:nvPr/>
        </p:nvCxnSpPr>
        <p:spPr>
          <a:xfrm flipV="1">
            <a:off x="7882127" y="2035235"/>
            <a:ext cx="0" cy="24597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7" name="Connector 92">
            <a:extLst>
              <a:ext uri="{FF2B5EF4-FFF2-40B4-BE49-F238E27FC236}">
                <a16:creationId xmlns:a16="http://schemas.microsoft.com/office/drawing/2014/main" id="{1C5826F0-A93E-A510-7B94-C6C0AADFDE43}"/>
              </a:ext>
            </a:extLst>
          </p:cNvPr>
          <p:cNvCxnSpPr/>
          <p:nvPr/>
        </p:nvCxnSpPr>
        <p:spPr>
          <a:xfrm>
            <a:off x="7882127" y="2035235"/>
            <a:ext cx="356617"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3">
            <a:extLst>
              <a:ext uri="{FF2B5EF4-FFF2-40B4-BE49-F238E27FC236}">
                <a16:creationId xmlns:a16="http://schemas.microsoft.com/office/drawing/2014/main" id="{54D6827B-1EBC-7F1A-E7A5-E57FFCBAA6A0}"/>
              </a:ext>
            </a:extLst>
          </p:cNvPr>
          <p:cNvCxnSpPr/>
          <p:nvPr/>
        </p:nvCxnSpPr>
        <p:spPr>
          <a:xfrm>
            <a:off x="6108649" y="5116763"/>
            <a:ext cx="0" cy="164592"/>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4">
            <a:extLst>
              <a:ext uri="{FF2B5EF4-FFF2-40B4-BE49-F238E27FC236}">
                <a16:creationId xmlns:a16="http://schemas.microsoft.com/office/drawing/2014/main" id="{C9C0F088-5C66-98D7-3369-73DF5ABB48C6}"/>
              </a:ext>
            </a:extLst>
          </p:cNvPr>
          <p:cNvCxnSpPr/>
          <p:nvPr/>
        </p:nvCxnSpPr>
        <p:spPr>
          <a:xfrm>
            <a:off x="7940649" y="5592251"/>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5">
            <a:extLst>
              <a:ext uri="{FF2B5EF4-FFF2-40B4-BE49-F238E27FC236}">
                <a16:creationId xmlns:a16="http://schemas.microsoft.com/office/drawing/2014/main" id="{5D30BBD8-9F5E-1E8E-26EB-498BF07C100F}"/>
              </a:ext>
            </a:extLst>
          </p:cNvPr>
          <p:cNvCxnSpPr/>
          <p:nvPr/>
        </p:nvCxnSpPr>
        <p:spPr>
          <a:xfrm flipV="1">
            <a:off x="9900666" y="3928043"/>
            <a:ext cx="0" cy="566928"/>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Connector 96">
            <a:extLst>
              <a:ext uri="{FF2B5EF4-FFF2-40B4-BE49-F238E27FC236}">
                <a16:creationId xmlns:a16="http://schemas.microsoft.com/office/drawing/2014/main" id="{10B4B3FE-2DCA-69DF-ADCB-8CBB809EE0B8}"/>
              </a:ext>
            </a:extLst>
          </p:cNvPr>
          <p:cNvCxnSpPr/>
          <p:nvPr/>
        </p:nvCxnSpPr>
        <p:spPr>
          <a:xfrm flipH="1">
            <a:off x="4148632" y="4970458"/>
            <a:ext cx="128016"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2" name="Connector 97">
            <a:extLst>
              <a:ext uri="{FF2B5EF4-FFF2-40B4-BE49-F238E27FC236}">
                <a16:creationId xmlns:a16="http://schemas.microsoft.com/office/drawing/2014/main" id="{3E35032C-022D-262F-36EB-FFC5B6FE02F1}"/>
              </a:ext>
            </a:extLst>
          </p:cNvPr>
          <p:cNvCxnSpPr>
            <a:cxnSpLocks/>
          </p:cNvCxnSpPr>
          <p:nvPr/>
        </p:nvCxnSpPr>
        <p:spPr>
          <a:xfrm>
            <a:off x="4151569" y="4961314"/>
            <a:ext cx="0" cy="621793"/>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3" name="Connector 98">
            <a:extLst>
              <a:ext uri="{FF2B5EF4-FFF2-40B4-BE49-F238E27FC236}">
                <a16:creationId xmlns:a16="http://schemas.microsoft.com/office/drawing/2014/main" id="{D8925AD3-6CDF-8612-8117-F311166D35E9}"/>
              </a:ext>
            </a:extLst>
          </p:cNvPr>
          <p:cNvCxnSpPr/>
          <p:nvPr/>
        </p:nvCxnSpPr>
        <p:spPr>
          <a:xfrm>
            <a:off x="4148632" y="5592251"/>
            <a:ext cx="0" cy="0"/>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4819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502920" y="365760"/>
            <a:ext cx="594360" cy="594360"/>
          </a:xfrm>
          <a:prstGeom prst="rect">
            <a:avLst/>
          </a:prstGeom>
          <a:noFill/>
        </p:spPr>
        <p:txBody>
          <a:bodyPr wrap="square" lIns="0" tIns="0" rIns="0" bIns="0" anchor="ctr">
            <a:spAutoFit/>
          </a:bodyPr>
          <a:lstStyle/>
          <a:p>
            <a:pPr algn="ctr">
              <a:spcAft>
                <a:spcPts val="200"/>
              </a:spcAft>
            </a:pPr>
            <a:r>
              <a:rPr sz="1600" b="1" i="0">
                <a:solidFill>
                  <a:srgbClr val="FFFFFF"/>
                </a:solidFill>
                <a:latin typeface="Calibri"/>
              </a:rPr>
              <a:t>5</a:t>
            </a:r>
          </a:p>
        </p:txBody>
      </p:sp>
      <p:sp>
        <p:nvSpPr>
          <p:cNvPr id="4" name="TextBox 3"/>
          <p:cNvSpPr txBox="1"/>
          <p:nvPr/>
        </p:nvSpPr>
        <p:spPr>
          <a:xfrm>
            <a:off x="1280160" y="420624"/>
            <a:ext cx="10058400" cy="369332"/>
          </a:xfrm>
          <a:prstGeom prst="rect">
            <a:avLst/>
          </a:prstGeom>
          <a:noFill/>
        </p:spPr>
        <p:txBody>
          <a:bodyPr wrap="square" lIns="0" tIns="0" rIns="0" bIns="0" anchor="t">
            <a:spAutoFit/>
          </a:bodyPr>
          <a:lstStyle/>
          <a:p>
            <a:pPr algn="l">
              <a:spcAft>
                <a:spcPts val="200"/>
              </a:spcAft>
            </a:pPr>
            <a:r>
              <a:rPr lang="en-US" sz="2400" b="1" i="0" dirty="0">
                <a:solidFill>
                  <a:srgbClr val="232F3E"/>
                </a:solidFill>
                <a:latin typeface="Calibri"/>
              </a:rPr>
              <a:t>DIY vs. AgentCore</a:t>
            </a:r>
            <a:endParaRPr sz="2400" b="1" i="0" dirty="0">
              <a:solidFill>
                <a:srgbClr val="232F3E"/>
              </a:solidFill>
              <a:latin typeface="Calibri"/>
            </a:endParaRPr>
          </a:p>
        </p:txBody>
      </p:sp>
      <p:sp>
        <p:nvSpPr>
          <p:cNvPr id="5" name="Rectangle 4"/>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502920" y="1170432"/>
            <a:ext cx="11338560" cy="274320"/>
          </a:xfrm>
          <a:prstGeom prst="rect">
            <a:avLst/>
          </a:prstGeom>
          <a:noFill/>
        </p:spPr>
        <p:txBody>
          <a:bodyPr wrap="square" lIns="0" tIns="0" rIns="0" bIns="0" anchor="t">
            <a:spAutoFit/>
          </a:bodyPr>
          <a:lstStyle/>
          <a:p>
            <a:pPr algn="l">
              <a:spcAft>
                <a:spcPts val="200"/>
              </a:spcAft>
            </a:pPr>
            <a:r>
              <a:rPr sz="1100" b="0" i="0">
                <a:solidFill>
                  <a:srgbClr val="545B64"/>
                </a:solidFill>
                <a:latin typeface="Calibri"/>
              </a:rPr>
              <a:t>AWS runs the model. Everything between the user's sentence and that one Converse call is my code — and engine B is the experiment of renting most of it.</a:t>
            </a:r>
          </a:p>
        </p:txBody>
      </p:sp>
      <p:sp>
        <p:nvSpPr>
          <p:cNvPr id="7" name="TextBox 6"/>
          <p:cNvSpPr txBox="1"/>
          <p:nvPr/>
        </p:nvSpPr>
        <p:spPr>
          <a:xfrm>
            <a:off x="384048" y="1572768"/>
            <a:ext cx="2606040" cy="237744"/>
          </a:xfrm>
          <a:prstGeom prst="rect">
            <a:avLst/>
          </a:prstGeom>
          <a:noFill/>
        </p:spPr>
        <p:txBody>
          <a:bodyPr wrap="square" lIns="0" tIns="0" rIns="0" bIns="0" anchor="t">
            <a:spAutoFit/>
          </a:bodyPr>
          <a:lstStyle/>
          <a:p>
            <a:pPr algn="l">
              <a:spcAft>
                <a:spcPts val="200"/>
              </a:spcAft>
            </a:pPr>
            <a:r>
              <a:rPr sz="850" b="1" i="0">
                <a:solidFill>
                  <a:srgbClr val="545B64"/>
                </a:solidFill>
                <a:latin typeface="Calibri"/>
              </a:rPr>
              <a:t>THE AGENT'S JOB</a:t>
            </a:r>
          </a:p>
        </p:txBody>
      </p:sp>
      <p:sp>
        <p:nvSpPr>
          <p:cNvPr id="8" name="TextBox 7"/>
          <p:cNvSpPr txBox="1"/>
          <p:nvPr/>
        </p:nvSpPr>
        <p:spPr>
          <a:xfrm>
            <a:off x="3154680" y="1572768"/>
            <a:ext cx="4434840" cy="130805"/>
          </a:xfrm>
          <a:prstGeom prst="rect">
            <a:avLst/>
          </a:prstGeom>
          <a:noFill/>
        </p:spPr>
        <p:txBody>
          <a:bodyPr wrap="square" lIns="0" tIns="0" rIns="0" bIns="0" anchor="t">
            <a:spAutoFit/>
          </a:bodyPr>
          <a:lstStyle/>
          <a:p>
            <a:pPr algn="l">
              <a:spcAft>
                <a:spcPts val="200"/>
              </a:spcAft>
            </a:pPr>
            <a:r>
              <a:rPr sz="850" b="1" i="0" dirty="0">
                <a:solidFill>
                  <a:srgbClr val="FF9900"/>
                </a:solidFill>
                <a:latin typeface="Calibri"/>
              </a:rPr>
              <a:t>ENGINE A</a:t>
            </a:r>
            <a:r>
              <a:rPr lang="en-US" sz="850" b="1" i="0" dirty="0">
                <a:solidFill>
                  <a:srgbClr val="FF9900"/>
                </a:solidFill>
                <a:latin typeface="Calibri"/>
              </a:rPr>
              <a:t>- DIY</a:t>
            </a:r>
            <a:endParaRPr sz="850" b="1" i="0" dirty="0">
              <a:solidFill>
                <a:srgbClr val="FF9900"/>
              </a:solidFill>
              <a:latin typeface="Calibri"/>
            </a:endParaRPr>
          </a:p>
        </p:txBody>
      </p:sp>
      <p:sp>
        <p:nvSpPr>
          <p:cNvPr id="9" name="TextBox 8"/>
          <p:cNvSpPr txBox="1"/>
          <p:nvPr/>
        </p:nvSpPr>
        <p:spPr>
          <a:xfrm>
            <a:off x="7818120" y="1572768"/>
            <a:ext cx="4005072" cy="237744"/>
          </a:xfrm>
          <a:prstGeom prst="rect">
            <a:avLst/>
          </a:prstGeom>
          <a:noFill/>
        </p:spPr>
        <p:txBody>
          <a:bodyPr wrap="square" lIns="0" tIns="0" rIns="0" bIns="0" anchor="t">
            <a:spAutoFit/>
          </a:bodyPr>
          <a:lstStyle/>
          <a:p>
            <a:pPr algn="l">
              <a:spcAft>
                <a:spcPts val="200"/>
              </a:spcAft>
            </a:pPr>
            <a:r>
              <a:rPr sz="850" b="1" i="0">
                <a:solidFill>
                  <a:srgbClr val="1E7C3C"/>
                </a:solidFill>
                <a:latin typeface="Calibri"/>
              </a:rPr>
              <a:t>ENGINE B · AGENTCORE</a:t>
            </a:r>
          </a:p>
        </p:txBody>
      </p:sp>
      <p:sp>
        <p:nvSpPr>
          <p:cNvPr id="12" name="Rectangle 11"/>
          <p:cNvSpPr/>
          <p:nvPr/>
        </p:nvSpPr>
        <p:spPr>
          <a:xfrm>
            <a:off x="384048" y="1847088"/>
            <a:ext cx="11439144" cy="603503"/>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38912" y="1975104"/>
            <a:ext cx="2496312" cy="215444"/>
          </a:xfrm>
          <a:prstGeom prst="rect">
            <a:avLst/>
          </a:prstGeom>
          <a:noFill/>
        </p:spPr>
        <p:txBody>
          <a:bodyPr wrap="square" lIns="0" tIns="0" rIns="0" bIns="0" anchor="t">
            <a:spAutoFit/>
          </a:bodyPr>
          <a:lstStyle/>
          <a:p>
            <a:pPr algn="l">
              <a:spcAft>
                <a:spcPts val="200"/>
              </a:spcAft>
            </a:pPr>
            <a:r>
              <a:rPr sz="1400" b="1" i="0">
                <a:solidFill>
                  <a:srgbClr val="232F3E"/>
                </a:solidFill>
                <a:latin typeface="Calibri"/>
              </a:rPr>
              <a:t>The agent loop</a:t>
            </a:r>
          </a:p>
        </p:txBody>
      </p:sp>
      <p:sp>
        <p:nvSpPr>
          <p:cNvPr id="14" name="TextBox 13"/>
          <p:cNvSpPr txBox="1"/>
          <p:nvPr/>
        </p:nvSpPr>
        <p:spPr>
          <a:xfrm>
            <a:off x="3209544" y="1883664"/>
            <a:ext cx="4325112" cy="548640"/>
          </a:xfrm>
          <a:prstGeom prst="rect">
            <a:avLst/>
          </a:prstGeom>
          <a:noFill/>
        </p:spPr>
        <p:txBody>
          <a:bodyPr wrap="square" lIns="0" tIns="0" rIns="0" bIns="0" anchor="t">
            <a:spAutoFit/>
          </a:bodyPr>
          <a:lstStyle/>
          <a:p>
            <a:pPr algn="l">
              <a:spcAft>
                <a:spcPts val="100"/>
              </a:spcAft>
            </a:pPr>
            <a:r>
              <a:rPr sz="950" b="1" i="0" dirty="0">
                <a:solidFill>
                  <a:srgbClr val="16191F"/>
                </a:solidFill>
                <a:latin typeface="Calibri"/>
              </a:rPr>
              <a:t>tool-</a:t>
            </a:r>
            <a:r>
              <a:rPr sz="950" b="1" i="0" dirty="0" err="1">
                <a:solidFill>
                  <a:srgbClr val="16191F"/>
                </a:solidFill>
                <a:latin typeface="Calibri"/>
              </a:rPr>
              <a:t>loop.ts</a:t>
            </a:r>
            <a:r>
              <a:rPr sz="950" b="1" i="0" dirty="0">
                <a:solidFill>
                  <a:srgbClr val="16191F"/>
                </a:solidFill>
                <a:latin typeface="Calibri"/>
              </a:rPr>
              <a:t> — 343 lines</a:t>
            </a:r>
          </a:p>
          <a:p>
            <a:pPr algn="l">
              <a:spcAft>
                <a:spcPts val="100"/>
              </a:spcAft>
            </a:pPr>
            <a:r>
              <a:rPr sz="850" b="0" i="0" dirty="0">
                <a:solidFill>
                  <a:srgbClr val="545B64"/>
                </a:solidFill>
                <a:latin typeface="Calibri"/>
              </a:rPr>
              <a:t>call Converse, run the </a:t>
            </a:r>
            <a:r>
              <a:rPr sz="850" b="0" i="0" dirty="0" err="1">
                <a:solidFill>
                  <a:srgbClr val="545B64"/>
                </a:solidFill>
                <a:latin typeface="Calibri"/>
              </a:rPr>
              <a:t>toolUse</a:t>
            </a:r>
            <a:r>
              <a:rPr sz="850" b="0" i="0" dirty="0">
                <a:solidFill>
                  <a:srgbClr val="545B64"/>
                </a:solidFill>
                <a:latin typeface="Calibri"/>
              </a:rPr>
              <a:t> blocks, feed </a:t>
            </a:r>
            <a:r>
              <a:rPr sz="850" b="0" i="0" dirty="0" err="1">
                <a:solidFill>
                  <a:srgbClr val="545B64"/>
                </a:solidFill>
                <a:latin typeface="Calibri"/>
              </a:rPr>
              <a:t>toolResult</a:t>
            </a:r>
            <a:r>
              <a:rPr sz="850" b="0" i="0" dirty="0">
                <a:solidFill>
                  <a:srgbClr val="545B64"/>
                </a:solidFill>
                <a:latin typeface="Calibri"/>
              </a:rPr>
              <a:t> back, repeat; my own 5-iteration cap</a:t>
            </a:r>
          </a:p>
        </p:txBody>
      </p:sp>
      <p:sp>
        <p:nvSpPr>
          <p:cNvPr id="15" name="TextBox 14"/>
          <p:cNvSpPr txBox="1"/>
          <p:nvPr/>
        </p:nvSpPr>
        <p:spPr>
          <a:xfrm>
            <a:off x="7872984" y="1883664"/>
            <a:ext cx="3895344" cy="548640"/>
          </a:xfrm>
          <a:prstGeom prst="rect">
            <a:avLst/>
          </a:prstGeom>
          <a:noFill/>
        </p:spPr>
        <p:txBody>
          <a:bodyPr wrap="square" lIns="0" tIns="0" rIns="0" bIns="0" anchor="t">
            <a:spAutoFit/>
          </a:bodyPr>
          <a:lstStyle/>
          <a:p>
            <a:pPr algn="l">
              <a:spcAft>
                <a:spcPts val="100"/>
              </a:spcAft>
            </a:pPr>
            <a:r>
              <a:rPr sz="950" b="1" i="0" dirty="0">
                <a:solidFill>
                  <a:srgbClr val="16191F"/>
                </a:solidFill>
                <a:latin typeface="Calibri"/>
              </a:rPr>
              <a:t>Runtime runs the loop</a:t>
            </a:r>
          </a:p>
          <a:p>
            <a:pPr algn="l">
              <a:spcAft>
                <a:spcPts val="100"/>
              </a:spcAft>
            </a:pPr>
            <a:r>
              <a:rPr sz="850" b="0" i="0" dirty="0">
                <a:solidFill>
                  <a:srgbClr val="545B64"/>
                </a:solidFill>
                <a:latin typeface="Calibri"/>
              </a:rPr>
              <a:t>agent code inside a managed session</a:t>
            </a:r>
          </a:p>
        </p:txBody>
      </p:sp>
      <p:sp>
        <p:nvSpPr>
          <p:cNvPr id="16" name="TextBox 15"/>
          <p:cNvSpPr txBox="1"/>
          <p:nvPr/>
        </p:nvSpPr>
        <p:spPr>
          <a:xfrm>
            <a:off x="438912" y="2569464"/>
            <a:ext cx="2496312" cy="215444"/>
          </a:xfrm>
          <a:prstGeom prst="rect">
            <a:avLst/>
          </a:prstGeom>
          <a:noFill/>
        </p:spPr>
        <p:txBody>
          <a:bodyPr wrap="square" lIns="0" tIns="0" rIns="0" bIns="0" anchor="t">
            <a:spAutoFit/>
          </a:bodyPr>
          <a:lstStyle/>
          <a:p>
            <a:pPr algn="l">
              <a:spcAft>
                <a:spcPts val="200"/>
              </a:spcAft>
            </a:pPr>
            <a:r>
              <a:rPr sz="1400" b="1" i="0">
                <a:solidFill>
                  <a:srgbClr val="232F3E"/>
                </a:solidFill>
                <a:latin typeface="Calibri"/>
              </a:rPr>
              <a:t>Tool catalogue + dispatch</a:t>
            </a:r>
          </a:p>
        </p:txBody>
      </p:sp>
      <p:sp>
        <p:nvSpPr>
          <p:cNvPr id="17" name="TextBox 16"/>
          <p:cNvSpPr txBox="1"/>
          <p:nvPr/>
        </p:nvSpPr>
        <p:spPr>
          <a:xfrm>
            <a:off x="3209544" y="2478024"/>
            <a:ext cx="4325112" cy="548640"/>
          </a:xfrm>
          <a:prstGeom prst="rect">
            <a:avLst/>
          </a:prstGeom>
          <a:noFill/>
        </p:spPr>
        <p:txBody>
          <a:bodyPr wrap="square" lIns="0" tIns="0" rIns="0" bIns="0" anchor="t">
            <a:spAutoFit/>
          </a:bodyPr>
          <a:lstStyle/>
          <a:p>
            <a:pPr algn="l">
              <a:spcAft>
                <a:spcPts val="100"/>
              </a:spcAft>
            </a:pPr>
            <a:r>
              <a:rPr sz="950" b="1" i="0">
                <a:solidFill>
                  <a:srgbClr val="16191F"/>
                </a:solidFill>
                <a:latin typeface="Calibri"/>
              </a:rPr>
              <a:t>tool-registry.ts + 20 tools</a:t>
            </a:r>
          </a:p>
          <a:p>
            <a:pPr algn="l">
              <a:spcAft>
                <a:spcPts val="100"/>
              </a:spcAft>
            </a:pPr>
            <a:r>
              <a:rPr sz="850" b="0" i="0">
                <a:solidFill>
                  <a:srgbClr val="545B64"/>
                </a:solidFill>
                <a:latin typeface="Calibri"/>
              </a:rPr>
              <a:t>schemas, OAuth, per-tool error→prose, so a dead vendor costs a sentence</a:t>
            </a:r>
          </a:p>
        </p:txBody>
      </p:sp>
      <p:sp>
        <p:nvSpPr>
          <p:cNvPr id="18" name="TextBox 17"/>
          <p:cNvSpPr txBox="1"/>
          <p:nvPr/>
        </p:nvSpPr>
        <p:spPr>
          <a:xfrm>
            <a:off x="7872984" y="2478024"/>
            <a:ext cx="3895344" cy="548640"/>
          </a:xfrm>
          <a:prstGeom prst="rect">
            <a:avLst/>
          </a:prstGeom>
          <a:noFill/>
        </p:spPr>
        <p:txBody>
          <a:bodyPr wrap="square" lIns="0" tIns="0" rIns="0" bIns="0" anchor="t">
            <a:spAutoFit/>
          </a:bodyPr>
          <a:lstStyle/>
          <a:p>
            <a:pPr algn="l">
              <a:spcAft>
                <a:spcPts val="100"/>
              </a:spcAft>
            </a:pPr>
            <a:r>
              <a:rPr sz="950" b="1" i="0" dirty="0">
                <a:solidFill>
                  <a:srgbClr val="16191F"/>
                </a:solidFill>
                <a:latin typeface="Calibri"/>
              </a:rPr>
              <a:t>Gateway (MCP target)</a:t>
            </a:r>
          </a:p>
          <a:p>
            <a:pPr algn="l">
              <a:spcAft>
                <a:spcPts val="100"/>
              </a:spcAft>
            </a:pPr>
            <a:r>
              <a:rPr sz="850" b="0" i="0" dirty="0" err="1">
                <a:solidFill>
                  <a:srgbClr val="545B64"/>
                </a:solidFill>
                <a:latin typeface="Calibri"/>
              </a:rPr>
              <a:t>valentin</a:t>
            </a:r>
            <a:r>
              <a:rPr sz="850" b="0" i="0" dirty="0">
                <a:solidFill>
                  <a:srgbClr val="545B64"/>
                </a:solidFill>
                <a:latin typeface="Calibri"/>
              </a:rPr>
              <a:t>-integrations___* over CUSTOM_JWT</a:t>
            </a:r>
          </a:p>
        </p:txBody>
      </p:sp>
      <p:sp>
        <p:nvSpPr>
          <p:cNvPr id="19" name="Rectangle 18"/>
          <p:cNvSpPr/>
          <p:nvPr/>
        </p:nvSpPr>
        <p:spPr>
          <a:xfrm>
            <a:off x="384048" y="3035808"/>
            <a:ext cx="11439144" cy="603503"/>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438912" y="3163824"/>
            <a:ext cx="2496312" cy="215444"/>
          </a:xfrm>
          <a:prstGeom prst="rect">
            <a:avLst/>
          </a:prstGeom>
          <a:noFill/>
        </p:spPr>
        <p:txBody>
          <a:bodyPr wrap="square" lIns="0" tIns="0" rIns="0" bIns="0" anchor="t">
            <a:spAutoFit/>
          </a:bodyPr>
          <a:lstStyle/>
          <a:p>
            <a:pPr algn="l">
              <a:spcAft>
                <a:spcPts val="200"/>
              </a:spcAft>
            </a:pPr>
            <a:r>
              <a:rPr sz="1400" b="1" i="0">
                <a:solidFill>
                  <a:srgbClr val="232F3E"/>
                </a:solidFill>
                <a:latin typeface="Calibri"/>
              </a:rPr>
              <a:t>Long-term memory</a:t>
            </a:r>
          </a:p>
        </p:txBody>
      </p:sp>
      <p:sp>
        <p:nvSpPr>
          <p:cNvPr id="21" name="TextBox 20"/>
          <p:cNvSpPr txBox="1"/>
          <p:nvPr/>
        </p:nvSpPr>
        <p:spPr>
          <a:xfrm>
            <a:off x="3209544" y="3072384"/>
            <a:ext cx="4325112" cy="548640"/>
          </a:xfrm>
          <a:prstGeom prst="rect">
            <a:avLst/>
          </a:prstGeom>
          <a:noFill/>
        </p:spPr>
        <p:txBody>
          <a:bodyPr wrap="square" lIns="0" tIns="0" rIns="0" bIns="0" anchor="t">
            <a:spAutoFit/>
          </a:bodyPr>
          <a:lstStyle/>
          <a:p>
            <a:pPr algn="l">
              <a:spcAft>
                <a:spcPts val="100"/>
              </a:spcAft>
            </a:pPr>
            <a:r>
              <a:rPr sz="950" b="1" i="0" dirty="0">
                <a:solidFill>
                  <a:srgbClr val="16191F"/>
                </a:solidFill>
                <a:latin typeface="Calibri"/>
              </a:rPr>
              <a:t>preference-</a:t>
            </a:r>
            <a:r>
              <a:rPr sz="950" b="1" i="0" dirty="0" err="1">
                <a:solidFill>
                  <a:srgbClr val="16191F"/>
                </a:solidFill>
                <a:latin typeface="Calibri"/>
              </a:rPr>
              <a:t>extractor.ts</a:t>
            </a:r>
            <a:r>
              <a:rPr sz="950" b="1" i="0" dirty="0">
                <a:solidFill>
                  <a:srgbClr val="16191F"/>
                </a:solidFill>
                <a:latin typeface="Calibri"/>
              </a:rPr>
              <a:t> — 577 lines</a:t>
            </a:r>
          </a:p>
          <a:p>
            <a:pPr algn="l">
              <a:spcAft>
                <a:spcPts val="100"/>
              </a:spcAft>
            </a:pPr>
            <a:r>
              <a:rPr sz="850" b="0" i="0" dirty="0">
                <a:solidFill>
                  <a:srgbClr val="545B64"/>
                </a:solidFill>
                <a:latin typeface="Calibri"/>
              </a:rPr>
              <a:t>a second LLM call per turn, then my own person-identity resolution and conflict merge</a:t>
            </a:r>
          </a:p>
        </p:txBody>
      </p:sp>
      <p:sp>
        <p:nvSpPr>
          <p:cNvPr id="22" name="TextBox 21"/>
          <p:cNvSpPr txBox="1"/>
          <p:nvPr/>
        </p:nvSpPr>
        <p:spPr>
          <a:xfrm>
            <a:off x="7872984" y="3072384"/>
            <a:ext cx="3895344" cy="548640"/>
          </a:xfrm>
          <a:prstGeom prst="rect">
            <a:avLst/>
          </a:prstGeom>
          <a:noFill/>
        </p:spPr>
        <p:txBody>
          <a:bodyPr wrap="square" lIns="0" tIns="0" rIns="0" bIns="0" anchor="t">
            <a:spAutoFit/>
          </a:bodyPr>
          <a:lstStyle/>
          <a:p>
            <a:pPr algn="l">
              <a:spcAft>
                <a:spcPts val="100"/>
              </a:spcAft>
            </a:pPr>
            <a:r>
              <a:rPr sz="950" b="1" i="0" dirty="0">
                <a:solidFill>
                  <a:srgbClr val="16191F"/>
                </a:solidFill>
                <a:latin typeface="Calibri"/>
              </a:rPr>
              <a:t>Memory, managed strategy</a:t>
            </a:r>
          </a:p>
          <a:p>
            <a:pPr algn="l">
              <a:spcAft>
                <a:spcPts val="100"/>
              </a:spcAft>
            </a:pPr>
            <a:r>
              <a:rPr sz="850" b="0" i="0" dirty="0" err="1">
                <a:solidFill>
                  <a:srgbClr val="545B64"/>
                </a:solidFill>
                <a:latin typeface="Calibri"/>
              </a:rPr>
              <a:t>userPreferenceMemoryStrategy</a:t>
            </a:r>
            <a:r>
              <a:rPr sz="850" b="0" i="0" dirty="0">
                <a:solidFill>
                  <a:srgbClr val="545B64"/>
                </a:solidFill>
                <a:latin typeface="Calibri"/>
              </a:rPr>
              <a:t> extracts; I only mirror</a:t>
            </a:r>
          </a:p>
        </p:txBody>
      </p:sp>
      <p:sp>
        <p:nvSpPr>
          <p:cNvPr id="23" name="TextBox 22"/>
          <p:cNvSpPr txBox="1"/>
          <p:nvPr/>
        </p:nvSpPr>
        <p:spPr>
          <a:xfrm>
            <a:off x="438912" y="3758183"/>
            <a:ext cx="2496312" cy="215444"/>
          </a:xfrm>
          <a:prstGeom prst="rect">
            <a:avLst/>
          </a:prstGeom>
          <a:noFill/>
        </p:spPr>
        <p:txBody>
          <a:bodyPr wrap="square" lIns="0" tIns="0" rIns="0" bIns="0" anchor="t">
            <a:spAutoFit/>
          </a:bodyPr>
          <a:lstStyle/>
          <a:p>
            <a:pPr algn="l">
              <a:spcAft>
                <a:spcPts val="200"/>
              </a:spcAft>
            </a:pPr>
            <a:r>
              <a:rPr sz="1400" b="1" i="0">
                <a:solidFill>
                  <a:srgbClr val="232F3E"/>
                </a:solidFill>
                <a:latin typeface="Calibri"/>
              </a:rPr>
              <a:t>Conversation window</a:t>
            </a:r>
          </a:p>
        </p:txBody>
      </p:sp>
      <p:sp>
        <p:nvSpPr>
          <p:cNvPr id="24" name="TextBox 23"/>
          <p:cNvSpPr txBox="1"/>
          <p:nvPr/>
        </p:nvSpPr>
        <p:spPr>
          <a:xfrm>
            <a:off x="3209544" y="3666744"/>
            <a:ext cx="4325112" cy="548640"/>
          </a:xfrm>
          <a:prstGeom prst="rect">
            <a:avLst/>
          </a:prstGeom>
          <a:noFill/>
        </p:spPr>
        <p:txBody>
          <a:bodyPr wrap="square" lIns="0" tIns="0" rIns="0" bIns="0" anchor="t">
            <a:spAutoFit/>
          </a:bodyPr>
          <a:lstStyle/>
          <a:p>
            <a:pPr algn="l">
              <a:spcAft>
                <a:spcPts val="100"/>
              </a:spcAft>
            </a:pPr>
            <a:r>
              <a:rPr sz="950" b="1" i="0">
                <a:solidFill>
                  <a:srgbClr val="16191F"/>
                </a:solidFill>
                <a:latin typeface="Calibri"/>
              </a:rPr>
              <a:t>conversation-memory.ts</a:t>
            </a:r>
          </a:p>
          <a:p>
            <a:pPr algn="l">
              <a:spcAft>
                <a:spcPts val="100"/>
              </a:spcAft>
            </a:pPr>
            <a:r>
              <a:rPr sz="850" b="0" i="0">
                <a:solidFill>
                  <a:srgbClr val="545B64"/>
                </a:solidFill>
                <a:latin typeface="Calibri"/>
              </a:rPr>
              <a:t>chars÷4 token estimate, drop-oldest truncation, placeholder summary</a:t>
            </a:r>
          </a:p>
        </p:txBody>
      </p:sp>
      <p:sp>
        <p:nvSpPr>
          <p:cNvPr id="25" name="TextBox 24"/>
          <p:cNvSpPr txBox="1"/>
          <p:nvPr/>
        </p:nvSpPr>
        <p:spPr>
          <a:xfrm>
            <a:off x="7872984" y="3666744"/>
            <a:ext cx="3895344" cy="548640"/>
          </a:xfrm>
          <a:prstGeom prst="rect">
            <a:avLst/>
          </a:prstGeom>
          <a:noFill/>
        </p:spPr>
        <p:txBody>
          <a:bodyPr wrap="square" lIns="0" tIns="0" rIns="0" bIns="0" anchor="t">
            <a:spAutoFit/>
          </a:bodyPr>
          <a:lstStyle/>
          <a:p>
            <a:pPr algn="l">
              <a:spcAft>
                <a:spcPts val="100"/>
              </a:spcAft>
            </a:pPr>
            <a:r>
              <a:rPr sz="950" b="1" i="0">
                <a:solidFill>
                  <a:srgbClr val="16191F"/>
                </a:solidFill>
                <a:latin typeface="Calibri"/>
              </a:rPr>
              <a:t>deliberately still mine</a:t>
            </a:r>
          </a:p>
          <a:p>
            <a:pPr algn="l">
              <a:spcAft>
                <a:spcPts val="100"/>
              </a:spcAft>
            </a:pPr>
            <a:r>
              <a:rPr sz="850" b="0" i="0">
                <a:solidFill>
                  <a:srgbClr val="545B64"/>
                </a:solidFill>
                <a:latin typeface="Calibri"/>
              </a:rPr>
              <a:t>shared so a measured difference is AgentCore's, not the prompt's</a:t>
            </a:r>
          </a:p>
        </p:txBody>
      </p:sp>
      <p:sp>
        <p:nvSpPr>
          <p:cNvPr id="26" name="Rectangle 25"/>
          <p:cNvSpPr/>
          <p:nvPr/>
        </p:nvSpPr>
        <p:spPr>
          <a:xfrm>
            <a:off x="384048" y="4224528"/>
            <a:ext cx="11439144" cy="603503"/>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38912" y="4352544"/>
            <a:ext cx="2496312" cy="215444"/>
          </a:xfrm>
          <a:prstGeom prst="rect">
            <a:avLst/>
          </a:prstGeom>
          <a:noFill/>
        </p:spPr>
        <p:txBody>
          <a:bodyPr wrap="square" lIns="0" tIns="0" rIns="0" bIns="0" anchor="t">
            <a:spAutoFit/>
          </a:bodyPr>
          <a:lstStyle/>
          <a:p>
            <a:pPr algn="l">
              <a:spcAft>
                <a:spcPts val="200"/>
              </a:spcAft>
            </a:pPr>
            <a:r>
              <a:rPr sz="1400" b="1" i="0">
                <a:solidFill>
                  <a:srgbClr val="232F3E"/>
                </a:solidFill>
                <a:latin typeface="Calibri"/>
              </a:rPr>
              <a:t>Confirm before acting</a:t>
            </a:r>
          </a:p>
        </p:txBody>
      </p:sp>
      <p:sp>
        <p:nvSpPr>
          <p:cNvPr id="28" name="TextBox 27"/>
          <p:cNvSpPr txBox="1"/>
          <p:nvPr/>
        </p:nvSpPr>
        <p:spPr>
          <a:xfrm>
            <a:off x="3209544" y="4261104"/>
            <a:ext cx="4325112" cy="548640"/>
          </a:xfrm>
          <a:prstGeom prst="rect">
            <a:avLst/>
          </a:prstGeom>
          <a:noFill/>
        </p:spPr>
        <p:txBody>
          <a:bodyPr wrap="square" lIns="0" tIns="0" rIns="0" bIns="0" anchor="t">
            <a:spAutoFit/>
          </a:bodyPr>
          <a:lstStyle/>
          <a:p>
            <a:pPr algn="l">
              <a:spcAft>
                <a:spcPts val="100"/>
              </a:spcAft>
            </a:pPr>
            <a:r>
              <a:rPr sz="950" b="1" i="0">
                <a:solidFill>
                  <a:srgbClr val="16191F"/>
                </a:solidFill>
                <a:latin typeface="Calibri"/>
              </a:rPr>
              <a:t>6 × propose_* + pending-proposals.ts</a:t>
            </a:r>
          </a:p>
          <a:p>
            <a:pPr algn="l">
              <a:spcAft>
                <a:spcPts val="100"/>
              </a:spcAft>
            </a:pPr>
            <a:r>
              <a:rPr sz="850" b="0" i="0">
                <a:solidFill>
                  <a:srgbClr val="545B64"/>
                </a:solidFill>
                <a:latin typeface="Calibri"/>
              </a:rPr>
              <a:t>nothing reaches the outside world until a human accepts it</a:t>
            </a:r>
          </a:p>
        </p:txBody>
      </p:sp>
      <p:sp>
        <p:nvSpPr>
          <p:cNvPr id="29" name="TextBox 28"/>
          <p:cNvSpPr txBox="1"/>
          <p:nvPr/>
        </p:nvSpPr>
        <p:spPr>
          <a:xfrm>
            <a:off x="7872984" y="4261104"/>
            <a:ext cx="3895344" cy="548640"/>
          </a:xfrm>
          <a:prstGeom prst="rect">
            <a:avLst/>
          </a:prstGeom>
          <a:noFill/>
        </p:spPr>
        <p:txBody>
          <a:bodyPr wrap="square" lIns="0" tIns="0" rIns="0" bIns="0" anchor="t">
            <a:spAutoFit/>
          </a:bodyPr>
          <a:lstStyle/>
          <a:p>
            <a:pPr algn="l">
              <a:spcAft>
                <a:spcPts val="100"/>
              </a:spcAft>
            </a:pPr>
            <a:r>
              <a:rPr sz="950" b="1" i="0">
                <a:solidFill>
                  <a:srgbClr val="16191F"/>
                </a:solidFill>
                <a:latin typeface="Calibri"/>
              </a:rPr>
              <a:t>still mine</a:t>
            </a:r>
          </a:p>
          <a:p>
            <a:pPr algn="l">
              <a:spcAft>
                <a:spcPts val="100"/>
              </a:spcAft>
            </a:pPr>
            <a:r>
              <a:rPr sz="850" b="0" i="0">
                <a:solidFill>
                  <a:srgbClr val="545B64"/>
                </a:solidFill>
                <a:latin typeface="Calibri"/>
              </a:rPr>
              <a:t>not a platform feature on either side</a:t>
            </a:r>
          </a:p>
        </p:txBody>
      </p:sp>
      <p:sp>
        <p:nvSpPr>
          <p:cNvPr id="30" name="TextBox 29"/>
          <p:cNvSpPr txBox="1"/>
          <p:nvPr/>
        </p:nvSpPr>
        <p:spPr>
          <a:xfrm>
            <a:off x="438912" y="4946904"/>
            <a:ext cx="2496312" cy="215444"/>
          </a:xfrm>
          <a:prstGeom prst="rect">
            <a:avLst/>
          </a:prstGeom>
          <a:noFill/>
        </p:spPr>
        <p:txBody>
          <a:bodyPr wrap="square" lIns="0" tIns="0" rIns="0" bIns="0" anchor="t">
            <a:spAutoFit/>
          </a:bodyPr>
          <a:lstStyle/>
          <a:p>
            <a:pPr algn="l">
              <a:spcAft>
                <a:spcPts val="200"/>
              </a:spcAft>
            </a:pPr>
            <a:r>
              <a:rPr sz="1400" b="1" i="0" dirty="0">
                <a:solidFill>
                  <a:srgbClr val="232F3E"/>
                </a:solidFill>
                <a:latin typeface="Calibri"/>
              </a:rPr>
              <a:t>Traces + metrics</a:t>
            </a:r>
          </a:p>
        </p:txBody>
      </p:sp>
      <p:sp>
        <p:nvSpPr>
          <p:cNvPr id="31" name="TextBox 30"/>
          <p:cNvSpPr txBox="1"/>
          <p:nvPr/>
        </p:nvSpPr>
        <p:spPr>
          <a:xfrm>
            <a:off x="3209544" y="4855464"/>
            <a:ext cx="4325112" cy="548640"/>
          </a:xfrm>
          <a:prstGeom prst="rect">
            <a:avLst/>
          </a:prstGeom>
          <a:noFill/>
        </p:spPr>
        <p:txBody>
          <a:bodyPr wrap="square" lIns="0" tIns="0" rIns="0" bIns="0" anchor="t">
            <a:spAutoFit/>
          </a:bodyPr>
          <a:lstStyle/>
          <a:p>
            <a:pPr algn="l">
              <a:spcAft>
                <a:spcPts val="100"/>
              </a:spcAft>
            </a:pPr>
            <a:r>
              <a:rPr sz="950" b="1" i="0">
                <a:solidFill>
                  <a:srgbClr val="16191F"/>
                </a:solidFill>
                <a:latin typeface="Calibri"/>
              </a:rPr>
              <a:t>span-bridge.ts, turn-metrics.ts</a:t>
            </a:r>
          </a:p>
          <a:p>
            <a:pPr algn="l">
              <a:spcAft>
                <a:spcPts val="100"/>
              </a:spcAft>
            </a:pPr>
            <a:r>
              <a:rPr sz="850" b="0" i="0">
                <a:solidFill>
                  <a:srgbClr val="545B64"/>
                </a:solidFill>
                <a:latin typeface="Calibri"/>
              </a:rPr>
              <a:t>spans derived from my own log lines</a:t>
            </a:r>
          </a:p>
        </p:txBody>
      </p:sp>
      <p:sp>
        <p:nvSpPr>
          <p:cNvPr id="32" name="TextBox 31"/>
          <p:cNvSpPr txBox="1"/>
          <p:nvPr/>
        </p:nvSpPr>
        <p:spPr>
          <a:xfrm>
            <a:off x="7872984" y="4855464"/>
            <a:ext cx="3895344" cy="548640"/>
          </a:xfrm>
          <a:prstGeom prst="rect">
            <a:avLst/>
          </a:prstGeom>
          <a:noFill/>
        </p:spPr>
        <p:txBody>
          <a:bodyPr wrap="square" lIns="0" tIns="0" rIns="0" bIns="0" anchor="t">
            <a:spAutoFit/>
          </a:bodyPr>
          <a:lstStyle/>
          <a:p>
            <a:pPr algn="l">
              <a:spcAft>
                <a:spcPts val="100"/>
              </a:spcAft>
            </a:pPr>
            <a:r>
              <a:rPr sz="950" b="1" i="0">
                <a:solidFill>
                  <a:srgbClr val="16191F"/>
                </a:solidFill>
                <a:latin typeface="Calibri"/>
              </a:rPr>
              <a:t>Observability, session traces</a:t>
            </a:r>
          </a:p>
          <a:p>
            <a:pPr algn="l">
              <a:spcAft>
                <a:spcPts val="100"/>
              </a:spcAft>
            </a:pPr>
            <a:r>
              <a:rPr sz="850" b="0" i="0">
                <a:solidFill>
                  <a:srgbClr val="545B64"/>
                </a:solidFill>
                <a:latin typeface="Calibri"/>
              </a:rPr>
              <a:t>per-session view for free</a:t>
            </a:r>
          </a:p>
        </p:txBody>
      </p:sp>
      <p:sp>
        <p:nvSpPr>
          <p:cNvPr id="33" name="Rounded Rectangle 32"/>
          <p:cNvSpPr/>
          <p:nvPr/>
        </p:nvSpPr>
        <p:spPr>
          <a:xfrm>
            <a:off x="384048" y="5568696"/>
            <a:ext cx="11439144" cy="786384"/>
          </a:xfrm>
          <a:prstGeom prst="roundRect">
            <a:avLst>
              <a:gd name="adj" fmla="val 5000"/>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Rectangle 33"/>
          <p:cNvSpPr/>
          <p:nvPr/>
        </p:nvSpPr>
        <p:spPr>
          <a:xfrm>
            <a:off x="384048" y="5568696"/>
            <a:ext cx="45720" cy="786384"/>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66928" y="5669280"/>
            <a:ext cx="11109960" cy="146194"/>
          </a:xfrm>
          <a:prstGeom prst="rect">
            <a:avLst/>
          </a:prstGeom>
          <a:noFill/>
        </p:spPr>
        <p:txBody>
          <a:bodyPr wrap="square" lIns="0" tIns="0" rIns="0" bIns="0" anchor="t">
            <a:spAutoFit/>
          </a:bodyPr>
          <a:lstStyle/>
          <a:p>
            <a:pPr algn="l">
              <a:spcAft>
                <a:spcPts val="200"/>
              </a:spcAft>
            </a:pPr>
            <a:r>
              <a:rPr sz="950" b="1" i="0" dirty="0">
                <a:solidFill>
                  <a:srgbClr val="232F3E"/>
                </a:solidFill>
                <a:latin typeface="Calibri"/>
              </a:rPr>
              <a:t>Why DynamoDB is share</a:t>
            </a:r>
            <a:r>
              <a:rPr lang="en-US" sz="950" b="1" i="0" dirty="0">
                <a:solidFill>
                  <a:srgbClr val="232F3E"/>
                </a:solidFill>
                <a:latin typeface="Calibri"/>
              </a:rPr>
              <a:t>d?</a:t>
            </a:r>
            <a:endParaRPr sz="950" b="1" i="0" dirty="0">
              <a:solidFill>
                <a:srgbClr val="232F3E"/>
              </a:solidFill>
              <a:latin typeface="Calibri"/>
            </a:endParaRPr>
          </a:p>
        </p:txBody>
      </p:sp>
      <p:sp>
        <p:nvSpPr>
          <p:cNvPr id="36" name="TextBox 35"/>
          <p:cNvSpPr txBox="1"/>
          <p:nvPr/>
        </p:nvSpPr>
        <p:spPr>
          <a:xfrm>
            <a:off x="566928" y="5897880"/>
            <a:ext cx="11109960" cy="402336"/>
          </a:xfrm>
          <a:prstGeom prst="rect">
            <a:avLst/>
          </a:prstGeom>
          <a:noFill/>
        </p:spPr>
        <p:txBody>
          <a:bodyPr wrap="square" lIns="0" tIns="0" rIns="0" bIns="0" anchor="t">
            <a:spAutoFit/>
          </a:bodyPr>
          <a:lstStyle/>
          <a:p>
            <a:pPr algn="l">
              <a:spcAft>
                <a:spcPts val="0"/>
              </a:spcAft>
            </a:pPr>
            <a:r>
              <a:rPr sz="850" b="0" i="0">
                <a:solidFill>
                  <a:srgbClr val="545B64"/>
                </a:solidFill>
                <a:latin typeface="Calibri"/>
              </a:rPr>
              <a:t>DynamoDB is the product's system of record — transcript, the partner dossier, outings, reminders, credentials — so both engines write it and one UI reads one source. AgentCore Memory is engine B only, and holds just the preference records its managed strategy extracted; engine B mirrors them back into DynamoDB. Nothing is stored twice on purpose: Memory replaces my extractor, not my table.</a:t>
            </a:r>
          </a:p>
        </p:txBody>
      </p:sp>
      <p:sp>
        <p:nvSpPr>
          <p:cNvPr id="37" name="TextBox 36"/>
          <p:cNvSpPr txBox="1"/>
          <p:nvPr/>
        </p:nvSpPr>
        <p:spPr>
          <a:xfrm>
            <a:off x="502920" y="6492240"/>
            <a:ext cx="8229600" cy="347472"/>
          </a:xfrm>
          <a:prstGeom prst="rect">
            <a:avLst/>
          </a:prstGeom>
          <a:noFill/>
        </p:spPr>
        <p:txBody>
          <a:bodyPr wrap="square" lIns="0" tIns="0" rIns="0" bIns="0" anchor="t">
            <a:spAutoFit/>
          </a:bodyPr>
          <a:lstStyle/>
          <a:p>
            <a:pPr algn="l">
              <a:spcAft>
                <a:spcPts val="200"/>
              </a:spcAft>
            </a:pPr>
            <a:r>
              <a:rPr sz="850" b="0" i="0">
                <a:solidFill>
                  <a:srgbClr val="545B64"/>
                </a:solidFill>
                <a:latin typeface="Calibri"/>
              </a:rPr>
              <a:t>VALENTIN   ·   GenAI TFC Capstone Deep-Dive</a:t>
            </a:r>
          </a:p>
        </p:txBody>
      </p:sp>
      <p:sp>
        <p:nvSpPr>
          <p:cNvPr id="10" name="Rounded Rectangle 9"/>
          <p:cNvSpPr/>
          <p:nvPr/>
        </p:nvSpPr>
        <p:spPr>
          <a:xfrm>
            <a:off x="3081528" y="1810512"/>
            <a:ext cx="4581144" cy="3666744"/>
          </a:xfrm>
          <a:prstGeom prst="roundRect">
            <a:avLst>
              <a:gd name="adj" fmla="val 4000"/>
            </a:avLst>
          </a:prstGeom>
          <a:noFill/>
          <a:ln w="12700">
            <a:solidFill>
              <a:srgbClr val="FF99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ounded Rectangle 10"/>
          <p:cNvSpPr/>
          <p:nvPr/>
        </p:nvSpPr>
        <p:spPr>
          <a:xfrm>
            <a:off x="7744968" y="1810512"/>
            <a:ext cx="4151376" cy="3666744"/>
          </a:xfrm>
          <a:prstGeom prst="roundRect">
            <a:avLst>
              <a:gd name="adj" fmla="val 4000"/>
            </a:avLst>
          </a:prstGeom>
          <a:noFill/>
          <a:ln w="12700">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3"/>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3"/>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B41C5-56F3-08D7-5164-11DCA311F854}"/>
            </a:ext>
          </a:extLst>
        </p:cNvPr>
        <p:cNvGrpSpPr/>
        <p:nvPr/>
      </p:nvGrpSpPr>
      <p:grpSpPr>
        <a:xfrm>
          <a:off x="0" y="0"/>
          <a:ext cx="0" cy="0"/>
          <a:chOff x="0" y="0"/>
          <a:chExt cx="0" cy="0"/>
        </a:xfrm>
      </p:grpSpPr>
      <p:sp>
        <p:nvSpPr>
          <p:cNvPr id="11" name="Oval 10">
            <a:extLst>
              <a:ext uri="{FF2B5EF4-FFF2-40B4-BE49-F238E27FC236}">
                <a16:creationId xmlns:a16="http://schemas.microsoft.com/office/drawing/2014/main" id="{D0EAAB6E-7019-074A-E527-767E18ECCAB9}"/>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C1D4D71-BC6B-A0BD-4E96-7693B5E06560}"/>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13" name="TextBox 12">
            <a:extLst>
              <a:ext uri="{FF2B5EF4-FFF2-40B4-BE49-F238E27FC236}">
                <a16:creationId xmlns:a16="http://schemas.microsoft.com/office/drawing/2014/main" id="{4B67862B-02A3-34C7-5AC6-AF618DB16E05}"/>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 One User, One Month - Assumptions</a:t>
            </a:r>
            <a:endParaRPr sz="3000" b="1" i="0" dirty="0">
              <a:solidFill>
                <a:srgbClr val="232F3E"/>
              </a:solidFill>
              <a:highlight>
                <a:srgbClr val="FFFF00"/>
              </a:highlight>
              <a:latin typeface="Calibri"/>
            </a:endParaRPr>
          </a:p>
        </p:txBody>
      </p:sp>
      <p:sp>
        <p:nvSpPr>
          <p:cNvPr id="14" name="Rectangle 13">
            <a:extLst>
              <a:ext uri="{FF2B5EF4-FFF2-40B4-BE49-F238E27FC236}">
                <a16:creationId xmlns:a16="http://schemas.microsoft.com/office/drawing/2014/main" id="{1333B661-D9CD-F571-0AA7-940F13E6E7CB}"/>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6C181CDD-CD6A-245A-2E2C-2C2CAEAF267D}"/>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17" name="TextBox 16">
            <a:extLst>
              <a:ext uri="{FF2B5EF4-FFF2-40B4-BE49-F238E27FC236}">
                <a16:creationId xmlns:a16="http://schemas.microsoft.com/office/drawing/2014/main" id="{835222F3-2770-4263-0CE0-F773FF1A11FD}"/>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18" name="Rectangle 17">
            <a:extLst>
              <a:ext uri="{FF2B5EF4-FFF2-40B4-BE49-F238E27FC236}">
                <a16:creationId xmlns:a16="http://schemas.microsoft.com/office/drawing/2014/main" id="{D339752E-CDDD-9C4F-A3C1-DCB0680986B9}"/>
              </a:ext>
            </a:extLst>
          </p:cNvPr>
          <p:cNvSpPr/>
          <p:nvPr/>
        </p:nvSpPr>
        <p:spPr>
          <a:xfrm>
            <a:off x="566928" y="1719072"/>
            <a:ext cx="3578047" cy="106070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9F49F438-9F69-4C5F-D02F-C6897F75E7BD}"/>
              </a:ext>
            </a:extLst>
          </p:cNvPr>
          <p:cNvSpPr/>
          <p:nvPr/>
        </p:nvSpPr>
        <p:spPr>
          <a:xfrm>
            <a:off x="566928" y="1719072"/>
            <a:ext cx="3578047"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157A9D69-CE4C-ECD0-B6EA-BCA61FCF8712}"/>
              </a:ext>
            </a:extLst>
          </p:cNvPr>
          <p:cNvSpPr txBox="1"/>
          <p:nvPr/>
        </p:nvSpPr>
        <p:spPr>
          <a:xfrm>
            <a:off x="731520" y="1828800"/>
            <a:ext cx="3248863" cy="215444"/>
          </a:xfrm>
          <a:prstGeom prst="rect">
            <a:avLst/>
          </a:prstGeom>
          <a:noFill/>
        </p:spPr>
        <p:txBody>
          <a:bodyPr wrap="square" lIns="0" tIns="0" rIns="0" bIns="0" anchor="t">
            <a:spAutoFit/>
          </a:bodyPr>
          <a:lstStyle/>
          <a:p>
            <a:pPr algn="l">
              <a:spcAft>
                <a:spcPts val="200"/>
              </a:spcAft>
            </a:pPr>
            <a:r>
              <a:rPr sz="1400" b="1" dirty="0">
                <a:solidFill>
                  <a:srgbClr val="545B64"/>
                </a:solidFill>
                <a:latin typeface="Calibri"/>
              </a:rPr>
              <a:t>THE MODEL  </a:t>
            </a:r>
          </a:p>
        </p:txBody>
      </p:sp>
      <p:sp>
        <p:nvSpPr>
          <p:cNvPr id="21" name="TextBox 20">
            <a:extLst>
              <a:ext uri="{FF2B5EF4-FFF2-40B4-BE49-F238E27FC236}">
                <a16:creationId xmlns:a16="http://schemas.microsoft.com/office/drawing/2014/main" id="{D449C727-42C2-9BA6-648C-91D719CF663F}"/>
              </a:ext>
            </a:extLst>
          </p:cNvPr>
          <p:cNvSpPr txBox="1"/>
          <p:nvPr/>
        </p:nvSpPr>
        <p:spPr>
          <a:xfrm>
            <a:off x="731520" y="2011680"/>
            <a:ext cx="3248863" cy="420624"/>
          </a:xfrm>
          <a:prstGeom prst="rect">
            <a:avLst/>
          </a:prstGeom>
          <a:noFill/>
        </p:spPr>
        <p:txBody>
          <a:bodyPr wrap="square" lIns="0" tIns="0" rIns="0" bIns="0" anchor="t">
            <a:spAutoFit/>
          </a:bodyPr>
          <a:lstStyle/>
          <a:p>
            <a:pPr algn="l">
              <a:spcAft>
                <a:spcPts val="200"/>
              </a:spcAft>
            </a:pPr>
            <a:r>
              <a:rPr sz="2800" b="1">
                <a:solidFill>
                  <a:srgbClr val="232F3E"/>
                </a:solidFill>
                <a:latin typeface="Calibri"/>
              </a:rPr>
              <a:t>Sonnet 4.5</a:t>
            </a:r>
          </a:p>
        </p:txBody>
      </p:sp>
      <p:sp>
        <p:nvSpPr>
          <p:cNvPr id="22" name="TextBox 21">
            <a:extLst>
              <a:ext uri="{FF2B5EF4-FFF2-40B4-BE49-F238E27FC236}">
                <a16:creationId xmlns:a16="http://schemas.microsoft.com/office/drawing/2014/main" id="{3F476A36-3814-D15A-F693-112C0D7BA990}"/>
              </a:ext>
            </a:extLst>
          </p:cNvPr>
          <p:cNvSpPr txBox="1"/>
          <p:nvPr/>
        </p:nvSpPr>
        <p:spPr>
          <a:xfrm>
            <a:off x="731520" y="2468880"/>
            <a:ext cx="3248863" cy="274320"/>
          </a:xfrm>
          <a:prstGeom prst="rect">
            <a:avLst/>
          </a:prstGeom>
          <a:noFill/>
        </p:spPr>
        <p:txBody>
          <a:bodyPr wrap="square" lIns="0" tIns="0" rIns="0" bIns="0" anchor="t">
            <a:spAutoFit/>
          </a:bodyPr>
          <a:lstStyle/>
          <a:p>
            <a:pPr algn="l">
              <a:spcAft>
                <a:spcPts val="200"/>
              </a:spcAft>
            </a:pPr>
            <a:r>
              <a:rPr sz="950" b="0">
                <a:solidFill>
                  <a:srgbClr val="16191F"/>
                </a:solidFill>
                <a:latin typeface="Calibri"/>
              </a:rPr>
              <a:t>Same model, same prompt, same reply cap on both engines.</a:t>
            </a:r>
          </a:p>
        </p:txBody>
      </p:sp>
      <p:sp>
        <p:nvSpPr>
          <p:cNvPr id="23" name="Rectangle 22">
            <a:extLst>
              <a:ext uri="{FF2B5EF4-FFF2-40B4-BE49-F238E27FC236}">
                <a16:creationId xmlns:a16="http://schemas.microsoft.com/office/drawing/2014/main" id="{F9B95D75-4661-7CBB-B07D-81D9CF6E96B5}"/>
              </a:ext>
            </a:extLst>
          </p:cNvPr>
          <p:cNvSpPr/>
          <p:nvPr/>
        </p:nvSpPr>
        <p:spPr>
          <a:xfrm>
            <a:off x="4327855" y="1719072"/>
            <a:ext cx="3578047" cy="106070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a:extLst>
              <a:ext uri="{FF2B5EF4-FFF2-40B4-BE49-F238E27FC236}">
                <a16:creationId xmlns:a16="http://schemas.microsoft.com/office/drawing/2014/main" id="{CFB687A2-5603-1B3A-3E0B-C358105DC279}"/>
              </a:ext>
            </a:extLst>
          </p:cNvPr>
          <p:cNvSpPr/>
          <p:nvPr/>
        </p:nvSpPr>
        <p:spPr>
          <a:xfrm>
            <a:off x="4327855" y="1719072"/>
            <a:ext cx="3578047"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03919953-54C0-52C6-D20E-C04BABA0F19B}"/>
              </a:ext>
            </a:extLst>
          </p:cNvPr>
          <p:cNvSpPr txBox="1"/>
          <p:nvPr/>
        </p:nvSpPr>
        <p:spPr>
          <a:xfrm>
            <a:off x="4492447" y="1828800"/>
            <a:ext cx="3248863" cy="215444"/>
          </a:xfrm>
          <a:prstGeom prst="rect">
            <a:avLst/>
          </a:prstGeom>
          <a:noFill/>
        </p:spPr>
        <p:txBody>
          <a:bodyPr wrap="square" lIns="0" tIns="0" rIns="0" bIns="0" anchor="t">
            <a:spAutoFit/>
          </a:bodyPr>
          <a:lstStyle/>
          <a:p>
            <a:pPr algn="l">
              <a:spcAft>
                <a:spcPts val="200"/>
              </a:spcAft>
            </a:pPr>
            <a:r>
              <a:rPr sz="1400" b="1" dirty="0">
                <a:solidFill>
                  <a:srgbClr val="545B64"/>
                </a:solidFill>
                <a:latin typeface="Calibri"/>
              </a:rPr>
              <a:t>TOKENS </a:t>
            </a:r>
            <a:r>
              <a:rPr lang="en-US" sz="1400" b="1" dirty="0">
                <a:solidFill>
                  <a:srgbClr val="545B64"/>
                </a:solidFill>
                <a:latin typeface="Calibri"/>
              </a:rPr>
              <a:t>PER </a:t>
            </a:r>
            <a:r>
              <a:rPr sz="1400" b="1" dirty="0">
                <a:solidFill>
                  <a:srgbClr val="545B64"/>
                </a:solidFill>
                <a:latin typeface="Calibri"/>
              </a:rPr>
              <a:t>TURN</a:t>
            </a:r>
          </a:p>
        </p:txBody>
      </p:sp>
      <p:sp>
        <p:nvSpPr>
          <p:cNvPr id="26" name="TextBox 25">
            <a:extLst>
              <a:ext uri="{FF2B5EF4-FFF2-40B4-BE49-F238E27FC236}">
                <a16:creationId xmlns:a16="http://schemas.microsoft.com/office/drawing/2014/main" id="{A49B4734-68DB-F936-E3AE-BF51204E5F6B}"/>
              </a:ext>
            </a:extLst>
          </p:cNvPr>
          <p:cNvSpPr txBox="1"/>
          <p:nvPr/>
        </p:nvSpPr>
        <p:spPr>
          <a:xfrm>
            <a:off x="4492447" y="2011680"/>
            <a:ext cx="3248863" cy="430887"/>
          </a:xfrm>
          <a:prstGeom prst="rect">
            <a:avLst/>
          </a:prstGeom>
          <a:noFill/>
        </p:spPr>
        <p:txBody>
          <a:bodyPr wrap="square" lIns="0" tIns="0" rIns="0" bIns="0" anchor="t">
            <a:spAutoFit/>
          </a:bodyPr>
          <a:lstStyle/>
          <a:p>
            <a:pPr algn="l">
              <a:spcAft>
                <a:spcPts val="200"/>
              </a:spcAft>
            </a:pPr>
            <a:r>
              <a:rPr sz="2800" b="1" dirty="0">
                <a:solidFill>
                  <a:srgbClr val="232F3E"/>
                </a:solidFill>
                <a:latin typeface="Calibri"/>
              </a:rPr>
              <a:t>~</a:t>
            </a:r>
            <a:r>
              <a:rPr lang="en-US" sz="2800" b="1" dirty="0">
                <a:solidFill>
                  <a:srgbClr val="232F3E"/>
                </a:solidFill>
                <a:latin typeface="Calibri"/>
              </a:rPr>
              <a:t>8,100</a:t>
            </a:r>
            <a:endParaRPr sz="2800" b="1" dirty="0">
              <a:solidFill>
                <a:srgbClr val="232F3E"/>
              </a:solidFill>
              <a:latin typeface="Calibri"/>
            </a:endParaRPr>
          </a:p>
        </p:txBody>
      </p:sp>
      <p:sp>
        <p:nvSpPr>
          <p:cNvPr id="27" name="TextBox 26">
            <a:extLst>
              <a:ext uri="{FF2B5EF4-FFF2-40B4-BE49-F238E27FC236}">
                <a16:creationId xmlns:a16="http://schemas.microsoft.com/office/drawing/2014/main" id="{266598B5-81B9-8ECF-91E0-0B61F398B3FF}"/>
              </a:ext>
            </a:extLst>
          </p:cNvPr>
          <p:cNvSpPr txBox="1"/>
          <p:nvPr/>
        </p:nvSpPr>
        <p:spPr>
          <a:xfrm>
            <a:off x="4492447" y="2468880"/>
            <a:ext cx="3248863" cy="146194"/>
          </a:xfrm>
          <a:prstGeom prst="rect">
            <a:avLst/>
          </a:prstGeom>
          <a:noFill/>
        </p:spPr>
        <p:txBody>
          <a:bodyPr wrap="square" lIns="0" tIns="0" rIns="0" bIns="0" anchor="t">
            <a:spAutoFit/>
          </a:bodyPr>
          <a:lstStyle/>
          <a:p>
            <a:pPr algn="l">
              <a:spcAft>
                <a:spcPts val="200"/>
              </a:spcAft>
            </a:pPr>
            <a:r>
              <a:rPr sz="950" b="0" dirty="0">
                <a:solidFill>
                  <a:srgbClr val="16191F"/>
                </a:solidFill>
                <a:latin typeface="Calibri"/>
              </a:rPr>
              <a:t>1,667 system prompt  +  6,200 tool schemas  +  </a:t>
            </a:r>
            <a:r>
              <a:rPr sz="950" b="0" dirty="0">
                <a:solidFill>
                  <a:srgbClr val="16191F"/>
                </a:solidFill>
                <a:highlight>
                  <a:srgbClr val="FFFF00"/>
                </a:highlight>
                <a:latin typeface="Calibri"/>
              </a:rPr>
              <a:t>1,260 history.</a:t>
            </a:r>
          </a:p>
        </p:txBody>
      </p:sp>
      <p:sp>
        <p:nvSpPr>
          <p:cNvPr id="28" name="Rectangle 27">
            <a:extLst>
              <a:ext uri="{FF2B5EF4-FFF2-40B4-BE49-F238E27FC236}">
                <a16:creationId xmlns:a16="http://schemas.microsoft.com/office/drawing/2014/main" id="{3505A531-A615-4D00-A9DA-3F1C8038F7B8}"/>
              </a:ext>
            </a:extLst>
          </p:cNvPr>
          <p:cNvSpPr/>
          <p:nvPr/>
        </p:nvSpPr>
        <p:spPr>
          <a:xfrm>
            <a:off x="8088782" y="1719072"/>
            <a:ext cx="3578047" cy="1060704"/>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a:extLst>
              <a:ext uri="{FF2B5EF4-FFF2-40B4-BE49-F238E27FC236}">
                <a16:creationId xmlns:a16="http://schemas.microsoft.com/office/drawing/2014/main" id="{AF19692B-0E44-941A-84DE-1E6831281BD5}"/>
              </a:ext>
            </a:extLst>
          </p:cNvPr>
          <p:cNvSpPr/>
          <p:nvPr/>
        </p:nvSpPr>
        <p:spPr>
          <a:xfrm>
            <a:off x="8088782" y="1719072"/>
            <a:ext cx="3578047" cy="4572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D74E3484-1F8A-4ADB-42CA-E7FC514783FF}"/>
              </a:ext>
            </a:extLst>
          </p:cNvPr>
          <p:cNvSpPr txBox="1"/>
          <p:nvPr/>
        </p:nvSpPr>
        <p:spPr>
          <a:xfrm>
            <a:off x="8253374" y="1828800"/>
            <a:ext cx="3248863" cy="215444"/>
          </a:xfrm>
          <a:prstGeom prst="rect">
            <a:avLst/>
          </a:prstGeom>
          <a:noFill/>
        </p:spPr>
        <p:txBody>
          <a:bodyPr wrap="square" lIns="0" tIns="0" rIns="0" bIns="0" anchor="t">
            <a:spAutoFit/>
          </a:bodyPr>
          <a:lstStyle/>
          <a:p>
            <a:pPr algn="l">
              <a:spcAft>
                <a:spcPts val="200"/>
              </a:spcAft>
            </a:pPr>
            <a:r>
              <a:rPr lang="en-US" sz="1400" b="1" dirty="0">
                <a:solidFill>
                  <a:srgbClr val="545B64"/>
                </a:solidFill>
                <a:latin typeface="Calibri"/>
              </a:rPr>
              <a:t>External APIs</a:t>
            </a:r>
            <a:endParaRPr sz="1400" b="1" dirty="0">
              <a:solidFill>
                <a:srgbClr val="545B64"/>
              </a:solidFill>
              <a:latin typeface="Calibri"/>
            </a:endParaRPr>
          </a:p>
        </p:txBody>
      </p:sp>
      <p:sp>
        <p:nvSpPr>
          <p:cNvPr id="31" name="TextBox 30">
            <a:extLst>
              <a:ext uri="{FF2B5EF4-FFF2-40B4-BE49-F238E27FC236}">
                <a16:creationId xmlns:a16="http://schemas.microsoft.com/office/drawing/2014/main" id="{DE79FB9D-9F83-7833-E985-D7D2D1A9C004}"/>
              </a:ext>
            </a:extLst>
          </p:cNvPr>
          <p:cNvSpPr txBox="1"/>
          <p:nvPr/>
        </p:nvSpPr>
        <p:spPr>
          <a:xfrm>
            <a:off x="8253374" y="2011680"/>
            <a:ext cx="3248863" cy="430887"/>
          </a:xfrm>
          <a:prstGeom prst="rect">
            <a:avLst/>
          </a:prstGeom>
          <a:noFill/>
        </p:spPr>
        <p:txBody>
          <a:bodyPr wrap="square" lIns="0" tIns="0" rIns="0" bIns="0" anchor="t">
            <a:spAutoFit/>
          </a:bodyPr>
          <a:lstStyle/>
          <a:p>
            <a:pPr algn="l">
              <a:spcAft>
                <a:spcPts val="200"/>
              </a:spcAft>
            </a:pPr>
            <a:r>
              <a:rPr lang="en-US" sz="2800" b="1" dirty="0">
                <a:solidFill>
                  <a:srgbClr val="232F3E"/>
                </a:solidFill>
                <a:latin typeface="Calibri"/>
              </a:rPr>
              <a:t>6</a:t>
            </a:r>
            <a:endParaRPr sz="2800" b="1" dirty="0">
              <a:solidFill>
                <a:srgbClr val="232F3E"/>
              </a:solidFill>
              <a:latin typeface="Calibri"/>
            </a:endParaRPr>
          </a:p>
        </p:txBody>
      </p:sp>
      <p:sp>
        <p:nvSpPr>
          <p:cNvPr id="32" name="TextBox 31">
            <a:extLst>
              <a:ext uri="{FF2B5EF4-FFF2-40B4-BE49-F238E27FC236}">
                <a16:creationId xmlns:a16="http://schemas.microsoft.com/office/drawing/2014/main" id="{0BCDF09B-EA29-AEAF-1994-B6972696DBC4}"/>
              </a:ext>
            </a:extLst>
          </p:cNvPr>
          <p:cNvSpPr txBox="1"/>
          <p:nvPr/>
        </p:nvSpPr>
        <p:spPr>
          <a:xfrm>
            <a:off x="8253374" y="2468880"/>
            <a:ext cx="3248863" cy="146194"/>
          </a:xfrm>
          <a:prstGeom prst="rect">
            <a:avLst/>
          </a:prstGeom>
          <a:noFill/>
        </p:spPr>
        <p:txBody>
          <a:bodyPr wrap="square" lIns="0" tIns="0" rIns="0" bIns="0" anchor="t">
            <a:spAutoFit/>
          </a:bodyPr>
          <a:lstStyle/>
          <a:p>
            <a:pPr algn="l">
              <a:spcAft>
                <a:spcPts val="200"/>
              </a:spcAft>
            </a:pPr>
            <a:r>
              <a:rPr lang="en-US" sz="950" b="0" dirty="0">
                <a:solidFill>
                  <a:srgbClr val="16191F"/>
                </a:solidFill>
                <a:latin typeface="Calibri"/>
              </a:rPr>
              <a:t>Gmail, Wolt, Spotify, Hebrew Calander, Google Places, Ontopo</a:t>
            </a:r>
            <a:endParaRPr sz="950" b="0" dirty="0">
              <a:solidFill>
                <a:srgbClr val="16191F"/>
              </a:solidFill>
              <a:latin typeface="Calibri"/>
            </a:endParaRPr>
          </a:p>
        </p:txBody>
      </p:sp>
      <p:sp>
        <p:nvSpPr>
          <p:cNvPr id="33" name="Rounded Rectangle 32">
            <a:extLst>
              <a:ext uri="{FF2B5EF4-FFF2-40B4-BE49-F238E27FC236}">
                <a16:creationId xmlns:a16="http://schemas.microsoft.com/office/drawing/2014/main" id="{9EAEE2E7-641C-1849-8CB7-57759E0A3853}"/>
              </a:ext>
            </a:extLst>
          </p:cNvPr>
          <p:cNvSpPr/>
          <p:nvPr/>
        </p:nvSpPr>
        <p:spPr>
          <a:xfrm>
            <a:off x="566928" y="2907792"/>
            <a:ext cx="11064240" cy="603504"/>
          </a:xfrm>
          <a:prstGeom prst="roundRect">
            <a:avLst>
              <a:gd name="adj" fmla="val 16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58F9DB7B-7871-B032-8E40-50D1E48B7374}"/>
              </a:ext>
            </a:extLst>
          </p:cNvPr>
          <p:cNvSpPr txBox="1"/>
          <p:nvPr/>
        </p:nvSpPr>
        <p:spPr>
          <a:xfrm>
            <a:off x="749808" y="2962656"/>
            <a:ext cx="10698480" cy="512064"/>
          </a:xfrm>
          <a:prstGeom prst="rect">
            <a:avLst/>
          </a:prstGeom>
          <a:noFill/>
        </p:spPr>
        <p:txBody>
          <a:bodyPr wrap="square" lIns="0" tIns="0" rIns="0" bIns="0" anchor="t">
            <a:spAutoFit/>
          </a:bodyPr>
          <a:lstStyle/>
          <a:p>
            <a:pPr algn="ctr">
              <a:spcAft>
                <a:spcPts val="100"/>
              </a:spcAft>
            </a:pPr>
            <a:r>
              <a:rPr sz="950" b="1">
                <a:solidFill>
                  <a:srgbClr val="232F3E"/>
                </a:solidFill>
                <a:latin typeface="Calibri"/>
              </a:rPr>
              <a:t>ASSUMPTION OF USE</a:t>
            </a:r>
          </a:p>
          <a:p>
            <a:pPr algn="ctr">
              <a:spcAft>
                <a:spcPts val="200"/>
              </a:spcAft>
            </a:pPr>
            <a:r>
              <a:rPr sz="1600" b="1">
                <a:solidFill>
                  <a:srgbClr val="232F3E"/>
                </a:solidFill>
                <a:latin typeface="Calibri"/>
              </a:rPr>
              <a:t>A conversation is 10 turns   ×   3 conversations a week   ×   4 weeks   =   120 turns per user per month</a:t>
            </a:r>
          </a:p>
        </p:txBody>
      </p:sp>
      <p:sp>
        <p:nvSpPr>
          <p:cNvPr id="35" name="Rectangle 34">
            <a:extLst>
              <a:ext uri="{FF2B5EF4-FFF2-40B4-BE49-F238E27FC236}">
                <a16:creationId xmlns:a16="http://schemas.microsoft.com/office/drawing/2014/main" id="{AE98DB5A-1C0F-6E16-6774-BF0402DB3E9A}"/>
              </a:ext>
            </a:extLst>
          </p:cNvPr>
          <p:cNvSpPr/>
          <p:nvPr/>
        </p:nvSpPr>
        <p:spPr>
          <a:xfrm>
            <a:off x="566928" y="3639312"/>
            <a:ext cx="5445252" cy="1728216"/>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a:extLst>
              <a:ext uri="{FF2B5EF4-FFF2-40B4-BE49-F238E27FC236}">
                <a16:creationId xmlns:a16="http://schemas.microsoft.com/office/drawing/2014/main" id="{DD504DBF-974C-3BB5-7835-4D828177B9B3}"/>
              </a:ext>
            </a:extLst>
          </p:cNvPr>
          <p:cNvSpPr/>
          <p:nvPr/>
        </p:nvSpPr>
        <p:spPr>
          <a:xfrm>
            <a:off x="566929" y="3639312"/>
            <a:ext cx="45720" cy="1728216"/>
          </a:xfrm>
          <a:prstGeom prst="rect">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653DBCF6-31DA-4418-50DF-5E8711789652}"/>
              </a:ext>
            </a:extLst>
          </p:cNvPr>
          <p:cNvSpPr txBox="1"/>
          <p:nvPr/>
        </p:nvSpPr>
        <p:spPr>
          <a:xfrm>
            <a:off x="731520" y="3739896"/>
            <a:ext cx="5134356" cy="201168"/>
          </a:xfrm>
          <a:prstGeom prst="rect">
            <a:avLst/>
          </a:prstGeom>
          <a:noFill/>
        </p:spPr>
        <p:txBody>
          <a:bodyPr wrap="square" lIns="0" tIns="0" rIns="0" bIns="0" anchor="t">
            <a:spAutoFit/>
          </a:bodyPr>
          <a:lstStyle/>
          <a:p>
            <a:pPr algn="l">
              <a:spcAft>
                <a:spcPts val="200"/>
              </a:spcAft>
            </a:pPr>
            <a:r>
              <a:rPr sz="1050" b="1">
                <a:solidFill>
                  <a:srgbClr val="1E7C3C"/>
                </a:solidFill>
                <a:latin typeface="Calibri"/>
              </a:rPr>
              <a:t>RAW PRICES  ·  what AWS charges</a:t>
            </a:r>
          </a:p>
        </p:txBody>
      </p:sp>
      <p:sp>
        <p:nvSpPr>
          <p:cNvPr id="38" name="TextBox 37">
            <a:extLst>
              <a:ext uri="{FF2B5EF4-FFF2-40B4-BE49-F238E27FC236}">
                <a16:creationId xmlns:a16="http://schemas.microsoft.com/office/drawing/2014/main" id="{54C018C8-6FC7-5CD2-3E9C-1BCC59418696}"/>
              </a:ext>
            </a:extLst>
          </p:cNvPr>
          <p:cNvSpPr txBox="1"/>
          <p:nvPr/>
        </p:nvSpPr>
        <p:spPr>
          <a:xfrm>
            <a:off x="731520" y="4023360"/>
            <a:ext cx="5134356" cy="1128514"/>
          </a:xfrm>
          <a:prstGeom prst="rect">
            <a:avLst/>
          </a:prstGeom>
          <a:noFill/>
        </p:spPr>
        <p:txBody>
          <a:bodyPr wrap="square" lIns="0" tIns="0" rIns="0" bIns="0" anchor="t">
            <a:spAutoFit/>
          </a:bodyPr>
          <a:lstStyle/>
          <a:p>
            <a:pPr algn="l">
              <a:spcAft>
                <a:spcPts val="350"/>
              </a:spcAft>
            </a:pPr>
            <a:r>
              <a:rPr sz="1200" b="0" dirty="0">
                <a:solidFill>
                  <a:srgbClr val="16191F"/>
                </a:solidFill>
                <a:latin typeface="Calibri"/>
              </a:rPr>
              <a:t>Sonnet 4.5 — $3 / M tokens in  ·  $15 / M out</a:t>
            </a:r>
          </a:p>
          <a:p>
            <a:pPr algn="l">
              <a:spcAft>
                <a:spcPts val="350"/>
              </a:spcAft>
            </a:pPr>
            <a:r>
              <a:rPr sz="1200" b="0" dirty="0">
                <a:solidFill>
                  <a:srgbClr val="16191F"/>
                </a:solidFill>
                <a:latin typeface="Calibri"/>
              </a:rPr>
              <a:t>Fargate — $0.04048 / vCPU-</a:t>
            </a:r>
            <a:r>
              <a:rPr sz="1200" b="0" dirty="0" err="1">
                <a:solidFill>
                  <a:srgbClr val="16191F"/>
                </a:solidFill>
                <a:latin typeface="Calibri"/>
              </a:rPr>
              <a:t>hr</a:t>
            </a:r>
            <a:r>
              <a:rPr sz="1200" b="0" dirty="0">
                <a:solidFill>
                  <a:srgbClr val="16191F"/>
                </a:solidFill>
                <a:latin typeface="Calibri"/>
              </a:rPr>
              <a:t>  ·  $0.004446 / GB-</a:t>
            </a:r>
            <a:r>
              <a:rPr sz="1200" b="0" dirty="0" err="1">
                <a:solidFill>
                  <a:srgbClr val="16191F"/>
                </a:solidFill>
                <a:latin typeface="Calibri"/>
              </a:rPr>
              <a:t>hr</a:t>
            </a:r>
            <a:endParaRPr sz="1200" b="0" dirty="0">
              <a:solidFill>
                <a:srgbClr val="16191F"/>
              </a:solidFill>
              <a:latin typeface="Calibri"/>
            </a:endParaRPr>
          </a:p>
          <a:p>
            <a:pPr algn="l">
              <a:spcAft>
                <a:spcPts val="350"/>
              </a:spcAft>
            </a:pPr>
            <a:r>
              <a:rPr sz="1200" b="0" dirty="0">
                <a:solidFill>
                  <a:srgbClr val="16191F"/>
                </a:solidFill>
                <a:latin typeface="Calibri"/>
              </a:rPr>
              <a:t>AgentCore Runtime — $0.0895 / vCPU-</a:t>
            </a:r>
            <a:r>
              <a:rPr sz="1200" b="0" dirty="0" err="1">
                <a:solidFill>
                  <a:srgbClr val="16191F"/>
                </a:solidFill>
                <a:latin typeface="Calibri"/>
              </a:rPr>
              <a:t>hr</a:t>
            </a:r>
            <a:r>
              <a:rPr sz="1200" b="0" dirty="0">
                <a:solidFill>
                  <a:srgbClr val="16191F"/>
                </a:solidFill>
                <a:latin typeface="Calibri"/>
              </a:rPr>
              <a:t>  ·  $0.00945 / GB-</a:t>
            </a:r>
            <a:r>
              <a:rPr sz="1200" b="0" dirty="0" err="1">
                <a:solidFill>
                  <a:srgbClr val="16191F"/>
                </a:solidFill>
                <a:latin typeface="Calibri"/>
              </a:rPr>
              <a:t>hr</a:t>
            </a:r>
            <a:endParaRPr sz="1200" b="0" dirty="0">
              <a:solidFill>
                <a:srgbClr val="16191F"/>
              </a:solidFill>
              <a:latin typeface="Calibri"/>
            </a:endParaRPr>
          </a:p>
          <a:p>
            <a:pPr algn="l">
              <a:spcAft>
                <a:spcPts val="350"/>
              </a:spcAft>
            </a:pPr>
            <a:r>
              <a:rPr sz="1200" b="0" dirty="0">
                <a:solidFill>
                  <a:srgbClr val="16191F"/>
                </a:solidFill>
                <a:latin typeface="Calibri"/>
              </a:rPr>
              <a:t>AgentCore Memory — $0.25 / 1k events  ·  $0.50 / 1k retrievals</a:t>
            </a:r>
          </a:p>
          <a:p>
            <a:pPr algn="l">
              <a:spcAft>
                <a:spcPts val="350"/>
              </a:spcAft>
            </a:pPr>
            <a:r>
              <a:rPr sz="1200" b="0" dirty="0">
                <a:solidFill>
                  <a:srgbClr val="16191F"/>
                </a:solidFill>
                <a:latin typeface="Calibri"/>
              </a:rPr>
              <a:t>AgentCore Gateway — $0.005 / 1k calls   ·   DynamoDB — $0.625 / M writes</a:t>
            </a:r>
          </a:p>
        </p:txBody>
      </p:sp>
      <p:sp>
        <p:nvSpPr>
          <p:cNvPr id="39" name="Rectangle 38">
            <a:extLst>
              <a:ext uri="{FF2B5EF4-FFF2-40B4-BE49-F238E27FC236}">
                <a16:creationId xmlns:a16="http://schemas.microsoft.com/office/drawing/2014/main" id="{97E461BC-E1D6-E4C6-D579-EF40EEC0DA4D}"/>
              </a:ext>
            </a:extLst>
          </p:cNvPr>
          <p:cNvSpPr/>
          <p:nvPr/>
        </p:nvSpPr>
        <p:spPr>
          <a:xfrm>
            <a:off x="6185916" y="3639311"/>
            <a:ext cx="5445252" cy="1672485"/>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a:extLst>
              <a:ext uri="{FF2B5EF4-FFF2-40B4-BE49-F238E27FC236}">
                <a16:creationId xmlns:a16="http://schemas.microsoft.com/office/drawing/2014/main" id="{487E0AAF-1837-AC94-444B-A16B28AC6FEC}"/>
              </a:ext>
            </a:extLst>
          </p:cNvPr>
          <p:cNvSpPr/>
          <p:nvPr/>
        </p:nvSpPr>
        <p:spPr>
          <a:xfrm>
            <a:off x="6185916" y="3639312"/>
            <a:ext cx="45719" cy="17485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468D705A-B416-2B48-9310-D96B5E0C8722}"/>
              </a:ext>
            </a:extLst>
          </p:cNvPr>
          <p:cNvSpPr txBox="1"/>
          <p:nvPr/>
        </p:nvSpPr>
        <p:spPr>
          <a:xfrm>
            <a:off x="6350507" y="3739896"/>
            <a:ext cx="5134356" cy="201168"/>
          </a:xfrm>
          <a:prstGeom prst="rect">
            <a:avLst/>
          </a:prstGeom>
          <a:noFill/>
        </p:spPr>
        <p:txBody>
          <a:bodyPr wrap="square" lIns="0" tIns="0" rIns="0" bIns="0" anchor="t">
            <a:spAutoFit/>
          </a:bodyPr>
          <a:lstStyle/>
          <a:p>
            <a:pPr algn="l">
              <a:spcAft>
                <a:spcPts val="200"/>
              </a:spcAft>
            </a:pPr>
            <a:r>
              <a:rPr sz="1050" b="1" dirty="0">
                <a:solidFill>
                  <a:srgbClr val="232F3E"/>
                </a:solidFill>
                <a:latin typeface="Calibri"/>
              </a:rPr>
              <a:t>ADDITIONAL OPERATIONS  ·  what every turn also does</a:t>
            </a:r>
          </a:p>
        </p:txBody>
      </p:sp>
      <p:sp>
        <p:nvSpPr>
          <p:cNvPr id="42" name="TextBox 41">
            <a:extLst>
              <a:ext uri="{FF2B5EF4-FFF2-40B4-BE49-F238E27FC236}">
                <a16:creationId xmlns:a16="http://schemas.microsoft.com/office/drawing/2014/main" id="{7590C343-463B-A2E3-8421-E7AFAC7BEEE2}"/>
              </a:ext>
            </a:extLst>
          </p:cNvPr>
          <p:cNvSpPr txBox="1"/>
          <p:nvPr/>
        </p:nvSpPr>
        <p:spPr>
          <a:xfrm>
            <a:off x="6350506" y="4023360"/>
            <a:ext cx="5228845" cy="1364476"/>
          </a:xfrm>
          <a:prstGeom prst="rect">
            <a:avLst/>
          </a:prstGeom>
          <a:noFill/>
        </p:spPr>
        <p:txBody>
          <a:bodyPr wrap="square" lIns="0" tIns="0" rIns="0" bIns="0" anchor="t">
            <a:spAutoFit/>
          </a:bodyPr>
          <a:lstStyle/>
          <a:p>
            <a:pPr>
              <a:spcAft>
                <a:spcPts val="350"/>
              </a:spcAft>
            </a:pPr>
            <a:r>
              <a:rPr lang="en-US" sz="1200" dirty="0">
                <a:solidFill>
                  <a:srgbClr val="16191F"/>
                </a:solidFill>
              </a:rPr>
              <a:t>BOTH   1,667 tokens of system prompt + 1,260 of history — re-sent every turn</a:t>
            </a:r>
          </a:p>
          <a:p>
            <a:pPr>
              <a:spcAft>
                <a:spcPts val="350"/>
              </a:spcAft>
            </a:pPr>
            <a:r>
              <a:rPr lang="en-US" sz="1200" dirty="0">
                <a:solidFill>
                  <a:srgbClr val="16191F"/>
                </a:solidFill>
              </a:rPr>
              <a:t>BOTH   5,077 tokens of tool schemas on A </a:t>
            </a:r>
            <a:r>
              <a:rPr lang="en-US" sz="1200" dirty="0">
                <a:solidFill>
                  <a:srgbClr val="16191F"/>
                </a:solidFill>
                <a:highlight>
                  <a:srgbClr val="FFFF00"/>
                </a:highlight>
              </a:rPr>
              <a:t>· 5,376 on B </a:t>
            </a:r>
            <a:r>
              <a:rPr lang="en-US" sz="1200" dirty="0">
                <a:solidFill>
                  <a:srgbClr val="16191F"/>
                </a:solidFill>
              </a:rPr>
              <a:t>— all 20 tools, every turn</a:t>
            </a:r>
          </a:p>
          <a:p>
            <a:pPr>
              <a:spcAft>
                <a:spcPts val="350"/>
              </a:spcAft>
            </a:pPr>
            <a:r>
              <a:rPr lang="en-US" sz="1200" dirty="0">
                <a:solidFill>
                  <a:srgbClr val="16191F"/>
                </a:solidFill>
              </a:rPr>
              <a:t>BOTH   33 profile fields · 7 DynamoDB writes a turn · ~$0.0007 a month</a:t>
            </a:r>
          </a:p>
          <a:p>
            <a:pPr>
              <a:spcAft>
                <a:spcPts val="350"/>
              </a:spcAft>
            </a:pPr>
            <a:r>
              <a:rPr lang="en-US" sz="1200" dirty="0">
                <a:solidFill>
                  <a:srgbClr val="16191F"/>
                </a:solidFill>
              </a:rPr>
              <a:t>A ONLY 4,041 in · </a:t>
            </a:r>
            <a:r>
              <a:rPr lang="en-US" sz="1200" dirty="0">
                <a:solidFill>
                  <a:srgbClr val="16191F"/>
                </a:solidFill>
                <a:highlight>
                  <a:srgbClr val="FFFF00"/>
                </a:highlight>
              </a:rPr>
              <a:t>300 out </a:t>
            </a:r>
            <a:r>
              <a:rPr lang="en-US" sz="1200" dirty="0">
                <a:solidFill>
                  <a:srgbClr val="16191F"/>
                </a:solidFill>
              </a:rPr>
              <a:t>— a second Bedrock call, every turn, to extract facts</a:t>
            </a:r>
          </a:p>
          <a:p>
            <a:pPr>
              <a:spcAft>
                <a:spcPts val="350"/>
              </a:spcAft>
            </a:pPr>
            <a:r>
              <a:rPr lang="en-US" sz="1200" dirty="0">
                <a:solidFill>
                  <a:srgbClr val="16191F"/>
                </a:solidFill>
              </a:rPr>
              <a:t>A ONLY fixed NAT + VPC endpoint cost</a:t>
            </a:r>
          </a:p>
          <a:p>
            <a:pPr>
              <a:spcAft>
                <a:spcPts val="350"/>
              </a:spcAft>
            </a:pPr>
            <a:r>
              <a:rPr lang="en-US" sz="1200" dirty="0">
                <a:solidFill>
                  <a:srgbClr val="16191F"/>
                </a:solidFill>
              </a:rPr>
              <a:t>B ONLY 29 tools indexed in the Gateway</a:t>
            </a:r>
            <a:endParaRPr lang="en-US" sz="1200" b="0" dirty="0">
              <a:solidFill>
                <a:srgbClr val="16191F"/>
              </a:solidFill>
              <a:latin typeface="Calibri"/>
            </a:endParaRPr>
          </a:p>
        </p:txBody>
      </p:sp>
      <p:sp>
        <p:nvSpPr>
          <p:cNvPr id="43" name="Rounded Rectangle 42">
            <a:extLst>
              <a:ext uri="{FF2B5EF4-FFF2-40B4-BE49-F238E27FC236}">
                <a16:creationId xmlns:a16="http://schemas.microsoft.com/office/drawing/2014/main" id="{CC557589-EDC1-812C-1684-BEF1232490B4}"/>
              </a:ext>
            </a:extLst>
          </p:cNvPr>
          <p:cNvSpPr/>
          <p:nvPr/>
        </p:nvSpPr>
        <p:spPr>
          <a:xfrm>
            <a:off x="566928" y="5667119"/>
            <a:ext cx="11064240" cy="735532"/>
          </a:xfrm>
          <a:prstGeom prst="roundRect">
            <a:avLst>
              <a:gd name="adj" fmla="val 8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a:extLst>
              <a:ext uri="{FF2B5EF4-FFF2-40B4-BE49-F238E27FC236}">
                <a16:creationId xmlns:a16="http://schemas.microsoft.com/office/drawing/2014/main" id="{246A1C6E-4F10-03AA-2C8D-D52402A5DB0B}"/>
              </a:ext>
            </a:extLst>
          </p:cNvPr>
          <p:cNvSpPr txBox="1"/>
          <p:nvPr/>
        </p:nvSpPr>
        <p:spPr>
          <a:xfrm>
            <a:off x="822960" y="5795135"/>
            <a:ext cx="10552176" cy="448841"/>
          </a:xfrm>
          <a:prstGeom prst="rect">
            <a:avLst/>
          </a:prstGeom>
          <a:noFill/>
        </p:spPr>
        <p:txBody>
          <a:bodyPr wrap="square" lIns="0" tIns="0" rIns="0" bIns="0" anchor="t">
            <a:spAutoFit/>
          </a:bodyPr>
          <a:lstStyle/>
          <a:p>
            <a:pPr algn="l">
              <a:spcAft>
                <a:spcPts val="200"/>
              </a:spcAft>
            </a:pPr>
            <a:r>
              <a:rPr sz="1050" b="1" dirty="0">
                <a:solidFill>
                  <a:srgbClr val="FF9900"/>
                </a:solidFill>
                <a:latin typeface="Calibri"/>
              </a:rPr>
              <a:t>EXCLUDED FROM BOTH BILLS  —  SHARED</a:t>
            </a:r>
            <a:r>
              <a:rPr lang="en-US" sz="1050" b="1" dirty="0">
                <a:solidFill>
                  <a:srgbClr val="FF9900"/>
                </a:solidFill>
                <a:latin typeface="Calibri"/>
              </a:rPr>
              <a:t> / Educational</a:t>
            </a:r>
            <a:endParaRPr sz="1050" b="1" dirty="0">
              <a:solidFill>
                <a:srgbClr val="FF9900"/>
              </a:solidFill>
              <a:latin typeface="Calibri"/>
            </a:endParaRPr>
          </a:p>
          <a:p>
            <a:pPr>
              <a:spcAft>
                <a:spcPts val="300"/>
              </a:spcAft>
            </a:pPr>
            <a:r>
              <a:rPr sz="1700" b="1" dirty="0">
                <a:solidFill>
                  <a:srgbClr val="FFFFFF"/>
                </a:solidFill>
                <a:latin typeface="Calibri"/>
              </a:rPr>
              <a:t>ALB  ·   CloudFront   ·   S3   ·   Secrets Manager</a:t>
            </a:r>
            <a:r>
              <a:rPr lang="en-US" sz="1700" b="1" dirty="0">
                <a:solidFill>
                  <a:srgbClr val="FFFFFF"/>
                </a:solidFill>
              </a:rPr>
              <a:t>  ·  DynamoDB</a:t>
            </a:r>
            <a:endParaRPr sz="1700" b="1" dirty="0">
              <a:solidFill>
                <a:srgbClr val="FFFFFF"/>
              </a:solidFill>
              <a:latin typeface="Calibri"/>
            </a:endParaRPr>
          </a:p>
        </p:txBody>
      </p:sp>
    </p:spTree>
    <p:extLst>
      <p:ext uri="{BB962C8B-B14F-4D97-AF65-F5344CB8AC3E}">
        <p14:creationId xmlns:p14="http://schemas.microsoft.com/office/powerpoint/2010/main" val="695761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824C5-6E9C-7ECF-A73D-3037801E5904}"/>
            </a:ext>
          </a:extLst>
        </p:cNvPr>
        <p:cNvGrpSpPr/>
        <p:nvPr/>
      </p:nvGrpSpPr>
      <p:grpSpPr>
        <a:xfrm>
          <a:off x="0" y="0"/>
          <a:ext cx="0" cy="0"/>
          <a:chOff x="0" y="0"/>
          <a:chExt cx="0" cy="0"/>
        </a:xfrm>
      </p:grpSpPr>
      <p:sp>
        <p:nvSpPr>
          <p:cNvPr id="79" name="TextBox 78">
            <a:extLst>
              <a:ext uri="{FF2B5EF4-FFF2-40B4-BE49-F238E27FC236}">
                <a16:creationId xmlns:a16="http://schemas.microsoft.com/office/drawing/2014/main" id="{0D4B2000-71CA-12FD-4783-93A4DF005060}"/>
              </a:ext>
            </a:extLst>
          </p:cNvPr>
          <p:cNvSpPr txBox="1"/>
          <p:nvPr/>
        </p:nvSpPr>
        <p:spPr>
          <a:xfrm>
            <a:off x="566928" y="1261872"/>
            <a:ext cx="11064240" cy="200055"/>
          </a:xfrm>
          <a:prstGeom prst="rect">
            <a:avLst/>
          </a:prstGeom>
          <a:noFill/>
        </p:spPr>
        <p:txBody>
          <a:bodyPr wrap="square" lIns="0" tIns="0" rIns="0" bIns="0" anchor="t">
            <a:spAutoFit/>
          </a:bodyPr>
          <a:lstStyle/>
          <a:p>
            <a:pPr algn="l">
              <a:spcBef>
                <a:spcPts val="0"/>
              </a:spcBef>
            </a:pPr>
            <a:r>
              <a:rPr sz="1300" b="1" i="0" dirty="0">
                <a:solidFill>
                  <a:srgbClr val="B03A2B"/>
                </a:solidFill>
                <a:highlight>
                  <a:srgbClr val="FFFF00"/>
                </a:highlight>
                <a:latin typeface="Lato"/>
              </a:rPr>
              <a:t>FORMAT PREVIEW — every number on this slide is invented. Layout, units and sources are final; magnitudes are not.</a:t>
            </a:r>
          </a:p>
        </p:txBody>
      </p:sp>
      <p:sp>
        <p:nvSpPr>
          <p:cNvPr id="80" name="Rounded Rectangle 79">
            <a:extLst>
              <a:ext uri="{FF2B5EF4-FFF2-40B4-BE49-F238E27FC236}">
                <a16:creationId xmlns:a16="http://schemas.microsoft.com/office/drawing/2014/main" id="{C95E1DEC-3113-836F-3E76-CD32BAE15654}"/>
              </a:ext>
            </a:extLst>
          </p:cNvPr>
          <p:cNvSpPr/>
          <p:nvPr/>
        </p:nvSpPr>
        <p:spPr>
          <a:xfrm>
            <a:off x="566928" y="1737360"/>
            <a:ext cx="11064240" cy="658368"/>
          </a:xfrm>
          <a:prstGeom prst="roundRect">
            <a:avLst>
              <a:gd name="adj" fmla="val 18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pPr>
            <a:r>
              <a:rPr sz="1900" b="1" i="0" dirty="0">
                <a:solidFill>
                  <a:srgbClr val="1F2A37"/>
                </a:solidFill>
                <a:highlight>
                  <a:srgbClr val="FFFF00"/>
                </a:highlight>
                <a:latin typeface="Lato"/>
              </a:rPr>
              <a:t>Engine B costs 30% less per turn — and 1.8x more per month. They cross over at ~20 users.</a:t>
            </a:r>
          </a:p>
        </p:txBody>
      </p:sp>
      <p:sp>
        <p:nvSpPr>
          <p:cNvPr id="81" name="Rectangle 80">
            <a:extLst>
              <a:ext uri="{FF2B5EF4-FFF2-40B4-BE49-F238E27FC236}">
                <a16:creationId xmlns:a16="http://schemas.microsoft.com/office/drawing/2014/main" id="{9C3ED7E8-D08D-6CFA-3F54-79ACCD99C09C}"/>
              </a:ext>
            </a:extLst>
          </p:cNvPr>
          <p:cNvSpPr/>
          <p:nvPr/>
        </p:nvSpPr>
        <p:spPr>
          <a:xfrm>
            <a:off x="566928" y="2578608"/>
            <a:ext cx="5532120" cy="278892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Rectangle 81">
            <a:extLst>
              <a:ext uri="{FF2B5EF4-FFF2-40B4-BE49-F238E27FC236}">
                <a16:creationId xmlns:a16="http://schemas.microsoft.com/office/drawing/2014/main" id="{3211056A-3876-1D74-EA10-3A03C5B1D874}"/>
              </a:ext>
            </a:extLst>
          </p:cNvPr>
          <p:cNvSpPr/>
          <p:nvPr/>
        </p:nvSpPr>
        <p:spPr>
          <a:xfrm>
            <a:off x="566928" y="2578608"/>
            <a:ext cx="45720" cy="2788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TextBox 82">
            <a:extLst>
              <a:ext uri="{FF2B5EF4-FFF2-40B4-BE49-F238E27FC236}">
                <a16:creationId xmlns:a16="http://schemas.microsoft.com/office/drawing/2014/main" id="{FE405A24-3E6C-234B-BDD4-E603C8D7C68D}"/>
              </a:ext>
            </a:extLst>
          </p:cNvPr>
          <p:cNvSpPr txBox="1"/>
          <p:nvPr/>
        </p:nvSpPr>
        <p:spPr>
          <a:xfrm>
            <a:off x="822960" y="2724912"/>
            <a:ext cx="5120640" cy="2560320"/>
          </a:xfrm>
          <a:prstGeom prst="rect">
            <a:avLst/>
          </a:prstGeom>
          <a:noFill/>
        </p:spPr>
        <p:txBody>
          <a:bodyPr wrap="square" lIns="0" tIns="0" rIns="0" bIns="0" anchor="t">
            <a:spAutoFit/>
          </a:bodyPr>
          <a:lstStyle/>
          <a:p>
            <a:pPr algn="l">
              <a:spcBef>
                <a:spcPts val="0"/>
              </a:spcBef>
            </a:pPr>
            <a:r>
              <a:rPr sz="1100" b="1" i="0" dirty="0">
                <a:solidFill>
                  <a:srgbClr val="2E7D32"/>
                </a:solidFill>
                <a:latin typeface="Lato"/>
              </a:rPr>
              <a:t>COST  ·  $ per user per month</a:t>
            </a:r>
          </a:p>
          <a:p>
            <a:pPr algn="l">
              <a:spcBef>
                <a:spcPts val="0"/>
              </a:spcBef>
            </a:pPr>
            <a:endParaRPr sz="1100" b="1" i="0" dirty="0">
              <a:solidFill>
                <a:srgbClr val="2E7D32"/>
              </a:solidFill>
              <a:latin typeface="Lato"/>
            </a:endParaRPr>
          </a:p>
          <a:p>
            <a:pPr algn="l">
              <a:spcBef>
                <a:spcPts val="0"/>
              </a:spcBef>
            </a:pPr>
            <a:r>
              <a:rPr sz="1000" b="1" i="0" dirty="0">
                <a:solidFill>
                  <a:srgbClr val="7A8490"/>
                </a:solidFill>
                <a:latin typeface="Menlo"/>
              </a:rPr>
              <a:t>                                 ENGINE A   ENGINE B</a:t>
            </a:r>
          </a:p>
          <a:p>
            <a:pPr algn="l">
              <a:spcBef>
                <a:spcPts val="0"/>
              </a:spcBef>
            </a:pPr>
            <a:r>
              <a:rPr sz="1050" b="0" i="0" dirty="0">
                <a:solidFill>
                  <a:srgbClr val="444C56"/>
                </a:solidFill>
                <a:latin typeface="Menlo"/>
              </a:rPr>
              <a:t>Bedrock tokens                      $2.94      $1.71</a:t>
            </a:r>
          </a:p>
          <a:p>
            <a:pPr algn="l">
              <a:spcBef>
                <a:spcPts val="0"/>
              </a:spcBef>
            </a:pPr>
            <a:r>
              <a:rPr sz="1050" b="0" i="0" dirty="0">
                <a:solidFill>
                  <a:srgbClr val="444C56"/>
                </a:solidFill>
                <a:latin typeface="Menlo"/>
              </a:rPr>
              <a:t>AgentCore Memory                        —      $0.28</a:t>
            </a:r>
          </a:p>
          <a:p>
            <a:pPr algn="l">
              <a:spcBef>
                <a:spcPts val="0"/>
              </a:spcBef>
            </a:pPr>
            <a:r>
              <a:rPr sz="1050" b="0" i="0" dirty="0">
                <a:solidFill>
                  <a:srgbClr val="444C56"/>
                </a:solidFill>
                <a:latin typeface="Menlo"/>
              </a:rPr>
              <a:t>AgentCore Runtime                       —      $0.03</a:t>
            </a:r>
          </a:p>
          <a:p>
            <a:pPr algn="l">
              <a:spcBef>
                <a:spcPts val="0"/>
              </a:spcBef>
            </a:pPr>
            <a:r>
              <a:rPr sz="1050" b="0" i="0" dirty="0">
                <a:solidFill>
                  <a:srgbClr val="444C56"/>
                </a:solidFill>
                <a:latin typeface="Menlo"/>
              </a:rPr>
              <a:t>AgentCore Gateway                       —      $0.02</a:t>
            </a:r>
          </a:p>
          <a:p>
            <a:pPr algn="l">
              <a:spcBef>
                <a:spcPts val="0"/>
              </a:spcBef>
            </a:pPr>
            <a:r>
              <a:rPr sz="1050" b="0" i="0" dirty="0">
                <a:solidFill>
                  <a:srgbClr val="444C56"/>
                </a:solidFill>
                <a:latin typeface="Menlo"/>
              </a:rPr>
              <a:t>Tool Lambdas                            —      $0.01</a:t>
            </a:r>
          </a:p>
          <a:p>
            <a:pPr algn="l">
              <a:spcBef>
                <a:spcPts val="0"/>
              </a:spcBef>
            </a:pPr>
            <a:r>
              <a:rPr sz="1050" b="0" i="0" dirty="0">
                <a:solidFill>
                  <a:srgbClr val="444C56"/>
                </a:solidFill>
                <a:latin typeface="Menlo"/>
              </a:rPr>
              <a:t>DynamoDB                            $0.01      $0.01</a:t>
            </a:r>
          </a:p>
          <a:p>
            <a:pPr algn="l">
              <a:spcBef>
                <a:spcPts val="0"/>
              </a:spcBef>
            </a:pPr>
            <a:r>
              <a:rPr sz="1050" b="0" i="0" dirty="0">
                <a:solidFill>
                  <a:srgbClr val="444C56"/>
                </a:solidFill>
                <a:latin typeface="Menlo"/>
              </a:rPr>
              <a:t>Fargate rent (730 h)               $18.03     $36.06</a:t>
            </a:r>
          </a:p>
          <a:p>
            <a:pPr algn="l">
              <a:spcBef>
                <a:spcPts val="0"/>
              </a:spcBef>
            </a:pPr>
            <a:endParaRPr sz="1050" b="0" i="0" dirty="0">
              <a:solidFill>
                <a:srgbClr val="444C56"/>
              </a:solidFill>
              <a:latin typeface="Menlo"/>
            </a:endParaRPr>
          </a:p>
          <a:p>
            <a:pPr algn="l">
              <a:spcBef>
                <a:spcPts val="0"/>
              </a:spcBef>
            </a:pPr>
            <a:r>
              <a:rPr sz="1200" b="1" i="0" dirty="0">
                <a:solidFill>
                  <a:srgbClr val="1F2A37"/>
                </a:solidFill>
                <a:latin typeface="Menlo"/>
              </a:rPr>
              <a:t>TOTAL                              $20.98     $38.12</a:t>
            </a:r>
          </a:p>
          <a:p>
            <a:pPr algn="l">
              <a:spcBef>
                <a:spcPts val="0"/>
              </a:spcBef>
            </a:pPr>
            <a:r>
              <a:rPr sz="1050" b="1" i="0" dirty="0">
                <a:solidFill>
                  <a:srgbClr val="2E7D32"/>
                </a:solidFill>
                <a:latin typeface="Menlo"/>
              </a:rPr>
              <a:t>variable, per turn                $0.0246    $0.0172</a:t>
            </a:r>
          </a:p>
          <a:p>
            <a:pPr algn="l">
              <a:spcBef>
                <a:spcPts val="600"/>
              </a:spcBef>
            </a:pPr>
            <a:r>
              <a:rPr sz="850" b="0" i="1" dirty="0">
                <a:solidFill>
                  <a:srgbClr val="7A8490"/>
                </a:solidFill>
                <a:latin typeface="Lato"/>
              </a:rPr>
              <a:t>Fargate is analytic — 730 h/month at any turn count. Everything else is measured at 120 turns, no extrapolation.</a:t>
            </a:r>
          </a:p>
        </p:txBody>
      </p:sp>
      <p:sp>
        <p:nvSpPr>
          <p:cNvPr id="84" name="Rectangle 83">
            <a:extLst>
              <a:ext uri="{FF2B5EF4-FFF2-40B4-BE49-F238E27FC236}">
                <a16:creationId xmlns:a16="http://schemas.microsoft.com/office/drawing/2014/main" id="{423A7C53-4CF0-894B-1FA3-2E7D1AC9B452}"/>
              </a:ext>
            </a:extLst>
          </p:cNvPr>
          <p:cNvSpPr/>
          <p:nvPr/>
        </p:nvSpPr>
        <p:spPr>
          <a:xfrm>
            <a:off x="6309360" y="2578608"/>
            <a:ext cx="5321808" cy="278892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Rectangle 84">
            <a:extLst>
              <a:ext uri="{FF2B5EF4-FFF2-40B4-BE49-F238E27FC236}">
                <a16:creationId xmlns:a16="http://schemas.microsoft.com/office/drawing/2014/main" id="{B5B39B3F-FAEC-0D08-C1B7-3A084F5127AF}"/>
              </a:ext>
            </a:extLst>
          </p:cNvPr>
          <p:cNvSpPr/>
          <p:nvPr/>
        </p:nvSpPr>
        <p:spPr>
          <a:xfrm>
            <a:off x="6309360" y="2578608"/>
            <a:ext cx="45720" cy="278892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Box 85">
            <a:extLst>
              <a:ext uri="{FF2B5EF4-FFF2-40B4-BE49-F238E27FC236}">
                <a16:creationId xmlns:a16="http://schemas.microsoft.com/office/drawing/2014/main" id="{8CD938FE-D3DC-B66C-042D-BA8D10B72ED2}"/>
              </a:ext>
            </a:extLst>
          </p:cNvPr>
          <p:cNvSpPr txBox="1"/>
          <p:nvPr/>
        </p:nvSpPr>
        <p:spPr>
          <a:xfrm>
            <a:off x="6565392" y="2724912"/>
            <a:ext cx="4892040" cy="2560320"/>
          </a:xfrm>
          <a:prstGeom prst="rect">
            <a:avLst/>
          </a:prstGeom>
          <a:noFill/>
        </p:spPr>
        <p:txBody>
          <a:bodyPr wrap="square" lIns="0" tIns="0" rIns="0" bIns="0" anchor="t">
            <a:spAutoFit/>
          </a:bodyPr>
          <a:lstStyle/>
          <a:p>
            <a:pPr algn="l">
              <a:spcBef>
                <a:spcPts val="0"/>
              </a:spcBef>
            </a:pPr>
            <a:r>
              <a:rPr sz="1100" b="1" i="0">
                <a:solidFill>
                  <a:srgbClr val="1F2A37"/>
                </a:solidFill>
                <a:latin typeface="Lato"/>
              </a:rPr>
              <a:t>LATENCY  ·  what the user waits</a:t>
            </a:r>
          </a:p>
          <a:p>
            <a:pPr algn="l">
              <a:spcBef>
                <a:spcPts val="0"/>
              </a:spcBef>
            </a:pPr>
            <a:endParaRPr sz="1100" b="1" i="0">
              <a:solidFill>
                <a:srgbClr val="1F2A37"/>
              </a:solidFill>
              <a:latin typeface="Lato"/>
            </a:endParaRPr>
          </a:p>
          <a:p>
            <a:pPr algn="l">
              <a:spcBef>
                <a:spcPts val="0"/>
              </a:spcBef>
            </a:pPr>
            <a:r>
              <a:rPr sz="1000" b="1" i="0">
                <a:solidFill>
                  <a:srgbClr val="7A8490"/>
                </a:solidFill>
                <a:latin typeface="Menlo"/>
              </a:rPr>
              <a:t>                         ENGINE A   ENGINE B</a:t>
            </a:r>
          </a:p>
          <a:p>
            <a:pPr algn="l">
              <a:spcBef>
                <a:spcPts val="0"/>
              </a:spcBef>
            </a:pPr>
            <a:r>
              <a:rPr sz="1050" b="1" i="0">
                <a:solidFill>
                  <a:srgbClr val="1F2A37"/>
                </a:solidFill>
                <a:latin typeface="Menlo"/>
              </a:rPr>
              <a:t>median                     5.92 s     9.06 s</a:t>
            </a:r>
          </a:p>
          <a:p>
            <a:pPr algn="l">
              <a:spcBef>
                <a:spcPts val="0"/>
              </a:spcBef>
            </a:pPr>
            <a:r>
              <a:rPr sz="1050" b="0" i="0">
                <a:solidFill>
                  <a:srgbClr val="444C56"/>
                </a:solidFill>
                <a:latin typeface="Menlo"/>
              </a:rPr>
              <a:t>p90                       16.16 s    14.71 s</a:t>
            </a:r>
          </a:p>
          <a:p>
            <a:pPr algn="l">
              <a:spcBef>
                <a:spcPts val="0"/>
              </a:spcBef>
            </a:pPr>
            <a:r>
              <a:rPr sz="1050" b="0" i="0">
                <a:solidFill>
                  <a:srgbClr val="444C56"/>
                </a:solidFill>
                <a:latin typeface="Menlo"/>
              </a:rPr>
              <a:t>p99                       22.40 s    27.80 s</a:t>
            </a:r>
          </a:p>
          <a:p>
            <a:pPr algn="l">
              <a:spcBef>
                <a:spcPts val="0"/>
              </a:spcBef>
            </a:pPr>
            <a:r>
              <a:rPr sz="1050" b="0" i="0">
                <a:solidFill>
                  <a:srgbClr val="444C56"/>
                </a:solidFill>
                <a:latin typeface="Menlo"/>
              </a:rPr>
              <a:t>worst turn                24.30 s    29.40 s</a:t>
            </a:r>
          </a:p>
          <a:p>
            <a:pPr algn="l">
              <a:spcBef>
                <a:spcPts val="0"/>
              </a:spcBef>
            </a:pPr>
            <a:endParaRPr sz="1050" b="0" i="0">
              <a:solidFill>
                <a:srgbClr val="444C56"/>
              </a:solidFill>
              <a:latin typeface="Menlo"/>
            </a:endParaRPr>
          </a:p>
          <a:p>
            <a:pPr algn="l">
              <a:spcBef>
                <a:spcPts val="0"/>
              </a:spcBef>
            </a:pPr>
            <a:r>
              <a:rPr sz="1050" b="0" i="0">
                <a:solidFill>
                  <a:srgbClr val="444C56"/>
                </a:solidFill>
                <a:latin typeface="Menlo"/>
              </a:rPr>
              <a:t>model calls / turn            2.8        1.9</a:t>
            </a:r>
          </a:p>
          <a:p>
            <a:pPr algn="l">
              <a:spcBef>
                <a:spcPts val="0"/>
              </a:spcBef>
            </a:pPr>
            <a:r>
              <a:rPr sz="1050" b="0" i="0">
                <a:solidFill>
                  <a:srgbClr val="444C56"/>
                </a:solidFill>
                <a:latin typeface="Menlo"/>
              </a:rPr>
              <a:t>input tokens (120 turns)  1,607,000    934,000</a:t>
            </a:r>
          </a:p>
          <a:p>
            <a:pPr algn="l">
              <a:spcBef>
                <a:spcPts val="0"/>
              </a:spcBef>
            </a:pPr>
            <a:r>
              <a:rPr sz="1050" b="0" i="0">
                <a:solidFill>
                  <a:srgbClr val="444C56"/>
                </a:solidFill>
                <a:latin typeface="Menlo"/>
              </a:rPr>
              <a:t>output tokens (120 turns)     96,000     71,000</a:t>
            </a:r>
          </a:p>
          <a:p>
            <a:pPr algn="l">
              <a:spcBef>
                <a:spcPts val="600"/>
              </a:spcBef>
            </a:pPr>
            <a:r>
              <a:rPr sz="850" b="0" i="1">
                <a:solidFill>
                  <a:srgbClr val="7A8490"/>
                </a:solidFill>
                <a:latin typeface="Lato"/>
              </a:rPr>
              <a:t>Engine A's median excludes the extraction call it defers past the reply — real for the user, still on the bill. Engine B is slower at the median and tighter in the tail.</a:t>
            </a:r>
          </a:p>
        </p:txBody>
      </p:sp>
      <p:sp>
        <p:nvSpPr>
          <p:cNvPr id="87" name="Rectangle 86">
            <a:extLst>
              <a:ext uri="{FF2B5EF4-FFF2-40B4-BE49-F238E27FC236}">
                <a16:creationId xmlns:a16="http://schemas.microsoft.com/office/drawing/2014/main" id="{569081C5-E197-EE6C-7C0C-73645A30DDBD}"/>
              </a:ext>
            </a:extLst>
          </p:cNvPr>
          <p:cNvSpPr/>
          <p:nvPr/>
        </p:nvSpPr>
        <p:spPr>
          <a:xfrm>
            <a:off x="566928" y="5532120"/>
            <a:ext cx="11064240" cy="786384"/>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TextBox 87">
            <a:extLst>
              <a:ext uri="{FF2B5EF4-FFF2-40B4-BE49-F238E27FC236}">
                <a16:creationId xmlns:a16="http://schemas.microsoft.com/office/drawing/2014/main" id="{F31AC89E-B7E2-1B4F-03D1-E4AE62B5463C}"/>
              </a:ext>
            </a:extLst>
          </p:cNvPr>
          <p:cNvSpPr txBox="1"/>
          <p:nvPr/>
        </p:nvSpPr>
        <p:spPr>
          <a:xfrm>
            <a:off x="804672" y="5614416"/>
            <a:ext cx="10607040" cy="201168"/>
          </a:xfrm>
          <a:prstGeom prst="rect">
            <a:avLst/>
          </a:prstGeom>
          <a:noFill/>
        </p:spPr>
        <p:txBody>
          <a:bodyPr wrap="square" lIns="0" tIns="0" rIns="0" bIns="0" anchor="t">
            <a:spAutoFit/>
          </a:bodyPr>
          <a:lstStyle/>
          <a:p>
            <a:pPr algn="l">
              <a:spcBef>
                <a:spcPts val="0"/>
              </a:spcBef>
            </a:pPr>
            <a:r>
              <a:rPr sz="950" b="1" i="0">
                <a:solidFill>
                  <a:srgbClr val="E8A33D"/>
                </a:solidFill>
                <a:latin typeface="Lato"/>
              </a:rPr>
              <a:t>WHAT WE ASSUMED  →  WHAT WE MEASURED</a:t>
            </a:r>
          </a:p>
        </p:txBody>
      </p:sp>
      <p:sp>
        <p:nvSpPr>
          <p:cNvPr id="89" name="TextBox 88">
            <a:extLst>
              <a:ext uri="{FF2B5EF4-FFF2-40B4-BE49-F238E27FC236}">
                <a16:creationId xmlns:a16="http://schemas.microsoft.com/office/drawing/2014/main" id="{17F1B226-6932-EC84-7878-4A1B182892EC}"/>
              </a:ext>
            </a:extLst>
          </p:cNvPr>
          <p:cNvSpPr txBox="1"/>
          <p:nvPr/>
        </p:nvSpPr>
        <p:spPr>
          <a:xfrm>
            <a:off x="804672" y="5870448"/>
            <a:ext cx="1658112" cy="384048"/>
          </a:xfrm>
          <a:prstGeom prst="rect">
            <a:avLst/>
          </a:prstGeom>
          <a:noFill/>
        </p:spPr>
        <p:txBody>
          <a:bodyPr wrap="square" lIns="0" tIns="0" rIns="0" bIns="0" anchor="t">
            <a:spAutoFit/>
          </a:bodyPr>
          <a:lstStyle/>
          <a:p>
            <a:pPr algn="l">
              <a:spcBef>
                <a:spcPts val="0"/>
              </a:spcBef>
            </a:pPr>
            <a:r>
              <a:rPr sz="800" b="0" i="0">
                <a:solidFill>
                  <a:srgbClr val="7A8490"/>
                </a:solidFill>
                <a:latin typeface="Lato"/>
              </a:rPr>
              <a:t>Turn latency</a:t>
            </a:r>
          </a:p>
          <a:p>
            <a:pPr algn="l">
              <a:spcBef>
                <a:spcPts val="0"/>
              </a:spcBef>
            </a:pPr>
            <a:r>
              <a:rPr sz="950" b="1" i="0">
                <a:solidFill>
                  <a:srgbClr val="FFFFFF"/>
                </a:solidFill>
                <a:latin typeface="Lato"/>
              </a:rPr>
              <a:t>~2.1 s / ~2.4 s  →  5.9 s / 9.1 s</a:t>
            </a:r>
          </a:p>
        </p:txBody>
      </p:sp>
      <p:sp>
        <p:nvSpPr>
          <p:cNvPr id="90" name="TextBox 89">
            <a:extLst>
              <a:ext uri="{FF2B5EF4-FFF2-40B4-BE49-F238E27FC236}">
                <a16:creationId xmlns:a16="http://schemas.microsoft.com/office/drawing/2014/main" id="{988E522E-C498-CEFF-0339-1EE018E7F9B1}"/>
              </a:ext>
            </a:extLst>
          </p:cNvPr>
          <p:cNvSpPr txBox="1"/>
          <p:nvPr/>
        </p:nvSpPr>
        <p:spPr>
          <a:xfrm>
            <a:off x="2572512" y="5870448"/>
            <a:ext cx="1658112" cy="384048"/>
          </a:xfrm>
          <a:prstGeom prst="rect">
            <a:avLst/>
          </a:prstGeom>
          <a:noFill/>
        </p:spPr>
        <p:txBody>
          <a:bodyPr wrap="square" lIns="0" tIns="0" rIns="0" bIns="0" anchor="t">
            <a:spAutoFit/>
          </a:bodyPr>
          <a:lstStyle/>
          <a:p>
            <a:pPr algn="l">
              <a:spcBef>
                <a:spcPts val="0"/>
              </a:spcBef>
            </a:pPr>
            <a:r>
              <a:rPr sz="800" b="0" i="0">
                <a:solidFill>
                  <a:srgbClr val="7A8490"/>
                </a:solidFill>
                <a:latin typeface="Lato"/>
              </a:rPr>
              <a:t>Always-on tasks (B)</a:t>
            </a:r>
          </a:p>
          <a:p>
            <a:pPr algn="l">
              <a:spcBef>
                <a:spcPts val="0"/>
              </a:spcBef>
            </a:pPr>
            <a:r>
              <a:rPr sz="950" b="1" i="0">
                <a:solidFill>
                  <a:srgbClr val="FFFFFF"/>
                </a:solidFill>
                <a:latin typeface="Lato"/>
              </a:rPr>
              <a:t>none  →  1 Fargate task</a:t>
            </a:r>
          </a:p>
        </p:txBody>
      </p:sp>
      <p:sp>
        <p:nvSpPr>
          <p:cNvPr id="91" name="TextBox 90">
            <a:extLst>
              <a:ext uri="{FF2B5EF4-FFF2-40B4-BE49-F238E27FC236}">
                <a16:creationId xmlns:a16="http://schemas.microsoft.com/office/drawing/2014/main" id="{93E881A2-3624-14C4-9AEE-5BE5196DB643}"/>
              </a:ext>
            </a:extLst>
          </p:cNvPr>
          <p:cNvSpPr txBox="1"/>
          <p:nvPr/>
        </p:nvSpPr>
        <p:spPr>
          <a:xfrm>
            <a:off x="4340352" y="5870448"/>
            <a:ext cx="1658112" cy="384048"/>
          </a:xfrm>
          <a:prstGeom prst="rect">
            <a:avLst/>
          </a:prstGeom>
          <a:noFill/>
        </p:spPr>
        <p:txBody>
          <a:bodyPr wrap="square" lIns="0" tIns="0" rIns="0" bIns="0" anchor="t">
            <a:spAutoFit/>
          </a:bodyPr>
          <a:lstStyle/>
          <a:p>
            <a:pPr algn="l">
              <a:spcBef>
                <a:spcPts val="0"/>
              </a:spcBef>
            </a:pPr>
            <a:r>
              <a:rPr sz="800" b="0" i="0">
                <a:solidFill>
                  <a:srgbClr val="7A8490"/>
                </a:solidFill>
                <a:latin typeface="Lato"/>
              </a:rPr>
              <a:t>Tools indexed</a:t>
            </a:r>
          </a:p>
          <a:p>
            <a:pPr algn="l">
              <a:spcBef>
                <a:spcPts val="0"/>
              </a:spcBef>
            </a:pPr>
            <a:r>
              <a:rPr sz="950" b="1" i="0">
                <a:solidFill>
                  <a:srgbClr val="FFFFFF"/>
                </a:solidFill>
                <a:latin typeface="Lato"/>
              </a:rPr>
              <a:t>3  →  29</a:t>
            </a:r>
          </a:p>
        </p:txBody>
      </p:sp>
      <p:sp>
        <p:nvSpPr>
          <p:cNvPr id="92" name="TextBox 91">
            <a:extLst>
              <a:ext uri="{FF2B5EF4-FFF2-40B4-BE49-F238E27FC236}">
                <a16:creationId xmlns:a16="http://schemas.microsoft.com/office/drawing/2014/main" id="{D7A2CEA7-F5FE-4EBB-9100-BF2EC8977AFC}"/>
              </a:ext>
            </a:extLst>
          </p:cNvPr>
          <p:cNvSpPr txBox="1"/>
          <p:nvPr/>
        </p:nvSpPr>
        <p:spPr>
          <a:xfrm>
            <a:off x="6108192" y="5870448"/>
            <a:ext cx="1658112" cy="384048"/>
          </a:xfrm>
          <a:prstGeom prst="rect">
            <a:avLst/>
          </a:prstGeom>
          <a:noFill/>
        </p:spPr>
        <p:txBody>
          <a:bodyPr wrap="square" lIns="0" tIns="0" rIns="0" bIns="0" anchor="t">
            <a:spAutoFit/>
          </a:bodyPr>
          <a:lstStyle/>
          <a:p>
            <a:pPr algn="l">
              <a:spcBef>
                <a:spcPts val="0"/>
              </a:spcBef>
            </a:pPr>
            <a:r>
              <a:rPr sz="800" b="0" i="0">
                <a:solidFill>
                  <a:srgbClr val="7A8490"/>
                </a:solidFill>
                <a:latin typeface="Lato"/>
              </a:rPr>
              <a:t>Runtime per turn</a:t>
            </a:r>
          </a:p>
          <a:p>
            <a:pPr algn="l">
              <a:spcBef>
                <a:spcPts val="0"/>
              </a:spcBef>
            </a:pPr>
            <a:r>
              <a:rPr sz="950" b="1" i="0">
                <a:solidFill>
                  <a:srgbClr val="FFFFFF"/>
                </a:solidFill>
                <a:latin typeface="Lato"/>
              </a:rPr>
              <a:t>3 s assumed  →  182-1,449 s billed</a:t>
            </a:r>
          </a:p>
        </p:txBody>
      </p:sp>
      <p:sp>
        <p:nvSpPr>
          <p:cNvPr id="93" name="TextBox 92">
            <a:extLst>
              <a:ext uri="{FF2B5EF4-FFF2-40B4-BE49-F238E27FC236}">
                <a16:creationId xmlns:a16="http://schemas.microsoft.com/office/drawing/2014/main" id="{1393C0BB-A6BD-A94D-4EF8-DD2F1B40B579}"/>
              </a:ext>
            </a:extLst>
          </p:cNvPr>
          <p:cNvSpPr txBox="1"/>
          <p:nvPr/>
        </p:nvSpPr>
        <p:spPr>
          <a:xfrm>
            <a:off x="7876032" y="5870448"/>
            <a:ext cx="1658112" cy="384048"/>
          </a:xfrm>
          <a:prstGeom prst="rect">
            <a:avLst/>
          </a:prstGeom>
          <a:noFill/>
        </p:spPr>
        <p:txBody>
          <a:bodyPr wrap="square" lIns="0" tIns="0" rIns="0" bIns="0" anchor="t">
            <a:spAutoFit/>
          </a:bodyPr>
          <a:lstStyle/>
          <a:p>
            <a:pPr algn="l">
              <a:spcBef>
                <a:spcPts val="0"/>
              </a:spcBef>
            </a:pPr>
            <a:r>
              <a:rPr sz="800" b="0" i="0">
                <a:solidFill>
                  <a:srgbClr val="7A8490"/>
                </a:solidFill>
                <a:latin typeface="Lato"/>
              </a:rPr>
              <a:t>Writes per turn</a:t>
            </a:r>
          </a:p>
          <a:p>
            <a:pPr algn="l">
              <a:spcBef>
                <a:spcPts val="0"/>
              </a:spcBef>
            </a:pPr>
            <a:r>
              <a:rPr sz="950" b="1" i="0">
                <a:solidFill>
                  <a:srgbClr val="8FD194"/>
                </a:solidFill>
                <a:latin typeface="Lato"/>
              </a:rPr>
              <a:t>9  →  11 WCU measured</a:t>
            </a:r>
          </a:p>
        </p:txBody>
      </p:sp>
      <p:sp>
        <p:nvSpPr>
          <p:cNvPr id="94" name="TextBox 93">
            <a:extLst>
              <a:ext uri="{FF2B5EF4-FFF2-40B4-BE49-F238E27FC236}">
                <a16:creationId xmlns:a16="http://schemas.microsoft.com/office/drawing/2014/main" id="{F1F5742F-7363-41E2-D75B-D0FAFD833764}"/>
              </a:ext>
            </a:extLst>
          </p:cNvPr>
          <p:cNvSpPr txBox="1"/>
          <p:nvPr/>
        </p:nvSpPr>
        <p:spPr>
          <a:xfrm>
            <a:off x="9643872" y="5870448"/>
            <a:ext cx="1658112" cy="384048"/>
          </a:xfrm>
          <a:prstGeom prst="rect">
            <a:avLst/>
          </a:prstGeom>
          <a:noFill/>
        </p:spPr>
        <p:txBody>
          <a:bodyPr wrap="square" lIns="0" tIns="0" rIns="0" bIns="0" anchor="t">
            <a:spAutoFit/>
          </a:bodyPr>
          <a:lstStyle/>
          <a:p>
            <a:pPr algn="l">
              <a:spcBef>
                <a:spcPts val="0"/>
              </a:spcBef>
            </a:pPr>
            <a:r>
              <a:rPr sz="800" b="0" i="0">
                <a:solidFill>
                  <a:srgbClr val="7A8490"/>
                </a:solidFill>
                <a:latin typeface="Lato"/>
              </a:rPr>
              <a:t>Gateway overhead</a:t>
            </a:r>
          </a:p>
          <a:p>
            <a:pPr algn="l">
              <a:spcBef>
                <a:spcPts val="0"/>
              </a:spcBef>
            </a:pPr>
            <a:r>
              <a:rPr sz="950" b="1" i="0">
                <a:solidFill>
                  <a:srgbClr val="8FD194"/>
                </a:solidFill>
                <a:latin typeface="Lato"/>
              </a:rPr>
              <a:t>~300 ms  →  47 ms</a:t>
            </a:r>
          </a:p>
        </p:txBody>
      </p:sp>
      <p:sp>
        <p:nvSpPr>
          <p:cNvPr id="95" name="TextBox 94">
            <a:extLst>
              <a:ext uri="{FF2B5EF4-FFF2-40B4-BE49-F238E27FC236}">
                <a16:creationId xmlns:a16="http://schemas.microsoft.com/office/drawing/2014/main" id="{E3E04591-B7AF-17DA-61FE-7644D098031B}"/>
              </a:ext>
            </a:extLst>
          </p:cNvPr>
          <p:cNvSpPr txBox="1"/>
          <p:nvPr/>
        </p:nvSpPr>
        <p:spPr>
          <a:xfrm>
            <a:off x="566928" y="6455664"/>
            <a:ext cx="11064240" cy="237744"/>
          </a:xfrm>
          <a:prstGeom prst="rect">
            <a:avLst/>
          </a:prstGeom>
          <a:noFill/>
        </p:spPr>
        <p:txBody>
          <a:bodyPr wrap="square" lIns="0" tIns="0" rIns="0" bIns="0" anchor="t">
            <a:spAutoFit/>
          </a:bodyPr>
          <a:lstStyle/>
          <a:p>
            <a:pPr algn="l">
              <a:spcBef>
                <a:spcPts val="0"/>
              </a:spcBef>
            </a:pPr>
            <a:r>
              <a:rPr sz="900" b="1" i="0">
                <a:solidFill>
                  <a:srgbClr val="7A8490"/>
                </a:solidFill>
                <a:latin typeface="Lato"/>
              </a:rPr>
              <a:t>VALENTIN  ·  GenAI TFC Capstone Deep-Dive</a:t>
            </a:r>
          </a:p>
        </p:txBody>
      </p:sp>
      <p:sp>
        <p:nvSpPr>
          <p:cNvPr id="96" name="Oval 95">
            <a:extLst>
              <a:ext uri="{FF2B5EF4-FFF2-40B4-BE49-F238E27FC236}">
                <a16:creationId xmlns:a16="http://schemas.microsoft.com/office/drawing/2014/main" id="{56434E29-88CA-C35E-C9BA-F0DAA380D579}"/>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a:extLst>
              <a:ext uri="{FF2B5EF4-FFF2-40B4-BE49-F238E27FC236}">
                <a16:creationId xmlns:a16="http://schemas.microsoft.com/office/drawing/2014/main" id="{B40D2E22-CD85-790C-2344-91C835B3EF3C}"/>
              </a:ext>
            </a:extLst>
          </p:cNvPr>
          <p:cNvSpPr txBox="1"/>
          <p:nvPr/>
        </p:nvSpPr>
        <p:spPr>
          <a:xfrm>
            <a:off x="502920" y="462885"/>
            <a:ext cx="594360" cy="400110"/>
          </a:xfrm>
          <a:prstGeom prst="rect">
            <a:avLst/>
          </a:prstGeom>
          <a:noFill/>
        </p:spPr>
        <p:txBody>
          <a:bodyPr wrap="square" lIns="0" tIns="0" rIns="0" bIns="0" anchor="ctr">
            <a:spAutoFit/>
          </a:bodyPr>
          <a:lstStyle/>
          <a:p>
            <a:pPr algn="ctr"/>
            <a:r>
              <a:rPr lang="en-US" sz="2600" b="1" i="0" dirty="0">
                <a:solidFill>
                  <a:srgbClr val="FF9900"/>
                </a:solidFill>
                <a:latin typeface="Calibri"/>
              </a:rPr>
              <a:t>7</a:t>
            </a:r>
            <a:endParaRPr sz="2600" b="1" i="0" dirty="0">
              <a:solidFill>
                <a:srgbClr val="FF9900"/>
              </a:solidFill>
              <a:latin typeface="Calibri"/>
            </a:endParaRPr>
          </a:p>
        </p:txBody>
      </p:sp>
      <p:sp>
        <p:nvSpPr>
          <p:cNvPr id="98" name="TextBox 97">
            <a:extLst>
              <a:ext uri="{FF2B5EF4-FFF2-40B4-BE49-F238E27FC236}">
                <a16:creationId xmlns:a16="http://schemas.microsoft.com/office/drawing/2014/main" id="{0406E3F3-120A-30C9-260E-4D3C2BC62730}"/>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 One User, One Month - Experiment</a:t>
            </a:r>
            <a:endParaRPr sz="3000" b="1" i="0" dirty="0">
              <a:solidFill>
                <a:srgbClr val="232F3E"/>
              </a:solidFill>
              <a:highlight>
                <a:srgbClr val="FFFF00"/>
              </a:highlight>
              <a:latin typeface="Calibri"/>
            </a:endParaRPr>
          </a:p>
        </p:txBody>
      </p:sp>
      <p:sp>
        <p:nvSpPr>
          <p:cNvPr id="99" name="Rectangle 98">
            <a:extLst>
              <a:ext uri="{FF2B5EF4-FFF2-40B4-BE49-F238E27FC236}">
                <a16:creationId xmlns:a16="http://schemas.microsoft.com/office/drawing/2014/main" id="{CD9A4AC9-7651-6F29-EA74-28889C9D50A8}"/>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749757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6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sz="3000" b="1" dirty="0">
                <a:solidFill>
                  <a:srgbClr val="232F3E"/>
                </a:solidFill>
                <a:latin typeface="Calibri"/>
              </a:rPr>
              <a:t>Two </a:t>
            </a:r>
            <a:r>
              <a:rPr lang="en-US" sz="3000" b="1" dirty="0">
                <a:solidFill>
                  <a:srgbClr val="232F3E"/>
                </a:solidFill>
                <a:latin typeface="Calibri"/>
              </a:rPr>
              <a:t>E</a:t>
            </a:r>
            <a:r>
              <a:rPr sz="3000" b="1" dirty="0">
                <a:solidFill>
                  <a:srgbClr val="232F3E"/>
                </a:solidFill>
                <a:latin typeface="Calibri"/>
              </a:rPr>
              <a:t>ngines</a:t>
            </a:r>
            <a:r>
              <a:rPr lang="en-US" sz="3000" b="1" dirty="0">
                <a:solidFill>
                  <a:srgbClr val="232F3E"/>
                </a:solidFill>
                <a:latin typeface="Calibri"/>
              </a:rPr>
              <a:t> Comparison</a:t>
            </a:r>
            <a:endParaRPr sz="3000" b="1" dirty="0">
              <a:solidFill>
                <a:srgbClr val="232F3E"/>
              </a:solidFill>
              <a:latin typeface="Calibri"/>
            </a:endParaRP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dirty="0">
                <a:solidFill>
                  <a:srgbClr val="545B64"/>
                </a:solidFill>
                <a:latin typeface="Calibri"/>
              </a:rPr>
              <a:t>Each lens toggles on the components that decide it. One upside, one trade-off, one winner per row.</a:t>
            </a:r>
          </a:p>
        </p:txBody>
      </p:sp>
      <p:sp>
        <p:nvSpPr>
          <p:cNvPr id="10" name="Rounded Rectangle 9"/>
          <p:cNvSpPr/>
          <p:nvPr/>
        </p:nvSpPr>
        <p:spPr>
          <a:xfrm>
            <a:off x="566928" y="2001866"/>
            <a:ext cx="11064240" cy="365760"/>
          </a:xfrm>
          <a:prstGeom prst="roundRect">
            <a:avLst>
              <a:gd name="adj" fmla="val 1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658368" y="2061636"/>
            <a:ext cx="1517904" cy="246221"/>
          </a:xfrm>
          <a:prstGeom prst="rect">
            <a:avLst/>
          </a:prstGeom>
          <a:noFill/>
        </p:spPr>
        <p:txBody>
          <a:bodyPr wrap="square" lIns="0" tIns="0" rIns="0" bIns="0" anchor="ctr">
            <a:spAutoFit/>
          </a:bodyPr>
          <a:lstStyle/>
          <a:p>
            <a:pPr algn="ctr"/>
            <a:r>
              <a:rPr sz="1600" b="1">
                <a:solidFill>
                  <a:srgbClr val="FF9900"/>
                </a:solidFill>
                <a:latin typeface="Calibri"/>
              </a:rPr>
              <a:t>THE LENS</a:t>
            </a:r>
          </a:p>
        </p:txBody>
      </p:sp>
      <p:sp>
        <p:nvSpPr>
          <p:cNvPr id="12" name="TextBox 11"/>
          <p:cNvSpPr txBox="1"/>
          <p:nvPr/>
        </p:nvSpPr>
        <p:spPr>
          <a:xfrm>
            <a:off x="4352544" y="2061636"/>
            <a:ext cx="3419856" cy="246221"/>
          </a:xfrm>
          <a:prstGeom prst="rect">
            <a:avLst/>
          </a:prstGeom>
          <a:noFill/>
        </p:spPr>
        <p:txBody>
          <a:bodyPr wrap="square" lIns="0" tIns="0" rIns="0" bIns="0" anchor="ctr">
            <a:spAutoFit/>
          </a:bodyPr>
          <a:lstStyle/>
          <a:p>
            <a:pPr algn="ctr"/>
            <a:r>
              <a:rPr sz="1600" b="1">
                <a:solidFill>
                  <a:srgbClr val="FFFFFF"/>
                </a:solidFill>
                <a:latin typeface="Calibri"/>
              </a:rPr>
              <a:t>THE UPSIDE</a:t>
            </a:r>
          </a:p>
        </p:txBody>
      </p:sp>
      <p:sp>
        <p:nvSpPr>
          <p:cNvPr id="13" name="TextBox 12"/>
          <p:cNvSpPr txBox="1"/>
          <p:nvPr/>
        </p:nvSpPr>
        <p:spPr>
          <a:xfrm>
            <a:off x="8046719" y="2061636"/>
            <a:ext cx="2432303" cy="246221"/>
          </a:xfrm>
          <a:prstGeom prst="rect">
            <a:avLst/>
          </a:prstGeom>
          <a:noFill/>
        </p:spPr>
        <p:txBody>
          <a:bodyPr wrap="square" lIns="0" tIns="0" rIns="0" bIns="0" anchor="ctr">
            <a:spAutoFit/>
          </a:bodyPr>
          <a:lstStyle/>
          <a:p>
            <a:pPr algn="ctr"/>
            <a:r>
              <a:rPr sz="1600" b="1">
                <a:solidFill>
                  <a:srgbClr val="FFFFFF"/>
                </a:solidFill>
                <a:latin typeface="Calibri"/>
              </a:rPr>
              <a:t>THE TRADE-OFF</a:t>
            </a:r>
          </a:p>
        </p:txBody>
      </p:sp>
      <p:sp>
        <p:nvSpPr>
          <p:cNvPr id="15" name="TextBox 14"/>
          <p:cNvSpPr txBox="1"/>
          <p:nvPr/>
        </p:nvSpPr>
        <p:spPr>
          <a:xfrm>
            <a:off x="2267712" y="2061636"/>
            <a:ext cx="475488" cy="246221"/>
          </a:xfrm>
          <a:prstGeom prst="rect">
            <a:avLst/>
          </a:prstGeom>
          <a:noFill/>
        </p:spPr>
        <p:txBody>
          <a:bodyPr wrap="square" lIns="0" tIns="0" rIns="0" bIns="0" anchor="ctr">
            <a:spAutoFit/>
          </a:bodyPr>
          <a:lstStyle/>
          <a:p>
            <a:pPr algn="ctr"/>
            <a:r>
              <a:rPr sz="1600" b="1">
                <a:solidFill>
                  <a:srgbClr val="FFFFFF"/>
                </a:solidFill>
                <a:latin typeface="Calibri"/>
              </a:rPr>
              <a:t>RUN</a:t>
            </a:r>
          </a:p>
        </p:txBody>
      </p:sp>
      <p:sp>
        <p:nvSpPr>
          <p:cNvPr id="16" name="TextBox 15"/>
          <p:cNvSpPr txBox="1"/>
          <p:nvPr/>
        </p:nvSpPr>
        <p:spPr>
          <a:xfrm>
            <a:off x="2743200" y="2061636"/>
            <a:ext cx="475488" cy="246221"/>
          </a:xfrm>
          <a:prstGeom prst="rect">
            <a:avLst/>
          </a:prstGeom>
          <a:noFill/>
        </p:spPr>
        <p:txBody>
          <a:bodyPr wrap="square" lIns="0" tIns="0" rIns="0" bIns="0" anchor="ctr">
            <a:spAutoFit/>
          </a:bodyPr>
          <a:lstStyle/>
          <a:p>
            <a:pPr algn="ctr"/>
            <a:r>
              <a:rPr sz="1600" b="1">
                <a:solidFill>
                  <a:srgbClr val="FFFFFF"/>
                </a:solidFill>
                <a:latin typeface="Calibri"/>
              </a:rPr>
              <a:t>MEM</a:t>
            </a:r>
          </a:p>
        </p:txBody>
      </p:sp>
      <p:sp>
        <p:nvSpPr>
          <p:cNvPr id="17" name="TextBox 16"/>
          <p:cNvSpPr txBox="1"/>
          <p:nvPr/>
        </p:nvSpPr>
        <p:spPr>
          <a:xfrm>
            <a:off x="3218688" y="2061636"/>
            <a:ext cx="475488" cy="246221"/>
          </a:xfrm>
          <a:prstGeom prst="rect">
            <a:avLst/>
          </a:prstGeom>
          <a:noFill/>
        </p:spPr>
        <p:txBody>
          <a:bodyPr wrap="square" lIns="0" tIns="0" rIns="0" bIns="0" anchor="ctr">
            <a:spAutoFit/>
          </a:bodyPr>
          <a:lstStyle/>
          <a:p>
            <a:pPr algn="ctr"/>
            <a:r>
              <a:rPr sz="1600" b="1">
                <a:solidFill>
                  <a:srgbClr val="FFFFFF"/>
                </a:solidFill>
                <a:latin typeface="Calibri"/>
              </a:rPr>
              <a:t>GTW</a:t>
            </a:r>
          </a:p>
        </p:txBody>
      </p:sp>
      <p:sp>
        <p:nvSpPr>
          <p:cNvPr id="18" name="TextBox 17"/>
          <p:cNvSpPr txBox="1"/>
          <p:nvPr/>
        </p:nvSpPr>
        <p:spPr>
          <a:xfrm>
            <a:off x="3694176" y="2061636"/>
            <a:ext cx="475488" cy="246221"/>
          </a:xfrm>
          <a:prstGeom prst="rect">
            <a:avLst/>
          </a:prstGeom>
          <a:noFill/>
        </p:spPr>
        <p:txBody>
          <a:bodyPr wrap="square" lIns="0" tIns="0" rIns="0" bIns="0" anchor="ctr">
            <a:spAutoFit/>
          </a:bodyPr>
          <a:lstStyle/>
          <a:p>
            <a:pPr algn="ctr"/>
            <a:r>
              <a:rPr sz="1600" b="1">
                <a:solidFill>
                  <a:srgbClr val="FFFFFF"/>
                </a:solidFill>
                <a:latin typeface="Calibri"/>
              </a:rPr>
              <a:t>OBS</a:t>
            </a:r>
          </a:p>
        </p:txBody>
      </p:sp>
      <p:sp>
        <p:nvSpPr>
          <p:cNvPr id="19" name="Rectangle 18"/>
          <p:cNvSpPr/>
          <p:nvPr/>
        </p:nvSpPr>
        <p:spPr>
          <a:xfrm>
            <a:off x="566928" y="2422490"/>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Rectangle 19"/>
          <p:cNvSpPr/>
          <p:nvPr/>
        </p:nvSpPr>
        <p:spPr>
          <a:xfrm>
            <a:off x="566928" y="3053426"/>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658368" y="2619419"/>
            <a:ext cx="1517904" cy="246221"/>
          </a:xfrm>
          <a:prstGeom prst="rect">
            <a:avLst/>
          </a:prstGeom>
          <a:noFill/>
        </p:spPr>
        <p:txBody>
          <a:bodyPr wrap="square" lIns="0" tIns="0" rIns="0" bIns="0" anchor="ctr">
            <a:spAutoFit/>
          </a:bodyPr>
          <a:lstStyle/>
          <a:p>
            <a:pPr algn="l"/>
            <a:r>
              <a:rPr sz="1600" b="1" dirty="0">
                <a:solidFill>
                  <a:srgbClr val="232F3E"/>
                </a:solidFill>
                <a:latin typeface="Calibri"/>
              </a:rPr>
              <a:t>Cost</a:t>
            </a:r>
          </a:p>
        </p:txBody>
      </p:sp>
      <p:sp>
        <p:nvSpPr>
          <p:cNvPr id="22" name="Oval 21"/>
          <p:cNvSpPr/>
          <p:nvPr/>
        </p:nvSpPr>
        <p:spPr>
          <a:xfrm>
            <a:off x="2427732" y="2664806"/>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Oval 22"/>
          <p:cNvSpPr/>
          <p:nvPr/>
        </p:nvSpPr>
        <p:spPr>
          <a:xfrm>
            <a:off x="2903220" y="2664806"/>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Oval 23"/>
          <p:cNvSpPr/>
          <p:nvPr/>
        </p:nvSpPr>
        <p:spPr>
          <a:xfrm>
            <a:off x="3378708" y="2664806"/>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5" name="Oval 24"/>
          <p:cNvSpPr/>
          <p:nvPr/>
        </p:nvSpPr>
        <p:spPr>
          <a:xfrm>
            <a:off x="3854196" y="2664806"/>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4352544" y="2634807"/>
            <a:ext cx="3419856" cy="215444"/>
          </a:xfrm>
          <a:prstGeom prst="rect">
            <a:avLst/>
          </a:prstGeom>
          <a:noFill/>
        </p:spPr>
        <p:txBody>
          <a:bodyPr wrap="square" lIns="0" tIns="0" rIns="0" bIns="0" anchor="ctr">
            <a:spAutoFit/>
          </a:bodyPr>
          <a:lstStyle/>
          <a:p>
            <a:pPr algn="l"/>
            <a:r>
              <a:rPr lang="en-US" sz="1400" b="0" dirty="0">
                <a:solidFill>
                  <a:srgbClr val="16191F"/>
                </a:solidFill>
                <a:highlight>
                  <a:srgbClr val="FFFF00"/>
                </a:highlight>
                <a:latin typeface="Calibri"/>
              </a:rPr>
              <a:t>A</a:t>
            </a:r>
            <a:endParaRPr sz="1400" b="0" dirty="0">
              <a:solidFill>
                <a:srgbClr val="16191F"/>
              </a:solidFill>
              <a:highlight>
                <a:srgbClr val="FFFF00"/>
              </a:highlight>
              <a:latin typeface="Calibri"/>
            </a:endParaRPr>
          </a:p>
        </p:txBody>
      </p:sp>
      <p:sp>
        <p:nvSpPr>
          <p:cNvPr id="27" name="TextBox 26"/>
          <p:cNvSpPr txBox="1"/>
          <p:nvPr/>
        </p:nvSpPr>
        <p:spPr>
          <a:xfrm>
            <a:off x="8046719" y="2634807"/>
            <a:ext cx="3419856" cy="215444"/>
          </a:xfrm>
          <a:prstGeom prst="rect">
            <a:avLst/>
          </a:prstGeom>
          <a:noFill/>
        </p:spPr>
        <p:txBody>
          <a:bodyPr wrap="square" lIns="0" tIns="0" rIns="0" bIns="0" anchor="ctr">
            <a:spAutoFit/>
          </a:bodyPr>
          <a:lstStyle/>
          <a:p>
            <a:pPr algn="l"/>
            <a:r>
              <a:rPr lang="en-US" sz="1400" b="0" dirty="0">
                <a:solidFill>
                  <a:srgbClr val="16191F"/>
                </a:solidFill>
                <a:highlight>
                  <a:srgbClr val="FFFF00"/>
                </a:highlight>
                <a:latin typeface="Calibri"/>
              </a:rPr>
              <a:t>B</a:t>
            </a:r>
            <a:endParaRPr sz="1400" b="0" dirty="0">
              <a:solidFill>
                <a:srgbClr val="16191F"/>
              </a:solidFill>
              <a:highlight>
                <a:srgbClr val="FFFF00"/>
              </a:highlight>
              <a:latin typeface="Calibri"/>
            </a:endParaRPr>
          </a:p>
        </p:txBody>
      </p:sp>
      <p:sp>
        <p:nvSpPr>
          <p:cNvPr id="30" name="Rectangle 29"/>
          <p:cNvSpPr/>
          <p:nvPr/>
        </p:nvSpPr>
        <p:spPr>
          <a:xfrm>
            <a:off x="566928" y="3693506"/>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658368" y="3259498"/>
            <a:ext cx="1517904" cy="246221"/>
          </a:xfrm>
          <a:prstGeom prst="rect">
            <a:avLst/>
          </a:prstGeom>
          <a:noFill/>
        </p:spPr>
        <p:txBody>
          <a:bodyPr wrap="square" lIns="0" tIns="0" rIns="0" bIns="0" anchor="ctr">
            <a:spAutoFit/>
          </a:bodyPr>
          <a:lstStyle/>
          <a:p>
            <a:pPr algn="l"/>
            <a:r>
              <a:rPr sz="1600" b="1" dirty="0">
                <a:solidFill>
                  <a:srgbClr val="232F3E"/>
                </a:solidFill>
                <a:latin typeface="Calibri"/>
              </a:rPr>
              <a:t>Resilience</a:t>
            </a:r>
          </a:p>
        </p:txBody>
      </p:sp>
      <p:sp>
        <p:nvSpPr>
          <p:cNvPr id="32" name="Oval 31"/>
          <p:cNvSpPr/>
          <p:nvPr/>
        </p:nvSpPr>
        <p:spPr>
          <a:xfrm>
            <a:off x="2427732" y="3304885"/>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3" name="Oval 32"/>
          <p:cNvSpPr/>
          <p:nvPr/>
        </p:nvSpPr>
        <p:spPr>
          <a:xfrm>
            <a:off x="2926079" y="3327745"/>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4" name="Oval 33"/>
          <p:cNvSpPr/>
          <p:nvPr/>
        </p:nvSpPr>
        <p:spPr>
          <a:xfrm>
            <a:off x="3378708" y="3304885"/>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5" name="Oval 34"/>
          <p:cNvSpPr/>
          <p:nvPr/>
        </p:nvSpPr>
        <p:spPr>
          <a:xfrm>
            <a:off x="3877056" y="3327745"/>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6" name="TextBox 35"/>
          <p:cNvSpPr txBox="1"/>
          <p:nvPr/>
        </p:nvSpPr>
        <p:spPr>
          <a:xfrm>
            <a:off x="4352544" y="3167165"/>
            <a:ext cx="3419856" cy="430887"/>
          </a:xfrm>
          <a:prstGeom prst="rect">
            <a:avLst/>
          </a:prstGeom>
          <a:noFill/>
        </p:spPr>
        <p:txBody>
          <a:bodyPr wrap="square" lIns="0" tIns="0" rIns="0" bIns="0" anchor="ctr">
            <a:spAutoFit/>
          </a:bodyPr>
          <a:lstStyle/>
          <a:p>
            <a:pPr algn="l"/>
            <a:r>
              <a:rPr lang="en-US" sz="1400" b="0" dirty="0">
                <a:solidFill>
                  <a:srgbClr val="16191F"/>
                </a:solidFill>
                <a:latin typeface="Calibri"/>
              </a:rPr>
              <a:t>A </a:t>
            </a:r>
            <a:r>
              <a:rPr lang="en-US" sz="1400" b="0" dirty="0" err="1">
                <a:solidFill>
                  <a:srgbClr val="16191F"/>
                </a:solidFill>
                <a:latin typeface="Calibri"/>
              </a:rPr>
              <a:t>microVM</a:t>
            </a:r>
            <a:r>
              <a:rPr lang="en-US" sz="1400" b="0" dirty="0">
                <a:solidFill>
                  <a:srgbClr val="16191F"/>
                </a:solidFill>
                <a:latin typeface="Calibri"/>
              </a:rPr>
              <a:t> per session and a Lambda per tool: one fault loses 1 session, not 40.</a:t>
            </a:r>
            <a:endParaRPr sz="1400" b="0" dirty="0">
              <a:solidFill>
                <a:srgbClr val="16191F"/>
              </a:solidFill>
              <a:latin typeface="Calibri"/>
            </a:endParaRPr>
          </a:p>
        </p:txBody>
      </p:sp>
      <p:sp>
        <p:nvSpPr>
          <p:cNvPr id="37" name="TextBox 36"/>
          <p:cNvSpPr txBox="1"/>
          <p:nvPr/>
        </p:nvSpPr>
        <p:spPr>
          <a:xfrm>
            <a:off x="8046719" y="3167165"/>
            <a:ext cx="3419856" cy="430887"/>
          </a:xfrm>
          <a:prstGeom prst="rect">
            <a:avLst/>
          </a:prstGeom>
          <a:noFill/>
        </p:spPr>
        <p:txBody>
          <a:bodyPr wrap="square" lIns="0" tIns="0" rIns="0" bIns="0" anchor="ctr">
            <a:spAutoFit/>
          </a:bodyPr>
          <a:lstStyle/>
          <a:p>
            <a:pPr algn="l"/>
            <a:r>
              <a:rPr sz="1400" b="0" dirty="0">
                <a:solidFill>
                  <a:srgbClr val="16191F"/>
                </a:solidFill>
                <a:highlight>
                  <a:srgbClr val="FFFF00"/>
                </a:highlight>
                <a:latin typeface="Calibri"/>
              </a:rPr>
              <a:t>The container stops being yours — no sidecars, no in-process cache.</a:t>
            </a:r>
          </a:p>
        </p:txBody>
      </p:sp>
      <p:sp>
        <p:nvSpPr>
          <p:cNvPr id="40" name="Rectangle 39"/>
          <p:cNvSpPr/>
          <p:nvPr/>
        </p:nvSpPr>
        <p:spPr>
          <a:xfrm>
            <a:off x="566928" y="3702650"/>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1" name="Rectangle 40"/>
          <p:cNvSpPr/>
          <p:nvPr/>
        </p:nvSpPr>
        <p:spPr>
          <a:xfrm>
            <a:off x="566928" y="4333586"/>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2" name="TextBox 41"/>
          <p:cNvSpPr txBox="1"/>
          <p:nvPr/>
        </p:nvSpPr>
        <p:spPr>
          <a:xfrm>
            <a:off x="658368" y="3899579"/>
            <a:ext cx="1517904" cy="246221"/>
          </a:xfrm>
          <a:prstGeom prst="rect">
            <a:avLst/>
          </a:prstGeom>
          <a:noFill/>
        </p:spPr>
        <p:txBody>
          <a:bodyPr wrap="square" lIns="0" tIns="0" rIns="0" bIns="0" anchor="ctr">
            <a:spAutoFit/>
          </a:bodyPr>
          <a:lstStyle/>
          <a:p>
            <a:pPr algn="l"/>
            <a:r>
              <a:rPr sz="1600" b="1">
                <a:solidFill>
                  <a:srgbClr val="232F3E"/>
                </a:solidFill>
                <a:latin typeface="Calibri"/>
              </a:rPr>
              <a:t>Security</a:t>
            </a:r>
          </a:p>
        </p:txBody>
      </p:sp>
      <p:sp>
        <p:nvSpPr>
          <p:cNvPr id="43" name="Oval 42"/>
          <p:cNvSpPr/>
          <p:nvPr/>
        </p:nvSpPr>
        <p:spPr>
          <a:xfrm>
            <a:off x="2427732" y="3944965"/>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4" name="Oval 43"/>
          <p:cNvSpPr/>
          <p:nvPr/>
        </p:nvSpPr>
        <p:spPr>
          <a:xfrm>
            <a:off x="2926079" y="3967826"/>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5" name="Oval 44"/>
          <p:cNvSpPr/>
          <p:nvPr/>
        </p:nvSpPr>
        <p:spPr>
          <a:xfrm>
            <a:off x="3378708" y="3944965"/>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6" name="Oval 45"/>
          <p:cNvSpPr/>
          <p:nvPr/>
        </p:nvSpPr>
        <p:spPr>
          <a:xfrm>
            <a:off x="3877056" y="3967826"/>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7" name="TextBox 46"/>
          <p:cNvSpPr txBox="1"/>
          <p:nvPr/>
        </p:nvSpPr>
        <p:spPr>
          <a:xfrm>
            <a:off x="4352544" y="3807246"/>
            <a:ext cx="3419856" cy="430887"/>
          </a:xfrm>
          <a:prstGeom prst="rect">
            <a:avLst/>
          </a:prstGeom>
          <a:noFill/>
        </p:spPr>
        <p:txBody>
          <a:bodyPr wrap="square" lIns="0" tIns="0" rIns="0" bIns="0" anchor="ctr">
            <a:spAutoFit/>
          </a:bodyPr>
          <a:lstStyle/>
          <a:p>
            <a:pPr algn="l"/>
            <a:r>
              <a:rPr sz="1400" b="0" dirty="0">
                <a:solidFill>
                  <a:srgbClr val="16191F"/>
                </a:solidFill>
                <a:highlight>
                  <a:srgbClr val="FFFF00"/>
                </a:highlight>
                <a:latin typeface="Calibri"/>
              </a:rPr>
              <a:t>Auth resolves per tool; a hijacked session reaches only its own tokens.</a:t>
            </a:r>
          </a:p>
        </p:txBody>
      </p:sp>
      <p:sp>
        <p:nvSpPr>
          <p:cNvPr id="48" name="TextBox 47"/>
          <p:cNvSpPr txBox="1"/>
          <p:nvPr/>
        </p:nvSpPr>
        <p:spPr>
          <a:xfrm>
            <a:off x="8046719" y="3807246"/>
            <a:ext cx="3419856" cy="430887"/>
          </a:xfrm>
          <a:prstGeom prst="rect">
            <a:avLst/>
          </a:prstGeom>
          <a:noFill/>
        </p:spPr>
        <p:txBody>
          <a:bodyPr wrap="square" lIns="0" tIns="0" rIns="0" bIns="0" anchor="ctr">
            <a:spAutoFit/>
          </a:bodyPr>
          <a:lstStyle/>
          <a:p>
            <a:pPr algn="l"/>
            <a:r>
              <a:rPr sz="1400" b="0" dirty="0">
                <a:solidFill>
                  <a:srgbClr val="16191F"/>
                </a:solidFill>
                <a:highlight>
                  <a:srgbClr val="FFFF00"/>
                </a:highlight>
                <a:latin typeface="Calibri"/>
              </a:rPr>
              <a:t>The isolation boundary is managed — you trust it, you cannot inspect it.</a:t>
            </a:r>
          </a:p>
        </p:txBody>
      </p:sp>
      <p:sp>
        <p:nvSpPr>
          <p:cNvPr id="51" name="Rectangle 50"/>
          <p:cNvSpPr/>
          <p:nvPr/>
        </p:nvSpPr>
        <p:spPr>
          <a:xfrm>
            <a:off x="566928" y="4973666"/>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1" name="Rectangle 60"/>
          <p:cNvSpPr/>
          <p:nvPr/>
        </p:nvSpPr>
        <p:spPr>
          <a:xfrm>
            <a:off x="566928" y="4982809"/>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2" name="Rectangle 61"/>
          <p:cNvSpPr/>
          <p:nvPr/>
        </p:nvSpPr>
        <p:spPr>
          <a:xfrm>
            <a:off x="563880" y="433358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3" name="TextBox 62"/>
          <p:cNvSpPr txBox="1"/>
          <p:nvPr/>
        </p:nvSpPr>
        <p:spPr>
          <a:xfrm>
            <a:off x="658368" y="5179739"/>
            <a:ext cx="1517904" cy="246221"/>
          </a:xfrm>
          <a:prstGeom prst="rect">
            <a:avLst/>
          </a:prstGeom>
          <a:noFill/>
        </p:spPr>
        <p:txBody>
          <a:bodyPr wrap="square" lIns="0" tIns="0" rIns="0" bIns="0" anchor="ctr">
            <a:spAutoFit/>
          </a:bodyPr>
          <a:lstStyle/>
          <a:p>
            <a:pPr algn="l"/>
            <a:r>
              <a:rPr lang="en-US" sz="1600" b="1" dirty="0">
                <a:solidFill>
                  <a:srgbClr val="232F3E"/>
                </a:solidFill>
                <a:latin typeface="Calibri"/>
              </a:rPr>
              <a:t>Observability </a:t>
            </a:r>
            <a:endParaRPr sz="1600" b="1" dirty="0">
              <a:solidFill>
                <a:srgbClr val="232F3E"/>
              </a:solidFill>
              <a:latin typeface="Calibri"/>
            </a:endParaRPr>
          </a:p>
        </p:txBody>
      </p:sp>
      <p:sp>
        <p:nvSpPr>
          <p:cNvPr id="64" name="Oval 63"/>
          <p:cNvSpPr/>
          <p:nvPr/>
        </p:nvSpPr>
        <p:spPr>
          <a:xfrm>
            <a:off x="2450592" y="5247985"/>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5" name="Oval 64"/>
          <p:cNvSpPr/>
          <p:nvPr/>
        </p:nvSpPr>
        <p:spPr>
          <a:xfrm>
            <a:off x="2926079" y="5247985"/>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6" name="Oval 65"/>
          <p:cNvSpPr/>
          <p:nvPr/>
        </p:nvSpPr>
        <p:spPr>
          <a:xfrm>
            <a:off x="3401568" y="5247985"/>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7" name="Oval 66"/>
          <p:cNvSpPr/>
          <p:nvPr/>
        </p:nvSpPr>
        <p:spPr>
          <a:xfrm>
            <a:off x="3854196" y="5225125"/>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8" name="TextBox 67"/>
          <p:cNvSpPr txBox="1"/>
          <p:nvPr/>
        </p:nvSpPr>
        <p:spPr>
          <a:xfrm>
            <a:off x="4352544" y="5087405"/>
            <a:ext cx="3419856" cy="430887"/>
          </a:xfrm>
          <a:prstGeom prst="rect">
            <a:avLst/>
          </a:prstGeom>
          <a:noFill/>
        </p:spPr>
        <p:txBody>
          <a:bodyPr wrap="square" lIns="0" tIns="0" rIns="0" bIns="0" anchor="ctr">
            <a:spAutoFit/>
          </a:bodyPr>
          <a:lstStyle/>
          <a:p>
            <a:pPr algn="l"/>
            <a:r>
              <a:rPr sz="1400" b="0" dirty="0">
                <a:solidFill>
                  <a:srgbClr val="16191F"/>
                </a:solidFill>
                <a:highlight>
                  <a:srgbClr val="FFFF00"/>
                </a:highlight>
                <a:latin typeface="Calibri"/>
              </a:rPr>
              <a:t>Hand-wired OTEL emits exactly the fields that decide an incident at 2am.</a:t>
            </a:r>
          </a:p>
        </p:txBody>
      </p:sp>
      <p:sp>
        <p:nvSpPr>
          <p:cNvPr id="69" name="TextBox 68"/>
          <p:cNvSpPr txBox="1"/>
          <p:nvPr/>
        </p:nvSpPr>
        <p:spPr>
          <a:xfrm>
            <a:off x="8046719" y="5087405"/>
            <a:ext cx="3419856" cy="430887"/>
          </a:xfrm>
          <a:prstGeom prst="rect">
            <a:avLst/>
          </a:prstGeom>
          <a:noFill/>
        </p:spPr>
        <p:txBody>
          <a:bodyPr wrap="square" lIns="0" tIns="0" rIns="0" bIns="0" anchor="ctr">
            <a:spAutoFit/>
          </a:bodyPr>
          <a:lstStyle/>
          <a:p>
            <a:pPr algn="l"/>
            <a:r>
              <a:rPr sz="1400" b="0" dirty="0">
                <a:solidFill>
                  <a:srgbClr val="16191F"/>
                </a:solidFill>
                <a:highlight>
                  <a:srgbClr val="FFFF00"/>
                </a:highlight>
                <a:latin typeface="Calibri"/>
              </a:rPr>
              <a:t>You write and maintain the span plumbing, plus a CloudWatch bill.</a:t>
            </a:r>
          </a:p>
        </p:txBody>
      </p:sp>
      <p:sp>
        <p:nvSpPr>
          <p:cNvPr id="72" name="Rectangle 71"/>
          <p:cNvSpPr/>
          <p:nvPr/>
        </p:nvSpPr>
        <p:spPr>
          <a:xfrm>
            <a:off x="563880" y="497366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3" name="TextBox 72"/>
          <p:cNvSpPr txBox="1"/>
          <p:nvPr/>
        </p:nvSpPr>
        <p:spPr>
          <a:xfrm>
            <a:off x="655320" y="4539657"/>
            <a:ext cx="1517904" cy="246221"/>
          </a:xfrm>
          <a:prstGeom prst="rect">
            <a:avLst/>
          </a:prstGeom>
          <a:noFill/>
        </p:spPr>
        <p:txBody>
          <a:bodyPr wrap="square" lIns="0" tIns="0" rIns="0" bIns="0" anchor="ctr">
            <a:spAutoFit/>
          </a:bodyPr>
          <a:lstStyle/>
          <a:p>
            <a:pPr algn="l"/>
            <a:r>
              <a:rPr sz="1600" b="1">
                <a:solidFill>
                  <a:srgbClr val="232F3E"/>
                </a:solidFill>
                <a:latin typeface="Calibri"/>
              </a:rPr>
              <a:t>Latency</a:t>
            </a:r>
          </a:p>
        </p:txBody>
      </p:sp>
      <p:sp>
        <p:nvSpPr>
          <p:cNvPr id="74" name="Oval 73"/>
          <p:cNvSpPr/>
          <p:nvPr/>
        </p:nvSpPr>
        <p:spPr>
          <a:xfrm>
            <a:off x="2424684" y="458504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5" name="Oval 74"/>
          <p:cNvSpPr/>
          <p:nvPr/>
        </p:nvSpPr>
        <p:spPr>
          <a:xfrm>
            <a:off x="2923031" y="460790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6" name="Oval 75"/>
          <p:cNvSpPr/>
          <p:nvPr/>
        </p:nvSpPr>
        <p:spPr>
          <a:xfrm>
            <a:off x="3375660" y="458504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7" name="Oval 76"/>
          <p:cNvSpPr/>
          <p:nvPr/>
        </p:nvSpPr>
        <p:spPr>
          <a:xfrm>
            <a:off x="3874008" y="460790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8" name="TextBox 77"/>
          <p:cNvSpPr txBox="1"/>
          <p:nvPr/>
        </p:nvSpPr>
        <p:spPr>
          <a:xfrm>
            <a:off x="4349496" y="4447324"/>
            <a:ext cx="3419856" cy="430887"/>
          </a:xfrm>
          <a:prstGeom prst="rect">
            <a:avLst/>
          </a:prstGeom>
          <a:noFill/>
        </p:spPr>
        <p:txBody>
          <a:bodyPr wrap="square" lIns="0" tIns="0" rIns="0" bIns="0" anchor="ctr">
            <a:spAutoFit/>
          </a:bodyPr>
          <a:lstStyle/>
          <a:p>
            <a:pPr algn="l"/>
            <a:r>
              <a:rPr sz="1400" b="0">
                <a:solidFill>
                  <a:srgbClr val="16191F"/>
                </a:solidFill>
                <a:highlight>
                  <a:srgbClr val="FFFF00"/>
                </a:highlight>
                <a:latin typeface="Calibri"/>
              </a:rPr>
              <a:t>In-process tools on a warm task — a turn never waits on a hop.</a:t>
            </a:r>
          </a:p>
        </p:txBody>
      </p:sp>
      <p:sp>
        <p:nvSpPr>
          <p:cNvPr id="79" name="TextBox 78"/>
          <p:cNvSpPr txBox="1"/>
          <p:nvPr/>
        </p:nvSpPr>
        <p:spPr>
          <a:xfrm>
            <a:off x="8043671" y="4447324"/>
            <a:ext cx="3419856" cy="430887"/>
          </a:xfrm>
          <a:prstGeom prst="rect">
            <a:avLst/>
          </a:prstGeom>
          <a:noFill/>
        </p:spPr>
        <p:txBody>
          <a:bodyPr wrap="square" lIns="0" tIns="0" rIns="0" bIns="0" anchor="ctr">
            <a:spAutoFit/>
          </a:bodyPr>
          <a:lstStyle/>
          <a:p>
            <a:pPr algn="l"/>
            <a:r>
              <a:rPr sz="1400" b="0" dirty="0">
                <a:solidFill>
                  <a:srgbClr val="16191F"/>
                </a:solidFill>
                <a:highlight>
                  <a:srgbClr val="FFFF00"/>
                </a:highlight>
                <a:latin typeface="Calibri"/>
              </a:rPr>
              <a:t>Engine B cold-starts an idle session and pays a Gateway hop per tool call.</a:t>
            </a:r>
          </a:p>
        </p:txBody>
      </p:sp>
      <p:sp>
        <p:nvSpPr>
          <p:cNvPr id="89" name="Rounded Rectangle 88">
            <a:extLst>
              <a:ext uri="{FF2B5EF4-FFF2-40B4-BE49-F238E27FC236}">
                <a16:creationId xmlns:a16="http://schemas.microsoft.com/office/drawing/2014/main" id="{D303AF6C-0786-B509-F544-093B93AF00AF}"/>
              </a:ext>
            </a:extLst>
          </p:cNvPr>
          <p:cNvSpPr/>
          <p:nvPr/>
        </p:nvSpPr>
        <p:spPr>
          <a:xfrm>
            <a:off x="-4344921" y="3452333"/>
            <a:ext cx="2735577"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split isn’t so good, we </a:t>
            </a:r>
            <a:r>
              <a:rPr lang="en-US" dirty="0" err="1">
                <a:solidFill>
                  <a:srgbClr val="FF0000"/>
                </a:solidFill>
                <a:highlight>
                  <a:srgbClr val="FFFF00"/>
                </a:highlight>
              </a:rPr>
              <a:t>nned</a:t>
            </a:r>
            <a:r>
              <a:rPr lang="en-US" dirty="0">
                <a:solidFill>
                  <a:srgbClr val="FF0000"/>
                </a:solidFill>
                <a:highlight>
                  <a:srgbClr val="FFFF00"/>
                </a:highlight>
              </a:rPr>
              <a:t> 4 sections, lets </a:t>
            </a:r>
            <a:r>
              <a:rPr lang="en-US" dirty="0" err="1">
                <a:solidFill>
                  <a:srgbClr val="FF0000"/>
                </a:solidFill>
                <a:highlight>
                  <a:srgbClr val="FFFF00"/>
                </a:highlight>
              </a:rPr>
              <a:t>thignk</a:t>
            </a:r>
            <a:r>
              <a:rPr lang="en-US" dirty="0">
                <a:solidFill>
                  <a:srgbClr val="FF0000"/>
                </a:solidFill>
                <a:highlight>
                  <a:srgbClr val="FFFF00"/>
                </a:highlight>
              </a:rPr>
              <a:t> on it together</a:t>
            </a:r>
            <a:endParaRPr dirty="0">
              <a:solidFill>
                <a:srgbClr val="FF0000"/>
              </a:solidFill>
              <a:highlight>
                <a:srgbClr val="FF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2A938-A591-04E9-E1D0-34A741919B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2C5000-38B5-B7F7-8194-CBCAAD665308}"/>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2E31C238-03E9-AF22-4DFE-DC052343394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315DD0C-8028-2C9A-2E94-F833312D28C8}"/>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9BA7CB36-70FD-70A8-F505-6D132C8145E2}"/>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Where the money actually goes</a:t>
            </a:r>
            <a:endParaRPr sz="3000" b="1" i="0" dirty="0">
              <a:solidFill>
                <a:srgbClr val="232F3E"/>
              </a:solidFill>
              <a:latin typeface="Calibri"/>
            </a:endParaRPr>
          </a:p>
        </p:txBody>
      </p:sp>
      <p:sp>
        <p:nvSpPr>
          <p:cNvPr id="6" name="Rectangle 5">
            <a:extLst>
              <a:ext uri="{FF2B5EF4-FFF2-40B4-BE49-F238E27FC236}">
                <a16:creationId xmlns:a16="http://schemas.microsoft.com/office/drawing/2014/main" id="{D869C3E2-14DB-CD4C-EFAC-5927D6AFFF8C}"/>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6651044-2676-7AA3-6891-F43271C0FA37}"/>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bill splits three ways — fixed, per user, per turn. Only one of them decides the 13.8×.</a:t>
            </a:r>
          </a:p>
        </p:txBody>
      </p:sp>
      <p:sp>
        <p:nvSpPr>
          <p:cNvPr id="8" name="TextBox 7">
            <a:extLst>
              <a:ext uri="{FF2B5EF4-FFF2-40B4-BE49-F238E27FC236}">
                <a16:creationId xmlns:a16="http://schemas.microsoft.com/office/drawing/2014/main" id="{1EAB9537-2064-6B9D-4740-976BF23A7D2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158793DC-8340-D2DE-95EF-FDB50CBDBC97}"/>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6" name="Rectangle 85"/>
          <p:cNvSpPr/>
          <p:nvPr/>
        </p:nvSpPr>
        <p:spPr>
          <a:xfrm>
            <a:off x="566928"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566928" y="1737360"/>
            <a:ext cx="45720" cy="1810512"/>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731520" y="1828800"/>
            <a:ext cx="3310128" cy="219456"/>
          </a:xfrm>
          <a:prstGeom prst="rect">
            <a:avLst/>
          </a:prstGeom>
          <a:noFill/>
        </p:spPr>
        <p:txBody>
          <a:bodyPr wrap="square" lIns="0" tIns="0" rIns="0" bIns="0" anchor="t">
            <a:spAutoFit/>
          </a:bodyPr>
          <a:lstStyle/>
          <a:p>
            <a:pPr algn="l">
              <a:spcAft>
                <a:spcPts val="200"/>
              </a:spcAft>
            </a:pPr>
            <a:r>
              <a:rPr sz="1000" b="1">
                <a:solidFill>
                  <a:srgbClr val="232F3E"/>
                </a:solidFill>
                <a:latin typeface="Calibri"/>
              </a:rPr>
              <a:t>FIXED  ·  paid at zero usage</a:t>
            </a:r>
          </a:p>
        </p:txBody>
      </p:sp>
      <p:sp>
        <p:nvSpPr>
          <p:cNvPr id="89" name="TextBox 88"/>
          <p:cNvSpPr txBox="1"/>
          <p:nvPr/>
        </p:nvSpPr>
        <p:spPr>
          <a:xfrm>
            <a:off x="731520" y="2139696"/>
            <a:ext cx="960120" cy="182880"/>
          </a:xfrm>
          <a:prstGeom prst="rect">
            <a:avLst/>
          </a:prstGeom>
          <a:noFill/>
        </p:spPr>
        <p:txBody>
          <a:bodyPr wrap="square" lIns="0" tIns="0" rIns="0" bIns="0" anchor="t">
            <a:spAutoFit/>
          </a:bodyPr>
          <a:lstStyle/>
          <a:p>
            <a:pPr algn="l">
              <a:spcAft>
                <a:spcPts val="200"/>
              </a:spcAft>
            </a:pPr>
            <a:r>
              <a:rPr sz="850" b="1">
                <a:solidFill>
                  <a:srgbClr val="232F3E"/>
                </a:solidFill>
                <a:latin typeface="Calibri"/>
              </a:rPr>
              <a:t>A · DIY</a:t>
            </a:r>
          </a:p>
        </p:txBody>
      </p:sp>
      <p:sp>
        <p:nvSpPr>
          <p:cNvPr id="90" name="TextBox 89"/>
          <p:cNvSpPr txBox="1"/>
          <p:nvPr/>
        </p:nvSpPr>
        <p:spPr>
          <a:xfrm>
            <a:off x="1737360" y="2103120"/>
            <a:ext cx="2304288" cy="237744"/>
          </a:xfrm>
          <a:prstGeom prst="rect">
            <a:avLst/>
          </a:prstGeom>
          <a:noFill/>
        </p:spPr>
        <p:txBody>
          <a:bodyPr wrap="square" lIns="0" tIns="0" rIns="0" bIns="0" anchor="t">
            <a:spAutoFit/>
          </a:bodyPr>
          <a:lstStyle/>
          <a:p>
            <a:pPr algn="l">
              <a:spcAft>
                <a:spcPts val="200"/>
              </a:spcAft>
            </a:pPr>
            <a:r>
              <a:rPr sz="1300" b="1">
                <a:solidFill>
                  <a:srgbClr val="232F3E"/>
                </a:solidFill>
                <a:latin typeface="Calibri"/>
              </a:rPr>
              <a:t>$18.02 / mo</a:t>
            </a:r>
          </a:p>
        </p:txBody>
      </p:sp>
      <p:sp>
        <p:nvSpPr>
          <p:cNvPr id="91" name="TextBox 90"/>
          <p:cNvSpPr txBox="1"/>
          <p:nvPr/>
        </p:nvSpPr>
        <p:spPr>
          <a:xfrm>
            <a:off x="731520" y="2340864"/>
            <a:ext cx="3310128" cy="310896"/>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one always-on Fargate task — 0.5 vCPU, 1 GiB, 730 h</a:t>
            </a:r>
          </a:p>
        </p:txBody>
      </p:sp>
      <p:sp>
        <p:nvSpPr>
          <p:cNvPr id="92" name="TextBox 91"/>
          <p:cNvSpPr txBox="1"/>
          <p:nvPr/>
        </p:nvSpPr>
        <p:spPr>
          <a:xfrm>
            <a:off x="731520" y="2706624"/>
            <a:ext cx="960120" cy="182880"/>
          </a:xfrm>
          <a:prstGeom prst="rect">
            <a:avLst/>
          </a:prstGeom>
          <a:noFill/>
        </p:spPr>
        <p:txBody>
          <a:bodyPr wrap="square" lIns="0" tIns="0" rIns="0" bIns="0" anchor="t">
            <a:spAutoFit/>
          </a:bodyPr>
          <a:lstStyle/>
          <a:p>
            <a:pPr algn="l">
              <a:spcAft>
                <a:spcPts val="200"/>
              </a:spcAft>
            </a:pPr>
            <a:r>
              <a:rPr sz="850" b="1">
                <a:solidFill>
                  <a:srgbClr val="1E7C3C"/>
                </a:solidFill>
                <a:latin typeface="Calibri"/>
              </a:rPr>
              <a:t>B · AgentCore</a:t>
            </a:r>
          </a:p>
        </p:txBody>
      </p:sp>
      <p:sp>
        <p:nvSpPr>
          <p:cNvPr id="93" name="TextBox 92"/>
          <p:cNvSpPr txBox="1"/>
          <p:nvPr/>
        </p:nvSpPr>
        <p:spPr>
          <a:xfrm>
            <a:off x="1737360" y="2670048"/>
            <a:ext cx="2304288" cy="237744"/>
          </a:xfrm>
          <a:prstGeom prst="rect">
            <a:avLst/>
          </a:prstGeom>
          <a:noFill/>
        </p:spPr>
        <p:txBody>
          <a:bodyPr wrap="square" lIns="0" tIns="0" rIns="0" bIns="0" anchor="t">
            <a:spAutoFit/>
          </a:bodyPr>
          <a:lstStyle/>
          <a:p>
            <a:pPr algn="l">
              <a:spcAft>
                <a:spcPts val="200"/>
              </a:spcAft>
            </a:pPr>
            <a:r>
              <a:rPr sz="1300" b="1">
                <a:solidFill>
                  <a:srgbClr val="1E7C3C"/>
                </a:solidFill>
                <a:latin typeface="Calibri"/>
              </a:rPr>
              <a:t>$0.0006 / mo</a:t>
            </a:r>
          </a:p>
        </p:txBody>
      </p:sp>
      <p:sp>
        <p:nvSpPr>
          <p:cNvPr id="94" name="TextBox 93"/>
          <p:cNvSpPr txBox="1"/>
          <p:nvPr/>
        </p:nvSpPr>
        <p:spPr>
          <a:xfrm>
            <a:off x="731520" y="2907792"/>
            <a:ext cx="3310128" cy="310896"/>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3 tools indexed in Gateway</a:t>
            </a:r>
          </a:p>
        </p:txBody>
      </p:sp>
      <p:sp>
        <p:nvSpPr>
          <p:cNvPr id="95" name="TextBox 94"/>
          <p:cNvSpPr txBox="1"/>
          <p:nvPr/>
        </p:nvSpPr>
        <p:spPr>
          <a:xfrm>
            <a:off x="731520" y="3310128"/>
            <a:ext cx="3310128" cy="201168"/>
          </a:xfrm>
          <a:prstGeom prst="rect">
            <a:avLst/>
          </a:prstGeom>
          <a:noFill/>
        </p:spPr>
        <p:txBody>
          <a:bodyPr wrap="square" lIns="0" tIns="0" rIns="0" bIns="0" anchor="t">
            <a:spAutoFit/>
          </a:bodyPr>
          <a:lstStyle/>
          <a:p>
            <a:pPr algn="l">
              <a:spcAft>
                <a:spcPts val="200"/>
              </a:spcAft>
            </a:pPr>
            <a:r>
              <a:rPr sz="950" b="1">
                <a:solidFill>
                  <a:srgbClr val="232F3E"/>
                </a:solidFill>
                <a:latin typeface="Calibri"/>
              </a:rPr>
              <a:t>→  engine A's floor is ≈30,000× engine B's</a:t>
            </a:r>
          </a:p>
        </p:txBody>
      </p:sp>
      <p:sp>
        <p:nvSpPr>
          <p:cNvPr id="96" name="Rectangle 95"/>
          <p:cNvSpPr/>
          <p:nvPr/>
        </p:nvSpPr>
        <p:spPr>
          <a:xfrm>
            <a:off x="4279392"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4279392" y="1737360"/>
            <a:ext cx="45720" cy="1810512"/>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4443983" y="1828800"/>
            <a:ext cx="3310128" cy="219456"/>
          </a:xfrm>
          <a:prstGeom prst="rect">
            <a:avLst/>
          </a:prstGeom>
          <a:noFill/>
        </p:spPr>
        <p:txBody>
          <a:bodyPr wrap="square" lIns="0" tIns="0" rIns="0" bIns="0" anchor="t">
            <a:spAutoFit/>
          </a:bodyPr>
          <a:lstStyle/>
          <a:p>
            <a:pPr algn="l">
              <a:spcAft>
                <a:spcPts val="200"/>
              </a:spcAft>
            </a:pPr>
            <a:r>
              <a:rPr sz="1000" b="1">
                <a:solidFill>
                  <a:srgbClr val="232F3E"/>
                </a:solidFill>
                <a:latin typeface="Calibri"/>
              </a:rPr>
              <a:t>PER USER / MONTH  ·  however much they talk</a:t>
            </a:r>
          </a:p>
        </p:txBody>
      </p:sp>
      <p:sp>
        <p:nvSpPr>
          <p:cNvPr id="99" name="TextBox 98"/>
          <p:cNvSpPr txBox="1"/>
          <p:nvPr/>
        </p:nvSpPr>
        <p:spPr>
          <a:xfrm>
            <a:off x="4443983" y="2139696"/>
            <a:ext cx="960120" cy="182880"/>
          </a:xfrm>
          <a:prstGeom prst="rect">
            <a:avLst/>
          </a:prstGeom>
          <a:noFill/>
        </p:spPr>
        <p:txBody>
          <a:bodyPr wrap="square" lIns="0" tIns="0" rIns="0" bIns="0" anchor="t">
            <a:spAutoFit/>
          </a:bodyPr>
          <a:lstStyle/>
          <a:p>
            <a:pPr algn="l">
              <a:spcAft>
                <a:spcPts val="200"/>
              </a:spcAft>
            </a:pPr>
            <a:r>
              <a:rPr sz="850" b="1">
                <a:solidFill>
                  <a:srgbClr val="232F3E"/>
                </a:solidFill>
                <a:latin typeface="Calibri"/>
              </a:rPr>
              <a:t>A · DIY</a:t>
            </a:r>
          </a:p>
        </p:txBody>
      </p:sp>
      <p:sp>
        <p:nvSpPr>
          <p:cNvPr id="100" name="TextBox 99"/>
          <p:cNvSpPr txBox="1"/>
          <p:nvPr/>
        </p:nvSpPr>
        <p:spPr>
          <a:xfrm>
            <a:off x="5449824" y="2103120"/>
            <a:ext cx="2304288" cy="237744"/>
          </a:xfrm>
          <a:prstGeom prst="rect">
            <a:avLst/>
          </a:prstGeom>
          <a:noFill/>
        </p:spPr>
        <p:txBody>
          <a:bodyPr wrap="square" lIns="0" tIns="0" rIns="0" bIns="0" anchor="t">
            <a:spAutoFit/>
          </a:bodyPr>
          <a:lstStyle/>
          <a:p>
            <a:pPr algn="l">
              <a:spcAft>
                <a:spcPts val="200"/>
              </a:spcAft>
            </a:pPr>
            <a:r>
              <a:rPr sz="1300" b="1">
                <a:solidFill>
                  <a:srgbClr val="232F3E"/>
                </a:solidFill>
                <a:latin typeface="Calibri"/>
              </a:rPr>
              <a:t>$0.000023</a:t>
            </a:r>
          </a:p>
        </p:txBody>
      </p:sp>
      <p:sp>
        <p:nvSpPr>
          <p:cNvPr id="101" name="TextBox 100"/>
          <p:cNvSpPr txBox="1"/>
          <p:nvPr/>
        </p:nvSpPr>
        <p:spPr>
          <a:xfrm>
            <a:off x="4443983" y="2340864"/>
            <a:ext cx="3310128" cy="310896"/>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DynamoDB storage + PITR</a:t>
            </a:r>
          </a:p>
        </p:txBody>
      </p:sp>
      <p:sp>
        <p:nvSpPr>
          <p:cNvPr id="102" name="TextBox 101"/>
          <p:cNvSpPr txBox="1"/>
          <p:nvPr/>
        </p:nvSpPr>
        <p:spPr>
          <a:xfrm>
            <a:off x="4443983" y="2706624"/>
            <a:ext cx="960120" cy="182880"/>
          </a:xfrm>
          <a:prstGeom prst="rect">
            <a:avLst/>
          </a:prstGeom>
          <a:noFill/>
        </p:spPr>
        <p:txBody>
          <a:bodyPr wrap="square" lIns="0" tIns="0" rIns="0" bIns="0" anchor="t">
            <a:spAutoFit/>
          </a:bodyPr>
          <a:lstStyle/>
          <a:p>
            <a:pPr algn="l">
              <a:spcAft>
                <a:spcPts val="200"/>
              </a:spcAft>
            </a:pPr>
            <a:r>
              <a:rPr sz="850" b="1">
                <a:solidFill>
                  <a:srgbClr val="1E7C3C"/>
                </a:solidFill>
                <a:latin typeface="Calibri"/>
              </a:rPr>
              <a:t>B · AgentCore</a:t>
            </a:r>
          </a:p>
        </p:txBody>
      </p:sp>
      <p:sp>
        <p:nvSpPr>
          <p:cNvPr id="103" name="TextBox 102"/>
          <p:cNvSpPr txBox="1"/>
          <p:nvPr/>
        </p:nvSpPr>
        <p:spPr>
          <a:xfrm>
            <a:off x="5449824" y="2670048"/>
            <a:ext cx="2304288" cy="237744"/>
          </a:xfrm>
          <a:prstGeom prst="rect">
            <a:avLst/>
          </a:prstGeom>
          <a:noFill/>
        </p:spPr>
        <p:txBody>
          <a:bodyPr wrap="square" lIns="0" tIns="0" rIns="0" bIns="0" anchor="t">
            <a:spAutoFit/>
          </a:bodyPr>
          <a:lstStyle/>
          <a:p>
            <a:pPr algn="l">
              <a:spcAft>
                <a:spcPts val="200"/>
              </a:spcAft>
            </a:pPr>
            <a:r>
              <a:rPr sz="1300" b="1">
                <a:solidFill>
                  <a:srgbClr val="1E7C3C"/>
                </a:solidFill>
                <a:latin typeface="Calibri"/>
              </a:rPr>
              <a:t>$0.0195</a:t>
            </a:r>
          </a:p>
        </p:txBody>
      </p:sp>
      <p:sp>
        <p:nvSpPr>
          <p:cNvPr id="104" name="TextBox 103"/>
          <p:cNvSpPr txBox="1"/>
          <p:nvPr/>
        </p:nvSpPr>
        <p:spPr>
          <a:xfrm>
            <a:off x="4443983" y="2907792"/>
            <a:ext cx="3310128" cy="310896"/>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26 Memory records at $0.75 / 1k</a:t>
            </a:r>
          </a:p>
        </p:txBody>
      </p:sp>
      <p:sp>
        <p:nvSpPr>
          <p:cNvPr id="105" name="TextBox 104"/>
          <p:cNvSpPr txBox="1"/>
          <p:nvPr/>
        </p:nvSpPr>
        <p:spPr>
          <a:xfrm>
            <a:off x="4443983" y="3310128"/>
            <a:ext cx="3310128" cy="201168"/>
          </a:xfrm>
          <a:prstGeom prst="rect">
            <a:avLst/>
          </a:prstGeom>
          <a:noFill/>
        </p:spPr>
        <p:txBody>
          <a:bodyPr wrap="square" lIns="0" tIns="0" rIns="0" bIns="0" anchor="t">
            <a:spAutoFit/>
          </a:bodyPr>
          <a:lstStyle/>
          <a:p>
            <a:pPr algn="l">
              <a:spcAft>
                <a:spcPts val="200"/>
              </a:spcAft>
            </a:pPr>
            <a:r>
              <a:rPr sz="950" b="1">
                <a:solidFill>
                  <a:srgbClr val="232F3E"/>
                </a:solidFill>
                <a:latin typeface="Calibri"/>
              </a:rPr>
              <a:t>→  engine B is 848× dearer here</a:t>
            </a:r>
          </a:p>
        </p:txBody>
      </p:sp>
      <p:sp>
        <p:nvSpPr>
          <p:cNvPr id="106" name="Rectangle 105"/>
          <p:cNvSpPr/>
          <p:nvPr/>
        </p:nvSpPr>
        <p:spPr>
          <a:xfrm>
            <a:off x="7991856" y="1737360"/>
            <a:ext cx="3621024" cy="181051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Rectangle 106"/>
          <p:cNvSpPr/>
          <p:nvPr/>
        </p:nvSpPr>
        <p:spPr>
          <a:xfrm>
            <a:off x="7991856" y="1737360"/>
            <a:ext cx="45720" cy="181051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8156448" y="1828800"/>
            <a:ext cx="3310128" cy="219456"/>
          </a:xfrm>
          <a:prstGeom prst="rect">
            <a:avLst/>
          </a:prstGeom>
          <a:noFill/>
        </p:spPr>
        <p:txBody>
          <a:bodyPr wrap="square" lIns="0" tIns="0" rIns="0" bIns="0" anchor="t">
            <a:spAutoFit/>
          </a:bodyPr>
          <a:lstStyle/>
          <a:p>
            <a:pPr algn="l">
              <a:spcAft>
                <a:spcPts val="200"/>
              </a:spcAft>
            </a:pPr>
            <a:r>
              <a:rPr sz="1000" b="1">
                <a:solidFill>
                  <a:srgbClr val="FF9900"/>
                </a:solidFill>
                <a:latin typeface="Calibri"/>
              </a:rPr>
              <a:t>PER TURN  ·  the only line that scales</a:t>
            </a:r>
          </a:p>
        </p:txBody>
      </p:sp>
      <p:sp>
        <p:nvSpPr>
          <p:cNvPr id="109" name="TextBox 108"/>
          <p:cNvSpPr txBox="1"/>
          <p:nvPr/>
        </p:nvSpPr>
        <p:spPr>
          <a:xfrm>
            <a:off x="8156448" y="2139696"/>
            <a:ext cx="960120" cy="182880"/>
          </a:xfrm>
          <a:prstGeom prst="rect">
            <a:avLst/>
          </a:prstGeom>
          <a:noFill/>
        </p:spPr>
        <p:txBody>
          <a:bodyPr wrap="square" lIns="0" tIns="0" rIns="0" bIns="0" anchor="t">
            <a:spAutoFit/>
          </a:bodyPr>
          <a:lstStyle/>
          <a:p>
            <a:pPr algn="l">
              <a:spcAft>
                <a:spcPts val="200"/>
              </a:spcAft>
            </a:pPr>
            <a:r>
              <a:rPr sz="850" b="1">
                <a:solidFill>
                  <a:srgbClr val="232F3E"/>
                </a:solidFill>
                <a:latin typeface="Calibri"/>
              </a:rPr>
              <a:t>A · DIY</a:t>
            </a:r>
          </a:p>
        </p:txBody>
      </p:sp>
      <p:sp>
        <p:nvSpPr>
          <p:cNvPr id="110" name="TextBox 109"/>
          <p:cNvSpPr txBox="1"/>
          <p:nvPr/>
        </p:nvSpPr>
        <p:spPr>
          <a:xfrm>
            <a:off x="9162288" y="2103120"/>
            <a:ext cx="2304288" cy="237744"/>
          </a:xfrm>
          <a:prstGeom prst="rect">
            <a:avLst/>
          </a:prstGeom>
          <a:noFill/>
        </p:spPr>
        <p:txBody>
          <a:bodyPr wrap="square" lIns="0" tIns="0" rIns="0" bIns="0" anchor="t">
            <a:spAutoFit/>
          </a:bodyPr>
          <a:lstStyle/>
          <a:p>
            <a:pPr algn="l">
              <a:spcAft>
                <a:spcPts val="200"/>
              </a:spcAft>
            </a:pPr>
            <a:r>
              <a:rPr sz="1300" b="1">
                <a:solidFill>
                  <a:srgbClr val="232F3E"/>
                </a:solidFill>
                <a:latin typeface="Calibri"/>
              </a:rPr>
              <a:t>$0.013326</a:t>
            </a:r>
          </a:p>
        </p:txBody>
      </p:sp>
      <p:sp>
        <p:nvSpPr>
          <p:cNvPr id="111" name="TextBox 110"/>
          <p:cNvSpPr txBox="1"/>
          <p:nvPr/>
        </p:nvSpPr>
        <p:spPr>
          <a:xfrm>
            <a:off x="8156448" y="2340864"/>
            <a:ext cx="3310128" cy="310896"/>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2nd Bedrock call $0.013320  +  DynamoDB $0.0000061</a:t>
            </a:r>
          </a:p>
        </p:txBody>
      </p:sp>
      <p:sp>
        <p:nvSpPr>
          <p:cNvPr id="112" name="TextBox 111"/>
          <p:cNvSpPr txBox="1"/>
          <p:nvPr/>
        </p:nvSpPr>
        <p:spPr>
          <a:xfrm>
            <a:off x="8156448" y="2706624"/>
            <a:ext cx="960120" cy="182880"/>
          </a:xfrm>
          <a:prstGeom prst="rect">
            <a:avLst/>
          </a:prstGeom>
          <a:noFill/>
        </p:spPr>
        <p:txBody>
          <a:bodyPr wrap="square" lIns="0" tIns="0" rIns="0" bIns="0" anchor="t">
            <a:spAutoFit/>
          </a:bodyPr>
          <a:lstStyle/>
          <a:p>
            <a:pPr algn="l">
              <a:spcAft>
                <a:spcPts val="200"/>
              </a:spcAft>
            </a:pPr>
            <a:r>
              <a:rPr sz="850" b="1">
                <a:solidFill>
                  <a:srgbClr val="1E7C3C"/>
                </a:solidFill>
                <a:latin typeface="Calibri"/>
              </a:rPr>
              <a:t>B · AgentCore</a:t>
            </a:r>
          </a:p>
        </p:txBody>
      </p:sp>
      <p:sp>
        <p:nvSpPr>
          <p:cNvPr id="113" name="TextBox 112"/>
          <p:cNvSpPr txBox="1"/>
          <p:nvPr/>
        </p:nvSpPr>
        <p:spPr>
          <a:xfrm>
            <a:off x="9162288" y="2670048"/>
            <a:ext cx="2304288" cy="237744"/>
          </a:xfrm>
          <a:prstGeom prst="rect">
            <a:avLst/>
          </a:prstGeom>
          <a:noFill/>
        </p:spPr>
        <p:txBody>
          <a:bodyPr wrap="square" lIns="0" tIns="0" rIns="0" bIns="0" anchor="t">
            <a:spAutoFit/>
          </a:bodyPr>
          <a:lstStyle/>
          <a:p>
            <a:pPr algn="l">
              <a:spcAft>
                <a:spcPts val="200"/>
              </a:spcAft>
            </a:pPr>
            <a:r>
              <a:rPr sz="1300" b="1">
                <a:solidFill>
                  <a:srgbClr val="1E7C3C"/>
                </a:solidFill>
                <a:latin typeface="Calibri"/>
              </a:rPr>
              <a:t>$0.0008022</a:t>
            </a:r>
          </a:p>
        </p:txBody>
      </p:sp>
      <p:sp>
        <p:nvSpPr>
          <p:cNvPr id="114" name="TextBox 113"/>
          <p:cNvSpPr txBox="1"/>
          <p:nvPr/>
        </p:nvSpPr>
        <p:spPr>
          <a:xfrm>
            <a:off x="8156448" y="2907792"/>
            <a:ext cx="3310128" cy="310896"/>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Memory $0.00075  +  Runtime $0.0000452  +  Gateway $0.000014</a:t>
            </a:r>
          </a:p>
        </p:txBody>
      </p:sp>
      <p:sp>
        <p:nvSpPr>
          <p:cNvPr id="115" name="TextBox 114"/>
          <p:cNvSpPr txBox="1"/>
          <p:nvPr/>
        </p:nvSpPr>
        <p:spPr>
          <a:xfrm>
            <a:off x="8156448" y="3310128"/>
            <a:ext cx="3310128" cy="201168"/>
          </a:xfrm>
          <a:prstGeom prst="rect">
            <a:avLst/>
          </a:prstGeom>
          <a:noFill/>
        </p:spPr>
        <p:txBody>
          <a:bodyPr wrap="square" lIns="0" tIns="0" rIns="0" bIns="0" anchor="t">
            <a:spAutoFit/>
          </a:bodyPr>
          <a:lstStyle/>
          <a:p>
            <a:pPr algn="l">
              <a:spcAft>
                <a:spcPts val="200"/>
              </a:spcAft>
            </a:pPr>
            <a:r>
              <a:rPr sz="950" b="1">
                <a:solidFill>
                  <a:srgbClr val="FF9900"/>
                </a:solidFill>
                <a:latin typeface="Calibri"/>
              </a:rPr>
              <a:t>→  engine A is 16.6× dearer</a:t>
            </a:r>
          </a:p>
        </p:txBody>
      </p:sp>
      <p:sp>
        <p:nvSpPr>
          <p:cNvPr id="116" name="Rounded Rectangle 115"/>
          <p:cNvSpPr/>
          <p:nvPr/>
        </p:nvSpPr>
        <p:spPr>
          <a:xfrm>
            <a:off x="566928" y="3639312"/>
            <a:ext cx="11064240" cy="713232"/>
          </a:xfrm>
          <a:prstGeom prst="roundRect">
            <a:avLst>
              <a:gd name="adj" fmla="val 1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786384" y="3730752"/>
            <a:ext cx="10625328" cy="566928"/>
          </a:xfrm>
          <a:prstGeom prst="rect">
            <a:avLst/>
          </a:prstGeom>
          <a:noFill/>
        </p:spPr>
        <p:txBody>
          <a:bodyPr wrap="square" lIns="0" tIns="0" rIns="0" bIns="0" anchor="t">
            <a:spAutoFit/>
          </a:bodyPr>
          <a:lstStyle/>
          <a:p>
            <a:pPr algn="l">
              <a:spcAft>
                <a:spcPts val="200"/>
              </a:spcAft>
            </a:pPr>
            <a:r>
              <a:rPr sz="1100" b="1">
                <a:solidFill>
                  <a:srgbClr val="232F3E"/>
                </a:solidFill>
                <a:latin typeface="Calibri"/>
              </a:rPr>
              <a:t>99.95% of engine A's per-turn cost is a single line: the second Bedrock call we wrote.</a:t>
            </a:r>
          </a:p>
          <a:p>
            <a:pPr algn="l">
              <a:spcAft>
                <a:spcPts val="200"/>
              </a:spcAft>
            </a:pPr>
            <a:r>
              <a:rPr sz="1100" b="1">
                <a:solidFill>
                  <a:srgbClr val="232F3E"/>
                </a:solidFill>
                <a:latin typeface="Calibri"/>
              </a:rPr>
              <a:t>Strip it out and DIY costs $0.0000061 a turn — 132× CHEAPER than AgentCore. The 13.8× headline is a verdict on that one call, not on the two platforms.</a:t>
            </a:r>
          </a:p>
        </p:txBody>
      </p:sp>
      <p:sp>
        <p:nvSpPr>
          <p:cNvPr id="118" name="Rectangle 117"/>
          <p:cNvSpPr/>
          <p:nvPr/>
        </p:nvSpPr>
        <p:spPr>
          <a:xfrm>
            <a:off x="566928"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731520" y="4517136"/>
            <a:ext cx="2011680" cy="182880"/>
          </a:xfrm>
          <a:prstGeom prst="rect">
            <a:avLst/>
          </a:prstGeom>
          <a:noFill/>
        </p:spPr>
        <p:txBody>
          <a:bodyPr wrap="square" lIns="0" tIns="0" rIns="0" bIns="0" anchor="t">
            <a:spAutoFit/>
          </a:bodyPr>
          <a:lstStyle/>
          <a:p>
            <a:pPr algn="l">
              <a:spcAft>
                <a:spcPts val="200"/>
              </a:spcAft>
            </a:pPr>
            <a:r>
              <a:rPr sz="900" b="1">
                <a:solidFill>
                  <a:srgbClr val="FF9900"/>
                </a:solidFill>
                <a:latin typeface="Calibri"/>
              </a:rPr>
              <a:t>1 USER</a:t>
            </a:r>
          </a:p>
        </p:txBody>
      </p:sp>
      <p:sp>
        <p:nvSpPr>
          <p:cNvPr id="120" name="TextBox 119"/>
          <p:cNvSpPr txBox="1"/>
          <p:nvPr/>
        </p:nvSpPr>
        <p:spPr>
          <a:xfrm>
            <a:off x="731520" y="4700016"/>
            <a:ext cx="1188720" cy="219456"/>
          </a:xfrm>
          <a:prstGeom prst="rect">
            <a:avLst/>
          </a:prstGeom>
          <a:noFill/>
        </p:spPr>
        <p:txBody>
          <a:bodyPr wrap="square" lIns="0" tIns="0" rIns="0" bIns="0" anchor="t">
            <a:spAutoFit/>
          </a:bodyPr>
          <a:lstStyle/>
          <a:p>
            <a:pPr algn="l">
              <a:spcAft>
                <a:spcPts val="200"/>
              </a:spcAft>
            </a:pPr>
            <a:r>
              <a:rPr sz="1200" b="1">
                <a:solidFill>
                  <a:srgbClr val="232F3E"/>
                </a:solidFill>
                <a:latin typeface="Calibri"/>
              </a:rPr>
              <a:t>$19.62</a:t>
            </a:r>
          </a:p>
        </p:txBody>
      </p:sp>
      <p:sp>
        <p:nvSpPr>
          <p:cNvPr id="121" name="TextBox 120"/>
          <p:cNvSpPr txBox="1"/>
          <p:nvPr/>
        </p:nvSpPr>
        <p:spPr>
          <a:xfrm>
            <a:off x="1883664" y="4745736"/>
            <a:ext cx="384048" cy="182880"/>
          </a:xfrm>
          <a:prstGeom prst="rect">
            <a:avLst/>
          </a:prstGeom>
          <a:noFill/>
        </p:spPr>
        <p:txBody>
          <a:bodyPr wrap="square" lIns="0" tIns="0" rIns="0" bIns="0" anchor="t">
            <a:spAutoFit/>
          </a:bodyPr>
          <a:lstStyle/>
          <a:p>
            <a:pPr algn="l">
              <a:spcAft>
                <a:spcPts val="200"/>
              </a:spcAft>
            </a:pPr>
            <a:r>
              <a:rPr sz="850" b="0">
                <a:solidFill>
                  <a:srgbClr val="545B64"/>
                </a:solidFill>
                <a:latin typeface="Calibri"/>
              </a:rPr>
              <a:t>vs</a:t>
            </a:r>
          </a:p>
        </p:txBody>
      </p:sp>
      <p:sp>
        <p:nvSpPr>
          <p:cNvPr id="122" name="TextBox 121"/>
          <p:cNvSpPr txBox="1"/>
          <p:nvPr/>
        </p:nvSpPr>
        <p:spPr>
          <a:xfrm>
            <a:off x="2249424" y="4700016"/>
            <a:ext cx="1188720" cy="219456"/>
          </a:xfrm>
          <a:prstGeom prst="rect">
            <a:avLst/>
          </a:prstGeom>
          <a:noFill/>
        </p:spPr>
        <p:txBody>
          <a:bodyPr wrap="square" lIns="0" tIns="0" rIns="0" bIns="0" anchor="t">
            <a:spAutoFit/>
          </a:bodyPr>
          <a:lstStyle/>
          <a:p>
            <a:pPr algn="l">
              <a:spcAft>
                <a:spcPts val="200"/>
              </a:spcAft>
            </a:pPr>
            <a:r>
              <a:rPr sz="1200" b="1">
                <a:solidFill>
                  <a:srgbClr val="1E7C3C"/>
                </a:solidFill>
                <a:latin typeface="Calibri"/>
              </a:rPr>
              <a:t>$0.12</a:t>
            </a:r>
          </a:p>
        </p:txBody>
      </p:sp>
      <p:sp>
        <p:nvSpPr>
          <p:cNvPr id="123" name="TextBox 122"/>
          <p:cNvSpPr txBox="1"/>
          <p:nvPr/>
        </p:nvSpPr>
        <p:spPr>
          <a:xfrm>
            <a:off x="3328416" y="4517136"/>
            <a:ext cx="731520" cy="201168"/>
          </a:xfrm>
          <a:prstGeom prst="rect">
            <a:avLst/>
          </a:prstGeom>
          <a:noFill/>
        </p:spPr>
        <p:txBody>
          <a:bodyPr wrap="square" lIns="0" tIns="0" rIns="0" bIns="0" anchor="t">
            <a:spAutoFit/>
          </a:bodyPr>
          <a:lstStyle/>
          <a:p>
            <a:pPr algn="r">
              <a:spcAft>
                <a:spcPts val="200"/>
              </a:spcAft>
            </a:pPr>
            <a:r>
              <a:rPr sz="1100" b="1">
                <a:solidFill>
                  <a:srgbClr val="FF9900"/>
                </a:solidFill>
                <a:latin typeface="Calibri"/>
              </a:rPr>
              <a:t>168.6×</a:t>
            </a:r>
          </a:p>
        </p:txBody>
      </p:sp>
      <p:sp>
        <p:nvSpPr>
          <p:cNvPr id="124" name="TextBox 123"/>
          <p:cNvSpPr txBox="1"/>
          <p:nvPr/>
        </p:nvSpPr>
        <p:spPr>
          <a:xfrm>
            <a:off x="731520" y="4937760"/>
            <a:ext cx="3310128" cy="182880"/>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only engine B has no floor</a:t>
            </a:r>
          </a:p>
        </p:txBody>
      </p:sp>
      <p:sp>
        <p:nvSpPr>
          <p:cNvPr id="125" name="Rectangle 124"/>
          <p:cNvSpPr/>
          <p:nvPr/>
        </p:nvSpPr>
        <p:spPr>
          <a:xfrm>
            <a:off x="4279392"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125"/>
          <p:cNvSpPr txBox="1"/>
          <p:nvPr/>
        </p:nvSpPr>
        <p:spPr>
          <a:xfrm>
            <a:off x="4443983" y="4517136"/>
            <a:ext cx="2011680" cy="182880"/>
          </a:xfrm>
          <a:prstGeom prst="rect">
            <a:avLst/>
          </a:prstGeom>
          <a:noFill/>
        </p:spPr>
        <p:txBody>
          <a:bodyPr wrap="square" lIns="0" tIns="0" rIns="0" bIns="0" anchor="t">
            <a:spAutoFit/>
          </a:bodyPr>
          <a:lstStyle/>
          <a:p>
            <a:pPr algn="l">
              <a:spcAft>
                <a:spcPts val="200"/>
              </a:spcAft>
            </a:pPr>
            <a:r>
              <a:rPr sz="900" b="1">
                <a:solidFill>
                  <a:srgbClr val="FF9900"/>
                </a:solidFill>
                <a:latin typeface="Calibri"/>
              </a:rPr>
              <a:t>10,000 USERS</a:t>
            </a:r>
          </a:p>
        </p:txBody>
      </p:sp>
      <p:sp>
        <p:nvSpPr>
          <p:cNvPr id="127" name="TextBox 126"/>
          <p:cNvSpPr txBox="1"/>
          <p:nvPr/>
        </p:nvSpPr>
        <p:spPr>
          <a:xfrm>
            <a:off x="4443983" y="4700016"/>
            <a:ext cx="1188720" cy="219456"/>
          </a:xfrm>
          <a:prstGeom prst="rect">
            <a:avLst/>
          </a:prstGeom>
          <a:noFill/>
        </p:spPr>
        <p:txBody>
          <a:bodyPr wrap="square" lIns="0" tIns="0" rIns="0" bIns="0" anchor="t">
            <a:spAutoFit/>
          </a:bodyPr>
          <a:lstStyle/>
          <a:p>
            <a:pPr algn="l">
              <a:spcAft>
                <a:spcPts val="200"/>
              </a:spcAft>
            </a:pPr>
            <a:r>
              <a:rPr sz="1200" b="1">
                <a:solidFill>
                  <a:srgbClr val="232F3E"/>
                </a:solidFill>
                <a:latin typeface="Calibri"/>
              </a:rPr>
              <a:t>$16,010</a:t>
            </a:r>
          </a:p>
        </p:txBody>
      </p:sp>
      <p:sp>
        <p:nvSpPr>
          <p:cNvPr id="128" name="TextBox 127"/>
          <p:cNvSpPr txBox="1"/>
          <p:nvPr/>
        </p:nvSpPr>
        <p:spPr>
          <a:xfrm>
            <a:off x="5596127" y="4745736"/>
            <a:ext cx="384048" cy="182880"/>
          </a:xfrm>
          <a:prstGeom prst="rect">
            <a:avLst/>
          </a:prstGeom>
          <a:noFill/>
        </p:spPr>
        <p:txBody>
          <a:bodyPr wrap="square" lIns="0" tIns="0" rIns="0" bIns="0" anchor="t">
            <a:spAutoFit/>
          </a:bodyPr>
          <a:lstStyle/>
          <a:p>
            <a:pPr algn="l">
              <a:spcAft>
                <a:spcPts val="200"/>
              </a:spcAft>
            </a:pPr>
            <a:r>
              <a:rPr sz="850" b="0">
                <a:solidFill>
                  <a:srgbClr val="545B64"/>
                </a:solidFill>
                <a:latin typeface="Calibri"/>
              </a:rPr>
              <a:t>vs</a:t>
            </a:r>
          </a:p>
        </p:txBody>
      </p:sp>
      <p:sp>
        <p:nvSpPr>
          <p:cNvPr id="129" name="TextBox 128"/>
          <p:cNvSpPr txBox="1"/>
          <p:nvPr/>
        </p:nvSpPr>
        <p:spPr>
          <a:xfrm>
            <a:off x="5961888" y="4700016"/>
            <a:ext cx="1188720" cy="219456"/>
          </a:xfrm>
          <a:prstGeom prst="rect">
            <a:avLst/>
          </a:prstGeom>
          <a:noFill/>
        </p:spPr>
        <p:txBody>
          <a:bodyPr wrap="square" lIns="0" tIns="0" rIns="0" bIns="0" anchor="t">
            <a:spAutoFit/>
          </a:bodyPr>
          <a:lstStyle/>
          <a:p>
            <a:pPr algn="l">
              <a:spcAft>
                <a:spcPts val="200"/>
              </a:spcAft>
            </a:pPr>
            <a:r>
              <a:rPr sz="1200" b="1">
                <a:solidFill>
                  <a:srgbClr val="1E7C3C"/>
                </a:solidFill>
                <a:latin typeface="Calibri"/>
              </a:rPr>
              <a:t>$1,158</a:t>
            </a:r>
          </a:p>
        </p:txBody>
      </p:sp>
      <p:sp>
        <p:nvSpPr>
          <p:cNvPr id="130" name="TextBox 129"/>
          <p:cNvSpPr txBox="1"/>
          <p:nvPr/>
        </p:nvSpPr>
        <p:spPr>
          <a:xfrm>
            <a:off x="7040879" y="4517136"/>
            <a:ext cx="731520" cy="201168"/>
          </a:xfrm>
          <a:prstGeom prst="rect">
            <a:avLst/>
          </a:prstGeom>
          <a:noFill/>
        </p:spPr>
        <p:txBody>
          <a:bodyPr wrap="square" lIns="0" tIns="0" rIns="0" bIns="0" anchor="t">
            <a:spAutoFit/>
          </a:bodyPr>
          <a:lstStyle/>
          <a:p>
            <a:pPr algn="r">
              <a:spcAft>
                <a:spcPts val="200"/>
              </a:spcAft>
            </a:pPr>
            <a:r>
              <a:rPr sz="1100" b="1">
                <a:solidFill>
                  <a:srgbClr val="FF9900"/>
                </a:solidFill>
                <a:latin typeface="Calibri"/>
              </a:rPr>
              <a:t>13.8×</a:t>
            </a:r>
          </a:p>
        </p:txBody>
      </p:sp>
      <p:sp>
        <p:nvSpPr>
          <p:cNvPr id="131" name="TextBox 130"/>
          <p:cNvSpPr txBox="1"/>
          <p:nvPr/>
        </p:nvSpPr>
        <p:spPr>
          <a:xfrm>
            <a:off x="4443983" y="4937760"/>
            <a:ext cx="3310128" cy="182880"/>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still one Fargate task</a:t>
            </a:r>
          </a:p>
        </p:txBody>
      </p:sp>
      <p:sp>
        <p:nvSpPr>
          <p:cNvPr id="132" name="Rectangle 131"/>
          <p:cNvSpPr/>
          <p:nvPr/>
        </p:nvSpPr>
        <p:spPr>
          <a:xfrm>
            <a:off x="7991856" y="4443984"/>
            <a:ext cx="3621024" cy="73152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8156448" y="4517136"/>
            <a:ext cx="2011680" cy="182880"/>
          </a:xfrm>
          <a:prstGeom prst="rect">
            <a:avLst/>
          </a:prstGeom>
          <a:noFill/>
        </p:spPr>
        <p:txBody>
          <a:bodyPr wrap="square" lIns="0" tIns="0" rIns="0" bIns="0" anchor="t">
            <a:spAutoFit/>
          </a:bodyPr>
          <a:lstStyle/>
          <a:p>
            <a:pPr algn="l">
              <a:spcAft>
                <a:spcPts val="200"/>
              </a:spcAft>
            </a:pPr>
            <a:r>
              <a:rPr sz="900" b="1">
                <a:solidFill>
                  <a:srgbClr val="FF9900"/>
                </a:solidFill>
                <a:latin typeface="Calibri"/>
              </a:rPr>
              <a:t>1,000,000 USERS</a:t>
            </a:r>
          </a:p>
        </p:txBody>
      </p:sp>
      <p:sp>
        <p:nvSpPr>
          <p:cNvPr id="134" name="TextBox 133"/>
          <p:cNvSpPr txBox="1"/>
          <p:nvPr/>
        </p:nvSpPr>
        <p:spPr>
          <a:xfrm>
            <a:off x="8156448" y="4700016"/>
            <a:ext cx="1188720" cy="219456"/>
          </a:xfrm>
          <a:prstGeom prst="rect">
            <a:avLst/>
          </a:prstGeom>
          <a:noFill/>
        </p:spPr>
        <p:txBody>
          <a:bodyPr wrap="square" lIns="0" tIns="0" rIns="0" bIns="0" anchor="t">
            <a:spAutoFit/>
          </a:bodyPr>
          <a:lstStyle/>
          <a:p>
            <a:pPr algn="l">
              <a:spcAft>
                <a:spcPts val="200"/>
              </a:spcAft>
            </a:pPr>
            <a:r>
              <a:rPr sz="1200" b="1">
                <a:solidFill>
                  <a:srgbClr val="232F3E"/>
                </a:solidFill>
                <a:latin typeface="Calibri"/>
              </a:rPr>
              <a:t>$1.600 M</a:t>
            </a:r>
          </a:p>
        </p:txBody>
      </p:sp>
      <p:sp>
        <p:nvSpPr>
          <p:cNvPr id="135" name="TextBox 134"/>
          <p:cNvSpPr txBox="1"/>
          <p:nvPr/>
        </p:nvSpPr>
        <p:spPr>
          <a:xfrm>
            <a:off x="9308592" y="4745736"/>
            <a:ext cx="384048" cy="182880"/>
          </a:xfrm>
          <a:prstGeom prst="rect">
            <a:avLst/>
          </a:prstGeom>
          <a:noFill/>
        </p:spPr>
        <p:txBody>
          <a:bodyPr wrap="square" lIns="0" tIns="0" rIns="0" bIns="0" anchor="t">
            <a:spAutoFit/>
          </a:bodyPr>
          <a:lstStyle/>
          <a:p>
            <a:pPr algn="l">
              <a:spcAft>
                <a:spcPts val="200"/>
              </a:spcAft>
            </a:pPr>
            <a:r>
              <a:rPr sz="850" b="0">
                <a:solidFill>
                  <a:srgbClr val="545B64"/>
                </a:solidFill>
                <a:latin typeface="Calibri"/>
              </a:rPr>
              <a:t>vs</a:t>
            </a:r>
          </a:p>
        </p:txBody>
      </p:sp>
      <p:sp>
        <p:nvSpPr>
          <p:cNvPr id="136" name="TextBox 135"/>
          <p:cNvSpPr txBox="1"/>
          <p:nvPr/>
        </p:nvSpPr>
        <p:spPr>
          <a:xfrm>
            <a:off x="9674352" y="4700016"/>
            <a:ext cx="1188720" cy="219456"/>
          </a:xfrm>
          <a:prstGeom prst="rect">
            <a:avLst/>
          </a:prstGeom>
          <a:noFill/>
        </p:spPr>
        <p:txBody>
          <a:bodyPr wrap="square" lIns="0" tIns="0" rIns="0" bIns="0" anchor="t">
            <a:spAutoFit/>
          </a:bodyPr>
          <a:lstStyle/>
          <a:p>
            <a:pPr algn="l">
              <a:spcAft>
                <a:spcPts val="200"/>
              </a:spcAft>
            </a:pPr>
            <a:r>
              <a:rPr sz="1200" b="1">
                <a:solidFill>
                  <a:srgbClr val="1E7C3C"/>
                </a:solidFill>
                <a:latin typeface="Calibri"/>
              </a:rPr>
              <a:t>$115,760</a:t>
            </a:r>
          </a:p>
        </p:txBody>
      </p:sp>
      <p:sp>
        <p:nvSpPr>
          <p:cNvPr id="137" name="TextBox 136"/>
          <p:cNvSpPr txBox="1"/>
          <p:nvPr/>
        </p:nvSpPr>
        <p:spPr>
          <a:xfrm>
            <a:off x="10753344" y="4517136"/>
            <a:ext cx="731520" cy="201168"/>
          </a:xfrm>
          <a:prstGeom prst="rect">
            <a:avLst/>
          </a:prstGeom>
          <a:noFill/>
        </p:spPr>
        <p:txBody>
          <a:bodyPr wrap="square" lIns="0" tIns="0" rIns="0" bIns="0" anchor="t">
            <a:spAutoFit/>
          </a:bodyPr>
          <a:lstStyle/>
          <a:p>
            <a:pPr algn="r">
              <a:spcAft>
                <a:spcPts val="200"/>
              </a:spcAft>
            </a:pPr>
            <a:r>
              <a:rPr sz="1100" b="1">
                <a:solidFill>
                  <a:srgbClr val="FF9900"/>
                </a:solidFill>
                <a:latin typeface="Calibri"/>
              </a:rPr>
              <a:t>13.8×</a:t>
            </a:r>
          </a:p>
        </p:txBody>
      </p:sp>
      <p:sp>
        <p:nvSpPr>
          <p:cNvPr id="138" name="TextBox 137"/>
          <p:cNvSpPr txBox="1"/>
          <p:nvPr/>
        </p:nvSpPr>
        <p:spPr>
          <a:xfrm>
            <a:off x="8156448" y="4937760"/>
            <a:ext cx="3310128" cy="182880"/>
          </a:xfrm>
          <a:prstGeom prst="rect">
            <a:avLst/>
          </a:prstGeom>
          <a:noFill/>
        </p:spPr>
        <p:txBody>
          <a:bodyPr wrap="square" lIns="0" tIns="0" rIns="0" bIns="0" anchor="t">
            <a:spAutoFit/>
          </a:bodyPr>
          <a:lstStyle/>
          <a:p>
            <a:pPr algn="l">
              <a:spcAft>
                <a:spcPts val="200"/>
              </a:spcAft>
            </a:pPr>
            <a:r>
              <a:rPr sz="800" b="0">
                <a:solidFill>
                  <a:srgbClr val="545B64"/>
                </a:solidFill>
                <a:latin typeface="Calibri"/>
              </a:rPr>
              <a:t>35 Fargate tasks by now</a:t>
            </a:r>
          </a:p>
        </p:txBody>
      </p:sp>
      <p:sp>
        <p:nvSpPr>
          <p:cNvPr id="139" name="Rectangle 138"/>
          <p:cNvSpPr/>
          <p:nvPr/>
        </p:nvSpPr>
        <p:spPr>
          <a:xfrm>
            <a:off x="566928" y="5266944"/>
            <a:ext cx="11064240" cy="658368"/>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Rectangle 139"/>
          <p:cNvSpPr/>
          <p:nvPr/>
        </p:nvSpPr>
        <p:spPr>
          <a:xfrm>
            <a:off x="566928" y="5266944"/>
            <a:ext cx="45720" cy="658368"/>
          </a:xfrm>
          <a:prstGeom prst="rect">
            <a:avLst/>
          </a:prstGeom>
          <a:solidFill>
            <a:srgbClr val="B32C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786384" y="5340096"/>
            <a:ext cx="10625328" cy="530352"/>
          </a:xfrm>
          <a:prstGeom prst="rect">
            <a:avLst/>
          </a:prstGeom>
          <a:noFill/>
        </p:spPr>
        <p:txBody>
          <a:bodyPr wrap="square" lIns="0" tIns="0" rIns="0" bIns="0" anchor="t">
            <a:spAutoFit/>
          </a:bodyPr>
          <a:lstStyle/>
          <a:p>
            <a:pPr algn="l">
              <a:spcAft>
                <a:spcPts val="200"/>
              </a:spcAft>
            </a:pPr>
            <a:r>
              <a:rPr sz="900" b="1">
                <a:solidFill>
                  <a:srgbClr val="B32C0C"/>
                </a:solidFill>
                <a:latin typeface="Calibri"/>
              </a:rPr>
              <a:t>BIGGEST SINGLE RISK IN THIS MODEL</a:t>
            </a:r>
          </a:p>
          <a:p>
            <a:pPr algn="l">
              <a:spcAft>
                <a:spcPts val="200"/>
              </a:spcAft>
            </a:pPr>
            <a:r>
              <a:rPr sz="950" b="0">
                <a:solidFill>
                  <a:srgbClr val="16191F"/>
                </a:solidFill>
                <a:latin typeface="Calibri"/>
              </a:rPr>
              <a:t>If an AgentCore Memory “retrieval” meters per record rather than per call, engine B's per-turn goes from $0.0008022 to $0.0503 and AgentCore becomes 3.8× WORSE than DIY. The pricing page is ambiguous on this and it is not a small difference.</a:t>
            </a:r>
          </a:p>
        </p:txBody>
      </p:sp>
      <p:sp>
        <p:nvSpPr>
          <p:cNvPr id="142" name="TextBox 141"/>
          <p:cNvSpPr txBox="1"/>
          <p:nvPr/>
        </p:nvSpPr>
        <p:spPr>
          <a:xfrm>
            <a:off x="566928" y="5998464"/>
            <a:ext cx="11064240" cy="201168"/>
          </a:xfrm>
          <a:prstGeom prst="rect">
            <a:avLst/>
          </a:prstGeom>
          <a:noFill/>
        </p:spPr>
        <p:txBody>
          <a:bodyPr wrap="square" lIns="0" tIns="0" rIns="0" bIns="0" anchor="t">
            <a:spAutoFit/>
          </a:bodyPr>
          <a:lstStyle/>
          <a:p>
            <a:pPr algn="l">
              <a:spcAft>
                <a:spcPts val="200"/>
              </a:spcAft>
            </a:pPr>
            <a:r>
              <a:rPr sz="850" b="0">
                <a:solidFill>
                  <a:srgbClr val="545B64"/>
                </a:solidFill>
                <a:latin typeface="Calibri"/>
              </a:rPr>
              <a:t>Every rate and quantity above is cited in the speaker notes  ·  re-derive the whole slide with  node scripts/cost-model.mjs</a:t>
            </a:r>
          </a:p>
        </p:txBody>
      </p:sp>
    </p:spTree>
    <p:extLst>
      <p:ext uri="{BB962C8B-B14F-4D97-AF65-F5344CB8AC3E}">
        <p14:creationId xmlns:p14="http://schemas.microsoft.com/office/powerpoint/2010/main" val="3292002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2A938-A591-04E9-E1D0-34A741919BF1}"/>
            </a:ext>
          </a:extLst>
        </p:cNvPr>
        <p:cNvGrpSpPr/>
        <p:nvPr/>
      </p:nvGrpSpPr>
      <p:grpSpPr>
        <a:xfrm>
          <a:off x="0" y="0"/>
          <a:ext cx="0" cy="0"/>
          <a:chOff x="0" y="0"/>
          <a:chExt cx="0" cy="0"/>
        </a:xfrm>
      </p:grpSpPr>
      <p:sp>
        <p:nvSpPr>
          <p:cNvPr id="3" name="Oval 2">
            <a:extLst>
              <a:ext uri="{FF2B5EF4-FFF2-40B4-BE49-F238E27FC236}">
                <a16:creationId xmlns:a16="http://schemas.microsoft.com/office/drawing/2014/main" id="{2E31C238-03E9-AF22-4DFE-DC052343394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315DD0C-8028-2C9A-2E94-F833312D28C8}"/>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9BA7CB36-70FD-70A8-F505-6D132C8145E2}"/>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Cost split</a:t>
            </a:r>
            <a:endParaRPr sz="3000" b="1" i="0" dirty="0">
              <a:solidFill>
                <a:srgbClr val="232F3E"/>
              </a:solidFill>
              <a:latin typeface="Calibri"/>
            </a:endParaRPr>
          </a:p>
        </p:txBody>
      </p:sp>
      <p:sp>
        <p:nvSpPr>
          <p:cNvPr id="6" name="Rectangle 5">
            <a:extLst>
              <a:ext uri="{FF2B5EF4-FFF2-40B4-BE49-F238E27FC236}">
                <a16:creationId xmlns:a16="http://schemas.microsoft.com/office/drawing/2014/main" id="{D869C3E2-14DB-CD4C-EFAC-5927D6AFFF8C}"/>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6651044-2676-7AA3-6891-F43271C0FA37}"/>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a:extLst>
              <a:ext uri="{FF2B5EF4-FFF2-40B4-BE49-F238E27FC236}">
                <a16:creationId xmlns:a16="http://schemas.microsoft.com/office/drawing/2014/main" id="{1EAB9537-2064-6B9D-4740-976BF23A7D2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158793DC-8340-D2DE-95EF-FDB50CBDBC97}"/>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5" name="Rounded Rectangle 84">
            <a:extLst>
              <a:ext uri="{FF2B5EF4-FFF2-40B4-BE49-F238E27FC236}">
                <a16:creationId xmlns:a16="http://schemas.microsoft.com/office/drawing/2014/main" id="{657E02C7-A751-D88F-1E47-9F43053613B6}"/>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to explain how the costs are </a:t>
            </a:r>
            <a:r>
              <a:rPr lang="en-US" dirty="0" err="1">
                <a:solidFill>
                  <a:srgbClr val="FF0000"/>
                </a:solidFill>
                <a:highlight>
                  <a:srgbClr val="FFFF00"/>
                </a:highlight>
              </a:rPr>
              <a:t>splited</a:t>
            </a:r>
            <a:r>
              <a:rPr lang="en-US" dirty="0">
                <a:solidFill>
                  <a:srgbClr val="FF0000"/>
                </a:solidFill>
                <a:highlight>
                  <a:srgbClr val="FFFF00"/>
                </a:highlight>
              </a:rPr>
              <a:t>:</a:t>
            </a:r>
          </a:p>
          <a:p>
            <a:pPr marL="342900" indent="-342900" algn="ctr" defTabSz="457200" rtl="0" eaLnBrk="1" latinLnBrk="0" hangingPunct="1">
              <a:buAutoNum type="arabicPeriod"/>
            </a:pPr>
            <a:r>
              <a:rPr lang="en-US" dirty="0">
                <a:solidFill>
                  <a:srgbClr val="FF0000"/>
                </a:solidFill>
                <a:highlight>
                  <a:srgbClr val="FFFF00"/>
                </a:highlight>
              </a:rPr>
              <a:t>Per turn model invocation</a:t>
            </a:r>
          </a:p>
          <a:p>
            <a:pPr marL="342900" indent="-342900" algn="ctr" defTabSz="457200" rtl="0" eaLnBrk="1" latinLnBrk="0" hangingPunct="1">
              <a:buAutoNum type="arabicPeriod"/>
            </a:pPr>
            <a:r>
              <a:rPr lang="en-US" dirty="0">
                <a:solidFill>
                  <a:srgbClr val="FF0000"/>
                </a:solidFill>
                <a:highlight>
                  <a:srgbClr val="FFFF00"/>
                </a:highlight>
              </a:rPr>
              <a:t>Preference extraction</a:t>
            </a:r>
          </a:p>
          <a:p>
            <a:pPr marL="342900" indent="-342900" algn="ctr" defTabSz="457200" rtl="0" eaLnBrk="1" latinLnBrk="0" hangingPunct="1">
              <a:buAutoNum type="arabicPeriod"/>
            </a:pPr>
            <a:r>
              <a:rPr lang="en-US" dirty="0">
                <a:solidFill>
                  <a:srgbClr val="FF0000"/>
                </a:solidFill>
                <a:highlight>
                  <a:srgbClr val="FFFF00"/>
                </a:highlight>
              </a:rPr>
              <a:t>Conversation saving over time</a:t>
            </a:r>
          </a:p>
          <a:p>
            <a:pPr marL="342900" indent="-342900" algn="ctr" defTabSz="457200" rtl="0" eaLnBrk="1" latinLnBrk="0" hangingPunct="1">
              <a:buAutoNum type="arabicPeriod"/>
            </a:pPr>
            <a:r>
              <a:rPr lang="en-US" dirty="0" err="1">
                <a:solidFill>
                  <a:srgbClr val="FF0000"/>
                </a:solidFill>
                <a:highlight>
                  <a:srgbClr val="FFFF00"/>
                </a:highlight>
              </a:rPr>
              <a:t>Additiona</a:t>
            </a:r>
            <a:r>
              <a:rPr lang="en-US" dirty="0">
                <a:solidFill>
                  <a:srgbClr val="FF0000"/>
                </a:solidFill>
                <a:highlight>
                  <a:srgbClr val="FFFF00"/>
                </a:highlight>
              </a:rPr>
              <a:t> thing I didn’t think of</a:t>
            </a:r>
          </a:p>
          <a:p>
            <a:pPr marL="342900" indent="-342900" algn="ctr" defTabSz="457200" rtl="0" eaLnBrk="1" latinLnBrk="0" hangingPunct="1">
              <a:buAutoNum type="arabicPeriod"/>
            </a:pPr>
            <a:r>
              <a:rPr lang="en-US" dirty="0">
                <a:solidFill>
                  <a:srgbClr val="FF0000"/>
                </a:solidFill>
                <a:highlight>
                  <a:srgbClr val="FFFF00"/>
                </a:highlight>
              </a:rPr>
              <a:t>Per user vs fixed cost</a:t>
            </a:r>
          </a:p>
          <a:p>
            <a:pPr marL="342900" indent="-342900" algn="ctr" defTabSz="457200" rtl="0" eaLnBrk="1" latinLnBrk="0" hangingPunct="1">
              <a:buAutoNum type="arabicPeriod"/>
            </a:pPr>
            <a:r>
              <a:rPr lang="en-US" dirty="0" err="1">
                <a:solidFill>
                  <a:srgbClr val="FF0000"/>
                </a:solidFill>
                <a:highlight>
                  <a:srgbClr val="FFFF00"/>
                </a:highlight>
              </a:rPr>
              <a:t>Igonoreing</a:t>
            </a:r>
            <a:r>
              <a:rPr lang="en-US" dirty="0">
                <a:solidFill>
                  <a:srgbClr val="FF0000"/>
                </a:solidFill>
                <a:highlight>
                  <a:srgbClr val="FFFF00"/>
                </a:highlight>
              </a:rPr>
              <a:t> educational </a:t>
            </a:r>
            <a:r>
              <a:rPr lang="en-US" dirty="0" err="1">
                <a:solidFill>
                  <a:srgbClr val="FF0000"/>
                </a:solidFill>
                <a:highlight>
                  <a:srgbClr val="FFFF00"/>
                </a:highlight>
              </a:rPr>
              <a:t>resourecs</a:t>
            </a:r>
            <a:endParaRPr lang="en-US" dirty="0">
              <a:solidFill>
                <a:srgbClr val="FF0000"/>
              </a:solidFill>
              <a:highlight>
                <a:srgbClr val="FFFF00"/>
              </a:highlight>
            </a:endParaRPr>
          </a:p>
          <a:p>
            <a:pPr marL="342900" indent="-342900" algn="ctr" defTabSz="457200" rtl="0" eaLnBrk="1" latinLnBrk="0" hangingPunct="1">
              <a:buAutoNum type="arabicPeriod"/>
            </a:pPr>
            <a:r>
              <a:rPr lang="en-US" dirty="0">
                <a:solidFill>
                  <a:srgbClr val="FF0000"/>
                </a:solidFill>
                <a:highlight>
                  <a:srgbClr val="FFFF00"/>
                </a:highlight>
              </a:rPr>
              <a:t>Not in the </a:t>
            </a:r>
            <a:r>
              <a:rPr lang="en-US" dirty="0" err="1">
                <a:solidFill>
                  <a:srgbClr val="FF0000"/>
                </a:solidFill>
                <a:highlight>
                  <a:srgbClr val="FFFF00"/>
                </a:highlight>
              </a:rPr>
              <a:t>lisde</a:t>
            </a:r>
            <a:r>
              <a:rPr lang="en-US" dirty="0">
                <a:solidFill>
                  <a:srgbClr val="FF0000"/>
                </a:solidFill>
                <a:highlight>
                  <a:srgbClr val="FFFF00"/>
                </a:highlight>
              </a:rPr>
              <a:t> itself, but in the notes put reference to every cost you mention because it is super important to be super exact and refer to the exact </a:t>
            </a:r>
            <a:r>
              <a:rPr lang="en-US" dirty="0" err="1">
                <a:solidFill>
                  <a:srgbClr val="FF0000"/>
                </a:solidFill>
                <a:highlight>
                  <a:srgbClr val="FFFF00"/>
                </a:highlight>
              </a:rPr>
              <a:t>palce</a:t>
            </a:r>
            <a:r>
              <a:rPr lang="en-US" dirty="0">
                <a:solidFill>
                  <a:srgbClr val="FF0000"/>
                </a:solidFill>
                <a:highlight>
                  <a:srgbClr val="FFFF00"/>
                </a:highlight>
              </a:rPr>
              <a:t> where it say it cost like that</a:t>
            </a:r>
          </a:p>
          <a:p>
            <a:pPr marL="342900" indent="-342900" algn="ctr" defTabSz="457200" rtl="0" eaLnBrk="1" latinLnBrk="0" hangingPunct="1">
              <a:buAutoNum type="arabicPeriod"/>
            </a:pPr>
            <a:endParaRPr lang="en-US" dirty="0">
              <a:solidFill>
                <a:srgbClr val="FF0000"/>
              </a:solidFill>
              <a:highlight>
                <a:srgbClr val="FFFF00"/>
              </a:highlight>
            </a:endParaRPr>
          </a:p>
          <a:p>
            <a:pPr marL="342900" indent="-342900" algn="ctr" defTabSz="457200" rtl="0" eaLnBrk="1" latinLnBrk="0" hangingPunct="1">
              <a:buAutoNum type="arabicPeriod"/>
            </a:pPr>
            <a:endParaRPr lang="en-US" dirty="0">
              <a:solidFill>
                <a:srgbClr val="FF0000"/>
              </a:solidFill>
              <a:highlight>
                <a:srgbClr val="FFFF00"/>
              </a:highlight>
            </a:endParaRPr>
          </a:p>
          <a:p>
            <a:pPr algn="ctr" defTabSz="457200" rtl="0" eaLnBrk="1" latinLnBrk="0" hangingPunct="1"/>
            <a:r>
              <a:rPr lang="en-US" dirty="0">
                <a:solidFill>
                  <a:srgbClr val="FF0000"/>
                </a:solidFill>
                <a:highlight>
                  <a:srgbClr val="FFFF00"/>
                </a:highlight>
              </a:rPr>
              <a:t>Put special effort into this slide</a:t>
            </a:r>
            <a:endParaRPr dirty="0">
              <a:solidFill>
                <a:srgbClr val="FF0000"/>
              </a:solidFill>
              <a:highlight>
                <a:srgbClr val="FFFF00"/>
              </a:highlight>
            </a:endParaRPr>
          </a:p>
        </p:txBody>
      </p:sp>
    </p:spTree>
    <p:extLst>
      <p:ext uri="{BB962C8B-B14F-4D97-AF65-F5344CB8AC3E}">
        <p14:creationId xmlns:p14="http://schemas.microsoft.com/office/powerpoint/2010/main" val="1939496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floor vs. the meter</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10" name="Rounded Rectangle 9"/>
          <p:cNvSpPr/>
          <p:nvPr/>
        </p:nvSpPr>
        <p:spPr>
          <a:xfrm>
            <a:off x="521207" y="1897380"/>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1897380"/>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sp>
        <p:nvSpPr>
          <p:cNvPr id="14" name="Rectangle 13"/>
          <p:cNvSpPr/>
          <p:nvPr/>
        </p:nvSpPr>
        <p:spPr>
          <a:xfrm>
            <a:off x="1481328" y="2395728"/>
            <a:ext cx="1600883" cy="3364991"/>
          </a:xfrm>
          <a:prstGeom prst="rect">
            <a:avLst/>
          </a:prstGeom>
          <a:solidFill>
            <a:srgbClr val="F8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1481328" y="5627891"/>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1208" y="5545595"/>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7" name="Connector 16"/>
          <p:cNvCxnSpPr/>
          <p:nvPr/>
        </p:nvCxnSpPr>
        <p:spPr>
          <a:xfrm>
            <a:off x="1481328" y="5185129"/>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1208" y="5102833"/>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19" name="Connector 18"/>
          <p:cNvCxnSpPr/>
          <p:nvPr/>
        </p:nvCxnSpPr>
        <p:spPr>
          <a:xfrm>
            <a:off x="1481328" y="4742367"/>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1208" y="4660071"/>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1" name="Connector 20"/>
          <p:cNvCxnSpPr/>
          <p:nvPr/>
        </p:nvCxnSpPr>
        <p:spPr>
          <a:xfrm>
            <a:off x="1481328" y="4299605"/>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1208" y="4217309"/>
            <a:ext cx="868680" cy="164592"/>
          </a:xfrm>
          <a:prstGeom prst="rect">
            <a:avLst/>
          </a:prstGeom>
          <a:noFill/>
        </p:spPr>
        <p:txBody>
          <a:bodyPr wrap="square" lIns="0" tIns="0" rIns="0" bIns="0" anchor="ctr">
            <a:spAutoFit/>
          </a:bodyPr>
          <a:lstStyle/>
          <a:p>
            <a:pPr algn="r"/>
            <a:r>
              <a:rPr sz="1050" b="0" i="0">
                <a:solidFill>
                  <a:srgbClr val="8B949E"/>
                </a:solidFill>
                <a:latin typeface="Calibri"/>
              </a:rPr>
              <a:t>$100</a:t>
            </a:r>
          </a:p>
        </p:txBody>
      </p:sp>
      <p:cxnSp>
        <p:nvCxnSpPr>
          <p:cNvPr id="23" name="Connector 22"/>
          <p:cNvCxnSpPr/>
          <p:nvPr/>
        </p:nvCxnSpPr>
        <p:spPr>
          <a:xfrm>
            <a:off x="1481328" y="3856842"/>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1208" y="3774546"/>
            <a:ext cx="868680" cy="164592"/>
          </a:xfrm>
          <a:prstGeom prst="rect">
            <a:avLst/>
          </a:prstGeom>
          <a:noFill/>
        </p:spPr>
        <p:txBody>
          <a:bodyPr wrap="square" lIns="0" tIns="0" rIns="0" bIns="0" anchor="ctr">
            <a:spAutoFit/>
          </a:bodyPr>
          <a:lstStyle/>
          <a:p>
            <a:pPr algn="r"/>
            <a:r>
              <a:rPr sz="1050" b="0" i="0">
                <a:solidFill>
                  <a:srgbClr val="8B949E"/>
                </a:solidFill>
                <a:latin typeface="Calibri"/>
              </a:rPr>
              <a:t>$1k</a:t>
            </a:r>
          </a:p>
        </p:txBody>
      </p:sp>
      <p:cxnSp>
        <p:nvCxnSpPr>
          <p:cNvPr id="25" name="Connector 24"/>
          <p:cNvCxnSpPr/>
          <p:nvPr/>
        </p:nvCxnSpPr>
        <p:spPr>
          <a:xfrm>
            <a:off x="1481328" y="3414080"/>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8" y="3331784"/>
            <a:ext cx="868680" cy="164592"/>
          </a:xfrm>
          <a:prstGeom prst="rect">
            <a:avLst/>
          </a:prstGeom>
          <a:noFill/>
        </p:spPr>
        <p:txBody>
          <a:bodyPr wrap="square" lIns="0" tIns="0" rIns="0" bIns="0" anchor="ctr">
            <a:spAutoFit/>
          </a:bodyPr>
          <a:lstStyle/>
          <a:p>
            <a:pPr algn="r"/>
            <a:r>
              <a:rPr sz="1050" b="0" i="0">
                <a:solidFill>
                  <a:srgbClr val="8B949E"/>
                </a:solidFill>
                <a:latin typeface="Calibri"/>
              </a:rPr>
              <a:t>$10k</a:t>
            </a:r>
          </a:p>
        </p:txBody>
      </p:sp>
      <p:cxnSp>
        <p:nvCxnSpPr>
          <p:cNvPr id="27" name="Connector 26"/>
          <p:cNvCxnSpPr/>
          <p:nvPr/>
        </p:nvCxnSpPr>
        <p:spPr>
          <a:xfrm>
            <a:off x="1481328" y="2971318"/>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1208" y="2889022"/>
            <a:ext cx="868680" cy="164592"/>
          </a:xfrm>
          <a:prstGeom prst="rect">
            <a:avLst/>
          </a:prstGeom>
          <a:noFill/>
        </p:spPr>
        <p:txBody>
          <a:bodyPr wrap="square" lIns="0" tIns="0" rIns="0" bIns="0" anchor="ctr">
            <a:spAutoFit/>
          </a:bodyPr>
          <a:lstStyle/>
          <a:p>
            <a:pPr algn="r"/>
            <a:r>
              <a:rPr sz="1050" b="0" i="0">
                <a:solidFill>
                  <a:srgbClr val="8B949E"/>
                </a:solidFill>
                <a:latin typeface="Calibri"/>
              </a:rPr>
              <a:t>$100k</a:t>
            </a:r>
          </a:p>
        </p:txBody>
      </p:sp>
      <p:cxnSp>
        <p:nvCxnSpPr>
          <p:cNvPr id="29" name="Connector 28"/>
          <p:cNvCxnSpPr/>
          <p:nvPr/>
        </p:nvCxnSpPr>
        <p:spPr>
          <a:xfrm>
            <a:off x="1481328" y="2528556"/>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 y="2446260"/>
            <a:ext cx="868680" cy="164592"/>
          </a:xfrm>
          <a:prstGeom prst="rect">
            <a:avLst/>
          </a:prstGeom>
          <a:noFill/>
        </p:spPr>
        <p:txBody>
          <a:bodyPr wrap="square" lIns="0" tIns="0" rIns="0" bIns="0" anchor="ctr">
            <a:spAutoFit/>
          </a:bodyPr>
          <a:lstStyle/>
          <a:p>
            <a:pPr algn="r"/>
            <a:r>
              <a:rPr sz="1050" b="0" i="0">
                <a:solidFill>
                  <a:srgbClr val="8B949E"/>
                </a:solidFill>
                <a:latin typeface="Calibri"/>
              </a:rPr>
              <a:t>$1M</a:t>
            </a:r>
          </a:p>
        </p:txBody>
      </p:sp>
      <p:cxnSp>
        <p:nvCxnSpPr>
          <p:cNvPr id="31" name="Connector 30"/>
          <p:cNvCxnSpPr/>
          <p:nvPr/>
        </p:nvCxnSpPr>
        <p:spPr>
          <a:xfrm>
            <a:off x="148132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33" name="Connector 32"/>
          <p:cNvCxnSpPr/>
          <p:nvPr/>
        </p:nvCxnSpPr>
        <p:spPr>
          <a:xfrm>
            <a:off x="291846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506979"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5" name="Connector 34"/>
          <p:cNvCxnSpPr/>
          <p:nvPr/>
        </p:nvCxnSpPr>
        <p:spPr>
          <a:xfrm>
            <a:off x="4355592"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9441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7" name="Connector 36"/>
          <p:cNvCxnSpPr/>
          <p:nvPr/>
        </p:nvCxnSpPr>
        <p:spPr>
          <a:xfrm>
            <a:off x="5792724"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812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9" name="Connector 38"/>
          <p:cNvCxnSpPr/>
          <p:nvPr/>
        </p:nvCxnSpPr>
        <p:spPr>
          <a:xfrm>
            <a:off x="7229856"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18375"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41" name="Connector 40"/>
          <p:cNvCxnSpPr/>
          <p:nvPr/>
        </p:nvCxnSpPr>
        <p:spPr>
          <a:xfrm>
            <a:off x="866698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55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43" name="Connector 42"/>
          <p:cNvCxnSpPr/>
          <p:nvPr/>
        </p:nvCxnSpPr>
        <p:spPr>
          <a:xfrm>
            <a:off x="1010412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926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5" name="TextBox 44"/>
          <p:cNvSpPr txBox="1"/>
          <p:nvPr/>
        </p:nvSpPr>
        <p:spPr>
          <a:xfrm>
            <a:off x="1481328" y="6089904"/>
            <a:ext cx="4572000" cy="201168"/>
          </a:xfrm>
          <a:prstGeom prst="rect">
            <a:avLst/>
          </a:prstGeom>
          <a:noFill/>
        </p:spPr>
        <p:txBody>
          <a:bodyPr wrap="square" lIns="0" tIns="0" rIns="0" bIns="0" anchor="t">
            <a:spAutoFit/>
          </a:bodyPr>
          <a:lstStyle/>
          <a:p>
            <a:pPr algn="l"/>
            <a:r>
              <a:rPr sz="950" b="1" i="0">
                <a:solidFill>
                  <a:srgbClr val="8B949E"/>
                </a:solidFill>
                <a:latin typeface="Calibri"/>
              </a:rPr>
              <a:t>USERS  →  EACH GRIDLINE IS 10×</a:t>
            </a:r>
          </a:p>
        </p:txBody>
      </p:sp>
      <p:sp>
        <p:nvSpPr>
          <p:cNvPr id="46" name="TextBox 45"/>
          <p:cNvSpPr txBox="1"/>
          <p:nvPr/>
        </p:nvSpPr>
        <p:spPr>
          <a:xfrm>
            <a:off x="521208" y="2084832"/>
            <a:ext cx="1463040" cy="201168"/>
          </a:xfrm>
          <a:prstGeom prst="rect">
            <a:avLst/>
          </a:prstGeom>
          <a:noFill/>
        </p:spPr>
        <p:txBody>
          <a:bodyPr wrap="square" lIns="0" tIns="0" rIns="0" bIns="0" anchor="t">
            <a:spAutoFit/>
          </a:bodyPr>
          <a:lstStyle/>
          <a:p>
            <a:pPr algn="l"/>
            <a:r>
              <a:rPr sz="950" b="1" i="0">
                <a:solidFill>
                  <a:srgbClr val="8B949E"/>
                </a:solidFill>
                <a:latin typeface="Calibri"/>
              </a:rPr>
              <a:t>$ / MONTH</a:t>
            </a:r>
          </a:p>
        </p:txBody>
      </p:sp>
      <p:sp>
        <p:nvSpPr>
          <p:cNvPr id="47" name="TextBox 46"/>
          <p:cNvSpPr txBox="1"/>
          <p:nvPr/>
        </p:nvSpPr>
        <p:spPr>
          <a:xfrm>
            <a:off x="1609344" y="3102245"/>
            <a:ext cx="2377440" cy="201168"/>
          </a:xfrm>
          <a:prstGeom prst="rect">
            <a:avLst/>
          </a:prstGeom>
          <a:noFill/>
        </p:spPr>
        <p:txBody>
          <a:bodyPr wrap="square" lIns="0" tIns="0" rIns="0" bIns="0" anchor="t">
            <a:spAutoFit/>
          </a:bodyPr>
          <a:lstStyle/>
          <a:p>
            <a:pPr algn="l"/>
            <a:r>
              <a:rPr sz="1050" b="0" i="0">
                <a:solidFill>
                  <a:srgbClr val="545B64"/>
                </a:solidFill>
                <a:latin typeface="Calibri"/>
              </a:rPr>
              <a:t>in here, engine A's</a:t>
            </a:r>
          </a:p>
        </p:txBody>
      </p:sp>
      <p:sp>
        <p:nvSpPr>
          <p:cNvPr id="48" name="TextBox 47"/>
          <p:cNvSpPr txBox="1"/>
          <p:nvPr/>
        </p:nvSpPr>
        <p:spPr>
          <a:xfrm>
            <a:off x="1609344" y="3285125"/>
            <a:ext cx="2377440" cy="201168"/>
          </a:xfrm>
          <a:prstGeom prst="rect">
            <a:avLst/>
          </a:prstGeom>
          <a:noFill/>
        </p:spPr>
        <p:txBody>
          <a:bodyPr wrap="square" lIns="0" tIns="0" rIns="0" bIns="0" anchor="t">
            <a:spAutoFit/>
          </a:bodyPr>
          <a:lstStyle/>
          <a:p>
            <a:pPr algn="l"/>
            <a:r>
              <a:rPr sz="1050" b="0" i="0">
                <a:solidFill>
                  <a:srgbClr val="545B64"/>
                </a:solidFill>
                <a:latin typeface="Calibri"/>
              </a:rPr>
              <a:t>$18 floor is most of the bill  ↓</a:t>
            </a:r>
          </a:p>
        </p:txBody>
      </p:sp>
      <p:cxnSp>
        <p:nvCxnSpPr>
          <p:cNvPr id="49" name="Connector 48"/>
          <p:cNvCxnSpPr/>
          <p:nvPr/>
        </p:nvCxnSpPr>
        <p:spPr>
          <a:xfrm flipV="1">
            <a:off x="1481328" y="4519428"/>
            <a:ext cx="1437132" cy="9545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18460" y="4213334"/>
            <a:ext cx="1437132" cy="3060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355592" y="3791591"/>
            <a:ext cx="1437132" cy="4217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792724" y="3351063"/>
            <a:ext cx="1437132" cy="4405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229856" y="2908451"/>
            <a:ext cx="1437132" cy="44261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66988" y="2465711"/>
            <a:ext cx="1437132" cy="4427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428292" y="4561844"/>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865424" y="4466393"/>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4302556" y="416029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5739688" y="373855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176820" y="329802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613952" y="285541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0051084" y="241267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239451" y="2418162"/>
            <a:ext cx="95097" cy="95097"/>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396728" y="2360555"/>
            <a:ext cx="1737360" cy="201168"/>
          </a:xfrm>
          <a:prstGeom prst="rect">
            <a:avLst/>
          </a:prstGeom>
          <a:noFill/>
        </p:spPr>
        <p:txBody>
          <a:bodyPr wrap="square" lIns="0" tIns="0" rIns="0" bIns="0" anchor="t">
            <a:spAutoFit/>
          </a:bodyPr>
          <a:lstStyle/>
          <a:p>
            <a:pPr algn="l"/>
            <a:r>
              <a:rPr sz="1250" b="1" i="0">
                <a:solidFill>
                  <a:srgbClr val="232F3E"/>
                </a:solidFill>
                <a:latin typeface="Calibri"/>
              </a:rPr>
              <a:t>$1.387 M</a:t>
            </a:r>
          </a:p>
        </p:txBody>
      </p:sp>
      <p:sp>
        <p:nvSpPr>
          <p:cNvPr id="64" name="TextBox 63"/>
          <p:cNvSpPr txBox="1"/>
          <p:nvPr/>
        </p:nvSpPr>
        <p:spPr>
          <a:xfrm>
            <a:off x="10396728" y="2557151"/>
            <a:ext cx="1737360" cy="182880"/>
          </a:xfrm>
          <a:prstGeom prst="rect">
            <a:avLst/>
          </a:prstGeom>
          <a:noFill/>
        </p:spPr>
        <p:txBody>
          <a:bodyPr wrap="square" lIns="0" tIns="0" rIns="0" bIns="0" anchor="t">
            <a:spAutoFit/>
          </a:bodyPr>
          <a:lstStyle/>
          <a:p>
            <a:pPr algn="l"/>
            <a:r>
              <a:rPr sz="1100" b="0" i="0">
                <a:solidFill>
                  <a:srgbClr val="545B64"/>
                </a:solidFill>
                <a:latin typeface="Calibri"/>
              </a:rPr>
              <a:t>A  DIY</a:t>
            </a:r>
          </a:p>
        </p:txBody>
      </p:sp>
      <p:cxnSp>
        <p:nvCxnSpPr>
          <p:cNvPr id="65" name="Connector 64"/>
          <p:cNvCxnSpPr/>
          <p:nvPr/>
        </p:nvCxnSpPr>
        <p:spPr>
          <a:xfrm flipV="1">
            <a:off x="1481328" y="5179520"/>
            <a:ext cx="1437132" cy="441756"/>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918460" y="4736858"/>
            <a:ext cx="1437132" cy="4426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55592" y="4294106"/>
            <a:ext cx="1437132" cy="44275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92724" y="3851345"/>
            <a:ext cx="1437132" cy="442761"/>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229856" y="3408583"/>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666988" y="2965821"/>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428292" y="556824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865424" y="512648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4302556" y="468382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5739688" y="424107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7176820" y="3798310"/>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8613952" y="3355548"/>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051084" y="291278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239451" y="291827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396728" y="2860665"/>
            <a:ext cx="1737360" cy="201168"/>
          </a:xfrm>
          <a:prstGeom prst="rect">
            <a:avLst/>
          </a:prstGeom>
          <a:noFill/>
        </p:spPr>
        <p:txBody>
          <a:bodyPr wrap="square" lIns="0" tIns="0" rIns="0" bIns="0" anchor="t">
            <a:spAutoFit/>
          </a:bodyPr>
          <a:lstStyle/>
          <a:p>
            <a:pPr algn="l"/>
            <a:r>
              <a:rPr sz="1250" b="1" i="0">
                <a:solidFill>
                  <a:srgbClr val="232F3E"/>
                </a:solidFill>
                <a:latin typeface="Calibri"/>
              </a:rPr>
              <a:t>$102,900</a:t>
            </a:r>
          </a:p>
        </p:txBody>
      </p:sp>
      <p:sp>
        <p:nvSpPr>
          <p:cNvPr id="80" name="TextBox 79"/>
          <p:cNvSpPr txBox="1"/>
          <p:nvPr/>
        </p:nvSpPr>
        <p:spPr>
          <a:xfrm>
            <a:off x="10396728" y="3057261"/>
            <a:ext cx="1737360" cy="182880"/>
          </a:xfrm>
          <a:prstGeom prst="rect">
            <a:avLst/>
          </a:prstGeom>
          <a:noFill/>
        </p:spPr>
        <p:txBody>
          <a:bodyPr wrap="square" lIns="0" tIns="0" rIns="0" bIns="0" anchor="t">
            <a:spAutoFit/>
          </a:bodyPr>
          <a:lstStyle/>
          <a:p>
            <a:pPr algn="l"/>
            <a:r>
              <a:rPr sz="1100" b="0" i="0">
                <a:solidFill>
                  <a:srgbClr val="545B64"/>
                </a:solidFill>
                <a:latin typeface="Calibri"/>
              </a:rPr>
              <a:t>B  AgentCore</a:t>
            </a:r>
          </a:p>
        </p:txBody>
      </p:sp>
      <p:cxnSp>
        <p:nvCxnSpPr>
          <p:cNvPr id="81" name="Connector 80"/>
          <p:cNvCxnSpPr/>
          <p:nvPr/>
        </p:nvCxnSpPr>
        <p:spPr>
          <a:xfrm flipV="1">
            <a:off x="1481328" y="4614879"/>
            <a:ext cx="0" cy="1006397"/>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572768" y="5017494"/>
            <a:ext cx="914400" cy="201168"/>
          </a:xfrm>
          <a:prstGeom prst="rect">
            <a:avLst/>
          </a:prstGeom>
          <a:noFill/>
        </p:spPr>
        <p:txBody>
          <a:bodyPr wrap="square" lIns="0" tIns="0" rIns="0" bIns="0" anchor="t">
            <a:spAutoFit/>
          </a:bodyPr>
          <a:lstStyle/>
          <a:p>
            <a:pPr algn="l"/>
            <a:r>
              <a:rPr sz="1250" b="1" i="0">
                <a:solidFill>
                  <a:srgbClr val="232F3E"/>
                </a:solidFill>
                <a:latin typeface="Calibri"/>
              </a:rPr>
              <a:t>187.5×</a:t>
            </a:r>
          </a:p>
        </p:txBody>
      </p:sp>
      <p:cxnSp>
        <p:nvCxnSpPr>
          <p:cNvPr id="83" name="Connector 82"/>
          <p:cNvCxnSpPr/>
          <p:nvPr/>
        </p:nvCxnSpPr>
        <p:spPr>
          <a:xfrm flipV="1">
            <a:off x="10104120" y="2465711"/>
            <a:ext cx="0" cy="500110"/>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8823960" y="2615182"/>
            <a:ext cx="1097280" cy="201168"/>
          </a:xfrm>
          <a:prstGeom prst="rect">
            <a:avLst/>
          </a:prstGeom>
          <a:noFill/>
        </p:spPr>
        <p:txBody>
          <a:bodyPr wrap="square" lIns="0" tIns="0" rIns="0" bIns="0" anchor="t">
            <a:spAutoFit/>
          </a:bodyPr>
          <a:lstStyle/>
          <a:p>
            <a:pPr algn="r"/>
            <a:r>
              <a:rPr sz="1250" b="1" i="0">
                <a:solidFill>
                  <a:srgbClr val="232F3E"/>
                </a:solidFill>
                <a:latin typeface="Calibri"/>
              </a:rPr>
              <a:t>13.5×</a:t>
            </a:r>
          </a:p>
        </p:txBody>
      </p:sp>
      <p:sp>
        <p:nvSpPr>
          <p:cNvPr id="86" name="Rounded Rectangle 85">
            <a:extLst>
              <a:ext uri="{FF2B5EF4-FFF2-40B4-BE49-F238E27FC236}">
                <a16:creationId xmlns:a16="http://schemas.microsoft.com/office/drawing/2014/main" id="{106C8217-C742-FACC-CD89-4E7B0CDD1C30}"/>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7</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per user — the floor amortises</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same two bills divided by the user count. Engine A falls from $19.41 toward a $1.386 asymptote as its fixed floor spreads out; engine B is flat at $0.1029 from the first user, having no floor to spread.</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8 / 18</a:t>
            </a:r>
          </a:p>
        </p:txBody>
      </p:sp>
      <p:sp>
        <p:nvSpPr>
          <p:cNvPr id="10" name="Rounded Rectangle 9"/>
          <p:cNvSpPr/>
          <p:nvPr/>
        </p:nvSpPr>
        <p:spPr>
          <a:xfrm>
            <a:off x="521207" y="2025396"/>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2025396"/>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cxnSp>
        <p:nvCxnSpPr>
          <p:cNvPr id="14" name="Connector 13"/>
          <p:cNvCxnSpPr/>
          <p:nvPr/>
        </p:nvCxnSpPr>
        <p:spPr>
          <a:xfrm>
            <a:off x="1481328" y="5504983"/>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1208" y="5422687"/>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6" name="Connector 15"/>
          <p:cNvCxnSpPr/>
          <p:nvPr/>
        </p:nvCxnSpPr>
        <p:spPr>
          <a:xfrm>
            <a:off x="1481328" y="49549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8" y="4872685"/>
            <a:ext cx="868680" cy="164592"/>
          </a:xfrm>
          <a:prstGeom prst="rect">
            <a:avLst/>
          </a:prstGeom>
          <a:noFill/>
        </p:spPr>
        <p:txBody>
          <a:bodyPr wrap="square" lIns="0" tIns="0" rIns="0" bIns="0" anchor="ctr">
            <a:spAutoFit/>
          </a:bodyPr>
          <a:lstStyle/>
          <a:p>
            <a:pPr algn="r"/>
            <a:r>
              <a:rPr sz="1050" b="0" i="0">
                <a:solidFill>
                  <a:srgbClr val="8B949E"/>
                </a:solidFill>
                <a:latin typeface="Calibri"/>
              </a:rPr>
              <a:t>$0.30</a:t>
            </a:r>
          </a:p>
        </p:txBody>
      </p:sp>
      <p:cxnSp>
        <p:nvCxnSpPr>
          <p:cNvPr id="18" name="Connector 17"/>
          <p:cNvCxnSpPr/>
          <p:nvPr/>
        </p:nvCxnSpPr>
        <p:spPr>
          <a:xfrm>
            <a:off x="1481328" y="4352232"/>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8" y="4269936"/>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20" name="Connector 19"/>
          <p:cNvCxnSpPr/>
          <p:nvPr/>
        </p:nvCxnSpPr>
        <p:spPr>
          <a:xfrm>
            <a:off x="1481328" y="3802230"/>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1208" y="3719934"/>
            <a:ext cx="868680" cy="164592"/>
          </a:xfrm>
          <a:prstGeom prst="rect">
            <a:avLst/>
          </a:prstGeom>
          <a:noFill/>
        </p:spPr>
        <p:txBody>
          <a:bodyPr wrap="square" lIns="0" tIns="0" rIns="0" bIns="0" anchor="ctr">
            <a:spAutoFit/>
          </a:bodyPr>
          <a:lstStyle/>
          <a:p>
            <a:pPr algn="r"/>
            <a:r>
              <a:rPr sz="1050" b="0" i="0">
                <a:solidFill>
                  <a:srgbClr val="8B949E"/>
                </a:solidFill>
                <a:latin typeface="Calibri"/>
              </a:rPr>
              <a:t>$3</a:t>
            </a:r>
          </a:p>
        </p:txBody>
      </p:sp>
      <p:cxnSp>
        <p:nvCxnSpPr>
          <p:cNvPr id="22" name="Connector 21"/>
          <p:cNvCxnSpPr/>
          <p:nvPr/>
        </p:nvCxnSpPr>
        <p:spPr>
          <a:xfrm>
            <a:off x="1481328" y="31994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1208" y="3117185"/>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4" name="Connector 23"/>
          <p:cNvCxnSpPr/>
          <p:nvPr/>
        </p:nvCxnSpPr>
        <p:spPr>
          <a:xfrm>
            <a:off x="1481328" y="2649479"/>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1208" y="2567183"/>
            <a:ext cx="868680" cy="164592"/>
          </a:xfrm>
          <a:prstGeom prst="rect">
            <a:avLst/>
          </a:prstGeom>
          <a:noFill/>
        </p:spPr>
        <p:txBody>
          <a:bodyPr wrap="square" lIns="0" tIns="0" rIns="0" bIns="0" anchor="ctr">
            <a:spAutoFit/>
          </a:bodyPr>
          <a:lstStyle/>
          <a:p>
            <a:pPr algn="r"/>
            <a:r>
              <a:rPr sz="1050" b="0" i="0">
                <a:solidFill>
                  <a:srgbClr val="8B949E"/>
                </a:solidFill>
                <a:latin typeface="Calibri"/>
              </a:rPr>
              <a:t>$30</a:t>
            </a:r>
          </a:p>
        </p:txBody>
      </p:sp>
      <p:cxnSp>
        <p:nvCxnSpPr>
          <p:cNvPr id="26" name="Connector 25"/>
          <p:cNvCxnSpPr/>
          <p:nvPr/>
        </p:nvCxnSpPr>
        <p:spPr>
          <a:xfrm>
            <a:off x="148132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28" name="Connector 27"/>
          <p:cNvCxnSpPr/>
          <p:nvPr/>
        </p:nvCxnSpPr>
        <p:spPr>
          <a:xfrm>
            <a:off x="284226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078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0" name="Connector 29"/>
          <p:cNvCxnSpPr/>
          <p:nvPr/>
        </p:nvCxnSpPr>
        <p:spPr>
          <a:xfrm>
            <a:off x="4203192"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917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2" name="Connector 31"/>
          <p:cNvCxnSpPr/>
          <p:nvPr/>
        </p:nvCxnSpPr>
        <p:spPr>
          <a:xfrm>
            <a:off x="5564124"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526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4" name="Connector 33"/>
          <p:cNvCxnSpPr/>
          <p:nvPr/>
        </p:nvCxnSpPr>
        <p:spPr>
          <a:xfrm>
            <a:off x="6925056"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13576"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36" name="Connector 35"/>
          <p:cNvCxnSpPr/>
          <p:nvPr/>
        </p:nvCxnSpPr>
        <p:spPr>
          <a:xfrm>
            <a:off x="828598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74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38" name="Connector 37"/>
          <p:cNvCxnSpPr/>
          <p:nvPr/>
        </p:nvCxnSpPr>
        <p:spPr>
          <a:xfrm>
            <a:off x="964692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354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0" name="TextBox 39"/>
          <p:cNvSpPr txBox="1"/>
          <p:nvPr/>
        </p:nvSpPr>
        <p:spPr>
          <a:xfrm>
            <a:off x="1481328" y="6089904"/>
            <a:ext cx="3657600" cy="201168"/>
          </a:xfrm>
          <a:prstGeom prst="rect">
            <a:avLst/>
          </a:prstGeom>
          <a:noFill/>
        </p:spPr>
        <p:txBody>
          <a:bodyPr wrap="square" lIns="0" tIns="0" rIns="0" bIns="0" anchor="t">
            <a:spAutoFit/>
          </a:bodyPr>
          <a:lstStyle/>
          <a:p>
            <a:pPr algn="l"/>
            <a:r>
              <a:rPr sz="950" b="1" i="0">
                <a:solidFill>
                  <a:srgbClr val="8B949E"/>
                </a:solidFill>
                <a:latin typeface="Calibri"/>
              </a:rPr>
              <a:t>USERS  →</a:t>
            </a:r>
          </a:p>
        </p:txBody>
      </p:sp>
      <p:sp>
        <p:nvSpPr>
          <p:cNvPr id="41" name="TextBox 40"/>
          <p:cNvSpPr txBox="1"/>
          <p:nvPr/>
        </p:nvSpPr>
        <p:spPr>
          <a:xfrm>
            <a:off x="521208" y="2194560"/>
            <a:ext cx="2011680" cy="201168"/>
          </a:xfrm>
          <a:prstGeom prst="rect">
            <a:avLst/>
          </a:prstGeom>
          <a:noFill/>
        </p:spPr>
        <p:txBody>
          <a:bodyPr wrap="square" lIns="0" tIns="0" rIns="0" bIns="0" anchor="t">
            <a:spAutoFit/>
          </a:bodyPr>
          <a:lstStyle/>
          <a:p>
            <a:pPr algn="l"/>
            <a:r>
              <a:rPr sz="950" b="1" i="0">
                <a:solidFill>
                  <a:srgbClr val="8B949E"/>
                </a:solidFill>
                <a:latin typeface="Calibri"/>
              </a:rPr>
              <a:t>$ / USER / MONTH</a:t>
            </a:r>
          </a:p>
        </p:txBody>
      </p:sp>
      <p:cxnSp>
        <p:nvCxnSpPr>
          <p:cNvPr id="42" name="Connector 41"/>
          <p:cNvCxnSpPr/>
          <p:nvPr/>
        </p:nvCxnSpPr>
        <p:spPr>
          <a:xfrm>
            <a:off x="1481328" y="4188814"/>
            <a:ext cx="8165592" cy="0"/>
          </a:xfrm>
          <a:prstGeom prst="line">
            <a:avLst/>
          </a:prstGeom>
          <a:ln w="15875">
            <a:solidFill>
              <a:srgbClr val="8C2F45"/>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774936" y="4097374"/>
            <a:ext cx="2103120" cy="182880"/>
          </a:xfrm>
          <a:prstGeom prst="rect">
            <a:avLst/>
          </a:prstGeom>
          <a:noFill/>
        </p:spPr>
        <p:txBody>
          <a:bodyPr wrap="square" lIns="0" tIns="0" rIns="0" bIns="0" anchor="t">
            <a:spAutoFit/>
          </a:bodyPr>
          <a:lstStyle/>
          <a:p>
            <a:pPr algn="l"/>
            <a:r>
              <a:rPr sz="1100" b="0" i="0">
                <a:solidFill>
                  <a:srgbClr val="545B64"/>
                </a:solidFill>
                <a:latin typeface="Calibri"/>
              </a:rPr>
              <a:t>$1.386 — the floor melts to this</a:t>
            </a:r>
          </a:p>
        </p:txBody>
      </p:sp>
      <p:cxnSp>
        <p:nvCxnSpPr>
          <p:cNvPr id="44" name="Connector 43"/>
          <p:cNvCxnSpPr/>
          <p:nvPr/>
        </p:nvCxnSpPr>
        <p:spPr>
          <a:xfrm>
            <a:off x="1481328" y="2867562"/>
            <a:ext cx="90728" cy="709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72056" y="2938515"/>
            <a:ext cx="90729" cy="7006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62785" y="3008575"/>
            <a:ext cx="90729" cy="6904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53514" y="3077624"/>
            <a:ext cx="90729" cy="679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844243" y="3145529"/>
            <a:ext cx="90729" cy="6661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934972" y="3212148"/>
            <a:ext cx="90728" cy="651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025700" y="3277328"/>
            <a:ext cx="90729" cy="635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116429" y="3340906"/>
            <a:ext cx="90729" cy="618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07158" y="3402714"/>
            <a:ext cx="90729" cy="598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297887" y="3462579"/>
            <a:ext cx="90729" cy="577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388616" y="3520326"/>
            <a:ext cx="90728" cy="5546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479344" y="3575788"/>
            <a:ext cx="90729" cy="5301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570073" y="3628802"/>
            <a:ext cx="90729" cy="5042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660802" y="3679223"/>
            <a:ext cx="90729" cy="4770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751531" y="3726923"/>
            <a:ext cx="90729" cy="448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842260" y="3771801"/>
            <a:ext cx="90728" cy="419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932988" y="3813782"/>
            <a:ext cx="90729" cy="3904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023717" y="3852826"/>
            <a:ext cx="90729" cy="360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114446" y="3888924"/>
            <a:ext cx="90729" cy="331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205175" y="3922105"/>
            <a:ext cx="90729" cy="3032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295904" y="3952429"/>
            <a:ext cx="90728" cy="2755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386632" y="3979986"/>
            <a:ext cx="90729" cy="249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477361" y="4004894"/>
            <a:ext cx="90729" cy="2239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568090" y="4027291"/>
            <a:ext cx="90729" cy="2004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658819" y="4047333"/>
            <a:ext cx="90728" cy="178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49547" y="4065186"/>
            <a:ext cx="90729" cy="158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40276" y="4081023"/>
            <a:ext cx="90729" cy="139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931005" y="4095017"/>
            <a:ext cx="90729" cy="1232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021734" y="4107339"/>
            <a:ext cx="90729" cy="108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112463" y="4118155"/>
            <a:ext cx="90729" cy="94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203192" y="4127622"/>
            <a:ext cx="90728" cy="826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293920" y="4135886"/>
            <a:ext cx="90729" cy="7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384649" y="4143085"/>
            <a:ext cx="90729" cy="6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475378" y="4149343"/>
            <a:ext cx="90729" cy="543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566107" y="4154774"/>
            <a:ext cx="90729" cy="47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656836" y="4159479"/>
            <a:ext cx="90728" cy="40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747564" y="4163550"/>
            <a:ext cx="90729" cy="351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838293" y="4167068"/>
            <a:ext cx="90729" cy="30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29022" y="4170106"/>
            <a:ext cx="90729" cy="262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19751" y="4172726"/>
            <a:ext cx="90729" cy="2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10480" y="4174984"/>
            <a:ext cx="90728" cy="194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01208" y="4176929"/>
            <a:ext cx="90729" cy="167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291937" y="4178603"/>
            <a:ext cx="90729" cy="144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382666" y="4180044"/>
            <a:ext cx="90729" cy="12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473395" y="4181282"/>
            <a:ext cx="90729" cy="10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564124" y="4182347"/>
            <a:ext cx="90728" cy="9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654852" y="4183262"/>
            <a:ext cx="90729" cy="78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745581" y="4184049"/>
            <a:ext cx="90729" cy="67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836310" y="4184724"/>
            <a:ext cx="90729" cy="5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27039" y="4185304"/>
            <a:ext cx="90729" cy="4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017768" y="4185802"/>
            <a:ext cx="90728" cy="4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108496" y="4186230"/>
            <a:ext cx="90729" cy="3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199225" y="4186597"/>
            <a:ext cx="90729" cy="3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289954" y="4186912"/>
            <a:ext cx="90729" cy="27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380683" y="4187182"/>
            <a:ext cx="90729" cy="23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471412" y="4187414"/>
            <a:ext cx="90728" cy="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562140" y="4187613"/>
            <a:ext cx="90729" cy="1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652869" y="4187784"/>
            <a:ext cx="90729" cy="14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743598" y="4187930"/>
            <a:ext cx="90729" cy="12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834327" y="4188056"/>
            <a:ext cx="90729" cy="1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925056" y="4188164"/>
            <a:ext cx="90728" cy="9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015784" y="4188256"/>
            <a:ext cx="90729" cy="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106513" y="4188336"/>
            <a:ext cx="90729" cy="6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97242" y="4188404"/>
            <a:ext cx="90729" cy="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87971" y="4188462"/>
            <a:ext cx="90729" cy="5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378700" y="4188512"/>
            <a:ext cx="90728" cy="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469428" y="4188555"/>
            <a:ext cx="90729"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560157" y="4188433"/>
            <a:ext cx="90729" cy="1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50886" y="4188433"/>
            <a:ext cx="90729" cy="5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741615" y="4188487"/>
            <a:ext cx="90729" cy="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832344" y="4188534"/>
            <a:ext cx="90728" cy="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923072" y="4188574"/>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013801" y="4188549"/>
            <a:ext cx="90729" cy="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104530" y="4188549"/>
            <a:ext cx="90729" cy="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195259" y="4188554"/>
            <a:ext cx="90729" cy="3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85988" y="4188554"/>
            <a:ext cx="90728"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376716" y="4188575"/>
            <a:ext cx="90729" cy="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467445" y="4188575"/>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558174" y="4188603"/>
            <a:ext cx="90729"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648903" y="4188603"/>
            <a:ext cx="90728" cy="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739631" y="4188603"/>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830360" y="4188607"/>
            <a:ext cx="90729" cy="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921089" y="4188605"/>
            <a:ext cx="90729" cy="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011818" y="4188602"/>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02547" y="4188602"/>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193276" y="4188604"/>
            <a:ext cx="90728"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284004" y="4188608"/>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74733" y="4188608"/>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65462" y="4188609"/>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556191" y="4188609"/>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481328" y="5487761"/>
            <a:ext cx="8165592" cy="0"/>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1428292" y="281452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428292" y="5434725"/>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2789224" y="3718765"/>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2789224" y="543734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4150156" y="407458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4150156" y="5437607"/>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5511088" y="4129312"/>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5511088" y="543763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6872020" y="413512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6872020"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8232952" y="413551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8232952"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9593884" y="413557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9593884"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1627632" y="2593139"/>
            <a:ext cx="2194560" cy="201168"/>
          </a:xfrm>
          <a:prstGeom prst="rect">
            <a:avLst/>
          </a:prstGeom>
          <a:noFill/>
        </p:spPr>
        <p:txBody>
          <a:bodyPr wrap="square" lIns="0" tIns="0" rIns="0" bIns="0" anchor="t">
            <a:spAutoFit/>
          </a:bodyPr>
          <a:lstStyle/>
          <a:p>
            <a:pPr algn="l"/>
            <a:r>
              <a:rPr sz="1200" b="1" i="0">
                <a:solidFill>
                  <a:srgbClr val="232F3E"/>
                </a:solidFill>
                <a:latin typeface="Calibri"/>
              </a:rPr>
              <a:t>$19.41 at one user</a:t>
            </a:r>
          </a:p>
        </p:txBody>
      </p:sp>
      <p:sp>
        <p:nvSpPr>
          <p:cNvPr id="150" name="Oval 149"/>
          <p:cNvSpPr/>
          <p:nvPr/>
        </p:nvSpPr>
        <p:spPr>
          <a:xfrm>
            <a:off x="9654235" y="544312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9793224" y="5385515"/>
            <a:ext cx="2286000" cy="201168"/>
          </a:xfrm>
          <a:prstGeom prst="rect">
            <a:avLst/>
          </a:prstGeom>
          <a:noFill/>
        </p:spPr>
        <p:txBody>
          <a:bodyPr wrap="square" lIns="0" tIns="0" rIns="0" bIns="0" anchor="t">
            <a:spAutoFit/>
          </a:bodyPr>
          <a:lstStyle/>
          <a:p>
            <a:pPr algn="l"/>
            <a:r>
              <a:rPr sz="1200" b="1" i="0">
                <a:solidFill>
                  <a:srgbClr val="232F3E"/>
                </a:solidFill>
                <a:latin typeface="Calibri"/>
              </a:rPr>
              <a:t>$0.1029 — flat from user one</a:t>
            </a:r>
          </a:p>
        </p:txBody>
      </p:sp>
      <p:sp>
        <p:nvSpPr>
          <p:cNvPr id="152" name="TextBox 151"/>
          <p:cNvSpPr txBox="1"/>
          <p:nvPr/>
        </p:nvSpPr>
        <p:spPr>
          <a:xfrm>
            <a:off x="9793224" y="5591255"/>
            <a:ext cx="2286000" cy="182880"/>
          </a:xfrm>
          <a:prstGeom prst="rect">
            <a:avLst/>
          </a:prstGeom>
          <a:noFill/>
        </p:spPr>
        <p:txBody>
          <a:bodyPr wrap="square" lIns="0" tIns="0" rIns="0" bIns="0" anchor="t">
            <a:spAutoFit/>
          </a:bodyPr>
          <a:lstStyle/>
          <a:p>
            <a:pPr algn="l"/>
            <a:r>
              <a:rPr sz="1100" b="0" i="0">
                <a:solidFill>
                  <a:srgbClr val="545B64"/>
                </a:solidFill>
                <a:latin typeface="Calibri"/>
              </a:rPr>
              <a:t>no floor to amortise</a:t>
            </a:r>
          </a:p>
        </p:txBody>
      </p:sp>
      <p:sp>
        <p:nvSpPr>
          <p:cNvPr id="153" name="TextBox 152"/>
          <p:cNvSpPr txBox="1"/>
          <p:nvPr/>
        </p:nvSpPr>
        <p:spPr>
          <a:xfrm>
            <a:off x="6105693" y="3854977"/>
            <a:ext cx="2743200" cy="201168"/>
          </a:xfrm>
          <a:prstGeom prst="rect">
            <a:avLst/>
          </a:prstGeom>
          <a:noFill/>
        </p:spPr>
        <p:txBody>
          <a:bodyPr wrap="square" lIns="0" tIns="0" rIns="0" bIns="0" anchor="t">
            <a:spAutoFit/>
          </a:bodyPr>
          <a:lstStyle/>
          <a:p>
            <a:pPr algn="l"/>
            <a:r>
              <a:rPr sz="1100" b="0" i="0">
                <a:solidFill>
                  <a:srgbClr val="545B64"/>
                </a:solidFill>
                <a:latin typeface="Calibri"/>
              </a:rPr>
              <a:t>the gap stops closing at 13.5×</a:t>
            </a:r>
          </a:p>
        </p:txBody>
      </p:sp>
      <p:sp>
        <p:nvSpPr>
          <p:cNvPr id="154" name="Rounded Rectangle 153">
            <a:extLst>
              <a:ext uri="{FF2B5EF4-FFF2-40B4-BE49-F238E27FC236}">
                <a16:creationId xmlns:a16="http://schemas.microsoft.com/office/drawing/2014/main" id="{D0BCD6A5-0800-1E26-453D-6256E821516B}"/>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8</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bill, itemised</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Every rate from a vendor pricing page, every quantity counted out of this repo. The reply call to Bedrock is identical on both sides and excluded from both.</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9 / 18</a:t>
            </a:r>
          </a:p>
        </p:txBody>
      </p:sp>
      <p:sp>
        <p:nvSpPr>
          <p:cNvPr id="10" name="TextBox 9"/>
          <p:cNvSpPr txBox="1"/>
          <p:nvPr/>
        </p:nvSpPr>
        <p:spPr>
          <a:xfrm>
            <a:off x="502920" y="1773936"/>
            <a:ext cx="3657600" cy="676656"/>
          </a:xfrm>
          <a:prstGeom prst="rect">
            <a:avLst/>
          </a:prstGeom>
          <a:noFill/>
        </p:spPr>
        <p:txBody>
          <a:bodyPr wrap="square" lIns="0" tIns="0" rIns="0" bIns="0" anchor="ctr">
            <a:spAutoFit/>
          </a:bodyPr>
          <a:lstStyle/>
          <a:p>
            <a:pPr algn="l"/>
            <a:r>
              <a:rPr sz="4400" b="1" i="0">
                <a:solidFill>
                  <a:srgbClr val="8C2F45"/>
                </a:solidFill>
                <a:latin typeface="Calibri"/>
              </a:rPr>
              <a:t>13.5×</a:t>
            </a:r>
          </a:p>
        </p:txBody>
      </p:sp>
      <p:sp>
        <p:nvSpPr>
          <p:cNvPr id="11" name="TextBox 10"/>
          <p:cNvSpPr txBox="1"/>
          <p:nvPr/>
        </p:nvSpPr>
        <p:spPr>
          <a:xfrm>
            <a:off x="548640" y="2487168"/>
            <a:ext cx="8686800" cy="237744"/>
          </a:xfrm>
          <a:prstGeom prst="rect">
            <a:avLst/>
          </a:prstGeom>
          <a:noFill/>
        </p:spPr>
        <p:txBody>
          <a:bodyPr wrap="square" lIns="0" tIns="0" rIns="0" bIns="0" anchor="t">
            <a:spAutoFit/>
          </a:bodyPr>
          <a:lstStyle/>
          <a:p>
            <a:pPr algn="l"/>
            <a:r>
              <a:rPr sz="1300" b="0">
                <a:solidFill>
                  <a:srgbClr val="545B64"/>
                </a:solidFill>
                <a:latin typeface="Calibri"/>
              </a:rPr>
              <a:t>cheaper at scale — and </a:t>
            </a:r>
            <a:r>
              <a:rPr sz="1300" b="1">
                <a:solidFill>
                  <a:srgbClr val="8C2F45"/>
                </a:solidFill>
                <a:latin typeface="Calibri"/>
              </a:rPr>
              <a:t>187.5×</a:t>
            </a:r>
            <a:r>
              <a:rPr sz="1300" b="0">
                <a:solidFill>
                  <a:srgbClr val="545B64"/>
                </a:solidFill>
                <a:latin typeface="Calibri"/>
              </a:rPr>
              <a:t> at one user, where only engine B has no floor</a:t>
            </a:r>
          </a:p>
        </p:txBody>
      </p:sp>
      <p:sp>
        <p:nvSpPr>
          <p:cNvPr id="12" name="Rounded Rectangle 11"/>
          <p:cNvSpPr/>
          <p:nvPr/>
        </p:nvSpPr>
        <p:spPr>
          <a:xfrm>
            <a:off x="502920"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 USER</a:t>
            </a:r>
          </a:p>
        </p:txBody>
      </p:sp>
      <p:sp>
        <p:nvSpPr>
          <p:cNvPr id="14" name="Rounded Rectangle 13"/>
          <p:cNvSpPr/>
          <p:nvPr/>
        </p:nvSpPr>
        <p:spPr>
          <a:xfrm>
            <a:off x="685800"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$19.41</a:t>
            </a:r>
          </a:p>
        </p:txBody>
      </p:sp>
      <p:sp>
        <p:nvSpPr>
          <p:cNvPr id="16" name="TextBox 15"/>
          <p:cNvSpPr txBox="1"/>
          <p:nvPr/>
        </p:nvSpPr>
        <p:spPr>
          <a:xfrm>
            <a:off x="2286000"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17" name="Rounded Rectangle 16"/>
          <p:cNvSpPr/>
          <p:nvPr/>
        </p:nvSpPr>
        <p:spPr>
          <a:xfrm>
            <a:off x="685800"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$0.10</a:t>
            </a:r>
          </a:p>
        </p:txBody>
      </p:sp>
      <p:sp>
        <p:nvSpPr>
          <p:cNvPr id="19" name="TextBox 18"/>
          <p:cNvSpPr txBox="1"/>
          <p:nvPr/>
        </p:nvSpPr>
        <p:spPr>
          <a:xfrm>
            <a:off x="2286000"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0" name="TextBox 19"/>
          <p:cNvSpPr txBox="1"/>
          <p:nvPr/>
        </p:nvSpPr>
        <p:spPr>
          <a:xfrm>
            <a:off x="685800"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$19.30 / mo · 187.5×</a:t>
            </a:r>
          </a:p>
        </p:txBody>
      </p:sp>
      <p:sp>
        <p:nvSpPr>
          <p:cNvPr id="21" name="Rounded Rectangle 20"/>
          <p:cNvSpPr/>
          <p:nvPr/>
        </p:nvSpPr>
        <p:spPr>
          <a:xfrm>
            <a:off x="4279392"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62272"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 USERS</a:t>
            </a:r>
          </a:p>
        </p:txBody>
      </p:sp>
      <p:sp>
        <p:nvSpPr>
          <p:cNvPr id="23" name="Rounded Rectangle 22"/>
          <p:cNvSpPr/>
          <p:nvPr/>
        </p:nvSpPr>
        <p:spPr>
          <a:xfrm>
            <a:off x="4462272"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26864"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$13,878</a:t>
            </a:r>
          </a:p>
        </p:txBody>
      </p:sp>
      <p:sp>
        <p:nvSpPr>
          <p:cNvPr id="25" name="TextBox 24"/>
          <p:cNvSpPr txBox="1"/>
          <p:nvPr/>
        </p:nvSpPr>
        <p:spPr>
          <a:xfrm>
            <a:off x="6062472"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26" name="Rounded Rectangle 25"/>
          <p:cNvSpPr/>
          <p:nvPr/>
        </p:nvSpPr>
        <p:spPr>
          <a:xfrm>
            <a:off x="4462272"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26864"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a:t>
            </a:r>
          </a:p>
        </p:txBody>
      </p:sp>
      <p:sp>
        <p:nvSpPr>
          <p:cNvPr id="28" name="TextBox 27"/>
          <p:cNvSpPr txBox="1"/>
          <p:nvPr/>
        </p:nvSpPr>
        <p:spPr>
          <a:xfrm>
            <a:off x="6062472"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9" name="TextBox 28"/>
          <p:cNvSpPr txBox="1"/>
          <p:nvPr/>
        </p:nvSpPr>
        <p:spPr>
          <a:xfrm>
            <a:off x="4462272"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$12,849 / mo · 13.5×</a:t>
            </a:r>
          </a:p>
        </p:txBody>
      </p:sp>
      <p:sp>
        <p:nvSpPr>
          <p:cNvPr id="30" name="Rounded Rectangle 29"/>
          <p:cNvSpPr/>
          <p:nvPr/>
        </p:nvSpPr>
        <p:spPr>
          <a:xfrm>
            <a:off x="8055864"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38744"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1,000,000 USERS</a:t>
            </a:r>
          </a:p>
        </p:txBody>
      </p:sp>
      <p:sp>
        <p:nvSpPr>
          <p:cNvPr id="32" name="Rounded Rectangle 31"/>
          <p:cNvSpPr/>
          <p:nvPr/>
        </p:nvSpPr>
        <p:spPr>
          <a:xfrm>
            <a:off x="8238744"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03336"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 M</a:t>
            </a:r>
          </a:p>
        </p:txBody>
      </p:sp>
      <p:sp>
        <p:nvSpPr>
          <p:cNvPr id="34" name="TextBox 33"/>
          <p:cNvSpPr txBox="1"/>
          <p:nvPr/>
        </p:nvSpPr>
        <p:spPr>
          <a:xfrm>
            <a:off x="9838944"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35" name="Rounded Rectangle 34"/>
          <p:cNvSpPr/>
          <p:nvPr/>
        </p:nvSpPr>
        <p:spPr>
          <a:xfrm>
            <a:off x="8238744"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03336"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$102,900</a:t>
            </a:r>
          </a:p>
        </p:txBody>
      </p:sp>
      <p:sp>
        <p:nvSpPr>
          <p:cNvPr id="37" name="TextBox 36"/>
          <p:cNvSpPr txBox="1"/>
          <p:nvPr/>
        </p:nvSpPr>
        <p:spPr>
          <a:xfrm>
            <a:off x="9838944"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38" name="TextBox 37"/>
          <p:cNvSpPr txBox="1"/>
          <p:nvPr/>
        </p:nvSpPr>
        <p:spPr>
          <a:xfrm>
            <a:off x="8238744"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 M / mo · $15.4 M / yr</a:t>
            </a:r>
          </a:p>
        </p:txBody>
      </p:sp>
      <p:sp>
        <p:nvSpPr>
          <p:cNvPr id="39" name="TextBox 38"/>
          <p:cNvSpPr txBox="1"/>
          <p:nvPr/>
        </p:nvSpPr>
        <p:spPr>
          <a:xfrm>
            <a:off x="548640" y="4133087"/>
            <a:ext cx="3840480" cy="182880"/>
          </a:xfrm>
          <a:prstGeom prst="rect">
            <a:avLst/>
          </a:prstGeom>
          <a:noFill/>
        </p:spPr>
        <p:txBody>
          <a:bodyPr wrap="square" lIns="0" tIns="0" rIns="0" bIns="0" anchor="t">
            <a:spAutoFit/>
          </a:bodyPr>
          <a:lstStyle/>
          <a:p>
            <a:pPr algn="l"/>
            <a:r>
              <a:rPr sz="950" b="1" i="0">
                <a:solidFill>
                  <a:srgbClr val="8B949E"/>
                </a:solidFill>
                <a:latin typeface="Calibri"/>
              </a:rPr>
              <a:t>LINE ITEM</a:t>
            </a:r>
          </a:p>
        </p:txBody>
      </p:sp>
      <p:sp>
        <p:nvSpPr>
          <p:cNvPr id="40" name="TextBox 39"/>
          <p:cNvSpPr txBox="1"/>
          <p:nvPr/>
        </p:nvSpPr>
        <p:spPr>
          <a:xfrm>
            <a:off x="4480560" y="4133087"/>
            <a:ext cx="1737360" cy="182880"/>
          </a:xfrm>
          <a:prstGeom prst="rect">
            <a:avLst/>
          </a:prstGeom>
          <a:noFill/>
        </p:spPr>
        <p:txBody>
          <a:bodyPr wrap="square" lIns="0" tIns="0" rIns="0" bIns="0" anchor="t">
            <a:spAutoFit/>
          </a:bodyPr>
          <a:lstStyle/>
          <a:p>
            <a:pPr algn="l"/>
            <a:r>
              <a:rPr sz="950" b="1" i="0">
                <a:solidFill>
                  <a:srgbClr val="8B949E"/>
                </a:solidFill>
                <a:latin typeface="Calibri"/>
              </a:rPr>
              <a:t>ENGINE</a:t>
            </a:r>
          </a:p>
        </p:txBody>
      </p:sp>
      <p:sp>
        <p:nvSpPr>
          <p:cNvPr id="41" name="TextBox 40"/>
          <p:cNvSpPr txBox="1"/>
          <p:nvPr/>
        </p:nvSpPr>
        <p:spPr>
          <a:xfrm>
            <a:off x="6035040" y="4133087"/>
            <a:ext cx="1554480" cy="182880"/>
          </a:xfrm>
          <a:prstGeom prst="rect">
            <a:avLst/>
          </a:prstGeom>
          <a:noFill/>
        </p:spPr>
        <p:txBody>
          <a:bodyPr wrap="square" lIns="0" tIns="0" rIns="0" bIns="0" anchor="t">
            <a:spAutoFit/>
          </a:bodyPr>
          <a:lstStyle/>
          <a:p>
            <a:pPr algn="r"/>
            <a:r>
              <a:rPr sz="950" b="1" i="0">
                <a:solidFill>
                  <a:srgbClr val="8B949E"/>
                </a:solidFill>
                <a:latin typeface="Calibri"/>
              </a:rPr>
              <a:t>FIXED</a:t>
            </a:r>
          </a:p>
        </p:txBody>
      </p:sp>
      <p:sp>
        <p:nvSpPr>
          <p:cNvPr id="42" name="TextBox 41"/>
          <p:cNvSpPr txBox="1"/>
          <p:nvPr/>
        </p:nvSpPr>
        <p:spPr>
          <a:xfrm>
            <a:off x="7772400" y="4133087"/>
            <a:ext cx="1645920" cy="182880"/>
          </a:xfrm>
          <a:prstGeom prst="rect">
            <a:avLst/>
          </a:prstGeom>
          <a:noFill/>
        </p:spPr>
        <p:txBody>
          <a:bodyPr wrap="square" lIns="0" tIns="0" rIns="0" bIns="0" anchor="t">
            <a:spAutoFit/>
          </a:bodyPr>
          <a:lstStyle/>
          <a:p>
            <a:pPr algn="r"/>
            <a:r>
              <a:rPr sz="950" b="1" i="0">
                <a:solidFill>
                  <a:srgbClr val="8B949E"/>
                </a:solidFill>
                <a:latin typeface="Calibri"/>
              </a:rPr>
              <a:t>PER USER</a:t>
            </a:r>
          </a:p>
        </p:txBody>
      </p:sp>
      <p:sp>
        <p:nvSpPr>
          <p:cNvPr id="43" name="TextBox 42"/>
          <p:cNvSpPr txBox="1"/>
          <p:nvPr/>
        </p:nvSpPr>
        <p:spPr>
          <a:xfrm>
            <a:off x="9692640" y="4133087"/>
            <a:ext cx="1965960" cy="182880"/>
          </a:xfrm>
          <a:prstGeom prst="rect">
            <a:avLst/>
          </a:prstGeom>
          <a:noFill/>
        </p:spPr>
        <p:txBody>
          <a:bodyPr wrap="square" lIns="0" tIns="0" rIns="0" bIns="0" anchor="t">
            <a:spAutoFit/>
          </a:bodyPr>
          <a:lstStyle/>
          <a:p>
            <a:pPr algn="r"/>
            <a:r>
              <a:rPr sz="950" b="1" i="0">
                <a:solidFill>
                  <a:srgbClr val="8B949E"/>
                </a:solidFill>
                <a:latin typeface="Calibri"/>
              </a:rPr>
              <a:t>AT 1 USER</a:t>
            </a:r>
          </a:p>
        </p:txBody>
      </p:sp>
      <p:cxnSp>
        <p:nvCxnSpPr>
          <p:cNvPr id="44" name="Connector 43"/>
          <p:cNvCxnSpPr/>
          <p:nvPr/>
        </p:nvCxnSpPr>
        <p:spPr>
          <a:xfrm>
            <a:off x="548640" y="4370831"/>
            <a:ext cx="11109960" cy="0"/>
          </a:xfrm>
          <a:prstGeom prst="line">
            <a:avLst/>
          </a:prstGeom>
          <a:ln w="9525">
            <a:solidFill>
              <a:srgbClr val="D5DBE0"/>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66928" y="4512564"/>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9808" y="4443983"/>
            <a:ext cx="3639312" cy="219456"/>
          </a:xfrm>
          <a:prstGeom prst="rect">
            <a:avLst/>
          </a:prstGeom>
          <a:noFill/>
        </p:spPr>
        <p:txBody>
          <a:bodyPr wrap="square" lIns="0" tIns="0" rIns="0" bIns="0" anchor="ctr">
            <a:spAutoFit/>
          </a:bodyPr>
          <a:lstStyle/>
          <a:p>
            <a:pPr algn="l"/>
            <a:r>
              <a:rPr sz="1200" b="0" i="0">
                <a:solidFill>
                  <a:srgbClr val="545B64"/>
                </a:solidFill>
                <a:latin typeface="Calibri"/>
              </a:rPr>
              <a:t>AWS Fargate</a:t>
            </a:r>
          </a:p>
        </p:txBody>
      </p:sp>
      <p:sp>
        <p:nvSpPr>
          <p:cNvPr id="47" name="TextBox 46"/>
          <p:cNvSpPr txBox="1"/>
          <p:nvPr/>
        </p:nvSpPr>
        <p:spPr>
          <a:xfrm>
            <a:off x="4480560" y="4443983"/>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48" name="TextBox 47"/>
          <p:cNvSpPr txBox="1"/>
          <p:nvPr/>
        </p:nvSpPr>
        <p:spPr>
          <a:xfrm>
            <a:off x="6035040" y="4443983"/>
            <a:ext cx="155448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sp>
        <p:nvSpPr>
          <p:cNvPr id="49" name="TextBox 48"/>
          <p:cNvSpPr txBox="1"/>
          <p:nvPr/>
        </p:nvSpPr>
        <p:spPr>
          <a:xfrm>
            <a:off x="7772400" y="4443983"/>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0" name="TextBox 49"/>
          <p:cNvSpPr txBox="1"/>
          <p:nvPr/>
        </p:nvSpPr>
        <p:spPr>
          <a:xfrm>
            <a:off x="9692640" y="4443983"/>
            <a:ext cx="196596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cxnSp>
        <p:nvCxnSpPr>
          <p:cNvPr id="51" name="Connector 50"/>
          <p:cNvCxnSpPr/>
          <p:nvPr/>
        </p:nvCxnSpPr>
        <p:spPr>
          <a:xfrm>
            <a:off x="548640" y="4658868"/>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66928" y="4745736"/>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 y="4677155"/>
            <a:ext cx="3639312" cy="219456"/>
          </a:xfrm>
          <a:prstGeom prst="rect">
            <a:avLst/>
          </a:prstGeom>
          <a:noFill/>
        </p:spPr>
        <p:txBody>
          <a:bodyPr wrap="square" lIns="0" tIns="0" rIns="0" bIns="0" anchor="ctr">
            <a:spAutoFit/>
          </a:bodyPr>
          <a:lstStyle/>
          <a:p>
            <a:pPr algn="l"/>
            <a:r>
              <a:rPr sz="1200" b="0" i="0">
                <a:solidFill>
                  <a:srgbClr val="545B64"/>
                </a:solidFill>
                <a:latin typeface="Calibri"/>
              </a:rPr>
              <a:t>2nd Bedrock call · extraction</a:t>
            </a:r>
          </a:p>
        </p:txBody>
      </p:sp>
      <p:sp>
        <p:nvSpPr>
          <p:cNvPr id="54" name="TextBox 53"/>
          <p:cNvSpPr txBox="1"/>
          <p:nvPr/>
        </p:nvSpPr>
        <p:spPr>
          <a:xfrm>
            <a:off x="4480560" y="4677155"/>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55" name="TextBox 54"/>
          <p:cNvSpPr txBox="1"/>
          <p:nvPr/>
        </p:nvSpPr>
        <p:spPr>
          <a:xfrm>
            <a:off x="6035040" y="4677155"/>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6" name="TextBox 55"/>
          <p:cNvSpPr txBox="1"/>
          <p:nvPr/>
        </p:nvSpPr>
        <p:spPr>
          <a:xfrm>
            <a:off x="7772400" y="4677155"/>
            <a:ext cx="1645920" cy="219456"/>
          </a:xfrm>
          <a:prstGeom prst="rect">
            <a:avLst/>
          </a:prstGeom>
          <a:noFill/>
        </p:spPr>
        <p:txBody>
          <a:bodyPr wrap="square" lIns="0" tIns="0" rIns="0" bIns="0" anchor="ctr">
            <a:spAutoFit/>
          </a:bodyPr>
          <a:lstStyle/>
          <a:p>
            <a:pPr algn="r"/>
            <a:r>
              <a:rPr sz="1150" b="0" i="0">
                <a:solidFill>
                  <a:srgbClr val="545B64"/>
                </a:solidFill>
                <a:latin typeface="Calibri"/>
              </a:rPr>
              <a:t>$1.386</a:t>
            </a:r>
          </a:p>
        </p:txBody>
      </p:sp>
      <p:sp>
        <p:nvSpPr>
          <p:cNvPr id="57" name="TextBox 56"/>
          <p:cNvSpPr txBox="1"/>
          <p:nvPr/>
        </p:nvSpPr>
        <p:spPr>
          <a:xfrm>
            <a:off x="9692640" y="4677155"/>
            <a:ext cx="1965960" cy="219456"/>
          </a:xfrm>
          <a:prstGeom prst="rect">
            <a:avLst/>
          </a:prstGeom>
          <a:noFill/>
        </p:spPr>
        <p:txBody>
          <a:bodyPr wrap="square" lIns="0" tIns="0" rIns="0" bIns="0" anchor="ctr">
            <a:spAutoFit/>
          </a:bodyPr>
          <a:lstStyle/>
          <a:p>
            <a:pPr algn="r"/>
            <a:r>
              <a:rPr sz="1150" b="0" i="0">
                <a:solidFill>
                  <a:srgbClr val="545B64"/>
                </a:solidFill>
                <a:latin typeface="Calibri"/>
              </a:rPr>
              <a:t>$1.385</a:t>
            </a:r>
          </a:p>
        </p:txBody>
      </p:sp>
      <p:cxnSp>
        <p:nvCxnSpPr>
          <p:cNvPr id="58" name="Connector 57"/>
          <p:cNvCxnSpPr/>
          <p:nvPr/>
        </p:nvCxnSpPr>
        <p:spPr>
          <a:xfrm>
            <a:off x="548640" y="4892040"/>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566928" y="4978907"/>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4910327"/>
            <a:ext cx="3639312" cy="219456"/>
          </a:xfrm>
          <a:prstGeom prst="rect">
            <a:avLst/>
          </a:prstGeom>
          <a:noFill/>
        </p:spPr>
        <p:txBody>
          <a:bodyPr wrap="square" lIns="0" tIns="0" rIns="0" bIns="0" anchor="ctr">
            <a:spAutoFit/>
          </a:bodyPr>
          <a:lstStyle/>
          <a:p>
            <a:pPr algn="l"/>
            <a:r>
              <a:rPr sz="1200" b="0" i="0">
                <a:solidFill>
                  <a:srgbClr val="545B64"/>
                </a:solidFill>
                <a:latin typeface="Calibri"/>
              </a:rPr>
              <a:t>Amazon DynamoDB</a:t>
            </a:r>
          </a:p>
        </p:txBody>
      </p:sp>
      <p:sp>
        <p:nvSpPr>
          <p:cNvPr id="61" name="TextBox 60"/>
          <p:cNvSpPr txBox="1"/>
          <p:nvPr/>
        </p:nvSpPr>
        <p:spPr>
          <a:xfrm>
            <a:off x="4480560" y="4910327"/>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62" name="TextBox 61"/>
          <p:cNvSpPr txBox="1"/>
          <p:nvPr/>
        </p:nvSpPr>
        <p:spPr>
          <a:xfrm>
            <a:off x="6035040" y="4910327"/>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63" name="TextBox 62"/>
          <p:cNvSpPr txBox="1"/>
          <p:nvPr/>
        </p:nvSpPr>
        <p:spPr>
          <a:xfrm>
            <a:off x="7772400" y="4910327"/>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64" name="TextBox 63"/>
          <p:cNvSpPr txBox="1"/>
          <p:nvPr/>
        </p:nvSpPr>
        <p:spPr>
          <a:xfrm>
            <a:off x="9692640" y="4910327"/>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65" name="Connector 64"/>
          <p:cNvCxnSpPr/>
          <p:nvPr/>
        </p:nvCxnSpPr>
        <p:spPr>
          <a:xfrm>
            <a:off x="548640" y="5125212"/>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566928" y="5212079"/>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5143499"/>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Gateway</a:t>
            </a:r>
          </a:p>
        </p:txBody>
      </p:sp>
      <p:sp>
        <p:nvSpPr>
          <p:cNvPr id="68" name="TextBox 67"/>
          <p:cNvSpPr txBox="1"/>
          <p:nvPr/>
        </p:nvSpPr>
        <p:spPr>
          <a:xfrm>
            <a:off x="4480560" y="5143499"/>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69" name="TextBox 68"/>
          <p:cNvSpPr txBox="1"/>
          <p:nvPr/>
        </p:nvSpPr>
        <p:spPr>
          <a:xfrm>
            <a:off x="6035040" y="5143499"/>
            <a:ext cx="155448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70" name="TextBox 69"/>
          <p:cNvSpPr txBox="1"/>
          <p:nvPr/>
        </p:nvSpPr>
        <p:spPr>
          <a:xfrm>
            <a:off x="7772400" y="5143499"/>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1" name="TextBox 70"/>
          <p:cNvSpPr txBox="1"/>
          <p:nvPr/>
        </p:nvSpPr>
        <p:spPr>
          <a:xfrm>
            <a:off x="9692640" y="5143499"/>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72" name="Connector 71"/>
          <p:cNvCxnSpPr/>
          <p:nvPr/>
        </p:nvCxnSpPr>
        <p:spPr>
          <a:xfrm>
            <a:off x="548640" y="5358383"/>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566928" y="5445251"/>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49808" y="5376671"/>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Memory</a:t>
            </a:r>
          </a:p>
        </p:txBody>
      </p:sp>
      <p:sp>
        <p:nvSpPr>
          <p:cNvPr id="75" name="TextBox 74"/>
          <p:cNvSpPr txBox="1"/>
          <p:nvPr/>
        </p:nvSpPr>
        <p:spPr>
          <a:xfrm>
            <a:off x="4480560" y="5376671"/>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76" name="TextBox 75"/>
          <p:cNvSpPr txBox="1"/>
          <p:nvPr/>
        </p:nvSpPr>
        <p:spPr>
          <a:xfrm>
            <a:off x="6035040" y="5376671"/>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7" name="TextBox 76"/>
          <p:cNvSpPr txBox="1"/>
          <p:nvPr/>
        </p:nvSpPr>
        <p:spPr>
          <a:xfrm>
            <a:off x="7772400" y="5376671"/>
            <a:ext cx="164592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sp>
        <p:nvSpPr>
          <p:cNvPr id="78" name="TextBox 77"/>
          <p:cNvSpPr txBox="1"/>
          <p:nvPr/>
        </p:nvSpPr>
        <p:spPr>
          <a:xfrm>
            <a:off x="9692640" y="5376671"/>
            <a:ext cx="196596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cxnSp>
        <p:nvCxnSpPr>
          <p:cNvPr id="79" name="Connector 78"/>
          <p:cNvCxnSpPr/>
          <p:nvPr/>
        </p:nvCxnSpPr>
        <p:spPr>
          <a:xfrm>
            <a:off x="548640" y="5591555"/>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66928" y="5678423"/>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49808" y="5609843"/>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Runtime</a:t>
            </a:r>
          </a:p>
        </p:txBody>
      </p:sp>
      <p:sp>
        <p:nvSpPr>
          <p:cNvPr id="82" name="TextBox 81"/>
          <p:cNvSpPr txBox="1"/>
          <p:nvPr/>
        </p:nvSpPr>
        <p:spPr>
          <a:xfrm>
            <a:off x="4480560" y="5609843"/>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83" name="TextBox 82"/>
          <p:cNvSpPr txBox="1"/>
          <p:nvPr/>
        </p:nvSpPr>
        <p:spPr>
          <a:xfrm>
            <a:off x="6035040" y="5609843"/>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84" name="TextBox 83"/>
          <p:cNvSpPr txBox="1"/>
          <p:nvPr/>
        </p:nvSpPr>
        <p:spPr>
          <a:xfrm>
            <a:off x="7772400" y="5609843"/>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sp>
        <p:nvSpPr>
          <p:cNvPr id="85" name="TextBox 84"/>
          <p:cNvSpPr txBox="1"/>
          <p:nvPr/>
        </p:nvSpPr>
        <p:spPr>
          <a:xfrm>
            <a:off x="9692640" y="5609843"/>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cxnSp>
        <p:nvCxnSpPr>
          <p:cNvPr id="86" name="Connector 85"/>
          <p:cNvCxnSpPr/>
          <p:nvPr/>
        </p:nvCxnSpPr>
        <p:spPr>
          <a:xfrm>
            <a:off x="548640" y="5824727"/>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66928" y="5843015"/>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A total, one user</a:t>
            </a:r>
          </a:p>
        </p:txBody>
      </p:sp>
      <p:sp>
        <p:nvSpPr>
          <p:cNvPr id="88" name="TextBox 87"/>
          <p:cNvSpPr txBox="1"/>
          <p:nvPr/>
        </p:nvSpPr>
        <p:spPr>
          <a:xfrm>
            <a:off x="4480560" y="5843015"/>
            <a:ext cx="1737360" cy="219456"/>
          </a:xfrm>
          <a:prstGeom prst="rect">
            <a:avLst/>
          </a:prstGeom>
          <a:noFill/>
        </p:spPr>
        <p:txBody>
          <a:bodyPr wrap="square" lIns="0" tIns="0" rIns="0" bIns="0" anchor="ctr">
            <a:spAutoFit/>
          </a:bodyPr>
          <a:lstStyle/>
          <a:p>
            <a:pPr algn="l"/>
            <a:r>
              <a:rPr sz="1150" b="1" i="0">
                <a:solidFill>
                  <a:srgbClr val="232F3E"/>
                </a:solidFill>
                <a:latin typeface="Calibri"/>
              </a:rPr>
              <a:t>A · DIY</a:t>
            </a:r>
          </a:p>
        </p:txBody>
      </p:sp>
      <p:sp>
        <p:nvSpPr>
          <p:cNvPr id="89" name="TextBox 88"/>
          <p:cNvSpPr txBox="1"/>
          <p:nvPr/>
        </p:nvSpPr>
        <p:spPr>
          <a:xfrm>
            <a:off x="6035040" y="5843015"/>
            <a:ext cx="1554480" cy="219456"/>
          </a:xfrm>
          <a:prstGeom prst="rect">
            <a:avLst/>
          </a:prstGeom>
          <a:noFill/>
        </p:spPr>
        <p:txBody>
          <a:bodyPr wrap="square" lIns="0" tIns="0" rIns="0" bIns="0" anchor="ctr">
            <a:spAutoFit/>
          </a:bodyPr>
          <a:lstStyle/>
          <a:p>
            <a:pPr algn="r"/>
            <a:r>
              <a:rPr sz="1150" b="1" i="0">
                <a:solidFill>
                  <a:srgbClr val="232F3E"/>
                </a:solidFill>
                <a:latin typeface="Calibri"/>
              </a:rPr>
              <a:t>$18.02</a:t>
            </a:r>
          </a:p>
        </p:txBody>
      </p:sp>
      <p:sp>
        <p:nvSpPr>
          <p:cNvPr id="90" name="TextBox 89"/>
          <p:cNvSpPr txBox="1"/>
          <p:nvPr/>
        </p:nvSpPr>
        <p:spPr>
          <a:xfrm>
            <a:off x="7772400" y="5843015"/>
            <a:ext cx="1645920" cy="219456"/>
          </a:xfrm>
          <a:prstGeom prst="rect">
            <a:avLst/>
          </a:prstGeom>
          <a:noFill/>
        </p:spPr>
        <p:txBody>
          <a:bodyPr wrap="square" lIns="0" tIns="0" rIns="0" bIns="0" anchor="ctr">
            <a:spAutoFit/>
          </a:bodyPr>
          <a:lstStyle/>
          <a:p>
            <a:pPr algn="r"/>
            <a:r>
              <a:rPr sz="1150" b="1" i="0">
                <a:solidFill>
                  <a:srgbClr val="232F3E"/>
                </a:solidFill>
                <a:latin typeface="Calibri"/>
              </a:rPr>
              <a:t>$1.386</a:t>
            </a:r>
          </a:p>
        </p:txBody>
      </p:sp>
      <p:sp>
        <p:nvSpPr>
          <p:cNvPr id="91" name="TextBox 90"/>
          <p:cNvSpPr txBox="1"/>
          <p:nvPr/>
        </p:nvSpPr>
        <p:spPr>
          <a:xfrm>
            <a:off x="9692640" y="5843015"/>
            <a:ext cx="1965960" cy="219456"/>
          </a:xfrm>
          <a:prstGeom prst="rect">
            <a:avLst/>
          </a:prstGeom>
          <a:noFill/>
        </p:spPr>
        <p:txBody>
          <a:bodyPr wrap="square" lIns="0" tIns="0" rIns="0" bIns="0" anchor="ctr">
            <a:spAutoFit/>
          </a:bodyPr>
          <a:lstStyle/>
          <a:p>
            <a:pPr algn="r"/>
            <a:r>
              <a:rPr sz="1150" b="1" i="0">
                <a:solidFill>
                  <a:srgbClr val="232F3E"/>
                </a:solidFill>
                <a:latin typeface="Calibri"/>
              </a:rPr>
              <a:t>$19.41</a:t>
            </a:r>
          </a:p>
        </p:txBody>
      </p:sp>
      <p:cxnSp>
        <p:nvCxnSpPr>
          <p:cNvPr id="92" name="Connector 91"/>
          <p:cNvCxnSpPr/>
          <p:nvPr/>
        </p:nvCxnSpPr>
        <p:spPr>
          <a:xfrm>
            <a:off x="548640" y="6057899"/>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66928" y="6076187"/>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B total, one user</a:t>
            </a:r>
          </a:p>
        </p:txBody>
      </p:sp>
      <p:sp>
        <p:nvSpPr>
          <p:cNvPr id="94" name="TextBox 93"/>
          <p:cNvSpPr txBox="1"/>
          <p:nvPr/>
        </p:nvSpPr>
        <p:spPr>
          <a:xfrm>
            <a:off x="4480560" y="6076187"/>
            <a:ext cx="1737360" cy="219456"/>
          </a:xfrm>
          <a:prstGeom prst="rect">
            <a:avLst/>
          </a:prstGeom>
          <a:noFill/>
        </p:spPr>
        <p:txBody>
          <a:bodyPr wrap="square" lIns="0" tIns="0" rIns="0" bIns="0" anchor="ctr">
            <a:spAutoFit/>
          </a:bodyPr>
          <a:lstStyle/>
          <a:p>
            <a:pPr algn="l"/>
            <a:r>
              <a:rPr sz="1150" b="1" i="0">
                <a:solidFill>
                  <a:srgbClr val="232F3E"/>
                </a:solidFill>
                <a:latin typeface="Calibri"/>
              </a:rPr>
              <a:t>B · AgentCore</a:t>
            </a:r>
          </a:p>
        </p:txBody>
      </p:sp>
      <p:sp>
        <p:nvSpPr>
          <p:cNvPr id="95" name="TextBox 94"/>
          <p:cNvSpPr txBox="1"/>
          <p:nvPr/>
        </p:nvSpPr>
        <p:spPr>
          <a:xfrm>
            <a:off x="6035040" y="6076187"/>
            <a:ext cx="1554480" cy="219456"/>
          </a:xfrm>
          <a:prstGeom prst="rect">
            <a:avLst/>
          </a:prstGeom>
          <a:noFill/>
        </p:spPr>
        <p:txBody>
          <a:bodyPr wrap="square" lIns="0" tIns="0" rIns="0" bIns="0" anchor="ctr">
            <a:spAutoFit/>
          </a:bodyPr>
          <a:lstStyle/>
          <a:p>
            <a:pPr algn="r"/>
            <a:r>
              <a:rPr sz="1150" b="1" i="0">
                <a:solidFill>
                  <a:srgbClr val="232F3E"/>
                </a:solidFill>
                <a:latin typeface="Calibri"/>
              </a:rPr>
              <a:t>$0.0006</a:t>
            </a:r>
          </a:p>
        </p:txBody>
      </p:sp>
      <p:sp>
        <p:nvSpPr>
          <p:cNvPr id="96" name="TextBox 95"/>
          <p:cNvSpPr txBox="1"/>
          <p:nvPr/>
        </p:nvSpPr>
        <p:spPr>
          <a:xfrm>
            <a:off x="7772400" y="6076187"/>
            <a:ext cx="1645920" cy="219456"/>
          </a:xfrm>
          <a:prstGeom prst="rect">
            <a:avLst/>
          </a:prstGeom>
          <a:noFill/>
        </p:spPr>
        <p:txBody>
          <a:bodyPr wrap="square" lIns="0" tIns="0" rIns="0" bIns="0" anchor="ctr">
            <a:spAutoFit/>
          </a:bodyPr>
          <a:lstStyle/>
          <a:p>
            <a:pPr algn="r"/>
            <a:r>
              <a:rPr sz="1150" b="1" i="0">
                <a:solidFill>
                  <a:srgbClr val="232F3E"/>
                </a:solidFill>
                <a:latin typeface="Calibri"/>
              </a:rPr>
              <a:t>$0.1029</a:t>
            </a:r>
          </a:p>
        </p:txBody>
      </p:sp>
      <p:sp>
        <p:nvSpPr>
          <p:cNvPr id="97" name="TextBox 96"/>
          <p:cNvSpPr txBox="1"/>
          <p:nvPr/>
        </p:nvSpPr>
        <p:spPr>
          <a:xfrm>
            <a:off x="9692640" y="6076187"/>
            <a:ext cx="1965960" cy="219456"/>
          </a:xfrm>
          <a:prstGeom prst="rect">
            <a:avLst/>
          </a:prstGeom>
          <a:noFill/>
        </p:spPr>
        <p:txBody>
          <a:bodyPr wrap="square" lIns="0" tIns="0" rIns="0" bIns="0" anchor="ctr">
            <a:spAutoFit/>
          </a:bodyPr>
          <a:lstStyle/>
          <a:p>
            <a:pPr algn="r"/>
            <a:r>
              <a:rPr sz="1150" b="1" i="0">
                <a:solidFill>
                  <a:srgbClr val="232F3E"/>
                </a:solidFill>
                <a:latin typeface="Calibri"/>
              </a:rPr>
              <a:t>$0.10</a:t>
            </a:r>
          </a:p>
        </p:txBody>
      </p:sp>
      <p:cxnSp>
        <p:nvCxnSpPr>
          <p:cNvPr id="98" name="Connector 97"/>
          <p:cNvCxnSpPr/>
          <p:nvPr/>
        </p:nvCxnSpPr>
        <p:spPr>
          <a:xfrm>
            <a:off x="548640" y="6291071"/>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9" name="Rounded Rectangle 98">
            <a:extLst>
              <a:ext uri="{FF2B5EF4-FFF2-40B4-BE49-F238E27FC236}">
                <a16:creationId xmlns:a16="http://schemas.microsoft.com/office/drawing/2014/main" id="{3736B0EF-898D-11DA-78DD-54F666EDF247}"/>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10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0119"/>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11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lang="en-US" sz="3000" b="1" dirty="0" err="1">
                <a:solidFill>
                  <a:srgbClr val="232F3E"/>
                </a:solidFill>
                <a:latin typeface="Calibri"/>
              </a:rPr>
              <a:t>Resiliance</a:t>
            </a:r>
            <a:endParaRPr sz="3000" b="1" dirty="0">
              <a:solidFill>
                <a:srgbClr val="232F3E"/>
              </a:solidFill>
              <a:latin typeface="Calibri"/>
            </a:endParaRP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6809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3737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13232"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453128"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93023"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sessions lost to the same fault, on the same code — the whole argument in one number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12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14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lang="en-US" sz="3000" b="1" dirty="0">
                <a:solidFill>
                  <a:srgbClr val="232F3E"/>
                </a:solidFill>
                <a:latin typeface="Calibri"/>
              </a:rPr>
              <a:t>Observability</a:t>
            </a:r>
            <a:r>
              <a:rPr sz="3000" b="1" dirty="0">
                <a:solidFill>
                  <a:srgbClr val="232F3E"/>
                </a:solidFill>
                <a:latin typeface="Calibri"/>
              </a:rPr>
              <a:t> — the lens DIY wins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5"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the lens DIY keeps — a 6–0 comparison would be a sales pitch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floor vs. the meter</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10" name="Rounded Rectangle 9"/>
          <p:cNvSpPr/>
          <p:nvPr/>
        </p:nvSpPr>
        <p:spPr>
          <a:xfrm>
            <a:off x="521207" y="1897380"/>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1897380"/>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sp>
        <p:nvSpPr>
          <p:cNvPr id="14" name="Rectangle 13"/>
          <p:cNvSpPr/>
          <p:nvPr/>
        </p:nvSpPr>
        <p:spPr>
          <a:xfrm>
            <a:off x="1481328" y="2395728"/>
            <a:ext cx="1600883" cy="3364991"/>
          </a:xfrm>
          <a:prstGeom prst="rect">
            <a:avLst/>
          </a:prstGeom>
          <a:solidFill>
            <a:srgbClr val="F8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1481328" y="5627891"/>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1208" y="5545595"/>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7" name="Connector 16"/>
          <p:cNvCxnSpPr/>
          <p:nvPr/>
        </p:nvCxnSpPr>
        <p:spPr>
          <a:xfrm>
            <a:off x="1481328" y="5185129"/>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1208" y="5102833"/>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19" name="Connector 18"/>
          <p:cNvCxnSpPr/>
          <p:nvPr/>
        </p:nvCxnSpPr>
        <p:spPr>
          <a:xfrm>
            <a:off x="1481328" y="4742367"/>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1208" y="4660071"/>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1" name="Connector 20"/>
          <p:cNvCxnSpPr/>
          <p:nvPr/>
        </p:nvCxnSpPr>
        <p:spPr>
          <a:xfrm>
            <a:off x="1481328" y="4299605"/>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1208" y="4217309"/>
            <a:ext cx="868680" cy="164592"/>
          </a:xfrm>
          <a:prstGeom prst="rect">
            <a:avLst/>
          </a:prstGeom>
          <a:noFill/>
        </p:spPr>
        <p:txBody>
          <a:bodyPr wrap="square" lIns="0" tIns="0" rIns="0" bIns="0" anchor="ctr">
            <a:spAutoFit/>
          </a:bodyPr>
          <a:lstStyle/>
          <a:p>
            <a:pPr algn="r"/>
            <a:r>
              <a:rPr sz="1050" b="0" i="0">
                <a:solidFill>
                  <a:srgbClr val="8B949E"/>
                </a:solidFill>
                <a:latin typeface="Calibri"/>
              </a:rPr>
              <a:t>$100</a:t>
            </a:r>
          </a:p>
        </p:txBody>
      </p:sp>
      <p:cxnSp>
        <p:nvCxnSpPr>
          <p:cNvPr id="23" name="Connector 22"/>
          <p:cNvCxnSpPr/>
          <p:nvPr/>
        </p:nvCxnSpPr>
        <p:spPr>
          <a:xfrm>
            <a:off x="1481328" y="3856842"/>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1208" y="3774546"/>
            <a:ext cx="868680" cy="164592"/>
          </a:xfrm>
          <a:prstGeom prst="rect">
            <a:avLst/>
          </a:prstGeom>
          <a:noFill/>
        </p:spPr>
        <p:txBody>
          <a:bodyPr wrap="square" lIns="0" tIns="0" rIns="0" bIns="0" anchor="ctr">
            <a:spAutoFit/>
          </a:bodyPr>
          <a:lstStyle/>
          <a:p>
            <a:pPr algn="r"/>
            <a:r>
              <a:rPr sz="1050" b="0" i="0">
                <a:solidFill>
                  <a:srgbClr val="8B949E"/>
                </a:solidFill>
                <a:latin typeface="Calibri"/>
              </a:rPr>
              <a:t>$1k</a:t>
            </a:r>
          </a:p>
        </p:txBody>
      </p:sp>
      <p:cxnSp>
        <p:nvCxnSpPr>
          <p:cNvPr id="25" name="Connector 24"/>
          <p:cNvCxnSpPr/>
          <p:nvPr/>
        </p:nvCxnSpPr>
        <p:spPr>
          <a:xfrm>
            <a:off x="1481328" y="3414080"/>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8" y="3331784"/>
            <a:ext cx="868680" cy="164592"/>
          </a:xfrm>
          <a:prstGeom prst="rect">
            <a:avLst/>
          </a:prstGeom>
          <a:noFill/>
        </p:spPr>
        <p:txBody>
          <a:bodyPr wrap="square" lIns="0" tIns="0" rIns="0" bIns="0" anchor="ctr">
            <a:spAutoFit/>
          </a:bodyPr>
          <a:lstStyle/>
          <a:p>
            <a:pPr algn="r"/>
            <a:r>
              <a:rPr sz="1050" b="0" i="0">
                <a:solidFill>
                  <a:srgbClr val="8B949E"/>
                </a:solidFill>
                <a:latin typeface="Calibri"/>
              </a:rPr>
              <a:t>$10k</a:t>
            </a:r>
          </a:p>
        </p:txBody>
      </p:sp>
      <p:cxnSp>
        <p:nvCxnSpPr>
          <p:cNvPr id="27" name="Connector 26"/>
          <p:cNvCxnSpPr/>
          <p:nvPr/>
        </p:nvCxnSpPr>
        <p:spPr>
          <a:xfrm>
            <a:off x="1481328" y="2971318"/>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1208" y="2889022"/>
            <a:ext cx="868680" cy="164592"/>
          </a:xfrm>
          <a:prstGeom prst="rect">
            <a:avLst/>
          </a:prstGeom>
          <a:noFill/>
        </p:spPr>
        <p:txBody>
          <a:bodyPr wrap="square" lIns="0" tIns="0" rIns="0" bIns="0" anchor="ctr">
            <a:spAutoFit/>
          </a:bodyPr>
          <a:lstStyle/>
          <a:p>
            <a:pPr algn="r"/>
            <a:r>
              <a:rPr sz="1050" b="0" i="0">
                <a:solidFill>
                  <a:srgbClr val="8B949E"/>
                </a:solidFill>
                <a:latin typeface="Calibri"/>
              </a:rPr>
              <a:t>$100k</a:t>
            </a:r>
          </a:p>
        </p:txBody>
      </p:sp>
      <p:cxnSp>
        <p:nvCxnSpPr>
          <p:cNvPr id="29" name="Connector 28"/>
          <p:cNvCxnSpPr/>
          <p:nvPr/>
        </p:nvCxnSpPr>
        <p:spPr>
          <a:xfrm>
            <a:off x="1481328" y="2528556"/>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 y="2446260"/>
            <a:ext cx="868680" cy="164592"/>
          </a:xfrm>
          <a:prstGeom prst="rect">
            <a:avLst/>
          </a:prstGeom>
          <a:noFill/>
        </p:spPr>
        <p:txBody>
          <a:bodyPr wrap="square" lIns="0" tIns="0" rIns="0" bIns="0" anchor="ctr">
            <a:spAutoFit/>
          </a:bodyPr>
          <a:lstStyle/>
          <a:p>
            <a:pPr algn="r"/>
            <a:r>
              <a:rPr sz="1050" b="0" i="0">
                <a:solidFill>
                  <a:srgbClr val="8B949E"/>
                </a:solidFill>
                <a:latin typeface="Calibri"/>
              </a:rPr>
              <a:t>$1M</a:t>
            </a:r>
          </a:p>
        </p:txBody>
      </p:sp>
      <p:cxnSp>
        <p:nvCxnSpPr>
          <p:cNvPr id="31" name="Connector 30"/>
          <p:cNvCxnSpPr/>
          <p:nvPr/>
        </p:nvCxnSpPr>
        <p:spPr>
          <a:xfrm>
            <a:off x="148132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33" name="Connector 32"/>
          <p:cNvCxnSpPr/>
          <p:nvPr/>
        </p:nvCxnSpPr>
        <p:spPr>
          <a:xfrm>
            <a:off x="291846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506979"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5" name="Connector 34"/>
          <p:cNvCxnSpPr/>
          <p:nvPr/>
        </p:nvCxnSpPr>
        <p:spPr>
          <a:xfrm>
            <a:off x="4355592"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9441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7" name="Connector 36"/>
          <p:cNvCxnSpPr/>
          <p:nvPr/>
        </p:nvCxnSpPr>
        <p:spPr>
          <a:xfrm>
            <a:off x="5792724"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812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9" name="Connector 38"/>
          <p:cNvCxnSpPr/>
          <p:nvPr/>
        </p:nvCxnSpPr>
        <p:spPr>
          <a:xfrm>
            <a:off x="7229856"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18375"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41" name="Connector 40"/>
          <p:cNvCxnSpPr/>
          <p:nvPr/>
        </p:nvCxnSpPr>
        <p:spPr>
          <a:xfrm>
            <a:off x="866698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55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43" name="Connector 42"/>
          <p:cNvCxnSpPr/>
          <p:nvPr/>
        </p:nvCxnSpPr>
        <p:spPr>
          <a:xfrm>
            <a:off x="1010412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926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5" name="TextBox 44"/>
          <p:cNvSpPr txBox="1"/>
          <p:nvPr/>
        </p:nvSpPr>
        <p:spPr>
          <a:xfrm>
            <a:off x="1481328" y="6089904"/>
            <a:ext cx="4572000" cy="201168"/>
          </a:xfrm>
          <a:prstGeom prst="rect">
            <a:avLst/>
          </a:prstGeom>
          <a:noFill/>
        </p:spPr>
        <p:txBody>
          <a:bodyPr wrap="square" lIns="0" tIns="0" rIns="0" bIns="0" anchor="t">
            <a:spAutoFit/>
          </a:bodyPr>
          <a:lstStyle/>
          <a:p>
            <a:pPr algn="l"/>
            <a:r>
              <a:rPr sz="950" b="1" i="0">
                <a:solidFill>
                  <a:srgbClr val="8B949E"/>
                </a:solidFill>
                <a:latin typeface="Calibri"/>
              </a:rPr>
              <a:t>USERS  →  EACH GRIDLINE IS 10×</a:t>
            </a:r>
          </a:p>
        </p:txBody>
      </p:sp>
      <p:sp>
        <p:nvSpPr>
          <p:cNvPr id="46" name="TextBox 45"/>
          <p:cNvSpPr txBox="1"/>
          <p:nvPr/>
        </p:nvSpPr>
        <p:spPr>
          <a:xfrm>
            <a:off x="521208" y="2084832"/>
            <a:ext cx="1463040" cy="201168"/>
          </a:xfrm>
          <a:prstGeom prst="rect">
            <a:avLst/>
          </a:prstGeom>
          <a:noFill/>
        </p:spPr>
        <p:txBody>
          <a:bodyPr wrap="square" lIns="0" tIns="0" rIns="0" bIns="0" anchor="t">
            <a:spAutoFit/>
          </a:bodyPr>
          <a:lstStyle/>
          <a:p>
            <a:pPr algn="l"/>
            <a:r>
              <a:rPr sz="950" b="1" i="0">
                <a:solidFill>
                  <a:srgbClr val="8B949E"/>
                </a:solidFill>
                <a:latin typeface="Calibri"/>
              </a:rPr>
              <a:t>$ / MONTH</a:t>
            </a:r>
          </a:p>
        </p:txBody>
      </p:sp>
      <p:sp>
        <p:nvSpPr>
          <p:cNvPr id="47" name="TextBox 46"/>
          <p:cNvSpPr txBox="1"/>
          <p:nvPr/>
        </p:nvSpPr>
        <p:spPr>
          <a:xfrm>
            <a:off x="1609344" y="3102245"/>
            <a:ext cx="2377440" cy="201168"/>
          </a:xfrm>
          <a:prstGeom prst="rect">
            <a:avLst/>
          </a:prstGeom>
          <a:noFill/>
        </p:spPr>
        <p:txBody>
          <a:bodyPr wrap="square" lIns="0" tIns="0" rIns="0" bIns="0" anchor="t">
            <a:spAutoFit/>
          </a:bodyPr>
          <a:lstStyle/>
          <a:p>
            <a:pPr algn="l"/>
            <a:r>
              <a:rPr sz="1050" b="0" i="0">
                <a:solidFill>
                  <a:srgbClr val="545B64"/>
                </a:solidFill>
                <a:latin typeface="Calibri"/>
              </a:rPr>
              <a:t>in here, engine A's</a:t>
            </a:r>
          </a:p>
        </p:txBody>
      </p:sp>
      <p:sp>
        <p:nvSpPr>
          <p:cNvPr id="48" name="TextBox 47"/>
          <p:cNvSpPr txBox="1"/>
          <p:nvPr/>
        </p:nvSpPr>
        <p:spPr>
          <a:xfrm>
            <a:off x="1609344" y="3285125"/>
            <a:ext cx="2377440" cy="201168"/>
          </a:xfrm>
          <a:prstGeom prst="rect">
            <a:avLst/>
          </a:prstGeom>
          <a:noFill/>
        </p:spPr>
        <p:txBody>
          <a:bodyPr wrap="square" lIns="0" tIns="0" rIns="0" bIns="0" anchor="t">
            <a:spAutoFit/>
          </a:bodyPr>
          <a:lstStyle/>
          <a:p>
            <a:pPr algn="l"/>
            <a:r>
              <a:rPr sz="1050" b="0" i="0">
                <a:solidFill>
                  <a:srgbClr val="545B64"/>
                </a:solidFill>
                <a:latin typeface="Calibri"/>
              </a:rPr>
              <a:t>$18 floor is most of the bill  ↓</a:t>
            </a:r>
          </a:p>
        </p:txBody>
      </p:sp>
      <p:cxnSp>
        <p:nvCxnSpPr>
          <p:cNvPr id="49" name="Connector 48"/>
          <p:cNvCxnSpPr/>
          <p:nvPr/>
        </p:nvCxnSpPr>
        <p:spPr>
          <a:xfrm flipV="1">
            <a:off x="1481328" y="4519428"/>
            <a:ext cx="1437132" cy="9545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18460" y="4213334"/>
            <a:ext cx="1437132" cy="3060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355592" y="3791591"/>
            <a:ext cx="1437132" cy="4217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792724" y="3351063"/>
            <a:ext cx="1437132" cy="4405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229856" y="2908451"/>
            <a:ext cx="1437132" cy="44261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66988" y="2465711"/>
            <a:ext cx="1437132" cy="4427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428292" y="4561844"/>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865424" y="4466393"/>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4302556" y="416029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5739688" y="373855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176820" y="329802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613952" y="285541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0051084" y="241267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239451" y="2418162"/>
            <a:ext cx="95097" cy="95097"/>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396728" y="2360555"/>
            <a:ext cx="1737360" cy="201168"/>
          </a:xfrm>
          <a:prstGeom prst="rect">
            <a:avLst/>
          </a:prstGeom>
          <a:noFill/>
        </p:spPr>
        <p:txBody>
          <a:bodyPr wrap="square" lIns="0" tIns="0" rIns="0" bIns="0" anchor="t">
            <a:spAutoFit/>
          </a:bodyPr>
          <a:lstStyle/>
          <a:p>
            <a:pPr algn="l"/>
            <a:r>
              <a:rPr sz="1250" b="1" i="0">
                <a:solidFill>
                  <a:srgbClr val="232F3E"/>
                </a:solidFill>
                <a:latin typeface="Calibri"/>
              </a:rPr>
              <a:t>$1.387 M</a:t>
            </a:r>
          </a:p>
        </p:txBody>
      </p:sp>
      <p:sp>
        <p:nvSpPr>
          <p:cNvPr id="64" name="TextBox 63"/>
          <p:cNvSpPr txBox="1"/>
          <p:nvPr/>
        </p:nvSpPr>
        <p:spPr>
          <a:xfrm>
            <a:off x="10396728" y="2557151"/>
            <a:ext cx="1737360" cy="182880"/>
          </a:xfrm>
          <a:prstGeom prst="rect">
            <a:avLst/>
          </a:prstGeom>
          <a:noFill/>
        </p:spPr>
        <p:txBody>
          <a:bodyPr wrap="square" lIns="0" tIns="0" rIns="0" bIns="0" anchor="t">
            <a:spAutoFit/>
          </a:bodyPr>
          <a:lstStyle/>
          <a:p>
            <a:pPr algn="l"/>
            <a:r>
              <a:rPr sz="1100" b="0" i="0">
                <a:solidFill>
                  <a:srgbClr val="545B64"/>
                </a:solidFill>
                <a:latin typeface="Calibri"/>
              </a:rPr>
              <a:t>A  DIY</a:t>
            </a:r>
          </a:p>
        </p:txBody>
      </p:sp>
      <p:cxnSp>
        <p:nvCxnSpPr>
          <p:cNvPr id="65" name="Connector 64"/>
          <p:cNvCxnSpPr/>
          <p:nvPr/>
        </p:nvCxnSpPr>
        <p:spPr>
          <a:xfrm flipV="1">
            <a:off x="1481328" y="5179520"/>
            <a:ext cx="1437132" cy="441756"/>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918460" y="4736858"/>
            <a:ext cx="1437132" cy="4426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55592" y="4294106"/>
            <a:ext cx="1437132" cy="44275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92724" y="3851345"/>
            <a:ext cx="1437132" cy="442761"/>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229856" y="3408583"/>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666988" y="2965821"/>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428292" y="556824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865424" y="512648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4302556" y="468382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5739688" y="424107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7176820" y="3798310"/>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8613952" y="3355548"/>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051084" y="291278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239451" y="291827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396728" y="2860665"/>
            <a:ext cx="1737360" cy="201168"/>
          </a:xfrm>
          <a:prstGeom prst="rect">
            <a:avLst/>
          </a:prstGeom>
          <a:noFill/>
        </p:spPr>
        <p:txBody>
          <a:bodyPr wrap="square" lIns="0" tIns="0" rIns="0" bIns="0" anchor="t">
            <a:spAutoFit/>
          </a:bodyPr>
          <a:lstStyle/>
          <a:p>
            <a:pPr algn="l"/>
            <a:r>
              <a:rPr sz="1250" b="1" i="0">
                <a:solidFill>
                  <a:srgbClr val="232F3E"/>
                </a:solidFill>
                <a:latin typeface="Calibri"/>
              </a:rPr>
              <a:t>$102,900</a:t>
            </a:r>
          </a:p>
        </p:txBody>
      </p:sp>
      <p:sp>
        <p:nvSpPr>
          <p:cNvPr id="80" name="TextBox 79"/>
          <p:cNvSpPr txBox="1"/>
          <p:nvPr/>
        </p:nvSpPr>
        <p:spPr>
          <a:xfrm>
            <a:off x="10396728" y="3057261"/>
            <a:ext cx="1737360" cy="182880"/>
          </a:xfrm>
          <a:prstGeom prst="rect">
            <a:avLst/>
          </a:prstGeom>
          <a:noFill/>
        </p:spPr>
        <p:txBody>
          <a:bodyPr wrap="square" lIns="0" tIns="0" rIns="0" bIns="0" anchor="t">
            <a:spAutoFit/>
          </a:bodyPr>
          <a:lstStyle/>
          <a:p>
            <a:pPr algn="l"/>
            <a:r>
              <a:rPr sz="1100" b="0" i="0">
                <a:solidFill>
                  <a:srgbClr val="545B64"/>
                </a:solidFill>
                <a:latin typeface="Calibri"/>
              </a:rPr>
              <a:t>B  AgentCore</a:t>
            </a:r>
          </a:p>
        </p:txBody>
      </p:sp>
      <p:cxnSp>
        <p:nvCxnSpPr>
          <p:cNvPr id="81" name="Connector 80"/>
          <p:cNvCxnSpPr/>
          <p:nvPr/>
        </p:nvCxnSpPr>
        <p:spPr>
          <a:xfrm flipV="1">
            <a:off x="1481328" y="4614879"/>
            <a:ext cx="0" cy="1006397"/>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572768" y="5017494"/>
            <a:ext cx="914400" cy="201168"/>
          </a:xfrm>
          <a:prstGeom prst="rect">
            <a:avLst/>
          </a:prstGeom>
          <a:noFill/>
        </p:spPr>
        <p:txBody>
          <a:bodyPr wrap="square" lIns="0" tIns="0" rIns="0" bIns="0" anchor="t">
            <a:spAutoFit/>
          </a:bodyPr>
          <a:lstStyle/>
          <a:p>
            <a:pPr algn="l"/>
            <a:r>
              <a:rPr sz="1250" b="1" i="0">
                <a:solidFill>
                  <a:srgbClr val="232F3E"/>
                </a:solidFill>
                <a:latin typeface="Calibri"/>
              </a:rPr>
              <a:t>187.5×</a:t>
            </a:r>
          </a:p>
        </p:txBody>
      </p:sp>
      <p:cxnSp>
        <p:nvCxnSpPr>
          <p:cNvPr id="83" name="Connector 82"/>
          <p:cNvCxnSpPr/>
          <p:nvPr/>
        </p:nvCxnSpPr>
        <p:spPr>
          <a:xfrm flipV="1">
            <a:off x="10104120" y="2465711"/>
            <a:ext cx="0" cy="500110"/>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8823960" y="2615182"/>
            <a:ext cx="1097280" cy="201168"/>
          </a:xfrm>
          <a:prstGeom prst="rect">
            <a:avLst/>
          </a:prstGeom>
          <a:noFill/>
        </p:spPr>
        <p:txBody>
          <a:bodyPr wrap="square" lIns="0" tIns="0" rIns="0" bIns="0" anchor="t">
            <a:spAutoFit/>
          </a:bodyPr>
          <a:lstStyle/>
          <a:p>
            <a:pPr algn="r"/>
            <a:r>
              <a:rPr sz="1250" b="1" i="0">
                <a:solidFill>
                  <a:srgbClr val="232F3E"/>
                </a:solidFill>
                <a:latin typeface="Calibri"/>
              </a:rPr>
              <a:t>13.5×</a:t>
            </a:r>
          </a:p>
        </p:txBody>
      </p:sp>
      <p:sp>
        <p:nvSpPr>
          <p:cNvPr id="86" name="Rounded Rectangle 85">
            <a:extLst>
              <a:ext uri="{FF2B5EF4-FFF2-40B4-BE49-F238E27FC236}">
                <a16:creationId xmlns:a16="http://schemas.microsoft.com/office/drawing/2014/main" id="{106C8217-C742-FACC-CD89-4E7B0CDD1C30}"/>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7</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per user — the floor amortises</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same two bills divided by the user count. Engine A falls from $19.41 toward a $1.386 asymptote as its fixed floor spreads out; engine B is flat at $0.1029 from the first user, having no floor to spread.</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8 / 18</a:t>
            </a:r>
          </a:p>
        </p:txBody>
      </p:sp>
      <p:sp>
        <p:nvSpPr>
          <p:cNvPr id="10" name="Rounded Rectangle 9"/>
          <p:cNvSpPr/>
          <p:nvPr/>
        </p:nvSpPr>
        <p:spPr>
          <a:xfrm>
            <a:off x="521207" y="2025396"/>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2025396"/>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cxnSp>
        <p:nvCxnSpPr>
          <p:cNvPr id="14" name="Connector 13"/>
          <p:cNvCxnSpPr/>
          <p:nvPr/>
        </p:nvCxnSpPr>
        <p:spPr>
          <a:xfrm>
            <a:off x="1481328" y="5504983"/>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1208" y="5422687"/>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6" name="Connector 15"/>
          <p:cNvCxnSpPr/>
          <p:nvPr/>
        </p:nvCxnSpPr>
        <p:spPr>
          <a:xfrm>
            <a:off x="1481328" y="49549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8" y="4872685"/>
            <a:ext cx="868680" cy="164592"/>
          </a:xfrm>
          <a:prstGeom prst="rect">
            <a:avLst/>
          </a:prstGeom>
          <a:noFill/>
        </p:spPr>
        <p:txBody>
          <a:bodyPr wrap="square" lIns="0" tIns="0" rIns="0" bIns="0" anchor="ctr">
            <a:spAutoFit/>
          </a:bodyPr>
          <a:lstStyle/>
          <a:p>
            <a:pPr algn="r"/>
            <a:r>
              <a:rPr sz="1050" b="0" i="0">
                <a:solidFill>
                  <a:srgbClr val="8B949E"/>
                </a:solidFill>
                <a:latin typeface="Calibri"/>
              </a:rPr>
              <a:t>$0.30</a:t>
            </a:r>
          </a:p>
        </p:txBody>
      </p:sp>
      <p:cxnSp>
        <p:nvCxnSpPr>
          <p:cNvPr id="18" name="Connector 17"/>
          <p:cNvCxnSpPr/>
          <p:nvPr/>
        </p:nvCxnSpPr>
        <p:spPr>
          <a:xfrm>
            <a:off x="1481328" y="4352232"/>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8" y="4269936"/>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20" name="Connector 19"/>
          <p:cNvCxnSpPr/>
          <p:nvPr/>
        </p:nvCxnSpPr>
        <p:spPr>
          <a:xfrm>
            <a:off x="1481328" y="3802230"/>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1208" y="3719934"/>
            <a:ext cx="868680" cy="164592"/>
          </a:xfrm>
          <a:prstGeom prst="rect">
            <a:avLst/>
          </a:prstGeom>
          <a:noFill/>
        </p:spPr>
        <p:txBody>
          <a:bodyPr wrap="square" lIns="0" tIns="0" rIns="0" bIns="0" anchor="ctr">
            <a:spAutoFit/>
          </a:bodyPr>
          <a:lstStyle/>
          <a:p>
            <a:pPr algn="r"/>
            <a:r>
              <a:rPr sz="1050" b="0" i="0">
                <a:solidFill>
                  <a:srgbClr val="8B949E"/>
                </a:solidFill>
                <a:latin typeface="Calibri"/>
              </a:rPr>
              <a:t>$3</a:t>
            </a:r>
          </a:p>
        </p:txBody>
      </p:sp>
      <p:cxnSp>
        <p:nvCxnSpPr>
          <p:cNvPr id="22" name="Connector 21"/>
          <p:cNvCxnSpPr/>
          <p:nvPr/>
        </p:nvCxnSpPr>
        <p:spPr>
          <a:xfrm>
            <a:off x="1481328" y="31994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1208" y="3117185"/>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4" name="Connector 23"/>
          <p:cNvCxnSpPr/>
          <p:nvPr/>
        </p:nvCxnSpPr>
        <p:spPr>
          <a:xfrm>
            <a:off x="1481328" y="2649479"/>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1208" y="2567183"/>
            <a:ext cx="868680" cy="164592"/>
          </a:xfrm>
          <a:prstGeom prst="rect">
            <a:avLst/>
          </a:prstGeom>
          <a:noFill/>
        </p:spPr>
        <p:txBody>
          <a:bodyPr wrap="square" lIns="0" tIns="0" rIns="0" bIns="0" anchor="ctr">
            <a:spAutoFit/>
          </a:bodyPr>
          <a:lstStyle/>
          <a:p>
            <a:pPr algn="r"/>
            <a:r>
              <a:rPr sz="1050" b="0" i="0">
                <a:solidFill>
                  <a:srgbClr val="8B949E"/>
                </a:solidFill>
                <a:latin typeface="Calibri"/>
              </a:rPr>
              <a:t>$30</a:t>
            </a:r>
          </a:p>
        </p:txBody>
      </p:sp>
      <p:cxnSp>
        <p:nvCxnSpPr>
          <p:cNvPr id="26" name="Connector 25"/>
          <p:cNvCxnSpPr/>
          <p:nvPr/>
        </p:nvCxnSpPr>
        <p:spPr>
          <a:xfrm>
            <a:off x="148132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28" name="Connector 27"/>
          <p:cNvCxnSpPr/>
          <p:nvPr/>
        </p:nvCxnSpPr>
        <p:spPr>
          <a:xfrm>
            <a:off x="284226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078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0" name="Connector 29"/>
          <p:cNvCxnSpPr/>
          <p:nvPr/>
        </p:nvCxnSpPr>
        <p:spPr>
          <a:xfrm>
            <a:off x="4203192"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917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2" name="Connector 31"/>
          <p:cNvCxnSpPr/>
          <p:nvPr/>
        </p:nvCxnSpPr>
        <p:spPr>
          <a:xfrm>
            <a:off x="5564124"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526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4" name="Connector 33"/>
          <p:cNvCxnSpPr/>
          <p:nvPr/>
        </p:nvCxnSpPr>
        <p:spPr>
          <a:xfrm>
            <a:off x="6925056"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13576"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36" name="Connector 35"/>
          <p:cNvCxnSpPr/>
          <p:nvPr/>
        </p:nvCxnSpPr>
        <p:spPr>
          <a:xfrm>
            <a:off x="828598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74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38" name="Connector 37"/>
          <p:cNvCxnSpPr/>
          <p:nvPr/>
        </p:nvCxnSpPr>
        <p:spPr>
          <a:xfrm>
            <a:off x="964692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354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0" name="TextBox 39"/>
          <p:cNvSpPr txBox="1"/>
          <p:nvPr/>
        </p:nvSpPr>
        <p:spPr>
          <a:xfrm>
            <a:off x="1481328" y="6089904"/>
            <a:ext cx="3657600" cy="201168"/>
          </a:xfrm>
          <a:prstGeom prst="rect">
            <a:avLst/>
          </a:prstGeom>
          <a:noFill/>
        </p:spPr>
        <p:txBody>
          <a:bodyPr wrap="square" lIns="0" tIns="0" rIns="0" bIns="0" anchor="t">
            <a:spAutoFit/>
          </a:bodyPr>
          <a:lstStyle/>
          <a:p>
            <a:pPr algn="l"/>
            <a:r>
              <a:rPr sz="950" b="1" i="0">
                <a:solidFill>
                  <a:srgbClr val="8B949E"/>
                </a:solidFill>
                <a:latin typeface="Calibri"/>
              </a:rPr>
              <a:t>USERS  →</a:t>
            </a:r>
          </a:p>
        </p:txBody>
      </p:sp>
      <p:sp>
        <p:nvSpPr>
          <p:cNvPr id="41" name="TextBox 40"/>
          <p:cNvSpPr txBox="1"/>
          <p:nvPr/>
        </p:nvSpPr>
        <p:spPr>
          <a:xfrm>
            <a:off x="521208" y="2194560"/>
            <a:ext cx="2011680" cy="201168"/>
          </a:xfrm>
          <a:prstGeom prst="rect">
            <a:avLst/>
          </a:prstGeom>
          <a:noFill/>
        </p:spPr>
        <p:txBody>
          <a:bodyPr wrap="square" lIns="0" tIns="0" rIns="0" bIns="0" anchor="t">
            <a:spAutoFit/>
          </a:bodyPr>
          <a:lstStyle/>
          <a:p>
            <a:pPr algn="l"/>
            <a:r>
              <a:rPr sz="950" b="1" i="0">
                <a:solidFill>
                  <a:srgbClr val="8B949E"/>
                </a:solidFill>
                <a:latin typeface="Calibri"/>
              </a:rPr>
              <a:t>$ / USER / MONTH</a:t>
            </a:r>
          </a:p>
        </p:txBody>
      </p:sp>
      <p:cxnSp>
        <p:nvCxnSpPr>
          <p:cNvPr id="42" name="Connector 41"/>
          <p:cNvCxnSpPr/>
          <p:nvPr/>
        </p:nvCxnSpPr>
        <p:spPr>
          <a:xfrm>
            <a:off x="1481328" y="4188814"/>
            <a:ext cx="8165592" cy="0"/>
          </a:xfrm>
          <a:prstGeom prst="line">
            <a:avLst/>
          </a:prstGeom>
          <a:ln w="15875">
            <a:solidFill>
              <a:srgbClr val="8C2F45"/>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774936" y="4097374"/>
            <a:ext cx="2103120" cy="182880"/>
          </a:xfrm>
          <a:prstGeom prst="rect">
            <a:avLst/>
          </a:prstGeom>
          <a:noFill/>
        </p:spPr>
        <p:txBody>
          <a:bodyPr wrap="square" lIns="0" tIns="0" rIns="0" bIns="0" anchor="t">
            <a:spAutoFit/>
          </a:bodyPr>
          <a:lstStyle/>
          <a:p>
            <a:pPr algn="l"/>
            <a:r>
              <a:rPr sz="1100" b="0" i="0">
                <a:solidFill>
                  <a:srgbClr val="545B64"/>
                </a:solidFill>
                <a:latin typeface="Calibri"/>
              </a:rPr>
              <a:t>$1.386 — the floor melts to this</a:t>
            </a:r>
          </a:p>
        </p:txBody>
      </p:sp>
      <p:cxnSp>
        <p:nvCxnSpPr>
          <p:cNvPr id="44" name="Connector 43"/>
          <p:cNvCxnSpPr/>
          <p:nvPr/>
        </p:nvCxnSpPr>
        <p:spPr>
          <a:xfrm>
            <a:off x="1481328" y="2867562"/>
            <a:ext cx="90728" cy="709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72056" y="2938515"/>
            <a:ext cx="90729" cy="7006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62785" y="3008575"/>
            <a:ext cx="90729" cy="6904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53514" y="3077624"/>
            <a:ext cx="90729" cy="679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844243" y="3145529"/>
            <a:ext cx="90729" cy="6661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934972" y="3212148"/>
            <a:ext cx="90728" cy="651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025700" y="3277328"/>
            <a:ext cx="90729" cy="635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116429" y="3340906"/>
            <a:ext cx="90729" cy="618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07158" y="3402714"/>
            <a:ext cx="90729" cy="598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297887" y="3462579"/>
            <a:ext cx="90729" cy="577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388616" y="3520326"/>
            <a:ext cx="90728" cy="5546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479344" y="3575788"/>
            <a:ext cx="90729" cy="5301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570073" y="3628802"/>
            <a:ext cx="90729" cy="5042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660802" y="3679223"/>
            <a:ext cx="90729" cy="4770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751531" y="3726923"/>
            <a:ext cx="90729" cy="448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842260" y="3771801"/>
            <a:ext cx="90728" cy="419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932988" y="3813782"/>
            <a:ext cx="90729" cy="3904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023717" y="3852826"/>
            <a:ext cx="90729" cy="360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114446" y="3888924"/>
            <a:ext cx="90729" cy="331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205175" y="3922105"/>
            <a:ext cx="90729" cy="3032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295904" y="3952429"/>
            <a:ext cx="90728" cy="2755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386632" y="3979986"/>
            <a:ext cx="90729" cy="249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477361" y="4004894"/>
            <a:ext cx="90729" cy="2239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568090" y="4027291"/>
            <a:ext cx="90729" cy="2004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658819" y="4047333"/>
            <a:ext cx="90728" cy="178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49547" y="4065186"/>
            <a:ext cx="90729" cy="158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40276" y="4081023"/>
            <a:ext cx="90729" cy="139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931005" y="4095017"/>
            <a:ext cx="90729" cy="1232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021734" y="4107339"/>
            <a:ext cx="90729" cy="108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112463" y="4118155"/>
            <a:ext cx="90729" cy="94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203192" y="4127622"/>
            <a:ext cx="90728" cy="826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293920" y="4135886"/>
            <a:ext cx="90729" cy="7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384649" y="4143085"/>
            <a:ext cx="90729" cy="6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475378" y="4149343"/>
            <a:ext cx="90729" cy="543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566107" y="4154774"/>
            <a:ext cx="90729" cy="47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656836" y="4159479"/>
            <a:ext cx="90728" cy="40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747564" y="4163550"/>
            <a:ext cx="90729" cy="351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838293" y="4167068"/>
            <a:ext cx="90729" cy="30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29022" y="4170106"/>
            <a:ext cx="90729" cy="262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19751" y="4172726"/>
            <a:ext cx="90729" cy="2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10480" y="4174984"/>
            <a:ext cx="90728" cy="194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01208" y="4176929"/>
            <a:ext cx="90729" cy="167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291937" y="4178603"/>
            <a:ext cx="90729" cy="144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382666" y="4180044"/>
            <a:ext cx="90729" cy="12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473395" y="4181282"/>
            <a:ext cx="90729" cy="10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564124" y="4182347"/>
            <a:ext cx="90728" cy="9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654852" y="4183262"/>
            <a:ext cx="90729" cy="78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745581" y="4184049"/>
            <a:ext cx="90729" cy="67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836310" y="4184724"/>
            <a:ext cx="90729" cy="5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27039" y="4185304"/>
            <a:ext cx="90729" cy="4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017768" y="4185802"/>
            <a:ext cx="90728" cy="4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108496" y="4186230"/>
            <a:ext cx="90729" cy="3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199225" y="4186597"/>
            <a:ext cx="90729" cy="3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289954" y="4186912"/>
            <a:ext cx="90729" cy="27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380683" y="4187182"/>
            <a:ext cx="90729" cy="23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471412" y="4187414"/>
            <a:ext cx="90728" cy="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562140" y="4187613"/>
            <a:ext cx="90729" cy="1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652869" y="4187784"/>
            <a:ext cx="90729" cy="14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743598" y="4187930"/>
            <a:ext cx="90729" cy="12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834327" y="4188056"/>
            <a:ext cx="90729" cy="1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925056" y="4188164"/>
            <a:ext cx="90728" cy="9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015784" y="4188256"/>
            <a:ext cx="90729" cy="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106513" y="4188336"/>
            <a:ext cx="90729" cy="6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97242" y="4188404"/>
            <a:ext cx="90729" cy="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87971" y="4188462"/>
            <a:ext cx="90729" cy="5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378700" y="4188512"/>
            <a:ext cx="90728" cy="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469428" y="4188555"/>
            <a:ext cx="90729"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560157" y="4188433"/>
            <a:ext cx="90729" cy="1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50886" y="4188433"/>
            <a:ext cx="90729" cy="5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741615" y="4188487"/>
            <a:ext cx="90729" cy="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832344" y="4188534"/>
            <a:ext cx="90728" cy="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923072" y="4188574"/>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013801" y="4188549"/>
            <a:ext cx="90729" cy="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104530" y="4188549"/>
            <a:ext cx="90729" cy="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195259" y="4188554"/>
            <a:ext cx="90729" cy="3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85988" y="4188554"/>
            <a:ext cx="90728"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376716" y="4188575"/>
            <a:ext cx="90729" cy="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467445" y="4188575"/>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558174" y="4188603"/>
            <a:ext cx="90729"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648903" y="4188603"/>
            <a:ext cx="90728" cy="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739631" y="4188603"/>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830360" y="4188607"/>
            <a:ext cx="90729" cy="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921089" y="4188605"/>
            <a:ext cx="90729" cy="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011818" y="4188602"/>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02547" y="4188602"/>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193276" y="4188604"/>
            <a:ext cx="90728"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284004" y="4188608"/>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74733" y="4188608"/>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65462" y="4188609"/>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556191" y="4188609"/>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481328" y="5487761"/>
            <a:ext cx="8165592" cy="0"/>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1428292" y="281452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428292" y="5434725"/>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2789224" y="3718765"/>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2789224" y="543734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4150156" y="407458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4150156" y="5437607"/>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5511088" y="4129312"/>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5511088" y="543763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6872020" y="413512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6872020"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8232952" y="413551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8232952"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9593884" y="413557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9593884"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1627632" y="2593139"/>
            <a:ext cx="2194560" cy="201168"/>
          </a:xfrm>
          <a:prstGeom prst="rect">
            <a:avLst/>
          </a:prstGeom>
          <a:noFill/>
        </p:spPr>
        <p:txBody>
          <a:bodyPr wrap="square" lIns="0" tIns="0" rIns="0" bIns="0" anchor="t">
            <a:spAutoFit/>
          </a:bodyPr>
          <a:lstStyle/>
          <a:p>
            <a:pPr algn="l"/>
            <a:r>
              <a:rPr sz="1200" b="1" i="0">
                <a:solidFill>
                  <a:srgbClr val="232F3E"/>
                </a:solidFill>
                <a:latin typeface="Calibri"/>
              </a:rPr>
              <a:t>$19.41 at one user</a:t>
            </a:r>
          </a:p>
        </p:txBody>
      </p:sp>
      <p:sp>
        <p:nvSpPr>
          <p:cNvPr id="150" name="Oval 149"/>
          <p:cNvSpPr/>
          <p:nvPr/>
        </p:nvSpPr>
        <p:spPr>
          <a:xfrm>
            <a:off x="9654235" y="544312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9793224" y="5385515"/>
            <a:ext cx="2286000" cy="201168"/>
          </a:xfrm>
          <a:prstGeom prst="rect">
            <a:avLst/>
          </a:prstGeom>
          <a:noFill/>
        </p:spPr>
        <p:txBody>
          <a:bodyPr wrap="square" lIns="0" tIns="0" rIns="0" bIns="0" anchor="t">
            <a:spAutoFit/>
          </a:bodyPr>
          <a:lstStyle/>
          <a:p>
            <a:pPr algn="l"/>
            <a:r>
              <a:rPr sz="1200" b="1" i="0">
                <a:solidFill>
                  <a:srgbClr val="232F3E"/>
                </a:solidFill>
                <a:latin typeface="Calibri"/>
              </a:rPr>
              <a:t>$0.1029 — flat from user one</a:t>
            </a:r>
          </a:p>
        </p:txBody>
      </p:sp>
      <p:sp>
        <p:nvSpPr>
          <p:cNvPr id="152" name="TextBox 151"/>
          <p:cNvSpPr txBox="1"/>
          <p:nvPr/>
        </p:nvSpPr>
        <p:spPr>
          <a:xfrm>
            <a:off x="9793224" y="5591255"/>
            <a:ext cx="2286000" cy="182880"/>
          </a:xfrm>
          <a:prstGeom prst="rect">
            <a:avLst/>
          </a:prstGeom>
          <a:noFill/>
        </p:spPr>
        <p:txBody>
          <a:bodyPr wrap="square" lIns="0" tIns="0" rIns="0" bIns="0" anchor="t">
            <a:spAutoFit/>
          </a:bodyPr>
          <a:lstStyle/>
          <a:p>
            <a:pPr algn="l"/>
            <a:r>
              <a:rPr sz="1100" b="0" i="0">
                <a:solidFill>
                  <a:srgbClr val="545B64"/>
                </a:solidFill>
                <a:latin typeface="Calibri"/>
              </a:rPr>
              <a:t>no floor to amortise</a:t>
            </a:r>
          </a:p>
        </p:txBody>
      </p:sp>
      <p:sp>
        <p:nvSpPr>
          <p:cNvPr id="153" name="TextBox 152"/>
          <p:cNvSpPr txBox="1"/>
          <p:nvPr/>
        </p:nvSpPr>
        <p:spPr>
          <a:xfrm>
            <a:off x="6105693" y="3854977"/>
            <a:ext cx="2743200" cy="201168"/>
          </a:xfrm>
          <a:prstGeom prst="rect">
            <a:avLst/>
          </a:prstGeom>
          <a:noFill/>
        </p:spPr>
        <p:txBody>
          <a:bodyPr wrap="square" lIns="0" tIns="0" rIns="0" bIns="0" anchor="t">
            <a:spAutoFit/>
          </a:bodyPr>
          <a:lstStyle/>
          <a:p>
            <a:pPr algn="l"/>
            <a:r>
              <a:rPr sz="1100" b="0" i="0">
                <a:solidFill>
                  <a:srgbClr val="545B64"/>
                </a:solidFill>
                <a:latin typeface="Calibri"/>
              </a:rPr>
              <a:t>the gap stops closing at 13.5×</a:t>
            </a:r>
          </a:p>
        </p:txBody>
      </p:sp>
      <p:sp>
        <p:nvSpPr>
          <p:cNvPr id="154" name="Rounded Rectangle 153">
            <a:extLst>
              <a:ext uri="{FF2B5EF4-FFF2-40B4-BE49-F238E27FC236}">
                <a16:creationId xmlns:a16="http://schemas.microsoft.com/office/drawing/2014/main" id="{D0BCD6A5-0800-1E26-453D-6256E821516B}"/>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8</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bill, itemised</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Every rate from a vendor pricing page, every quantity counted out of this repo. The reply call to Bedrock is identical on both sides and excluded from both.</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9 / 18</a:t>
            </a:r>
          </a:p>
        </p:txBody>
      </p:sp>
      <p:sp>
        <p:nvSpPr>
          <p:cNvPr id="10" name="TextBox 9"/>
          <p:cNvSpPr txBox="1"/>
          <p:nvPr/>
        </p:nvSpPr>
        <p:spPr>
          <a:xfrm>
            <a:off x="502920" y="1773936"/>
            <a:ext cx="3657600" cy="676656"/>
          </a:xfrm>
          <a:prstGeom prst="rect">
            <a:avLst/>
          </a:prstGeom>
          <a:noFill/>
        </p:spPr>
        <p:txBody>
          <a:bodyPr wrap="square" lIns="0" tIns="0" rIns="0" bIns="0" anchor="ctr">
            <a:spAutoFit/>
          </a:bodyPr>
          <a:lstStyle/>
          <a:p>
            <a:pPr algn="l"/>
            <a:r>
              <a:rPr sz="4400" b="1" i="0">
                <a:solidFill>
                  <a:srgbClr val="8C2F45"/>
                </a:solidFill>
                <a:latin typeface="Calibri"/>
              </a:rPr>
              <a:t>13.5×</a:t>
            </a:r>
          </a:p>
        </p:txBody>
      </p:sp>
      <p:sp>
        <p:nvSpPr>
          <p:cNvPr id="11" name="TextBox 10"/>
          <p:cNvSpPr txBox="1"/>
          <p:nvPr/>
        </p:nvSpPr>
        <p:spPr>
          <a:xfrm>
            <a:off x="548640" y="2487168"/>
            <a:ext cx="8686800" cy="237744"/>
          </a:xfrm>
          <a:prstGeom prst="rect">
            <a:avLst/>
          </a:prstGeom>
          <a:noFill/>
        </p:spPr>
        <p:txBody>
          <a:bodyPr wrap="square" lIns="0" tIns="0" rIns="0" bIns="0" anchor="t">
            <a:spAutoFit/>
          </a:bodyPr>
          <a:lstStyle/>
          <a:p>
            <a:pPr algn="l"/>
            <a:r>
              <a:rPr sz="1300" b="0">
                <a:solidFill>
                  <a:srgbClr val="545B64"/>
                </a:solidFill>
                <a:latin typeface="Calibri"/>
              </a:rPr>
              <a:t>cheaper at scale — and </a:t>
            </a:r>
            <a:r>
              <a:rPr sz="1300" b="1">
                <a:solidFill>
                  <a:srgbClr val="8C2F45"/>
                </a:solidFill>
                <a:latin typeface="Calibri"/>
              </a:rPr>
              <a:t>187.5×</a:t>
            </a:r>
            <a:r>
              <a:rPr sz="1300" b="0">
                <a:solidFill>
                  <a:srgbClr val="545B64"/>
                </a:solidFill>
                <a:latin typeface="Calibri"/>
              </a:rPr>
              <a:t> at one user, where only engine B has no floor</a:t>
            </a:r>
          </a:p>
        </p:txBody>
      </p:sp>
      <p:sp>
        <p:nvSpPr>
          <p:cNvPr id="12" name="Rounded Rectangle 11"/>
          <p:cNvSpPr/>
          <p:nvPr/>
        </p:nvSpPr>
        <p:spPr>
          <a:xfrm>
            <a:off x="502920"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 USER</a:t>
            </a:r>
          </a:p>
        </p:txBody>
      </p:sp>
      <p:sp>
        <p:nvSpPr>
          <p:cNvPr id="14" name="Rounded Rectangle 13"/>
          <p:cNvSpPr/>
          <p:nvPr/>
        </p:nvSpPr>
        <p:spPr>
          <a:xfrm>
            <a:off x="685800"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$19.41</a:t>
            </a:r>
          </a:p>
        </p:txBody>
      </p:sp>
      <p:sp>
        <p:nvSpPr>
          <p:cNvPr id="16" name="TextBox 15"/>
          <p:cNvSpPr txBox="1"/>
          <p:nvPr/>
        </p:nvSpPr>
        <p:spPr>
          <a:xfrm>
            <a:off x="2286000"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17" name="Rounded Rectangle 16"/>
          <p:cNvSpPr/>
          <p:nvPr/>
        </p:nvSpPr>
        <p:spPr>
          <a:xfrm>
            <a:off x="685800"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$0.10</a:t>
            </a:r>
          </a:p>
        </p:txBody>
      </p:sp>
      <p:sp>
        <p:nvSpPr>
          <p:cNvPr id="19" name="TextBox 18"/>
          <p:cNvSpPr txBox="1"/>
          <p:nvPr/>
        </p:nvSpPr>
        <p:spPr>
          <a:xfrm>
            <a:off x="2286000"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0" name="TextBox 19"/>
          <p:cNvSpPr txBox="1"/>
          <p:nvPr/>
        </p:nvSpPr>
        <p:spPr>
          <a:xfrm>
            <a:off x="685800"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$19.30 / mo · 187.5×</a:t>
            </a:r>
          </a:p>
        </p:txBody>
      </p:sp>
      <p:sp>
        <p:nvSpPr>
          <p:cNvPr id="21" name="Rounded Rectangle 20"/>
          <p:cNvSpPr/>
          <p:nvPr/>
        </p:nvSpPr>
        <p:spPr>
          <a:xfrm>
            <a:off x="4279392"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62272"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 USERS</a:t>
            </a:r>
          </a:p>
        </p:txBody>
      </p:sp>
      <p:sp>
        <p:nvSpPr>
          <p:cNvPr id="23" name="Rounded Rectangle 22"/>
          <p:cNvSpPr/>
          <p:nvPr/>
        </p:nvSpPr>
        <p:spPr>
          <a:xfrm>
            <a:off x="4462272"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26864"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$13,878</a:t>
            </a:r>
          </a:p>
        </p:txBody>
      </p:sp>
      <p:sp>
        <p:nvSpPr>
          <p:cNvPr id="25" name="TextBox 24"/>
          <p:cNvSpPr txBox="1"/>
          <p:nvPr/>
        </p:nvSpPr>
        <p:spPr>
          <a:xfrm>
            <a:off x="6062472"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26" name="Rounded Rectangle 25"/>
          <p:cNvSpPr/>
          <p:nvPr/>
        </p:nvSpPr>
        <p:spPr>
          <a:xfrm>
            <a:off x="4462272"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26864"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a:t>
            </a:r>
          </a:p>
        </p:txBody>
      </p:sp>
      <p:sp>
        <p:nvSpPr>
          <p:cNvPr id="28" name="TextBox 27"/>
          <p:cNvSpPr txBox="1"/>
          <p:nvPr/>
        </p:nvSpPr>
        <p:spPr>
          <a:xfrm>
            <a:off x="6062472"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9" name="TextBox 28"/>
          <p:cNvSpPr txBox="1"/>
          <p:nvPr/>
        </p:nvSpPr>
        <p:spPr>
          <a:xfrm>
            <a:off x="4462272"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$12,849 / mo · 13.5×</a:t>
            </a:r>
          </a:p>
        </p:txBody>
      </p:sp>
      <p:sp>
        <p:nvSpPr>
          <p:cNvPr id="30" name="Rounded Rectangle 29"/>
          <p:cNvSpPr/>
          <p:nvPr/>
        </p:nvSpPr>
        <p:spPr>
          <a:xfrm>
            <a:off x="8055864"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38744"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1,000,000 USERS</a:t>
            </a:r>
          </a:p>
        </p:txBody>
      </p:sp>
      <p:sp>
        <p:nvSpPr>
          <p:cNvPr id="32" name="Rounded Rectangle 31"/>
          <p:cNvSpPr/>
          <p:nvPr/>
        </p:nvSpPr>
        <p:spPr>
          <a:xfrm>
            <a:off x="8238744"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03336"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 M</a:t>
            </a:r>
          </a:p>
        </p:txBody>
      </p:sp>
      <p:sp>
        <p:nvSpPr>
          <p:cNvPr id="34" name="TextBox 33"/>
          <p:cNvSpPr txBox="1"/>
          <p:nvPr/>
        </p:nvSpPr>
        <p:spPr>
          <a:xfrm>
            <a:off x="9838944"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35" name="Rounded Rectangle 34"/>
          <p:cNvSpPr/>
          <p:nvPr/>
        </p:nvSpPr>
        <p:spPr>
          <a:xfrm>
            <a:off x="8238744"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03336"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$102,900</a:t>
            </a:r>
          </a:p>
        </p:txBody>
      </p:sp>
      <p:sp>
        <p:nvSpPr>
          <p:cNvPr id="37" name="TextBox 36"/>
          <p:cNvSpPr txBox="1"/>
          <p:nvPr/>
        </p:nvSpPr>
        <p:spPr>
          <a:xfrm>
            <a:off x="9838944"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38" name="TextBox 37"/>
          <p:cNvSpPr txBox="1"/>
          <p:nvPr/>
        </p:nvSpPr>
        <p:spPr>
          <a:xfrm>
            <a:off x="8238744"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 M / mo · $15.4 M / yr</a:t>
            </a:r>
          </a:p>
        </p:txBody>
      </p:sp>
      <p:sp>
        <p:nvSpPr>
          <p:cNvPr id="39" name="TextBox 38"/>
          <p:cNvSpPr txBox="1"/>
          <p:nvPr/>
        </p:nvSpPr>
        <p:spPr>
          <a:xfrm>
            <a:off x="548640" y="4133087"/>
            <a:ext cx="3840480" cy="182880"/>
          </a:xfrm>
          <a:prstGeom prst="rect">
            <a:avLst/>
          </a:prstGeom>
          <a:noFill/>
        </p:spPr>
        <p:txBody>
          <a:bodyPr wrap="square" lIns="0" tIns="0" rIns="0" bIns="0" anchor="t">
            <a:spAutoFit/>
          </a:bodyPr>
          <a:lstStyle/>
          <a:p>
            <a:pPr algn="l"/>
            <a:r>
              <a:rPr sz="950" b="1" i="0">
                <a:solidFill>
                  <a:srgbClr val="8B949E"/>
                </a:solidFill>
                <a:latin typeface="Calibri"/>
              </a:rPr>
              <a:t>LINE ITEM</a:t>
            </a:r>
          </a:p>
        </p:txBody>
      </p:sp>
      <p:sp>
        <p:nvSpPr>
          <p:cNvPr id="40" name="TextBox 39"/>
          <p:cNvSpPr txBox="1"/>
          <p:nvPr/>
        </p:nvSpPr>
        <p:spPr>
          <a:xfrm>
            <a:off x="4480560" y="4133087"/>
            <a:ext cx="1737360" cy="182880"/>
          </a:xfrm>
          <a:prstGeom prst="rect">
            <a:avLst/>
          </a:prstGeom>
          <a:noFill/>
        </p:spPr>
        <p:txBody>
          <a:bodyPr wrap="square" lIns="0" tIns="0" rIns="0" bIns="0" anchor="t">
            <a:spAutoFit/>
          </a:bodyPr>
          <a:lstStyle/>
          <a:p>
            <a:pPr algn="l"/>
            <a:r>
              <a:rPr sz="950" b="1" i="0">
                <a:solidFill>
                  <a:srgbClr val="8B949E"/>
                </a:solidFill>
                <a:latin typeface="Calibri"/>
              </a:rPr>
              <a:t>ENGINE</a:t>
            </a:r>
          </a:p>
        </p:txBody>
      </p:sp>
      <p:sp>
        <p:nvSpPr>
          <p:cNvPr id="41" name="TextBox 40"/>
          <p:cNvSpPr txBox="1"/>
          <p:nvPr/>
        </p:nvSpPr>
        <p:spPr>
          <a:xfrm>
            <a:off x="6035040" y="4133087"/>
            <a:ext cx="1554480" cy="182880"/>
          </a:xfrm>
          <a:prstGeom prst="rect">
            <a:avLst/>
          </a:prstGeom>
          <a:noFill/>
        </p:spPr>
        <p:txBody>
          <a:bodyPr wrap="square" lIns="0" tIns="0" rIns="0" bIns="0" anchor="t">
            <a:spAutoFit/>
          </a:bodyPr>
          <a:lstStyle/>
          <a:p>
            <a:pPr algn="r"/>
            <a:r>
              <a:rPr sz="950" b="1" i="0">
                <a:solidFill>
                  <a:srgbClr val="8B949E"/>
                </a:solidFill>
                <a:latin typeface="Calibri"/>
              </a:rPr>
              <a:t>FIXED</a:t>
            </a:r>
          </a:p>
        </p:txBody>
      </p:sp>
      <p:sp>
        <p:nvSpPr>
          <p:cNvPr id="42" name="TextBox 41"/>
          <p:cNvSpPr txBox="1"/>
          <p:nvPr/>
        </p:nvSpPr>
        <p:spPr>
          <a:xfrm>
            <a:off x="7772400" y="4133087"/>
            <a:ext cx="1645920" cy="182880"/>
          </a:xfrm>
          <a:prstGeom prst="rect">
            <a:avLst/>
          </a:prstGeom>
          <a:noFill/>
        </p:spPr>
        <p:txBody>
          <a:bodyPr wrap="square" lIns="0" tIns="0" rIns="0" bIns="0" anchor="t">
            <a:spAutoFit/>
          </a:bodyPr>
          <a:lstStyle/>
          <a:p>
            <a:pPr algn="r"/>
            <a:r>
              <a:rPr sz="950" b="1" i="0">
                <a:solidFill>
                  <a:srgbClr val="8B949E"/>
                </a:solidFill>
                <a:latin typeface="Calibri"/>
              </a:rPr>
              <a:t>PER USER</a:t>
            </a:r>
          </a:p>
        </p:txBody>
      </p:sp>
      <p:sp>
        <p:nvSpPr>
          <p:cNvPr id="43" name="TextBox 42"/>
          <p:cNvSpPr txBox="1"/>
          <p:nvPr/>
        </p:nvSpPr>
        <p:spPr>
          <a:xfrm>
            <a:off x="9692640" y="4133087"/>
            <a:ext cx="1965960" cy="182880"/>
          </a:xfrm>
          <a:prstGeom prst="rect">
            <a:avLst/>
          </a:prstGeom>
          <a:noFill/>
        </p:spPr>
        <p:txBody>
          <a:bodyPr wrap="square" lIns="0" tIns="0" rIns="0" bIns="0" anchor="t">
            <a:spAutoFit/>
          </a:bodyPr>
          <a:lstStyle/>
          <a:p>
            <a:pPr algn="r"/>
            <a:r>
              <a:rPr sz="950" b="1" i="0">
                <a:solidFill>
                  <a:srgbClr val="8B949E"/>
                </a:solidFill>
                <a:latin typeface="Calibri"/>
              </a:rPr>
              <a:t>AT 1 USER</a:t>
            </a:r>
          </a:p>
        </p:txBody>
      </p:sp>
      <p:cxnSp>
        <p:nvCxnSpPr>
          <p:cNvPr id="44" name="Connector 43"/>
          <p:cNvCxnSpPr/>
          <p:nvPr/>
        </p:nvCxnSpPr>
        <p:spPr>
          <a:xfrm>
            <a:off x="548640" y="4370831"/>
            <a:ext cx="11109960" cy="0"/>
          </a:xfrm>
          <a:prstGeom prst="line">
            <a:avLst/>
          </a:prstGeom>
          <a:ln w="9525">
            <a:solidFill>
              <a:srgbClr val="D5DBE0"/>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66928" y="4512564"/>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9808" y="4443983"/>
            <a:ext cx="3639312" cy="219456"/>
          </a:xfrm>
          <a:prstGeom prst="rect">
            <a:avLst/>
          </a:prstGeom>
          <a:noFill/>
        </p:spPr>
        <p:txBody>
          <a:bodyPr wrap="square" lIns="0" tIns="0" rIns="0" bIns="0" anchor="ctr">
            <a:spAutoFit/>
          </a:bodyPr>
          <a:lstStyle/>
          <a:p>
            <a:pPr algn="l"/>
            <a:r>
              <a:rPr sz="1200" b="0" i="0">
                <a:solidFill>
                  <a:srgbClr val="545B64"/>
                </a:solidFill>
                <a:latin typeface="Calibri"/>
              </a:rPr>
              <a:t>AWS Fargate</a:t>
            </a:r>
          </a:p>
        </p:txBody>
      </p:sp>
      <p:sp>
        <p:nvSpPr>
          <p:cNvPr id="47" name="TextBox 46"/>
          <p:cNvSpPr txBox="1"/>
          <p:nvPr/>
        </p:nvSpPr>
        <p:spPr>
          <a:xfrm>
            <a:off x="4480560" y="4443983"/>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48" name="TextBox 47"/>
          <p:cNvSpPr txBox="1"/>
          <p:nvPr/>
        </p:nvSpPr>
        <p:spPr>
          <a:xfrm>
            <a:off x="6035040" y="4443983"/>
            <a:ext cx="155448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sp>
        <p:nvSpPr>
          <p:cNvPr id="49" name="TextBox 48"/>
          <p:cNvSpPr txBox="1"/>
          <p:nvPr/>
        </p:nvSpPr>
        <p:spPr>
          <a:xfrm>
            <a:off x="7772400" y="4443983"/>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0" name="TextBox 49"/>
          <p:cNvSpPr txBox="1"/>
          <p:nvPr/>
        </p:nvSpPr>
        <p:spPr>
          <a:xfrm>
            <a:off x="9692640" y="4443983"/>
            <a:ext cx="196596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cxnSp>
        <p:nvCxnSpPr>
          <p:cNvPr id="51" name="Connector 50"/>
          <p:cNvCxnSpPr/>
          <p:nvPr/>
        </p:nvCxnSpPr>
        <p:spPr>
          <a:xfrm>
            <a:off x="548640" y="4658868"/>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66928" y="4745736"/>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 y="4677155"/>
            <a:ext cx="3639312" cy="219456"/>
          </a:xfrm>
          <a:prstGeom prst="rect">
            <a:avLst/>
          </a:prstGeom>
          <a:noFill/>
        </p:spPr>
        <p:txBody>
          <a:bodyPr wrap="square" lIns="0" tIns="0" rIns="0" bIns="0" anchor="ctr">
            <a:spAutoFit/>
          </a:bodyPr>
          <a:lstStyle/>
          <a:p>
            <a:pPr algn="l"/>
            <a:r>
              <a:rPr sz="1200" b="0" i="0">
                <a:solidFill>
                  <a:srgbClr val="545B64"/>
                </a:solidFill>
                <a:latin typeface="Calibri"/>
              </a:rPr>
              <a:t>2nd Bedrock call · extraction</a:t>
            </a:r>
          </a:p>
        </p:txBody>
      </p:sp>
      <p:sp>
        <p:nvSpPr>
          <p:cNvPr id="54" name="TextBox 53"/>
          <p:cNvSpPr txBox="1"/>
          <p:nvPr/>
        </p:nvSpPr>
        <p:spPr>
          <a:xfrm>
            <a:off x="4480560" y="4677155"/>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55" name="TextBox 54"/>
          <p:cNvSpPr txBox="1"/>
          <p:nvPr/>
        </p:nvSpPr>
        <p:spPr>
          <a:xfrm>
            <a:off x="6035040" y="4677155"/>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6" name="TextBox 55"/>
          <p:cNvSpPr txBox="1"/>
          <p:nvPr/>
        </p:nvSpPr>
        <p:spPr>
          <a:xfrm>
            <a:off x="7772400" y="4677155"/>
            <a:ext cx="1645920" cy="219456"/>
          </a:xfrm>
          <a:prstGeom prst="rect">
            <a:avLst/>
          </a:prstGeom>
          <a:noFill/>
        </p:spPr>
        <p:txBody>
          <a:bodyPr wrap="square" lIns="0" tIns="0" rIns="0" bIns="0" anchor="ctr">
            <a:spAutoFit/>
          </a:bodyPr>
          <a:lstStyle/>
          <a:p>
            <a:pPr algn="r"/>
            <a:r>
              <a:rPr sz="1150" b="0" i="0">
                <a:solidFill>
                  <a:srgbClr val="545B64"/>
                </a:solidFill>
                <a:latin typeface="Calibri"/>
              </a:rPr>
              <a:t>$1.386</a:t>
            </a:r>
          </a:p>
        </p:txBody>
      </p:sp>
      <p:sp>
        <p:nvSpPr>
          <p:cNvPr id="57" name="TextBox 56"/>
          <p:cNvSpPr txBox="1"/>
          <p:nvPr/>
        </p:nvSpPr>
        <p:spPr>
          <a:xfrm>
            <a:off x="9692640" y="4677155"/>
            <a:ext cx="1965960" cy="219456"/>
          </a:xfrm>
          <a:prstGeom prst="rect">
            <a:avLst/>
          </a:prstGeom>
          <a:noFill/>
        </p:spPr>
        <p:txBody>
          <a:bodyPr wrap="square" lIns="0" tIns="0" rIns="0" bIns="0" anchor="ctr">
            <a:spAutoFit/>
          </a:bodyPr>
          <a:lstStyle/>
          <a:p>
            <a:pPr algn="r"/>
            <a:r>
              <a:rPr sz="1150" b="0" i="0">
                <a:solidFill>
                  <a:srgbClr val="545B64"/>
                </a:solidFill>
                <a:latin typeface="Calibri"/>
              </a:rPr>
              <a:t>$1.385</a:t>
            </a:r>
          </a:p>
        </p:txBody>
      </p:sp>
      <p:cxnSp>
        <p:nvCxnSpPr>
          <p:cNvPr id="58" name="Connector 57"/>
          <p:cNvCxnSpPr/>
          <p:nvPr/>
        </p:nvCxnSpPr>
        <p:spPr>
          <a:xfrm>
            <a:off x="548640" y="4892040"/>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566928" y="4978907"/>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4910327"/>
            <a:ext cx="3639312" cy="219456"/>
          </a:xfrm>
          <a:prstGeom prst="rect">
            <a:avLst/>
          </a:prstGeom>
          <a:noFill/>
        </p:spPr>
        <p:txBody>
          <a:bodyPr wrap="square" lIns="0" tIns="0" rIns="0" bIns="0" anchor="ctr">
            <a:spAutoFit/>
          </a:bodyPr>
          <a:lstStyle/>
          <a:p>
            <a:pPr algn="l"/>
            <a:r>
              <a:rPr sz="1200" b="0" i="0">
                <a:solidFill>
                  <a:srgbClr val="545B64"/>
                </a:solidFill>
                <a:latin typeface="Calibri"/>
              </a:rPr>
              <a:t>Amazon DynamoDB</a:t>
            </a:r>
          </a:p>
        </p:txBody>
      </p:sp>
      <p:sp>
        <p:nvSpPr>
          <p:cNvPr id="61" name="TextBox 60"/>
          <p:cNvSpPr txBox="1"/>
          <p:nvPr/>
        </p:nvSpPr>
        <p:spPr>
          <a:xfrm>
            <a:off x="4480560" y="4910327"/>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62" name="TextBox 61"/>
          <p:cNvSpPr txBox="1"/>
          <p:nvPr/>
        </p:nvSpPr>
        <p:spPr>
          <a:xfrm>
            <a:off x="6035040" y="4910327"/>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63" name="TextBox 62"/>
          <p:cNvSpPr txBox="1"/>
          <p:nvPr/>
        </p:nvSpPr>
        <p:spPr>
          <a:xfrm>
            <a:off x="7772400" y="4910327"/>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64" name="TextBox 63"/>
          <p:cNvSpPr txBox="1"/>
          <p:nvPr/>
        </p:nvSpPr>
        <p:spPr>
          <a:xfrm>
            <a:off x="9692640" y="4910327"/>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65" name="Connector 64"/>
          <p:cNvCxnSpPr/>
          <p:nvPr/>
        </p:nvCxnSpPr>
        <p:spPr>
          <a:xfrm>
            <a:off x="548640" y="5125212"/>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566928" y="5212079"/>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5143499"/>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Gateway</a:t>
            </a:r>
          </a:p>
        </p:txBody>
      </p:sp>
      <p:sp>
        <p:nvSpPr>
          <p:cNvPr id="68" name="TextBox 67"/>
          <p:cNvSpPr txBox="1"/>
          <p:nvPr/>
        </p:nvSpPr>
        <p:spPr>
          <a:xfrm>
            <a:off x="4480560" y="5143499"/>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69" name="TextBox 68"/>
          <p:cNvSpPr txBox="1"/>
          <p:nvPr/>
        </p:nvSpPr>
        <p:spPr>
          <a:xfrm>
            <a:off x="6035040" y="5143499"/>
            <a:ext cx="155448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70" name="TextBox 69"/>
          <p:cNvSpPr txBox="1"/>
          <p:nvPr/>
        </p:nvSpPr>
        <p:spPr>
          <a:xfrm>
            <a:off x="7772400" y="5143499"/>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1" name="TextBox 70"/>
          <p:cNvSpPr txBox="1"/>
          <p:nvPr/>
        </p:nvSpPr>
        <p:spPr>
          <a:xfrm>
            <a:off x="9692640" y="5143499"/>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72" name="Connector 71"/>
          <p:cNvCxnSpPr/>
          <p:nvPr/>
        </p:nvCxnSpPr>
        <p:spPr>
          <a:xfrm>
            <a:off x="548640" y="5358383"/>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566928" y="5445251"/>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49808" y="5376671"/>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Memory</a:t>
            </a:r>
          </a:p>
        </p:txBody>
      </p:sp>
      <p:sp>
        <p:nvSpPr>
          <p:cNvPr id="75" name="TextBox 74"/>
          <p:cNvSpPr txBox="1"/>
          <p:nvPr/>
        </p:nvSpPr>
        <p:spPr>
          <a:xfrm>
            <a:off x="4480560" y="5376671"/>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76" name="TextBox 75"/>
          <p:cNvSpPr txBox="1"/>
          <p:nvPr/>
        </p:nvSpPr>
        <p:spPr>
          <a:xfrm>
            <a:off x="6035040" y="5376671"/>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7" name="TextBox 76"/>
          <p:cNvSpPr txBox="1"/>
          <p:nvPr/>
        </p:nvSpPr>
        <p:spPr>
          <a:xfrm>
            <a:off x="7772400" y="5376671"/>
            <a:ext cx="164592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sp>
        <p:nvSpPr>
          <p:cNvPr id="78" name="TextBox 77"/>
          <p:cNvSpPr txBox="1"/>
          <p:nvPr/>
        </p:nvSpPr>
        <p:spPr>
          <a:xfrm>
            <a:off x="9692640" y="5376671"/>
            <a:ext cx="196596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cxnSp>
        <p:nvCxnSpPr>
          <p:cNvPr id="79" name="Connector 78"/>
          <p:cNvCxnSpPr/>
          <p:nvPr/>
        </p:nvCxnSpPr>
        <p:spPr>
          <a:xfrm>
            <a:off x="548640" y="5591555"/>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66928" y="5678423"/>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49808" y="5609843"/>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Runtime</a:t>
            </a:r>
          </a:p>
        </p:txBody>
      </p:sp>
      <p:sp>
        <p:nvSpPr>
          <p:cNvPr id="82" name="TextBox 81"/>
          <p:cNvSpPr txBox="1"/>
          <p:nvPr/>
        </p:nvSpPr>
        <p:spPr>
          <a:xfrm>
            <a:off x="4480560" y="5609843"/>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83" name="TextBox 82"/>
          <p:cNvSpPr txBox="1"/>
          <p:nvPr/>
        </p:nvSpPr>
        <p:spPr>
          <a:xfrm>
            <a:off x="6035040" y="5609843"/>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84" name="TextBox 83"/>
          <p:cNvSpPr txBox="1"/>
          <p:nvPr/>
        </p:nvSpPr>
        <p:spPr>
          <a:xfrm>
            <a:off x="7772400" y="5609843"/>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sp>
        <p:nvSpPr>
          <p:cNvPr id="85" name="TextBox 84"/>
          <p:cNvSpPr txBox="1"/>
          <p:nvPr/>
        </p:nvSpPr>
        <p:spPr>
          <a:xfrm>
            <a:off x="9692640" y="5609843"/>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cxnSp>
        <p:nvCxnSpPr>
          <p:cNvPr id="86" name="Connector 85"/>
          <p:cNvCxnSpPr/>
          <p:nvPr/>
        </p:nvCxnSpPr>
        <p:spPr>
          <a:xfrm>
            <a:off x="548640" y="5824727"/>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66928" y="5843015"/>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A total, one user</a:t>
            </a:r>
          </a:p>
        </p:txBody>
      </p:sp>
      <p:sp>
        <p:nvSpPr>
          <p:cNvPr id="88" name="TextBox 87"/>
          <p:cNvSpPr txBox="1"/>
          <p:nvPr/>
        </p:nvSpPr>
        <p:spPr>
          <a:xfrm>
            <a:off x="4480560" y="5843015"/>
            <a:ext cx="1737360" cy="219456"/>
          </a:xfrm>
          <a:prstGeom prst="rect">
            <a:avLst/>
          </a:prstGeom>
          <a:noFill/>
        </p:spPr>
        <p:txBody>
          <a:bodyPr wrap="square" lIns="0" tIns="0" rIns="0" bIns="0" anchor="ctr">
            <a:spAutoFit/>
          </a:bodyPr>
          <a:lstStyle/>
          <a:p>
            <a:pPr algn="l"/>
            <a:r>
              <a:rPr sz="1150" b="1" i="0">
                <a:solidFill>
                  <a:srgbClr val="232F3E"/>
                </a:solidFill>
                <a:latin typeface="Calibri"/>
              </a:rPr>
              <a:t>A · DIY</a:t>
            </a:r>
          </a:p>
        </p:txBody>
      </p:sp>
      <p:sp>
        <p:nvSpPr>
          <p:cNvPr id="89" name="TextBox 88"/>
          <p:cNvSpPr txBox="1"/>
          <p:nvPr/>
        </p:nvSpPr>
        <p:spPr>
          <a:xfrm>
            <a:off x="6035040" y="5843015"/>
            <a:ext cx="1554480" cy="219456"/>
          </a:xfrm>
          <a:prstGeom prst="rect">
            <a:avLst/>
          </a:prstGeom>
          <a:noFill/>
        </p:spPr>
        <p:txBody>
          <a:bodyPr wrap="square" lIns="0" tIns="0" rIns="0" bIns="0" anchor="ctr">
            <a:spAutoFit/>
          </a:bodyPr>
          <a:lstStyle/>
          <a:p>
            <a:pPr algn="r"/>
            <a:r>
              <a:rPr sz="1150" b="1" i="0">
                <a:solidFill>
                  <a:srgbClr val="232F3E"/>
                </a:solidFill>
                <a:latin typeface="Calibri"/>
              </a:rPr>
              <a:t>$18.02</a:t>
            </a:r>
          </a:p>
        </p:txBody>
      </p:sp>
      <p:sp>
        <p:nvSpPr>
          <p:cNvPr id="90" name="TextBox 89"/>
          <p:cNvSpPr txBox="1"/>
          <p:nvPr/>
        </p:nvSpPr>
        <p:spPr>
          <a:xfrm>
            <a:off x="7772400" y="5843015"/>
            <a:ext cx="1645920" cy="219456"/>
          </a:xfrm>
          <a:prstGeom prst="rect">
            <a:avLst/>
          </a:prstGeom>
          <a:noFill/>
        </p:spPr>
        <p:txBody>
          <a:bodyPr wrap="square" lIns="0" tIns="0" rIns="0" bIns="0" anchor="ctr">
            <a:spAutoFit/>
          </a:bodyPr>
          <a:lstStyle/>
          <a:p>
            <a:pPr algn="r"/>
            <a:r>
              <a:rPr sz="1150" b="1" i="0">
                <a:solidFill>
                  <a:srgbClr val="232F3E"/>
                </a:solidFill>
                <a:latin typeface="Calibri"/>
              </a:rPr>
              <a:t>$1.386</a:t>
            </a:r>
          </a:p>
        </p:txBody>
      </p:sp>
      <p:sp>
        <p:nvSpPr>
          <p:cNvPr id="91" name="TextBox 90"/>
          <p:cNvSpPr txBox="1"/>
          <p:nvPr/>
        </p:nvSpPr>
        <p:spPr>
          <a:xfrm>
            <a:off x="9692640" y="5843015"/>
            <a:ext cx="1965960" cy="219456"/>
          </a:xfrm>
          <a:prstGeom prst="rect">
            <a:avLst/>
          </a:prstGeom>
          <a:noFill/>
        </p:spPr>
        <p:txBody>
          <a:bodyPr wrap="square" lIns="0" tIns="0" rIns="0" bIns="0" anchor="ctr">
            <a:spAutoFit/>
          </a:bodyPr>
          <a:lstStyle/>
          <a:p>
            <a:pPr algn="r"/>
            <a:r>
              <a:rPr sz="1150" b="1" i="0">
                <a:solidFill>
                  <a:srgbClr val="232F3E"/>
                </a:solidFill>
                <a:latin typeface="Calibri"/>
              </a:rPr>
              <a:t>$19.41</a:t>
            </a:r>
          </a:p>
        </p:txBody>
      </p:sp>
      <p:cxnSp>
        <p:nvCxnSpPr>
          <p:cNvPr id="92" name="Connector 91"/>
          <p:cNvCxnSpPr/>
          <p:nvPr/>
        </p:nvCxnSpPr>
        <p:spPr>
          <a:xfrm>
            <a:off x="548640" y="6057899"/>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66928" y="6076187"/>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B total, one user</a:t>
            </a:r>
          </a:p>
        </p:txBody>
      </p:sp>
      <p:sp>
        <p:nvSpPr>
          <p:cNvPr id="94" name="TextBox 93"/>
          <p:cNvSpPr txBox="1"/>
          <p:nvPr/>
        </p:nvSpPr>
        <p:spPr>
          <a:xfrm>
            <a:off x="4480560" y="6076187"/>
            <a:ext cx="1737360" cy="219456"/>
          </a:xfrm>
          <a:prstGeom prst="rect">
            <a:avLst/>
          </a:prstGeom>
          <a:noFill/>
        </p:spPr>
        <p:txBody>
          <a:bodyPr wrap="square" lIns="0" tIns="0" rIns="0" bIns="0" anchor="ctr">
            <a:spAutoFit/>
          </a:bodyPr>
          <a:lstStyle/>
          <a:p>
            <a:pPr algn="l"/>
            <a:r>
              <a:rPr sz="1150" b="1" i="0">
                <a:solidFill>
                  <a:srgbClr val="232F3E"/>
                </a:solidFill>
                <a:latin typeface="Calibri"/>
              </a:rPr>
              <a:t>B · AgentCore</a:t>
            </a:r>
          </a:p>
        </p:txBody>
      </p:sp>
      <p:sp>
        <p:nvSpPr>
          <p:cNvPr id="95" name="TextBox 94"/>
          <p:cNvSpPr txBox="1"/>
          <p:nvPr/>
        </p:nvSpPr>
        <p:spPr>
          <a:xfrm>
            <a:off x="6035040" y="6076187"/>
            <a:ext cx="1554480" cy="219456"/>
          </a:xfrm>
          <a:prstGeom prst="rect">
            <a:avLst/>
          </a:prstGeom>
          <a:noFill/>
        </p:spPr>
        <p:txBody>
          <a:bodyPr wrap="square" lIns="0" tIns="0" rIns="0" bIns="0" anchor="ctr">
            <a:spAutoFit/>
          </a:bodyPr>
          <a:lstStyle/>
          <a:p>
            <a:pPr algn="r"/>
            <a:r>
              <a:rPr sz="1150" b="1" i="0">
                <a:solidFill>
                  <a:srgbClr val="232F3E"/>
                </a:solidFill>
                <a:latin typeface="Calibri"/>
              </a:rPr>
              <a:t>$0.0006</a:t>
            </a:r>
          </a:p>
        </p:txBody>
      </p:sp>
      <p:sp>
        <p:nvSpPr>
          <p:cNvPr id="96" name="TextBox 95"/>
          <p:cNvSpPr txBox="1"/>
          <p:nvPr/>
        </p:nvSpPr>
        <p:spPr>
          <a:xfrm>
            <a:off x="7772400" y="6076187"/>
            <a:ext cx="1645920" cy="219456"/>
          </a:xfrm>
          <a:prstGeom prst="rect">
            <a:avLst/>
          </a:prstGeom>
          <a:noFill/>
        </p:spPr>
        <p:txBody>
          <a:bodyPr wrap="square" lIns="0" tIns="0" rIns="0" bIns="0" anchor="ctr">
            <a:spAutoFit/>
          </a:bodyPr>
          <a:lstStyle/>
          <a:p>
            <a:pPr algn="r"/>
            <a:r>
              <a:rPr sz="1150" b="1" i="0">
                <a:solidFill>
                  <a:srgbClr val="232F3E"/>
                </a:solidFill>
                <a:latin typeface="Calibri"/>
              </a:rPr>
              <a:t>$0.1029</a:t>
            </a:r>
          </a:p>
        </p:txBody>
      </p:sp>
      <p:sp>
        <p:nvSpPr>
          <p:cNvPr id="97" name="TextBox 96"/>
          <p:cNvSpPr txBox="1"/>
          <p:nvPr/>
        </p:nvSpPr>
        <p:spPr>
          <a:xfrm>
            <a:off x="9692640" y="6076187"/>
            <a:ext cx="1965960" cy="219456"/>
          </a:xfrm>
          <a:prstGeom prst="rect">
            <a:avLst/>
          </a:prstGeom>
          <a:noFill/>
        </p:spPr>
        <p:txBody>
          <a:bodyPr wrap="square" lIns="0" tIns="0" rIns="0" bIns="0" anchor="ctr">
            <a:spAutoFit/>
          </a:bodyPr>
          <a:lstStyle/>
          <a:p>
            <a:pPr algn="r"/>
            <a:r>
              <a:rPr sz="1150" b="1" i="0">
                <a:solidFill>
                  <a:srgbClr val="232F3E"/>
                </a:solidFill>
                <a:latin typeface="Calibri"/>
              </a:rPr>
              <a:t>$0.10</a:t>
            </a:r>
          </a:p>
        </p:txBody>
      </p:sp>
      <p:cxnSp>
        <p:nvCxnSpPr>
          <p:cNvPr id="98" name="Connector 97"/>
          <p:cNvCxnSpPr/>
          <p:nvPr/>
        </p:nvCxnSpPr>
        <p:spPr>
          <a:xfrm>
            <a:off x="548640" y="6291071"/>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9" name="Rounded Rectangle 98">
            <a:extLst>
              <a:ext uri="{FF2B5EF4-FFF2-40B4-BE49-F238E27FC236}">
                <a16:creationId xmlns:a16="http://schemas.microsoft.com/office/drawing/2014/main" id="{3736B0EF-898D-11DA-78DD-54F666EDF247}"/>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10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
        <p:nvSpPr>
          <p:cNvPr id="40" name="Rounded Rectangle 39">
            <a:extLst>
              <a:ext uri="{FF2B5EF4-FFF2-40B4-BE49-F238E27FC236}">
                <a16:creationId xmlns:a16="http://schemas.microsoft.com/office/drawing/2014/main" id="{764A659E-300D-E977-FDF8-0BAB0030297A}"/>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err="1">
                <a:solidFill>
                  <a:srgbClr val="FF0000"/>
                </a:solidFill>
                <a:highlight>
                  <a:srgbClr val="FFFF00"/>
                </a:highlight>
              </a:rPr>
              <a:t>Resilance</a:t>
            </a:r>
            <a:r>
              <a:rPr lang="en-US" dirty="0">
                <a:solidFill>
                  <a:srgbClr val="FF0000"/>
                </a:solidFill>
                <a:highlight>
                  <a:srgbClr val="FFFF00"/>
                </a:highlight>
              </a:rPr>
              <a:t> of what?</a:t>
            </a:r>
            <a:endParaRPr dirty="0">
              <a:solidFill>
                <a:srgbClr val="FF0000"/>
              </a:solidFill>
              <a:highlight>
                <a:srgbClr val="FFFF00"/>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0119"/>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11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One fault, forty sessions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6809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3737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13232"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453128"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93023"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sessions lost to the same fault, on the same code — the whole argument in one number</a:t>
            </a:r>
          </a:p>
        </p:txBody>
      </p:sp>
      <p:sp>
        <p:nvSpPr>
          <p:cNvPr id="119" name="Rounded Rectangle 118">
            <a:extLst>
              <a:ext uri="{FF2B5EF4-FFF2-40B4-BE49-F238E27FC236}">
                <a16:creationId xmlns:a16="http://schemas.microsoft.com/office/drawing/2014/main" id="{9754CA25-3A62-5761-A9E3-3F13B20E5B7C}"/>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12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
        <p:nvSpPr>
          <p:cNvPr id="40" name="Rounded Rectangle 39">
            <a:extLst>
              <a:ext uri="{FF2B5EF4-FFF2-40B4-BE49-F238E27FC236}">
                <a16:creationId xmlns:a16="http://schemas.microsoft.com/office/drawing/2014/main" id="{D1E4CE35-9F86-80A4-7873-C6B477680803}"/>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12</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13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2400" b="1">
                <a:solidFill>
                  <a:srgbClr val="232F3E"/>
                </a:solidFill>
                <a:latin typeface="Calibri"/>
              </a:rPr>
              <a:t>Ownership &amp; velocity — what you maintain forever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code you keep owning after launch, and how fast the agent can grow.</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The extraction prompt is mine forever.</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second prompt to version, test and babysit — on top of the agent’s own.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Adding a tool is a deploy.</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Registry change, build, rolling ECS deploy — growth at the speed of the pipeline.</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Extraction is the service’s problem.</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event in, one retrieval out. One fewer prompt to own.</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tool list is data.</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Adding or revoking a tool via Gateway is a config change, not a release.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prompt</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to own, version and regression-test — and tool changes stop being releases</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extraction schema you designed — preferenceCategoryCount is gone</a:t>
            </a:r>
          </a:p>
        </p:txBody>
      </p:sp>
      <p:sp>
        <p:nvSpPr>
          <p:cNvPr id="40" name="Rounded Rectangle 39">
            <a:extLst>
              <a:ext uri="{FF2B5EF4-FFF2-40B4-BE49-F238E27FC236}">
                <a16:creationId xmlns:a16="http://schemas.microsoft.com/office/drawing/2014/main" id="{182F1770-0D69-4D26-E684-31D53E276A3E}"/>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14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lang="en-US" sz="3000" b="1" dirty="0">
                <a:solidFill>
                  <a:srgbClr val="232F3E"/>
                </a:solidFill>
                <a:latin typeface="Calibri"/>
              </a:rPr>
              <a:t>Observability</a:t>
            </a:r>
            <a:endParaRPr sz="3000" b="1" dirty="0">
              <a:solidFill>
                <a:srgbClr val="232F3E"/>
              </a:solidFill>
              <a:latin typeface="Calibri"/>
            </a:endParaRP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5"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the lens DIY keeps — a 6–0 comparison would be a sales pitch</a:t>
            </a:r>
          </a:p>
        </p:txBody>
      </p:sp>
      <p:sp>
        <p:nvSpPr>
          <p:cNvPr id="38" name="Rounded Rectangle 37">
            <a:extLst>
              <a:ext uri="{FF2B5EF4-FFF2-40B4-BE49-F238E27FC236}">
                <a16:creationId xmlns:a16="http://schemas.microsoft.com/office/drawing/2014/main" id="{155FAA7F-CA23-B809-60A4-D5CC360A6AA7}"/>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We need to refine according to the new split of 7</a:t>
            </a:r>
            <a:endParaRPr dirty="0">
              <a:solidFill>
                <a:srgbClr val="FF0000"/>
              </a:solidFill>
              <a:highlight>
                <a:srgbClr val="FFFF00"/>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14</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15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I didn’t write it. They did.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Six agent personas with disjoint file ownership, and one human who holds the veto.</a:t>
            </a:r>
          </a:p>
        </p:txBody>
      </p:sp>
      <p:sp>
        <p:nvSpPr>
          <p:cNvPr id="10" name="Rounded Rectangle 9"/>
          <p:cNvSpPr/>
          <p:nvPr/>
        </p:nvSpPr>
        <p:spPr>
          <a:xfrm>
            <a:off x="56692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810512"/>
            <a:ext cx="54864" cy="841248"/>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Coral · human</a:t>
            </a:r>
          </a:p>
        </p:txBody>
      </p:sp>
      <p:sp>
        <p:nvSpPr>
          <p:cNvPr id="13" name="TextBox 12"/>
          <p:cNvSpPr txBox="1"/>
          <p:nvPr/>
        </p:nvSpPr>
        <p:spPr>
          <a:xfrm>
            <a:off x="82296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Product intent, final say, veto. Wrote none of the application code.</a:t>
            </a:r>
          </a:p>
        </p:txBody>
      </p:sp>
      <p:sp>
        <p:nvSpPr>
          <p:cNvPr id="14" name="Rounded Rectangle 13"/>
          <p:cNvSpPr/>
          <p:nvPr/>
        </p:nvSpPr>
        <p:spPr>
          <a:xfrm>
            <a:off x="623620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36208" y="1810512"/>
            <a:ext cx="54864" cy="84124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Master Agent  ·  .kiro/  ·  .github/</a:t>
            </a:r>
          </a:p>
        </p:txBody>
      </p:sp>
      <p:sp>
        <p:nvSpPr>
          <p:cNvPr id="17" name="TextBox 16"/>
          <p:cNvSpPr txBox="1"/>
          <p:nvPr/>
        </p:nvSpPr>
        <p:spPr>
          <a:xfrm>
            <a:off x="649224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Decomposes, delegates, reviews, merges — and posts the last word.</a:t>
            </a:r>
          </a:p>
        </p:txBody>
      </p:sp>
      <p:sp>
        <p:nvSpPr>
          <p:cNvPr id="18" name="Rounded Rectangle 17"/>
          <p:cNvSpPr/>
          <p:nvPr/>
        </p:nvSpPr>
        <p:spPr>
          <a:xfrm>
            <a:off x="566928"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System Architect</a:t>
            </a:r>
          </a:p>
        </p:txBody>
      </p:sp>
      <p:sp>
        <p:nvSpPr>
          <p:cNvPr id="21" name="Rounded Rectangle 20"/>
          <p:cNvSpPr/>
          <p:nvPr/>
        </p:nvSpPr>
        <p:spPr>
          <a:xfrm>
            <a:off x="713232"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src/shared/</a:t>
            </a:r>
          </a:p>
        </p:txBody>
      </p:sp>
      <p:sp>
        <p:nvSpPr>
          <p:cNvPr id="23" name="TextBox 22"/>
          <p:cNvSpPr txBox="1"/>
          <p:nvPr/>
        </p:nvSpPr>
        <p:spPr>
          <a:xfrm>
            <a:off x="713232"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Contracts and shared types. Writes the spec before anyone branches.</a:t>
            </a:r>
          </a:p>
        </p:txBody>
      </p:sp>
      <p:sp>
        <p:nvSpPr>
          <p:cNvPr id="24" name="Rectangle 23"/>
          <p:cNvSpPr/>
          <p:nvPr/>
        </p:nvSpPr>
        <p:spPr>
          <a:xfrm>
            <a:off x="713232"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#2 shared types · #41 category lookups · #44 preferenceCategoryCount</a:t>
            </a:r>
          </a:p>
        </p:txBody>
      </p:sp>
      <p:sp>
        <p:nvSpPr>
          <p:cNvPr id="26" name="Rounded Rectangle 25"/>
          <p:cNvSpPr/>
          <p:nvPr/>
        </p:nvSpPr>
        <p:spPr>
          <a:xfrm>
            <a:off x="2809036"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809036"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55340"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Frontend Dev</a:t>
            </a:r>
          </a:p>
        </p:txBody>
      </p:sp>
      <p:sp>
        <p:nvSpPr>
          <p:cNvPr id="29" name="Rounded Rectangle 28"/>
          <p:cNvSpPr/>
          <p:nvPr/>
        </p:nvSpPr>
        <p:spPr>
          <a:xfrm>
            <a:off x="2955340"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55340"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src/client/</a:t>
            </a:r>
          </a:p>
        </p:txBody>
      </p:sp>
      <p:sp>
        <p:nvSpPr>
          <p:cNvPr id="31" name="TextBox 30"/>
          <p:cNvSpPr txBox="1"/>
          <p:nvPr/>
        </p:nvSpPr>
        <p:spPr>
          <a:xfrm>
            <a:off x="2955340"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Components, hooks, state. Cannot touch shared types.</a:t>
            </a:r>
          </a:p>
        </p:txBody>
      </p:sp>
      <p:sp>
        <p:nvSpPr>
          <p:cNvPr id="32" name="Rectangle 31"/>
          <p:cNvSpPr/>
          <p:nvPr/>
        </p:nvSpPr>
        <p:spPr>
          <a:xfrm>
            <a:off x="2955340"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55340"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#3 chat UI · #58 Partner Profile Panel, 27 files · #65 live architecture view</a:t>
            </a:r>
          </a:p>
        </p:txBody>
      </p:sp>
      <p:sp>
        <p:nvSpPr>
          <p:cNvPr id="34" name="Rounded Rectangle 33"/>
          <p:cNvSpPr/>
          <p:nvPr/>
        </p:nvSpPr>
        <p:spPr>
          <a:xfrm>
            <a:off x="5051145"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51145"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197449"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Backend Dev</a:t>
            </a:r>
          </a:p>
        </p:txBody>
      </p:sp>
      <p:sp>
        <p:nvSpPr>
          <p:cNvPr id="37" name="Rounded Rectangle 36"/>
          <p:cNvSpPr/>
          <p:nvPr/>
        </p:nvSpPr>
        <p:spPr>
          <a:xfrm>
            <a:off x="5197449"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97449"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src/server/</a:t>
            </a:r>
          </a:p>
        </p:txBody>
      </p:sp>
      <p:sp>
        <p:nvSpPr>
          <p:cNvPr id="39" name="TextBox 38"/>
          <p:cNvSpPr txBox="1"/>
          <p:nvPr/>
        </p:nvSpPr>
        <p:spPr>
          <a:xfrm>
            <a:off x="5197449"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API, Bedrock extraction, persistence. Cannot touch the client.</a:t>
            </a:r>
          </a:p>
        </p:txBody>
      </p:sp>
      <p:sp>
        <p:nvSpPr>
          <p:cNvPr id="40" name="Rectangle 39"/>
          <p:cNvSpPr/>
          <p:nvPr/>
        </p:nvSpPr>
        <p:spPr>
          <a:xfrm>
            <a:off x="5197449"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97449"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#4 API and orchestrator · #15 real Bedrock SDK · #64 demo seeding and reset</a:t>
            </a:r>
          </a:p>
        </p:txBody>
      </p:sp>
      <p:sp>
        <p:nvSpPr>
          <p:cNvPr id="42" name="Rounded Rectangle 41"/>
          <p:cNvSpPr/>
          <p:nvPr/>
        </p:nvSpPr>
        <p:spPr>
          <a:xfrm>
            <a:off x="7293254"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293254"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39558"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UI Designer</a:t>
            </a:r>
          </a:p>
        </p:txBody>
      </p:sp>
      <p:sp>
        <p:nvSpPr>
          <p:cNvPr id="45" name="Rounded Rectangle 44"/>
          <p:cNvSpPr/>
          <p:nvPr/>
        </p:nvSpPr>
        <p:spPr>
          <a:xfrm>
            <a:off x="7439558"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39558"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design-system/</a:t>
            </a:r>
          </a:p>
        </p:txBody>
      </p:sp>
      <p:sp>
        <p:nvSpPr>
          <p:cNvPr id="47" name="TextBox 46"/>
          <p:cNvSpPr txBox="1"/>
          <p:nvPr/>
        </p:nvSpPr>
        <p:spPr>
          <a:xfrm>
            <a:off x="7439558"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Tokens, accessibility, eight real mockups to choose from.</a:t>
            </a:r>
          </a:p>
        </p:txBody>
      </p:sp>
      <p:sp>
        <p:nvSpPr>
          <p:cNvPr id="48" name="Rectangle 47"/>
          <p:cNvSpPr/>
          <p:nvPr/>
        </p:nvSpPr>
        <p:spPr>
          <a:xfrm>
            <a:off x="7439558"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39558"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#16 refined palette · #22 component pass · 8 mockups, one shipped</a:t>
            </a:r>
          </a:p>
        </p:txBody>
      </p:sp>
      <p:sp>
        <p:nvSpPr>
          <p:cNvPr id="50" name="Rounded Rectangle 49"/>
          <p:cNvSpPr/>
          <p:nvPr/>
        </p:nvSpPr>
        <p:spPr>
          <a:xfrm>
            <a:off x="9535363"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535363"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681667"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QA Agent</a:t>
            </a:r>
          </a:p>
        </p:txBody>
      </p:sp>
      <p:sp>
        <p:nvSpPr>
          <p:cNvPr id="53" name="Rounded Rectangle 52"/>
          <p:cNvSpPr/>
          <p:nvPr/>
        </p:nvSpPr>
        <p:spPr>
          <a:xfrm>
            <a:off x="9681667"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681667"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e2e/</a:t>
            </a:r>
          </a:p>
        </p:txBody>
      </p:sp>
      <p:sp>
        <p:nvSpPr>
          <p:cNvPr id="55" name="TextBox 54"/>
          <p:cNvSpPr txBox="1"/>
          <p:nvPr/>
        </p:nvSpPr>
        <p:spPr>
          <a:xfrm>
            <a:off x="9681667"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Playwright E2E and regression coverage. Cannot touch src at all.</a:t>
            </a:r>
          </a:p>
        </p:txBody>
      </p:sp>
      <p:sp>
        <p:nvSpPr>
          <p:cNvPr id="56" name="Rectangle 55"/>
          <p:cNvSpPr/>
          <p:nvPr/>
        </p:nvSpPr>
        <p:spPr>
          <a:xfrm>
            <a:off x="9681667"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681667"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#8 onboarding and responsive · 5 PRs purely for coverage · 376 tests green</a:t>
            </a:r>
          </a:p>
        </p:txBody>
      </p:sp>
      <p:sp>
        <p:nvSpPr>
          <p:cNvPr id="58" name="TextBox 57"/>
          <p:cNvSpPr txBox="1"/>
          <p:nvPr/>
        </p:nvSpPr>
        <p:spPr>
          <a:xfrm>
            <a:off x="566928" y="5285232"/>
            <a:ext cx="11064240" cy="512064"/>
          </a:xfrm>
          <a:prstGeom prst="rect">
            <a:avLst/>
          </a:prstGeom>
          <a:noFill/>
        </p:spPr>
        <p:txBody>
          <a:bodyPr wrap="square" lIns="0" tIns="0" rIns="0" bIns="0" anchor="t">
            <a:spAutoFit/>
          </a:bodyPr>
          <a:lstStyle/>
          <a:p>
            <a:pPr algn="l"/>
            <a:r>
              <a:rPr sz="1100" b="0">
                <a:solidFill>
                  <a:srgbClr val="545B64"/>
                </a:solidFill>
                <a:latin typeface="Calibri"/>
              </a:rPr>
              <a:t>Each is a prompt file in .kiro/agents/ with a voice exemplar and an explicit do-not-modify list. Disjoint ownership is what keeps five agents editing at once from being a merge-conflict generator.</a:t>
            </a:r>
          </a:p>
        </p:txBody>
      </p:sp>
      <p:sp>
        <p:nvSpPr>
          <p:cNvPr id="59" name="Rounded Rectangle 58"/>
          <p:cNvSpPr/>
          <p:nvPr/>
        </p:nvSpPr>
        <p:spPr>
          <a:xfrm>
            <a:off x="566928" y="5870448"/>
            <a:ext cx="11064240" cy="384048"/>
          </a:xfrm>
          <a:prstGeom prst="roundRect">
            <a:avLst>
              <a:gd name="adj" fmla="val 2380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8096" y="5870448"/>
            <a:ext cx="10661904" cy="384048"/>
          </a:xfrm>
          <a:prstGeom prst="rect">
            <a:avLst/>
          </a:prstGeom>
          <a:noFill/>
        </p:spPr>
        <p:txBody>
          <a:bodyPr wrap="square" lIns="0" tIns="0" rIns="0" bIns="0" anchor="ctr">
            <a:spAutoFit/>
          </a:bodyPr>
          <a:lstStyle/>
          <a:p>
            <a:pPr algn="l"/>
            <a:r>
              <a:rPr sz="1100" b="1">
                <a:solidFill>
                  <a:srgbClr val="232F3E"/>
                </a:solidFill>
                <a:latin typeface="Calibri"/>
              </a:rPr>
              <a:t>57 pull requests  ·  49 merged  ·  93 review comments  ·  </a:t>
            </a:r>
            <a:r>
              <a:rPr sz="1100" b="0">
                <a:solidFill>
                  <a:srgbClr val="232F3E"/>
                </a:solidFill>
                <a:latin typeface="Calibri"/>
              </a:rPr>
              <a:t>I wrote none of the application code.</a:t>
            </a:r>
          </a:p>
        </p:txBody>
      </p:sp>
      <p:sp>
        <p:nvSpPr>
          <p:cNvPr id="61" name="Rounded Rectangle 60">
            <a:extLst>
              <a:ext uri="{FF2B5EF4-FFF2-40B4-BE49-F238E27FC236}">
                <a16:creationId xmlns:a16="http://schemas.microsoft.com/office/drawing/2014/main" id="{681E6B9F-A12F-11AD-EA98-6F20384615ED}"/>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Take the old cutest version with the icons and </a:t>
            </a:r>
            <a:r>
              <a:rPr lang="he-IL" dirty="0">
                <a:solidFill>
                  <a:srgbClr val="FF0000"/>
                </a:solidFill>
                <a:highlight>
                  <a:srgbClr val="FFFF00"/>
                </a:highlight>
              </a:rPr>
              <a:t>אילן יוחסין</a:t>
            </a:r>
            <a:r>
              <a:rPr lang="en-US" dirty="0">
                <a:solidFill>
                  <a:srgbClr val="FF0000"/>
                </a:solidFill>
                <a:highlight>
                  <a:srgbClr val="FFFF00"/>
                </a:highlight>
              </a:rPr>
              <a:t>of the old one</a:t>
            </a:r>
            <a:endParaRPr dirty="0">
              <a:solidFill>
                <a:srgbClr val="FF0000"/>
              </a:solidFill>
              <a:highlight>
                <a:srgbClr val="FFFF00"/>
              </a:high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16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Every node is a real pull request</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Fifty-seven of them, in the order they were opened, connected to where they merged.</a:t>
            </a:r>
          </a:p>
        </p:txBody>
      </p:sp>
      <p:sp>
        <p:nvSpPr>
          <p:cNvPr id="10" name="Rounded Rectangle 9"/>
          <p:cNvSpPr/>
          <p:nvPr/>
        </p:nvSpPr>
        <p:spPr>
          <a:xfrm>
            <a:off x="566928"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57</a:t>
            </a:r>
          </a:p>
        </p:txBody>
      </p:sp>
      <p:sp>
        <p:nvSpPr>
          <p:cNvPr id="12" name="TextBox 11"/>
          <p:cNvSpPr txBox="1"/>
          <p:nvPr/>
        </p:nvSpPr>
        <p:spPr>
          <a:xfrm>
            <a:off x="1627631"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pull requests</a:t>
            </a:r>
          </a:p>
        </p:txBody>
      </p:sp>
      <p:sp>
        <p:nvSpPr>
          <p:cNvPr id="13" name="TextBox 12"/>
          <p:cNvSpPr txBox="1"/>
          <p:nvPr/>
        </p:nvSpPr>
        <p:spPr>
          <a:xfrm>
            <a:off x="731520"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49 merged · 7 closed · 1 open</a:t>
            </a:r>
          </a:p>
        </p:txBody>
      </p:sp>
      <p:sp>
        <p:nvSpPr>
          <p:cNvPr id="14" name="Rounded Rectangle 13"/>
          <p:cNvSpPr/>
          <p:nvPr/>
        </p:nvSpPr>
        <p:spPr>
          <a:xfrm>
            <a:off x="3369564"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4156"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176</a:t>
            </a:r>
          </a:p>
        </p:txBody>
      </p:sp>
      <p:sp>
        <p:nvSpPr>
          <p:cNvPr id="16" name="TextBox 15"/>
          <p:cNvSpPr txBox="1"/>
          <p:nvPr/>
        </p:nvSpPr>
        <p:spPr>
          <a:xfrm>
            <a:off x="4430268"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commits</a:t>
            </a:r>
          </a:p>
        </p:txBody>
      </p:sp>
      <p:sp>
        <p:nvSpPr>
          <p:cNvPr id="17" name="TextBox 16"/>
          <p:cNvSpPr txBox="1"/>
          <p:nvPr/>
        </p:nvSpPr>
        <p:spPr>
          <a:xfrm>
            <a:off x="3534156"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+34,549 lines, 436 files</a:t>
            </a:r>
          </a:p>
        </p:txBody>
      </p:sp>
      <p:sp>
        <p:nvSpPr>
          <p:cNvPr id="18" name="Rounded Rectangle 17"/>
          <p:cNvSpPr/>
          <p:nvPr/>
        </p:nvSpPr>
        <p:spPr>
          <a:xfrm>
            <a:off x="6172200"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6792"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93</a:t>
            </a:r>
          </a:p>
        </p:txBody>
      </p:sp>
      <p:sp>
        <p:nvSpPr>
          <p:cNvPr id="20" name="TextBox 19"/>
          <p:cNvSpPr txBox="1"/>
          <p:nvPr/>
        </p:nvSpPr>
        <p:spPr>
          <a:xfrm>
            <a:off x="7232904"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review comments</a:t>
            </a:r>
          </a:p>
        </p:txBody>
      </p:sp>
      <p:sp>
        <p:nvSpPr>
          <p:cNvPr id="21" name="TextBox 20"/>
          <p:cNvSpPr txBox="1"/>
          <p:nvPr/>
        </p:nvSpPr>
        <p:spPr>
          <a:xfrm>
            <a:off x="6336792"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longest threads run dozens deep</a:t>
            </a:r>
          </a:p>
        </p:txBody>
      </p:sp>
      <p:sp>
        <p:nvSpPr>
          <p:cNvPr id="22" name="Rounded Rectangle 21"/>
          <p:cNvSpPr/>
          <p:nvPr/>
        </p:nvSpPr>
        <p:spPr>
          <a:xfrm>
            <a:off x="8974836"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39428"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32</a:t>
            </a:r>
          </a:p>
        </p:txBody>
      </p:sp>
      <p:sp>
        <p:nvSpPr>
          <p:cNvPr id="24" name="TextBox 23"/>
          <p:cNvSpPr txBox="1"/>
          <p:nvPr/>
        </p:nvSpPr>
        <p:spPr>
          <a:xfrm>
            <a:off x="10035540"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workflow PRs</a:t>
            </a:r>
          </a:p>
        </p:txBody>
      </p:sp>
      <p:sp>
        <p:nvSpPr>
          <p:cNvPr id="25" name="TextBox 24"/>
          <p:cNvSpPr txBox="1"/>
          <p:nvPr/>
        </p:nvSpPr>
        <p:spPr>
          <a:xfrm>
            <a:off x="9139428"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the methodology is the biggest lane</a:t>
            </a:r>
          </a:p>
        </p:txBody>
      </p:sp>
      <p:sp>
        <p:nvSpPr>
          <p:cNvPr id="26" name="TextBox 25"/>
          <p:cNvSpPr txBox="1"/>
          <p:nvPr/>
        </p:nvSpPr>
        <p:spPr>
          <a:xfrm>
            <a:off x="566928" y="5888736"/>
            <a:ext cx="11064240" cy="475488"/>
          </a:xfrm>
          <a:prstGeom prst="rect">
            <a:avLst/>
          </a:prstGeom>
          <a:noFill/>
        </p:spPr>
        <p:txBody>
          <a:bodyPr wrap="square" lIns="0" tIns="0" rIns="0" bIns="0" anchor="t">
            <a:spAutoFit/>
          </a:bodyPr>
          <a:lstStyle/>
          <a:p>
            <a:pPr algn="l"/>
            <a:r>
              <a:rPr sz="1050" b="0">
                <a:solidFill>
                  <a:srgbClr val="545B64"/>
                </a:solidFill>
                <a:latin typeface="Calibri"/>
              </a:rPr>
              <a:t>Generated from the repo’s PR history by a script, so it cannot drift. Node size is files changed; a ring means a genuine multi-agent review thread; the axis is PR order, not a calendar. At the peak, five PRs were open at once.</a:t>
            </a:r>
          </a:p>
        </p:txBody>
      </p:sp>
      <p:sp>
        <p:nvSpPr>
          <p:cNvPr id="27" name="TextBox 26"/>
          <p:cNvSpPr txBox="1"/>
          <p:nvPr/>
        </p:nvSpPr>
        <p:spPr>
          <a:xfrm>
            <a:off x="566928" y="1792224"/>
            <a:ext cx="11064240" cy="256032"/>
          </a:xfrm>
          <a:prstGeom prst="rect">
            <a:avLst/>
          </a:prstGeom>
          <a:noFill/>
        </p:spPr>
        <p:txBody>
          <a:bodyPr wrap="square" lIns="0" tIns="0" rIns="0" bIns="0" anchor="ctr">
            <a:spAutoFit/>
          </a:bodyPr>
          <a:lstStyle/>
          <a:p>
            <a:pPr algn="l"/>
            <a:r>
              <a:rPr sz="1050" b="0">
                <a:solidFill>
                  <a:srgbClr val="545B64"/>
                </a:solidFill>
                <a:latin typeface="Calibri"/>
              </a:rPr>
              <a:t>node size = files changed   ·   ring = a genuine multi-agent review thread   ·   dashed = reviewed, then closed without merging   ·   left to right = the order the PRs were opened</a:t>
            </a:r>
          </a:p>
        </p:txBody>
      </p:sp>
      <p:sp>
        <p:nvSpPr>
          <p:cNvPr id="28" name="TextBox 27"/>
          <p:cNvSpPr txBox="1"/>
          <p:nvPr/>
        </p:nvSpPr>
        <p:spPr>
          <a:xfrm>
            <a:off x="566928" y="2447773"/>
            <a:ext cx="1207008" cy="237744"/>
          </a:xfrm>
          <a:prstGeom prst="rect">
            <a:avLst/>
          </a:prstGeom>
          <a:noFill/>
        </p:spPr>
        <p:txBody>
          <a:bodyPr wrap="square" lIns="0" tIns="0" rIns="0" bIns="0" anchor="ctr">
            <a:spAutoFit/>
          </a:bodyPr>
          <a:lstStyle/>
          <a:p>
            <a:pPr algn="r"/>
            <a:r>
              <a:rPr sz="1000" b="1">
                <a:solidFill>
                  <a:srgbClr val="232F3E"/>
                </a:solidFill>
                <a:latin typeface="Calibri"/>
              </a:rPr>
              <a:t>Master Agent</a:t>
            </a:r>
          </a:p>
        </p:txBody>
      </p:sp>
      <p:sp>
        <p:nvSpPr>
          <p:cNvPr id="29" name="TextBox 28"/>
          <p:cNvSpPr txBox="1"/>
          <p:nvPr/>
        </p:nvSpPr>
        <p:spPr>
          <a:xfrm>
            <a:off x="566928" y="2733176"/>
            <a:ext cx="1207008" cy="237744"/>
          </a:xfrm>
          <a:prstGeom prst="rect">
            <a:avLst/>
          </a:prstGeom>
          <a:noFill/>
        </p:spPr>
        <p:txBody>
          <a:bodyPr wrap="square" lIns="0" tIns="0" rIns="0" bIns="0" anchor="ctr">
            <a:spAutoFit/>
          </a:bodyPr>
          <a:lstStyle/>
          <a:p>
            <a:pPr algn="r"/>
            <a:r>
              <a:rPr sz="1000" b="1">
                <a:solidFill>
                  <a:srgbClr val="232F3E"/>
                </a:solidFill>
                <a:latin typeface="Calibri"/>
              </a:rPr>
              <a:t>System Architect</a:t>
            </a:r>
          </a:p>
        </p:txBody>
      </p:sp>
      <p:sp>
        <p:nvSpPr>
          <p:cNvPr id="30" name="TextBox 29"/>
          <p:cNvSpPr txBox="1"/>
          <p:nvPr/>
        </p:nvSpPr>
        <p:spPr>
          <a:xfrm>
            <a:off x="566928" y="3018578"/>
            <a:ext cx="1207008" cy="237744"/>
          </a:xfrm>
          <a:prstGeom prst="rect">
            <a:avLst/>
          </a:prstGeom>
          <a:noFill/>
        </p:spPr>
        <p:txBody>
          <a:bodyPr wrap="square" lIns="0" tIns="0" rIns="0" bIns="0" anchor="ctr">
            <a:spAutoFit/>
          </a:bodyPr>
          <a:lstStyle/>
          <a:p>
            <a:pPr algn="r"/>
            <a:r>
              <a:rPr sz="1000" b="1">
                <a:solidFill>
                  <a:srgbClr val="232F3E"/>
                </a:solidFill>
                <a:latin typeface="Calibri"/>
              </a:rPr>
              <a:t>Frontend Dev</a:t>
            </a:r>
          </a:p>
        </p:txBody>
      </p:sp>
      <p:sp>
        <p:nvSpPr>
          <p:cNvPr id="31" name="TextBox 30"/>
          <p:cNvSpPr txBox="1"/>
          <p:nvPr/>
        </p:nvSpPr>
        <p:spPr>
          <a:xfrm>
            <a:off x="566928" y="3303981"/>
            <a:ext cx="1207008" cy="237744"/>
          </a:xfrm>
          <a:prstGeom prst="rect">
            <a:avLst/>
          </a:prstGeom>
          <a:noFill/>
        </p:spPr>
        <p:txBody>
          <a:bodyPr wrap="square" lIns="0" tIns="0" rIns="0" bIns="0" anchor="ctr">
            <a:spAutoFit/>
          </a:bodyPr>
          <a:lstStyle/>
          <a:p>
            <a:pPr algn="r"/>
            <a:r>
              <a:rPr sz="1000" b="1">
                <a:solidFill>
                  <a:srgbClr val="232F3E"/>
                </a:solidFill>
                <a:latin typeface="Calibri"/>
              </a:rPr>
              <a:t>Backend Dev</a:t>
            </a:r>
          </a:p>
        </p:txBody>
      </p:sp>
      <p:sp>
        <p:nvSpPr>
          <p:cNvPr id="32" name="TextBox 31"/>
          <p:cNvSpPr txBox="1"/>
          <p:nvPr/>
        </p:nvSpPr>
        <p:spPr>
          <a:xfrm>
            <a:off x="566928" y="3589383"/>
            <a:ext cx="1207008" cy="237744"/>
          </a:xfrm>
          <a:prstGeom prst="rect">
            <a:avLst/>
          </a:prstGeom>
          <a:noFill/>
        </p:spPr>
        <p:txBody>
          <a:bodyPr wrap="square" lIns="0" tIns="0" rIns="0" bIns="0" anchor="ctr">
            <a:spAutoFit/>
          </a:bodyPr>
          <a:lstStyle/>
          <a:p>
            <a:pPr algn="r"/>
            <a:r>
              <a:rPr sz="1000" b="1">
                <a:solidFill>
                  <a:srgbClr val="232F3E"/>
                </a:solidFill>
                <a:latin typeface="Calibri"/>
              </a:rPr>
              <a:t>UI Designer</a:t>
            </a:r>
          </a:p>
        </p:txBody>
      </p:sp>
      <p:sp>
        <p:nvSpPr>
          <p:cNvPr id="33" name="TextBox 32"/>
          <p:cNvSpPr txBox="1"/>
          <p:nvPr/>
        </p:nvSpPr>
        <p:spPr>
          <a:xfrm>
            <a:off x="566928" y="3874786"/>
            <a:ext cx="1207008" cy="237744"/>
          </a:xfrm>
          <a:prstGeom prst="rect">
            <a:avLst/>
          </a:prstGeom>
          <a:noFill/>
        </p:spPr>
        <p:txBody>
          <a:bodyPr wrap="square" lIns="0" tIns="0" rIns="0" bIns="0" anchor="ctr">
            <a:spAutoFit/>
          </a:bodyPr>
          <a:lstStyle/>
          <a:p>
            <a:pPr algn="r"/>
            <a:r>
              <a:rPr sz="1000" b="1">
                <a:solidFill>
                  <a:srgbClr val="232F3E"/>
                </a:solidFill>
                <a:latin typeface="Calibri"/>
              </a:rPr>
              <a:t>QA Agent</a:t>
            </a:r>
          </a:p>
        </p:txBody>
      </p:sp>
      <p:sp>
        <p:nvSpPr>
          <p:cNvPr id="34" name="TextBox 33"/>
          <p:cNvSpPr txBox="1"/>
          <p:nvPr/>
        </p:nvSpPr>
        <p:spPr>
          <a:xfrm>
            <a:off x="566928" y="4160189"/>
            <a:ext cx="1207008" cy="237744"/>
          </a:xfrm>
          <a:prstGeom prst="rect">
            <a:avLst/>
          </a:prstGeom>
          <a:noFill/>
        </p:spPr>
        <p:txBody>
          <a:bodyPr wrap="square" lIns="0" tIns="0" rIns="0" bIns="0" anchor="ctr">
            <a:spAutoFit/>
          </a:bodyPr>
          <a:lstStyle/>
          <a:p>
            <a:pPr algn="r"/>
            <a:r>
              <a:rPr sz="1000" b="1">
                <a:solidFill>
                  <a:srgbClr val="232F3E"/>
                </a:solidFill>
                <a:latin typeface="Calibri"/>
              </a:rPr>
              <a:t>Infra / Workflow</a:t>
            </a:r>
          </a:p>
        </p:txBody>
      </p:sp>
      <p:pic>
        <p:nvPicPr>
          <p:cNvPr id="35" name="Picture 2" descr="How I built it: the work. Every node is a real pull request, in the order it was opened, joined to where it merged."/>
          <p:cNvPicPr>
            <a:picLocks noChangeAspect="1"/>
          </p:cNvPicPr>
          <p:nvPr/>
        </p:nvPicPr>
        <p:blipFill>
          <a:blip r:embed="rId3"/>
          <a:srcRect l="18833" t="31361" r="12083" b="40385"/>
          <a:stretch>
            <a:fillRect/>
          </a:stretch>
        </p:blipFill>
        <p:spPr>
          <a:xfrm>
            <a:off x="1874519" y="2148840"/>
            <a:ext cx="9756648" cy="224791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16</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17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0784"/>
            <a:ext cx="420624" cy="804672"/>
          </a:xfrm>
          <a:prstGeom prst="rect">
            <a:avLst/>
          </a:prstGeom>
          <a:noFill/>
        </p:spPr>
        <p:txBody>
          <a:bodyPr wrap="square" lIns="0" tIns="0" rIns="0" bIns="0" anchor="ctr">
            <a:spAutoFit/>
          </a:bodyPr>
          <a:lstStyle/>
          <a:p>
            <a:pPr algn="ctr"/>
            <a:r>
              <a:rPr sz="2000" b="1">
                <a:solidFill>
                  <a:srgbClr val="FF9900"/>
                </a:solidFill>
                <a:latin typeface="Calibri"/>
              </a:rPr>
              <a:t>1</a:t>
            </a:r>
          </a:p>
        </p:txBody>
      </p:sp>
      <p:sp>
        <p:nvSpPr>
          <p:cNvPr id="13" name="TextBox 12"/>
          <p:cNvSpPr txBox="1"/>
          <p:nvPr/>
        </p:nvSpPr>
        <p:spPr>
          <a:xfrm>
            <a:off x="1207008" y="1718399"/>
            <a:ext cx="10277856" cy="769441"/>
          </a:xfrm>
          <a:prstGeom prst="rect">
            <a:avLst/>
          </a:prstGeom>
          <a:noFill/>
        </p:spPr>
        <p:txBody>
          <a:bodyPr wrap="square" lIns="0" tIns="0" rIns="0" bIns="0" anchor="ctr">
            <a:spAutoFit/>
          </a:bodyPr>
          <a:lstStyle/>
          <a:p>
            <a:r>
              <a:rPr lang="en-US" sz="1250" b="1" dirty="0">
                <a:solidFill>
                  <a:srgbClr val="232F3E"/>
                </a:solidFill>
              </a:rPr>
              <a:t>It's easy to gate “the service is up,” hard to gate “the LLM works.”  A missing Bedrock permission still returned a polite fallback with HTTP 200. A “#” in the actorId made Memory store nothing at all while the chat carried on cheerfully. Neither tripped a health check — only a live conversation that asserted on what the agent actually remembered caught them.</a:t>
            </a:r>
            <a:endParaRPr sz="1250" b="0" dirty="0">
              <a:solidFill>
                <a:srgbClr val="16191F"/>
              </a:solidFill>
              <a:latin typeface="Calibri"/>
            </a:endParaRP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808767"/>
            <a:ext cx="420624" cy="307777"/>
          </a:xfrm>
          <a:prstGeom prst="rect">
            <a:avLst/>
          </a:prstGeom>
          <a:noFill/>
        </p:spPr>
        <p:txBody>
          <a:bodyPr wrap="square" lIns="0" tIns="0" rIns="0" bIns="0" anchor="ctr">
            <a:spAutoFit/>
          </a:bodyPr>
          <a:lstStyle/>
          <a:p>
            <a:pPr algn="ctr"/>
            <a:r>
              <a:rPr sz="2000" b="1">
                <a:solidFill>
                  <a:srgbClr val="FF9900"/>
                </a:solidFill>
                <a:highlight>
                  <a:srgbClr val="FFFF00"/>
                </a:highlight>
                <a:latin typeface="Calibri"/>
              </a:rPr>
              <a:t>2</a:t>
            </a:r>
          </a:p>
        </p:txBody>
      </p:sp>
      <p:sp>
        <p:nvSpPr>
          <p:cNvPr id="17" name="TextBox 16"/>
          <p:cNvSpPr txBox="1"/>
          <p:nvPr/>
        </p:nvSpPr>
        <p:spPr>
          <a:xfrm>
            <a:off x="1207008" y="2866475"/>
            <a:ext cx="10277856" cy="192360"/>
          </a:xfrm>
          <a:prstGeom prst="rect">
            <a:avLst/>
          </a:prstGeom>
          <a:noFill/>
        </p:spPr>
        <p:txBody>
          <a:bodyPr wrap="square" lIns="0" tIns="0" rIns="0" bIns="0" anchor="ctr">
            <a:spAutoFit/>
          </a:bodyPr>
          <a:lstStyle/>
          <a:p>
            <a:r>
              <a:rPr lang="en-US" sz="1250" b="1" dirty="0" err="1">
                <a:solidFill>
                  <a:srgbClr val="232F3E"/>
                </a:solidFill>
              </a:rPr>
              <a:t>[ 2 — TO WRITE: choose from the options in the review notes ]</a:t>
            </a:r>
            <a:endParaRPr lang="en-US" sz="1250" dirty="0">
              <a:solidFill>
                <a:srgbClr val="16191F"/>
              </a:solidFill>
            </a:endParaRP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668303"/>
            <a:ext cx="420624" cy="307777"/>
          </a:xfrm>
          <a:prstGeom prst="rect">
            <a:avLst/>
          </a:prstGeom>
          <a:noFill/>
        </p:spPr>
        <p:txBody>
          <a:bodyPr wrap="square" lIns="0" tIns="0" rIns="0" bIns="0" anchor="ctr">
            <a:spAutoFit/>
          </a:bodyPr>
          <a:lstStyle/>
          <a:p>
            <a:pPr algn="ctr"/>
            <a:r>
              <a:rPr sz="2000" b="1" dirty="0">
                <a:solidFill>
                  <a:srgbClr val="FF9900"/>
                </a:solidFill>
                <a:highlight>
                  <a:srgbClr val="FFFF00"/>
                </a:highlight>
                <a:latin typeface="Calibri"/>
              </a:rPr>
              <a:t>3</a:t>
            </a: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279392"/>
            <a:ext cx="420624" cy="804672"/>
          </a:xfrm>
          <a:prstGeom prst="rect">
            <a:avLst/>
          </a:prstGeom>
          <a:noFill/>
        </p:spPr>
        <p:txBody>
          <a:bodyPr wrap="square" lIns="0" tIns="0" r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tIns="0" rIns="0" bIns="0" anchor="ctr">
            <a:spAutoFit/>
          </a:bodyPr>
          <a:lstStyle/>
          <a:p>
            <a:pPr algn="l"/>
            <a:r>
              <a:rPr sz="1250" b="1" dirty="0">
                <a:solidFill>
                  <a:srgbClr val="232F3E"/>
                </a:solidFill>
                <a:latin typeface="Calibri"/>
              </a:rPr>
              <a:t>The strongest case for AgentCore may be blast radius rather than the bill.  In-process, one crashed tool can take every session with it, and a single shared IAM role means a prompt injection reaches everything that role can touch. Behind Gateway each tool is its own Lambda with its own role, so a fault or a hijack should stay contained to one tool — though I never tried to breach it, and the managed boundary is one I cannot inspect.</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138928"/>
            <a:ext cx="420624" cy="804672"/>
          </a:xfrm>
          <a:prstGeom prst="rect">
            <a:avLst/>
          </a:prstGeom>
          <a:noFill/>
        </p:spPr>
        <p:txBody>
          <a:bodyPr wrap="square" lIns="0" tIns="0" rIns="0" bIns="0" anchor="ctr">
            <a:spAutoFit/>
          </a:bodyPr>
          <a:lstStyle/>
          <a:p>
            <a:pPr algn="ctr"/>
            <a:r>
              <a:rPr sz="2000" b="1">
                <a:solidFill>
                  <a:srgbClr val="FF9900"/>
                </a:solidFill>
                <a:latin typeface="Calibri"/>
              </a:rPr>
              <a:t>5</a:t>
            </a:r>
          </a:p>
        </p:txBody>
      </p:sp>
      <p:sp>
        <p:nvSpPr>
          <p:cNvPr id="29" name="TextBox 28"/>
          <p:cNvSpPr txBox="1"/>
          <p:nvPr/>
        </p:nvSpPr>
        <p:spPr>
          <a:xfrm>
            <a:off x="1207008" y="5348904"/>
            <a:ext cx="10277856" cy="384721"/>
          </a:xfrm>
          <a:prstGeom prst="rect">
            <a:avLst/>
          </a:prstGeom>
          <a:noFill/>
        </p:spPr>
        <p:txBody>
          <a:bodyPr wrap="square" lIns="0" tIns="0" rIns="0" bIns="0" anchor="ctr">
            <a:spAutoFit/>
          </a:bodyPr>
          <a:lstStyle/>
          <a:p>
            <a:r>
              <a:rPr lang="en-US" sz="1250" b="1" dirty="0">
                <a:solidFill>
                  <a:srgbClr val="232F3E"/>
                </a:solidFill>
              </a:rPr>
              <a:t>Most of the tokens went to the workflow, not the code.  </a:t>
            </a:r>
            <a:r>
              <a:rPr lang="en-US" sz="1250" dirty="0">
                <a:solidFill>
                  <a:srgbClr val="16191F"/>
                </a:solidFill>
              </a:rPr>
              <a:t>31 of 56 PRs built the factory — specs, review loops, merge gates, regression tests for the automation itself. That is what made the other 25 safe to merge.</a:t>
            </a:r>
          </a:p>
        </p:txBody>
      </p:sp>
      <p:sp>
        <p:nvSpPr>
          <p:cNvPr id="32" name="Rounded Rectangle 31">
            <a:extLst>
              <a:ext uri="{FF2B5EF4-FFF2-40B4-BE49-F238E27FC236}">
                <a16:creationId xmlns:a16="http://schemas.microsoft.com/office/drawing/2014/main" id="{402AD38E-DC4D-A140-22B5-6A487B43FE7A}"/>
              </a:ext>
            </a:extLst>
          </p:cNvPr>
          <p:cNvSpPr/>
          <p:nvPr/>
        </p:nvSpPr>
        <p:spPr>
          <a:xfrm>
            <a:off x="-2695435" y="4419705"/>
            <a:ext cx="3180067" cy="664359"/>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Make it les confident and nuanced</a:t>
            </a:r>
            <a:endParaRPr dirty="0">
              <a:solidFill>
                <a:srgbClr val="FF0000"/>
              </a:solidFill>
              <a:highlight>
                <a:srgbClr val="FFFF00"/>
              </a:highlight>
            </a:endParaRPr>
          </a:p>
        </p:txBody>
      </p:sp>
      <p:sp>
        <p:nvSpPr>
          <p:cNvPr id="33" name="Rounded Rectangle 32">
            <a:extLst>
              <a:ext uri="{FF2B5EF4-FFF2-40B4-BE49-F238E27FC236}">
                <a16:creationId xmlns:a16="http://schemas.microsoft.com/office/drawing/2014/main" id="{0732CA8B-D09E-2205-00B2-3EFD8C0096D4}"/>
              </a:ext>
            </a:extLst>
          </p:cNvPr>
          <p:cNvSpPr/>
          <p:nvPr/>
        </p:nvSpPr>
        <p:spPr>
          <a:xfrm>
            <a:off x="-2759443" y="1700784"/>
            <a:ext cx="3180067" cy="664359"/>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A good one refine it</a:t>
            </a:r>
            <a:endParaRPr dirty="0">
              <a:solidFill>
                <a:srgbClr val="FF0000"/>
              </a:solidFill>
              <a:highlight>
                <a:srgbClr val="FFFF00"/>
              </a:highlight>
            </a:endParaRPr>
          </a:p>
        </p:txBody>
      </p:sp>
      <p:sp>
        <p:nvSpPr>
          <p:cNvPr id="34" name="Rounded Rectangle 33">
            <a:extLst>
              <a:ext uri="{FF2B5EF4-FFF2-40B4-BE49-F238E27FC236}">
                <a16:creationId xmlns:a16="http://schemas.microsoft.com/office/drawing/2014/main" id="{B61AFBC0-1838-9A5F-C8A5-BB2AD13A8274}"/>
              </a:ext>
            </a:extLst>
          </p:cNvPr>
          <p:cNvSpPr/>
          <p:nvPr/>
        </p:nvSpPr>
        <p:spPr>
          <a:xfrm>
            <a:off x="1800345" y="2658580"/>
            <a:ext cx="3180067" cy="152937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Make a list of options to 2 and 3</a:t>
            </a:r>
            <a:endParaRPr dirty="0">
              <a:solidFill>
                <a:srgbClr val="FF0000"/>
              </a:solidFill>
              <a:highlight>
                <a:srgbClr val="FFFF00"/>
              </a:highlight>
            </a:endParaRPr>
          </a:p>
        </p:txBody>
      </p:sp>
      <p:sp>
        <p:nvSpPr>
          <p:cNvPr id="35" name="TextBox 34"/>
          <p:cNvSpPr txBox="1"/>
          <p:nvPr/>
        </p:nvSpPr>
        <p:spPr>
          <a:xfrm>
            <a:off x="1188720" y="3749039"/>
            <a:ext cx="10241280" cy="219456"/>
          </a:xfrm>
          <a:prstGeom prst="rect">
            <a:avLst/>
          </a:prstGeom>
          <a:noFill/>
        </p:spPr>
        <p:txBody>
          <a:bodyPr wrap="square" lIns="0" tIns="0" rIns="0" bIns="0" anchor="t">
            <a:spAutoFit/>
          </a:bodyPr>
          <a:lstStyle/>
          <a:p>
            <a:pPr algn="l">
              <a:spcAft>
                <a:spcPts val="200"/>
              </a:spcAft>
            </a:pPr>
            <a:r>
              <a:rPr sz="1000" b="0">
                <a:solidFill>
                  <a:srgbClr val="545B64"/>
                </a:solidFill>
                <a:latin typeface="Calibri"/>
              </a:rPr>
              <a:t>[ 3 — TO WRITE: choose from the options in the review notes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8078</TotalTime>
  <Words>9714</Words>
  <Application>Microsoft Macintosh PowerPoint</Application>
  <PresentationFormat>Widescreen</PresentationFormat>
  <Paragraphs>1139</Paragraphs>
  <Slides>30</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Consolas</vt:lpstr>
      <vt:lpstr>Lato</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12</cp:revision>
  <dcterms:created xsi:type="dcterms:W3CDTF">2013-01-27T09:14:16Z</dcterms:created>
  <dcterms:modified xsi:type="dcterms:W3CDTF">2026-09-12T12:02:42Z</dcterms:modified>
  <cp:category/>
</cp:coreProperties>
</file>