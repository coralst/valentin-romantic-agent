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93" r:id="rId5"/>
    <p:sldId id="259" r:id="rId6"/>
    <p:sldId id="294" r:id="rId7"/>
    <p:sldId id="281" r:id="rId8"/>
    <p:sldId id="295" r:id="rId9"/>
    <p:sldId id="290" r:id="rId10"/>
    <p:sldId id="291" r:id="rId11"/>
    <p:sldId id="292" r:id="rId12"/>
    <p:sldId id="283" r:id="rId13"/>
    <p:sldId id="287" r:id="rId14"/>
    <p:sldId id="284" r:id="rId15"/>
    <p:sldId id="285" r:id="rId16"/>
    <p:sldId id="286" r:id="rId17"/>
    <p:sldId id="289" r:id="rId18"/>
    <p:sldId id="277" r:id="rId19"/>
    <p:sldId id="278"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54"/>
    <p:restoredTop sz="80830"/>
  </p:normalViewPr>
  <p:slideViewPr>
    <p:cSldViewPr snapToGrid="0" snapToObjects="1">
      <p:cViewPr varScale="1">
        <p:scale>
          <a:sx n="162" d="100"/>
          <a:sy n="162" d="100"/>
        </p:scale>
        <p:origin x="42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[0:20 · cumulative 0:20 of 10:00]</a:t>
            </a:r>
          </a:p>
          <a:p>
            <a:endParaRPr/>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[0:45 · cumulative 1:05 of 10:00]</a:t>
            </a:r>
          </a:p>
          <a:p>
            <a:endParaRPr dirty="0"/>
          </a:p>
          <a:p>
            <a:r>
              <a:rPr dirty="0"/>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[1:05 · cumulative 2:10 of 10:00]</a:t>
            </a:r>
          </a:p>
          <a:p>
            <a:endParaRPr dirty="0"/>
          </a:p>
          <a:p>
            <a:r>
              <a:rPr dirty="0"/>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a:t>
            </a:r>
            <a:r>
              <a:rPr dirty="0" err="1"/>
              <a:t>EventBridge</a:t>
            </a:r>
            <a:r>
              <a:rPr dirty="0"/>
              <a:t> is what closes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endParaRPr/>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[1:15 · cumulative 3:25 of 10:00]</a:t>
            </a:r>
          </a:p>
          <a:p>
            <a:endParaRPr/>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endParaRPr/>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endParaRPr/>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endParaRPr/>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[0:25 · cumulative 8:50 of 10:00]</a:t>
            </a:r>
          </a:p>
          <a:p>
            <a:endParaRPr/>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[1:00 · cumulative 9:50 of 10:00]</a:t>
            </a:r>
          </a:p>
          <a:p>
            <a:endParaRPr/>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[0:10 · cumulative 10:00 of 10:00]</a:t>
            </a:r>
          </a:p>
          <a:p>
            <a:endParaRPr/>
          </a:p>
          <a:p>
            <a:r>
              <a:t>That is Valentin. Happy to go deeper on any of the five lenses, or on the agent workflow that built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dirty="0">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sp>
        <p:nvSpPr>
          <p:cNvPr id="52" name="Rounded Rectangle 51">
            <a:extLst>
              <a:ext uri="{FF2B5EF4-FFF2-40B4-BE49-F238E27FC236}">
                <a16:creationId xmlns:a16="http://schemas.microsoft.com/office/drawing/2014/main" id="{E2654708-F639-5849-7C26-89DF1D3C51E9}"/>
              </a:ext>
            </a:extLst>
          </p:cNvPr>
          <p:cNvSpPr/>
          <p:nvPr/>
        </p:nvSpPr>
        <p:spPr>
          <a:xfrm>
            <a:off x="7024249" y="351472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**Add </a:t>
            </a:r>
            <a:r>
              <a:rPr lang="en-US" dirty="0" err="1">
                <a:solidFill>
                  <a:srgbClr val="FF0000"/>
                </a:solidFill>
                <a:highlight>
                  <a:srgbClr val="FFFF00"/>
                </a:highlight>
              </a:rPr>
              <a:t>AgentGateWay</a:t>
            </a:r>
            <a:r>
              <a:rPr lang="en-US" dirty="0">
                <a:solidFill>
                  <a:srgbClr val="FF0000"/>
                </a:solidFill>
                <a:highlight>
                  <a:srgbClr val="FFFF00"/>
                </a:highlight>
              </a:rPr>
              <a:t> to symbols</a:t>
            </a:r>
            <a:endParaRPr dirty="0">
              <a:solidFill>
                <a:srgbClr val="FF0000"/>
              </a:solidFill>
              <a:highlight>
                <a:srgbClr val="FFFF00"/>
              </a:highlight>
            </a:endParaRPr>
          </a:p>
        </p:txBody>
      </p:sp>
      <p:sp>
        <p:nvSpPr>
          <p:cNvPr id="53" name="Rounded Rectangle 52">
            <a:extLst>
              <a:ext uri="{FF2B5EF4-FFF2-40B4-BE49-F238E27FC236}">
                <a16:creationId xmlns:a16="http://schemas.microsoft.com/office/drawing/2014/main" id="{D2E310E7-2F22-E565-EAD9-8CC5CFA99B37}"/>
              </a:ext>
            </a:extLst>
          </p:cNvPr>
          <p:cNvSpPr/>
          <p:nvPr/>
        </p:nvSpPr>
        <p:spPr>
          <a:xfrm>
            <a:off x="10200188" y="360616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understand where do we exactly use it </a:t>
            </a:r>
            <a:r>
              <a:rPr lang="en-US" dirty="0" err="1">
                <a:solidFill>
                  <a:srgbClr val="FF0000"/>
                </a:solidFill>
                <a:highlight>
                  <a:srgbClr val="FFFF00"/>
                </a:highlight>
              </a:rPr>
              <a:t>EventBrdieg</a:t>
            </a:r>
            <a:endParaRPr dirty="0">
              <a:solidFill>
                <a:srgbClr val="FF0000"/>
              </a:solidFill>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dirty="0"/>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639406"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check_shabbat</a:t>
            </a:r>
            <a:endParaRPr sz="800" dirty="0">
              <a:solidFill>
                <a:srgbClr val="C07000"/>
              </a:solidFill>
              <a:latin typeface="Consolas"/>
            </a:endParaRP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find_restaurants</a:t>
            </a:r>
            <a:endParaRPr sz="800" dirty="0">
              <a:solidFill>
                <a:srgbClr val="C07000"/>
              </a:solidFill>
              <a:latin typeface="Consolas"/>
            </a:endParaRP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232F3E"/>
                </a:solidFill>
                <a:latin typeface="Consolas"/>
              </a:rPr>
              <a:t>propose_whatsapp_nudge</a:t>
            </a:r>
            <a:endParaRPr sz="800" dirty="0">
              <a:solidFill>
                <a:srgbClr val="232F3E"/>
              </a:solidFill>
              <a:latin typeface="Consolas"/>
            </a:endParaRP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set_reminder</a:t>
            </a:r>
            <a:endParaRPr sz="800" dirty="0">
              <a:solidFill>
                <a:srgbClr val="C07000"/>
              </a:solidFill>
              <a:latin typeface="Consolas"/>
            </a:endParaRP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
        <p:nvSpPr>
          <p:cNvPr id="2" name="Rounded Rectangle 1">
            <a:extLst>
              <a:ext uri="{FF2B5EF4-FFF2-40B4-BE49-F238E27FC236}">
                <a16:creationId xmlns:a16="http://schemas.microsoft.com/office/drawing/2014/main" id="{90B4E51F-9A15-9CC9-00A7-2E5EF0EC482F}"/>
              </a:ext>
            </a:extLst>
          </p:cNvPr>
          <p:cNvSpPr/>
          <p:nvPr/>
        </p:nvSpPr>
        <p:spPr>
          <a:xfrm>
            <a:off x="8943975" y="185096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Deep dive to different definitions of what is an </a:t>
            </a:r>
            <a:r>
              <a:rPr lang="en-US" dirty="0" err="1">
                <a:solidFill>
                  <a:srgbClr val="FF0000"/>
                </a:solidFill>
                <a:highlight>
                  <a:srgbClr val="FFFF00"/>
                </a:highlight>
              </a:rPr>
              <a:t>Agnet</a:t>
            </a:r>
            <a:r>
              <a:rPr lang="en-US" dirty="0">
                <a:solidFill>
                  <a:srgbClr val="FF0000"/>
                </a:solidFill>
                <a:highlight>
                  <a:srgbClr val="FFFF00"/>
                </a:highlight>
              </a:rPr>
              <a:t> exactly</a:t>
            </a:r>
            <a:endParaRPr dirty="0">
              <a:solidFill>
                <a:srgbClr val="FF0000"/>
              </a:solidFill>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3" name="TextBox 2">
            <a:extLst>
              <a:ext uri="{FF2B5EF4-FFF2-40B4-BE49-F238E27FC236}">
                <a16:creationId xmlns:a16="http://schemas.microsoft.com/office/drawing/2014/main" id="{6BB02DB8-2FD8-196B-CF8F-F2FEDBB1C9A2}"/>
              </a:ext>
            </a:extLst>
          </p:cNvPr>
          <p:cNvSpPr txBox="1"/>
          <p:nvPr/>
        </p:nvSpPr>
        <p:spPr>
          <a:xfrm>
            <a:off x="10332720" y="6515795"/>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4" name="TextBox 3">
            <a:extLst>
              <a:ext uri="{FF2B5EF4-FFF2-40B4-BE49-F238E27FC236}">
                <a16:creationId xmlns:a16="http://schemas.microsoft.com/office/drawing/2014/main" id="{0BC841D3-41D4-DCD2-CA41-7A0617FEE132}"/>
              </a:ext>
            </a:extLst>
          </p:cNvPr>
          <p:cNvSpPr txBox="1"/>
          <p:nvPr/>
        </p:nvSpPr>
        <p:spPr>
          <a:xfrm>
            <a:off x="502920" y="6488363"/>
            <a:ext cx="8229600" cy="347472"/>
          </a:xfrm>
          <a:prstGeom prst="rect">
            <a:avLst/>
          </a:prstGeom>
          <a:noFill/>
        </p:spPr>
        <p:txBody>
          <a:bodyPr wrap="square" lIns="0" tIns="0" rIns="0" bIns="0" anchor="ctr">
            <a:spAutoFit/>
          </a:bodyPr>
          <a:lstStyle/>
          <a:p>
            <a:pPr algn="l"/>
            <a:r>
              <a:rPr sz="1400" b="1">
                <a:solidFill>
                  <a:srgbClr val="545B64"/>
                </a:solidFill>
                <a:latin typeface="Calibri"/>
              </a:rPr>
              <a:t>VALENTIN   ·   GenAI TFC Capstone Deep-Dive</a:t>
            </a:r>
          </a:p>
        </p:txBody>
      </p:sp>
      <p:sp>
        <p:nvSpPr>
          <p:cNvPr id="10" name="TextBox 9">
            <a:extLst>
              <a:ext uri="{FF2B5EF4-FFF2-40B4-BE49-F238E27FC236}">
                <a16:creationId xmlns:a16="http://schemas.microsoft.com/office/drawing/2014/main" id="{324F32A4-D7EB-B535-8E43-DFE1C5FCC53B}"/>
              </a:ext>
            </a:extLst>
          </p:cNvPr>
          <p:cNvSpPr txBox="1"/>
          <p:nvPr/>
        </p:nvSpPr>
        <p:spPr>
          <a:xfrm>
            <a:off x="384048" y="1203131"/>
            <a:ext cx="4160520" cy="237744"/>
          </a:xfrm>
          <a:prstGeom prst="rect">
            <a:avLst/>
          </a:prstGeom>
          <a:noFill/>
        </p:spPr>
        <p:txBody>
          <a:bodyPr wrap="square" lIns="0" tIns="0" rIns="0" bIns="0" anchor="ctr">
            <a:spAutoFit/>
          </a:bodyPr>
          <a:lstStyle/>
          <a:p>
            <a:pPr algn="l"/>
            <a:r>
              <a:rPr sz="1400" b="1">
                <a:solidFill>
                  <a:srgbClr val="545B64"/>
                </a:solidFill>
                <a:latin typeface="Calibri"/>
              </a:rPr>
              <a:t>SHARED FRONT DOOR</a:t>
            </a:r>
          </a:p>
        </p:txBody>
      </p:sp>
      <p:sp>
        <p:nvSpPr>
          <p:cNvPr id="11" name="TextBox 10">
            <a:extLst>
              <a:ext uri="{FF2B5EF4-FFF2-40B4-BE49-F238E27FC236}">
                <a16:creationId xmlns:a16="http://schemas.microsoft.com/office/drawing/2014/main" id="{E70D775F-A371-DCB2-FCE8-CC20E5FC4C2D}"/>
              </a:ext>
            </a:extLst>
          </p:cNvPr>
          <p:cNvSpPr txBox="1"/>
          <p:nvPr/>
        </p:nvSpPr>
        <p:spPr>
          <a:xfrm>
            <a:off x="4672584" y="1203131"/>
            <a:ext cx="3099816" cy="237744"/>
          </a:xfrm>
          <a:prstGeom prst="rect">
            <a:avLst/>
          </a:prstGeom>
          <a:noFill/>
        </p:spPr>
        <p:txBody>
          <a:bodyPr wrap="square" lIns="0" tIns="0" rIns="0" bIns="0" anchor="ctr">
            <a:spAutoFit/>
          </a:bodyPr>
          <a:lstStyle/>
          <a:p>
            <a:pPr algn="l"/>
            <a:r>
              <a:rPr sz="1400" b="1" dirty="0">
                <a:solidFill>
                  <a:srgbClr val="232F3E"/>
                </a:solidFill>
                <a:latin typeface="Calibri"/>
              </a:rPr>
              <a:t>ENGINE A · GLUE CODE</a:t>
            </a:r>
          </a:p>
        </p:txBody>
      </p:sp>
      <p:sp>
        <p:nvSpPr>
          <p:cNvPr id="12" name="TextBox 11">
            <a:extLst>
              <a:ext uri="{FF2B5EF4-FFF2-40B4-BE49-F238E27FC236}">
                <a16:creationId xmlns:a16="http://schemas.microsoft.com/office/drawing/2014/main" id="{75BDD028-8D4A-C3C5-C3ED-387ECE395153}"/>
              </a:ext>
            </a:extLst>
          </p:cNvPr>
          <p:cNvSpPr txBox="1"/>
          <p:nvPr/>
        </p:nvSpPr>
        <p:spPr>
          <a:xfrm>
            <a:off x="8138160" y="1203131"/>
            <a:ext cx="3694176" cy="237744"/>
          </a:xfrm>
          <a:prstGeom prst="rect">
            <a:avLst/>
          </a:prstGeom>
          <a:noFill/>
        </p:spPr>
        <p:txBody>
          <a:bodyPr wrap="square" lIns="0" tIns="0" rIns="0" bIns="0" anchor="ctr">
            <a:spAutoFit/>
          </a:bodyPr>
          <a:lstStyle/>
          <a:p>
            <a:pPr algn="l"/>
            <a:r>
              <a:rPr sz="1400" b="1" dirty="0">
                <a:solidFill>
                  <a:srgbClr val="545B64"/>
                </a:solidFill>
                <a:latin typeface="Calibri"/>
              </a:rPr>
              <a:t>SHARED BY BOTH ENGINES</a:t>
            </a:r>
          </a:p>
        </p:txBody>
      </p:sp>
      <p:sp>
        <p:nvSpPr>
          <p:cNvPr id="13" name="TextBox 12">
            <a:extLst>
              <a:ext uri="{FF2B5EF4-FFF2-40B4-BE49-F238E27FC236}">
                <a16:creationId xmlns:a16="http://schemas.microsoft.com/office/drawing/2014/main" id="{DB47A9C6-66E6-3823-FE0F-C19E947F69E0}"/>
              </a:ext>
            </a:extLst>
          </p:cNvPr>
          <p:cNvSpPr txBox="1"/>
          <p:nvPr/>
        </p:nvSpPr>
        <p:spPr>
          <a:xfrm>
            <a:off x="384048" y="4138355"/>
            <a:ext cx="2926080" cy="237744"/>
          </a:xfrm>
          <a:prstGeom prst="rect">
            <a:avLst/>
          </a:prstGeom>
          <a:noFill/>
        </p:spPr>
        <p:txBody>
          <a:bodyPr wrap="square" lIns="0" tIns="0" rIns="0" bIns="0" anchor="ctr">
            <a:spAutoFit/>
          </a:bodyPr>
          <a:lstStyle/>
          <a:p>
            <a:pPr algn="l"/>
            <a:r>
              <a:rPr sz="1400" b="1" dirty="0">
                <a:solidFill>
                  <a:srgbClr val="1E7C3C"/>
                </a:solidFill>
                <a:latin typeface="Calibri"/>
              </a:rPr>
              <a:t>ENGINE B · AGENTCORE</a:t>
            </a:r>
          </a:p>
        </p:txBody>
      </p:sp>
      <p:sp>
        <p:nvSpPr>
          <p:cNvPr id="14" name="Rounded Rectangle 13">
            <a:extLst>
              <a:ext uri="{FF2B5EF4-FFF2-40B4-BE49-F238E27FC236}">
                <a16:creationId xmlns:a16="http://schemas.microsoft.com/office/drawing/2014/main" id="{B588D894-9337-EB85-361C-443EC8C31F72}"/>
              </a:ext>
            </a:extLst>
          </p:cNvPr>
          <p:cNvSpPr/>
          <p:nvPr/>
        </p:nvSpPr>
        <p:spPr>
          <a:xfrm>
            <a:off x="384048" y="1459163"/>
            <a:ext cx="4160520" cy="1709928"/>
          </a:xfrm>
          <a:prstGeom prst="roundRect">
            <a:avLst>
              <a:gd name="adj" fmla="val 4278"/>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48D7DF11-F5EB-AB55-A6BF-34CF181BD99F}"/>
              </a:ext>
            </a:extLst>
          </p:cNvPr>
          <p:cNvSpPr/>
          <p:nvPr/>
        </p:nvSpPr>
        <p:spPr>
          <a:xfrm>
            <a:off x="4672584" y="1472879"/>
            <a:ext cx="3099816" cy="850391"/>
          </a:xfrm>
          <a:prstGeom prst="roundRect">
            <a:avLst>
              <a:gd name="adj" fmla="val 8602"/>
            </a:avLst>
          </a:prstGeom>
          <a:no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F86C7E28-B0BD-ADE0-E8BC-2612B513AB2C}"/>
              </a:ext>
            </a:extLst>
          </p:cNvPr>
          <p:cNvSpPr/>
          <p:nvPr/>
        </p:nvSpPr>
        <p:spPr>
          <a:xfrm>
            <a:off x="8138160" y="1459163"/>
            <a:ext cx="3694176" cy="2569464"/>
          </a:xfrm>
          <a:prstGeom prst="roundRect">
            <a:avLst>
              <a:gd name="adj" fmla="val 2846"/>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0EB73FF7-DDB9-3CA7-79FF-639717CDD1DB}"/>
              </a:ext>
            </a:extLst>
          </p:cNvPr>
          <p:cNvSpPr/>
          <p:nvPr/>
        </p:nvSpPr>
        <p:spPr>
          <a:xfrm>
            <a:off x="384048" y="4394387"/>
            <a:ext cx="11448288" cy="1609343"/>
          </a:xfrm>
          <a:prstGeom prst="roundRect">
            <a:avLst>
              <a:gd name="adj" fmla="val 4545"/>
            </a:avLst>
          </a:prstGeom>
          <a:no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590C25A0-E9B4-84CC-7E1C-AD1C1955C897}"/>
              </a:ext>
            </a:extLst>
          </p:cNvPr>
          <p:cNvSpPr/>
          <p:nvPr/>
        </p:nvSpPr>
        <p:spPr>
          <a:xfrm>
            <a:off x="484632"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Browser icon">
            <a:extLst>
              <a:ext uri="{FF2B5EF4-FFF2-40B4-BE49-F238E27FC236}">
                <a16:creationId xmlns:a16="http://schemas.microsoft.com/office/drawing/2014/main" id="{5BE99B3B-38D2-1444-2C22-473BBAA1B97E}"/>
              </a:ext>
            </a:extLst>
          </p:cNvPr>
          <p:cNvPicPr>
            <a:picLocks noChangeAspect="1"/>
          </p:cNvPicPr>
          <p:nvPr/>
        </p:nvPicPr>
        <p:blipFill>
          <a:blip r:embed="rId3"/>
          <a:stretch>
            <a:fillRect/>
          </a:stretch>
        </p:blipFill>
        <p:spPr>
          <a:xfrm>
            <a:off x="585216" y="1706051"/>
            <a:ext cx="384048" cy="384048"/>
          </a:xfrm>
          <a:prstGeom prst="rect">
            <a:avLst/>
          </a:prstGeom>
        </p:spPr>
      </p:pic>
      <p:sp>
        <p:nvSpPr>
          <p:cNvPr id="20" name="TextBox 19">
            <a:extLst>
              <a:ext uri="{FF2B5EF4-FFF2-40B4-BE49-F238E27FC236}">
                <a16:creationId xmlns:a16="http://schemas.microsoft.com/office/drawing/2014/main" id="{1A2D3A9F-BCDE-7F47-1223-9E422A2EEAF3}"/>
              </a:ext>
            </a:extLst>
          </p:cNvPr>
          <p:cNvSpPr txBox="1"/>
          <p:nvPr/>
        </p:nvSpPr>
        <p:spPr>
          <a:xfrm>
            <a:off x="1069848"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Browser</a:t>
            </a:r>
          </a:p>
        </p:txBody>
      </p:sp>
      <p:sp>
        <p:nvSpPr>
          <p:cNvPr id="21" name="TextBox 20">
            <a:extLst>
              <a:ext uri="{FF2B5EF4-FFF2-40B4-BE49-F238E27FC236}">
                <a16:creationId xmlns:a16="http://schemas.microsoft.com/office/drawing/2014/main" id="{7B462E29-790F-BB38-0450-4A0116AB691C}"/>
              </a:ext>
            </a:extLst>
          </p:cNvPr>
          <p:cNvSpPr txBox="1"/>
          <p:nvPr/>
        </p:nvSpPr>
        <p:spPr>
          <a:xfrm>
            <a:off x="1069848"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the chat UI</a:t>
            </a:r>
          </a:p>
        </p:txBody>
      </p:sp>
      <p:sp>
        <p:nvSpPr>
          <p:cNvPr id="22" name="Rounded Rectangle 21">
            <a:extLst>
              <a:ext uri="{FF2B5EF4-FFF2-40B4-BE49-F238E27FC236}">
                <a16:creationId xmlns:a16="http://schemas.microsoft.com/office/drawing/2014/main" id="{393D84D6-882D-AF08-1275-BF1BA932DEE1}"/>
              </a:ext>
            </a:extLst>
          </p:cNvPr>
          <p:cNvSpPr/>
          <p:nvPr/>
        </p:nvSpPr>
        <p:spPr>
          <a:xfrm>
            <a:off x="2528316"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loudFront icon">
            <a:extLst>
              <a:ext uri="{FF2B5EF4-FFF2-40B4-BE49-F238E27FC236}">
                <a16:creationId xmlns:a16="http://schemas.microsoft.com/office/drawing/2014/main" id="{8E1BFA6D-92B4-1CF3-04F4-90A7A4E18781}"/>
              </a:ext>
            </a:extLst>
          </p:cNvPr>
          <p:cNvPicPr>
            <a:picLocks noChangeAspect="1"/>
          </p:cNvPicPr>
          <p:nvPr/>
        </p:nvPicPr>
        <p:blipFill>
          <a:blip r:embed="rId4"/>
          <a:stretch>
            <a:fillRect/>
          </a:stretch>
        </p:blipFill>
        <p:spPr>
          <a:xfrm>
            <a:off x="2628900" y="1706051"/>
            <a:ext cx="384048" cy="384048"/>
          </a:xfrm>
          <a:prstGeom prst="rect">
            <a:avLst/>
          </a:prstGeom>
        </p:spPr>
      </p:pic>
      <p:sp>
        <p:nvSpPr>
          <p:cNvPr id="24" name="TextBox 23">
            <a:extLst>
              <a:ext uri="{FF2B5EF4-FFF2-40B4-BE49-F238E27FC236}">
                <a16:creationId xmlns:a16="http://schemas.microsoft.com/office/drawing/2014/main" id="{1D8F3174-34ED-09C3-FF63-0E05F54F1AED}"/>
              </a:ext>
            </a:extLst>
          </p:cNvPr>
          <p:cNvSpPr txBox="1"/>
          <p:nvPr/>
        </p:nvSpPr>
        <p:spPr>
          <a:xfrm>
            <a:off x="3113532"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CloudFront</a:t>
            </a:r>
          </a:p>
        </p:txBody>
      </p:sp>
      <p:sp>
        <p:nvSpPr>
          <p:cNvPr id="25" name="TextBox 24">
            <a:extLst>
              <a:ext uri="{FF2B5EF4-FFF2-40B4-BE49-F238E27FC236}">
                <a16:creationId xmlns:a16="http://schemas.microsoft.com/office/drawing/2014/main" id="{F1700249-882F-A87D-3A46-CF1F9BFEFFDF}"/>
              </a:ext>
            </a:extLst>
          </p:cNvPr>
          <p:cNvSpPr txBox="1"/>
          <p:nvPr/>
        </p:nvSpPr>
        <p:spPr>
          <a:xfrm>
            <a:off x="3113532"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one origin</a:t>
            </a:r>
          </a:p>
        </p:txBody>
      </p:sp>
      <p:sp>
        <p:nvSpPr>
          <p:cNvPr id="26" name="Rounded Rectangle 25">
            <a:extLst>
              <a:ext uri="{FF2B5EF4-FFF2-40B4-BE49-F238E27FC236}">
                <a16:creationId xmlns:a16="http://schemas.microsoft.com/office/drawing/2014/main" id="{0FDF2217-4D85-25D5-C9CE-9D511A808C6C}"/>
              </a:ext>
            </a:extLst>
          </p:cNvPr>
          <p:cNvSpPr/>
          <p:nvPr/>
        </p:nvSpPr>
        <p:spPr>
          <a:xfrm>
            <a:off x="484632" y="2446715"/>
            <a:ext cx="1915668" cy="621792"/>
          </a:xfrm>
          <a:prstGeom prst="roundRect">
            <a:avLst>
              <a:gd name="adj" fmla="val 11764"/>
            </a:avLst>
          </a:prstGeom>
          <a:solidFill>
            <a:srgbClr val="FFFFFF"/>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3 icon">
            <a:extLst>
              <a:ext uri="{FF2B5EF4-FFF2-40B4-BE49-F238E27FC236}">
                <a16:creationId xmlns:a16="http://schemas.microsoft.com/office/drawing/2014/main" id="{C42EDD12-059A-2FC3-63B7-317E11F44CD3}"/>
              </a:ext>
            </a:extLst>
          </p:cNvPr>
          <p:cNvPicPr>
            <a:picLocks noChangeAspect="1"/>
          </p:cNvPicPr>
          <p:nvPr/>
        </p:nvPicPr>
        <p:blipFill>
          <a:blip r:embed="rId5"/>
          <a:stretch>
            <a:fillRect/>
          </a:stretch>
        </p:blipFill>
        <p:spPr>
          <a:xfrm>
            <a:off x="585216" y="2565587"/>
            <a:ext cx="384048" cy="384048"/>
          </a:xfrm>
          <a:prstGeom prst="rect">
            <a:avLst/>
          </a:prstGeom>
        </p:spPr>
      </p:pic>
      <p:sp>
        <p:nvSpPr>
          <p:cNvPr id="28" name="TextBox 27">
            <a:extLst>
              <a:ext uri="{FF2B5EF4-FFF2-40B4-BE49-F238E27FC236}">
                <a16:creationId xmlns:a16="http://schemas.microsoft.com/office/drawing/2014/main" id="{E44BDB06-8834-3D3E-F1BB-46F52595E58E}"/>
              </a:ext>
            </a:extLst>
          </p:cNvPr>
          <p:cNvSpPr txBox="1"/>
          <p:nvPr/>
        </p:nvSpPr>
        <p:spPr>
          <a:xfrm>
            <a:off x="1069848" y="2501579"/>
            <a:ext cx="1248156" cy="246888"/>
          </a:xfrm>
          <a:prstGeom prst="rect">
            <a:avLst/>
          </a:prstGeom>
          <a:noFill/>
        </p:spPr>
        <p:txBody>
          <a:bodyPr wrap="square" lIns="0" tIns="0" rIns="0" bIns="0" anchor="t">
            <a:spAutoFit/>
          </a:bodyPr>
          <a:lstStyle/>
          <a:p>
            <a:pPr algn="l"/>
            <a:r>
              <a:rPr sz="1500" b="1">
                <a:solidFill>
                  <a:srgbClr val="545B64"/>
                </a:solidFill>
                <a:latin typeface="Calibri"/>
              </a:rPr>
              <a:t>S3</a:t>
            </a:r>
          </a:p>
        </p:txBody>
      </p:sp>
      <p:sp>
        <p:nvSpPr>
          <p:cNvPr id="29" name="TextBox 28">
            <a:extLst>
              <a:ext uri="{FF2B5EF4-FFF2-40B4-BE49-F238E27FC236}">
                <a16:creationId xmlns:a16="http://schemas.microsoft.com/office/drawing/2014/main" id="{64A8C0AF-F0F9-73E6-80F6-99B77CAC5004}"/>
              </a:ext>
            </a:extLst>
          </p:cNvPr>
          <p:cNvSpPr txBox="1"/>
          <p:nvPr/>
        </p:nvSpPr>
        <p:spPr>
          <a:xfrm>
            <a:off x="1069848"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app bundle</a:t>
            </a:r>
          </a:p>
        </p:txBody>
      </p:sp>
      <p:sp>
        <p:nvSpPr>
          <p:cNvPr id="30" name="Rounded Rectangle 29">
            <a:extLst>
              <a:ext uri="{FF2B5EF4-FFF2-40B4-BE49-F238E27FC236}">
                <a16:creationId xmlns:a16="http://schemas.microsoft.com/office/drawing/2014/main" id="{46724EAA-2194-9CE1-8DDE-F3592FC4CA68}"/>
              </a:ext>
            </a:extLst>
          </p:cNvPr>
          <p:cNvSpPr/>
          <p:nvPr/>
        </p:nvSpPr>
        <p:spPr>
          <a:xfrm>
            <a:off x="2528316" y="2446715"/>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LB icon">
            <a:extLst>
              <a:ext uri="{FF2B5EF4-FFF2-40B4-BE49-F238E27FC236}">
                <a16:creationId xmlns:a16="http://schemas.microsoft.com/office/drawing/2014/main" id="{EB83EC53-9981-E971-1B75-8F076E1AD6BC}"/>
              </a:ext>
            </a:extLst>
          </p:cNvPr>
          <p:cNvPicPr>
            <a:picLocks noChangeAspect="1"/>
          </p:cNvPicPr>
          <p:nvPr/>
        </p:nvPicPr>
        <p:blipFill>
          <a:blip r:embed="rId6"/>
          <a:stretch>
            <a:fillRect/>
          </a:stretch>
        </p:blipFill>
        <p:spPr>
          <a:xfrm>
            <a:off x="2628900" y="2565587"/>
            <a:ext cx="384048" cy="384048"/>
          </a:xfrm>
          <a:prstGeom prst="rect">
            <a:avLst/>
          </a:prstGeom>
        </p:spPr>
      </p:pic>
      <p:sp>
        <p:nvSpPr>
          <p:cNvPr id="32" name="TextBox 31">
            <a:extLst>
              <a:ext uri="{FF2B5EF4-FFF2-40B4-BE49-F238E27FC236}">
                <a16:creationId xmlns:a16="http://schemas.microsoft.com/office/drawing/2014/main" id="{29F73C16-C03B-A3B1-B21E-7D4DDDDE32ED}"/>
              </a:ext>
            </a:extLst>
          </p:cNvPr>
          <p:cNvSpPr txBox="1"/>
          <p:nvPr/>
        </p:nvSpPr>
        <p:spPr>
          <a:xfrm>
            <a:off x="3113532" y="2501579"/>
            <a:ext cx="1248156" cy="246888"/>
          </a:xfrm>
          <a:prstGeom prst="rect">
            <a:avLst/>
          </a:prstGeom>
          <a:noFill/>
        </p:spPr>
        <p:txBody>
          <a:bodyPr wrap="square" lIns="0" tIns="0" rIns="0" bIns="0" anchor="t">
            <a:spAutoFit/>
          </a:bodyPr>
          <a:lstStyle/>
          <a:p>
            <a:pPr algn="l"/>
            <a:r>
              <a:rPr sz="1500" b="1">
                <a:solidFill>
                  <a:srgbClr val="232F3E"/>
                </a:solidFill>
                <a:latin typeface="Calibri"/>
              </a:rPr>
              <a:t>ALB</a:t>
            </a:r>
          </a:p>
        </p:txBody>
      </p:sp>
      <p:sp>
        <p:nvSpPr>
          <p:cNvPr id="33" name="TextBox 32">
            <a:extLst>
              <a:ext uri="{FF2B5EF4-FFF2-40B4-BE49-F238E27FC236}">
                <a16:creationId xmlns:a16="http://schemas.microsoft.com/office/drawing/2014/main" id="{30EFF3F0-CCDE-1F09-4AA5-051F878D0049}"/>
              </a:ext>
            </a:extLst>
          </p:cNvPr>
          <p:cNvSpPr txBox="1"/>
          <p:nvPr/>
        </p:nvSpPr>
        <p:spPr>
          <a:xfrm>
            <a:off x="3113532"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/api/* · /ws</a:t>
            </a:r>
          </a:p>
        </p:txBody>
      </p:sp>
      <p:sp>
        <p:nvSpPr>
          <p:cNvPr id="34" name="Rounded Rectangle 33">
            <a:extLst>
              <a:ext uri="{FF2B5EF4-FFF2-40B4-BE49-F238E27FC236}">
                <a16:creationId xmlns:a16="http://schemas.microsoft.com/office/drawing/2014/main" id="{EE8AF2B8-9DEA-775F-A4BD-C669F9A669B0}"/>
              </a:ext>
            </a:extLst>
          </p:cNvPr>
          <p:cNvSpPr/>
          <p:nvPr/>
        </p:nvSpPr>
        <p:spPr>
          <a:xfrm>
            <a:off x="4773168" y="1587179"/>
            <a:ext cx="289864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argate icon">
            <a:extLst>
              <a:ext uri="{FF2B5EF4-FFF2-40B4-BE49-F238E27FC236}">
                <a16:creationId xmlns:a16="http://schemas.microsoft.com/office/drawing/2014/main" id="{2C6B3231-1075-4492-7DDE-210EB3182522}"/>
              </a:ext>
            </a:extLst>
          </p:cNvPr>
          <p:cNvPicPr>
            <a:picLocks noChangeAspect="1"/>
          </p:cNvPicPr>
          <p:nvPr/>
        </p:nvPicPr>
        <p:blipFill>
          <a:blip r:embed="rId7"/>
          <a:stretch>
            <a:fillRect/>
          </a:stretch>
        </p:blipFill>
        <p:spPr>
          <a:xfrm>
            <a:off x="4873752" y="1706051"/>
            <a:ext cx="384048" cy="384048"/>
          </a:xfrm>
          <a:prstGeom prst="rect">
            <a:avLst/>
          </a:prstGeom>
        </p:spPr>
      </p:pic>
      <p:sp>
        <p:nvSpPr>
          <p:cNvPr id="36" name="TextBox 35">
            <a:extLst>
              <a:ext uri="{FF2B5EF4-FFF2-40B4-BE49-F238E27FC236}">
                <a16:creationId xmlns:a16="http://schemas.microsoft.com/office/drawing/2014/main" id="{BC80B77B-D9B8-14A0-973F-82F4B3E8CF65}"/>
              </a:ext>
            </a:extLst>
          </p:cNvPr>
          <p:cNvSpPr txBox="1"/>
          <p:nvPr/>
        </p:nvSpPr>
        <p:spPr>
          <a:xfrm>
            <a:off x="5358384" y="1642043"/>
            <a:ext cx="2231135"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37" name="TextBox 36">
            <a:extLst>
              <a:ext uri="{FF2B5EF4-FFF2-40B4-BE49-F238E27FC236}">
                <a16:creationId xmlns:a16="http://schemas.microsoft.com/office/drawing/2014/main" id="{D5226F65-46AF-8096-CF7B-18E31AB00C9D}"/>
              </a:ext>
            </a:extLst>
          </p:cNvPr>
          <p:cNvSpPr txBox="1"/>
          <p:nvPr/>
        </p:nvSpPr>
        <p:spPr>
          <a:xfrm>
            <a:off x="5358384" y="1898075"/>
            <a:ext cx="2231135" cy="274320"/>
          </a:xfrm>
          <a:prstGeom prst="rect">
            <a:avLst/>
          </a:prstGeom>
          <a:noFill/>
        </p:spPr>
        <p:txBody>
          <a:bodyPr wrap="square" lIns="0" tIns="0" rIns="0" bIns="0" anchor="t">
            <a:spAutoFit/>
          </a:bodyPr>
          <a:lstStyle/>
          <a:p>
            <a:pPr algn="l"/>
            <a:r>
              <a:rPr sz="1400" b="0">
                <a:solidFill>
                  <a:srgbClr val="545B64"/>
                </a:solidFill>
                <a:latin typeface="Calibri"/>
              </a:rPr>
              <a:t>valentin-service-dev</a:t>
            </a:r>
          </a:p>
        </p:txBody>
      </p:sp>
      <p:sp>
        <p:nvSpPr>
          <p:cNvPr id="38" name="Rounded Rectangle 37">
            <a:extLst>
              <a:ext uri="{FF2B5EF4-FFF2-40B4-BE49-F238E27FC236}">
                <a16:creationId xmlns:a16="http://schemas.microsoft.com/office/drawing/2014/main" id="{EFA5807A-271E-3F5A-CDEE-7AA04F7B434E}"/>
              </a:ext>
            </a:extLst>
          </p:cNvPr>
          <p:cNvSpPr/>
          <p:nvPr/>
        </p:nvSpPr>
        <p:spPr>
          <a:xfrm>
            <a:off x="8238744" y="1587179"/>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Bedrock icon">
            <a:extLst>
              <a:ext uri="{FF2B5EF4-FFF2-40B4-BE49-F238E27FC236}">
                <a16:creationId xmlns:a16="http://schemas.microsoft.com/office/drawing/2014/main" id="{AC4CB1CB-577A-4EC9-7D2F-6FEBDA9068D8}"/>
              </a:ext>
            </a:extLst>
          </p:cNvPr>
          <p:cNvPicPr>
            <a:picLocks noChangeAspect="1"/>
          </p:cNvPicPr>
          <p:nvPr/>
        </p:nvPicPr>
        <p:blipFill>
          <a:blip r:embed="rId8"/>
          <a:stretch>
            <a:fillRect/>
          </a:stretch>
        </p:blipFill>
        <p:spPr>
          <a:xfrm>
            <a:off x="8339327" y="1706051"/>
            <a:ext cx="384048" cy="384048"/>
          </a:xfrm>
          <a:prstGeom prst="rect">
            <a:avLst/>
          </a:prstGeom>
        </p:spPr>
      </p:pic>
      <p:sp>
        <p:nvSpPr>
          <p:cNvPr id="40" name="TextBox 39">
            <a:extLst>
              <a:ext uri="{FF2B5EF4-FFF2-40B4-BE49-F238E27FC236}">
                <a16:creationId xmlns:a16="http://schemas.microsoft.com/office/drawing/2014/main" id="{08F45306-048B-1AC1-ADBB-34D78091B5BD}"/>
              </a:ext>
            </a:extLst>
          </p:cNvPr>
          <p:cNvSpPr txBox="1"/>
          <p:nvPr/>
        </p:nvSpPr>
        <p:spPr>
          <a:xfrm>
            <a:off x="8823959" y="1642043"/>
            <a:ext cx="2825496" cy="246888"/>
          </a:xfrm>
          <a:prstGeom prst="rect">
            <a:avLst/>
          </a:prstGeom>
          <a:noFill/>
        </p:spPr>
        <p:txBody>
          <a:bodyPr wrap="square" lIns="0" tIns="0" rIns="0" bIns="0" anchor="t">
            <a:spAutoFit/>
          </a:bodyPr>
          <a:lstStyle/>
          <a:p>
            <a:pPr algn="l"/>
            <a:r>
              <a:rPr sz="1500" b="1">
                <a:solidFill>
                  <a:srgbClr val="232F3E"/>
                </a:solidFill>
                <a:latin typeface="Calibri"/>
              </a:rPr>
              <a:t>Bedrock</a:t>
            </a:r>
          </a:p>
        </p:txBody>
      </p:sp>
      <p:sp>
        <p:nvSpPr>
          <p:cNvPr id="41" name="TextBox 40">
            <a:extLst>
              <a:ext uri="{FF2B5EF4-FFF2-40B4-BE49-F238E27FC236}">
                <a16:creationId xmlns:a16="http://schemas.microsoft.com/office/drawing/2014/main" id="{2C08F902-6A20-2688-5D7C-445682418029}"/>
              </a:ext>
            </a:extLst>
          </p:cNvPr>
          <p:cNvSpPr txBox="1"/>
          <p:nvPr/>
        </p:nvSpPr>
        <p:spPr>
          <a:xfrm>
            <a:off x="8823959" y="1898075"/>
            <a:ext cx="2825496" cy="274320"/>
          </a:xfrm>
          <a:prstGeom prst="rect">
            <a:avLst/>
          </a:prstGeom>
          <a:noFill/>
        </p:spPr>
        <p:txBody>
          <a:bodyPr wrap="square" lIns="0" tIns="0" rIns="0" bIns="0" anchor="t">
            <a:spAutoFit/>
          </a:bodyPr>
          <a:lstStyle/>
          <a:p>
            <a:pPr algn="l"/>
            <a:r>
              <a:rPr sz="1400" b="0">
                <a:solidFill>
                  <a:srgbClr val="545B64"/>
                </a:solidFill>
                <a:latin typeface="Calibri"/>
              </a:rPr>
              <a:t>Claude Sonnet 4.5</a:t>
            </a:r>
          </a:p>
        </p:txBody>
      </p:sp>
      <p:sp>
        <p:nvSpPr>
          <p:cNvPr id="42" name="Rounded Rectangle 41">
            <a:extLst>
              <a:ext uri="{FF2B5EF4-FFF2-40B4-BE49-F238E27FC236}">
                <a16:creationId xmlns:a16="http://schemas.microsoft.com/office/drawing/2014/main" id="{3A80D245-F757-7BEA-0D15-523D7CAB75EE}"/>
              </a:ext>
            </a:extLst>
          </p:cNvPr>
          <p:cNvSpPr/>
          <p:nvPr/>
        </p:nvSpPr>
        <p:spPr>
          <a:xfrm>
            <a:off x="8214360" y="2446715"/>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loudWatch icon">
            <a:extLst>
              <a:ext uri="{FF2B5EF4-FFF2-40B4-BE49-F238E27FC236}">
                <a16:creationId xmlns:a16="http://schemas.microsoft.com/office/drawing/2014/main" id="{0B2FBCE3-755D-A3BC-99C1-CBF8E4B8D880}"/>
              </a:ext>
            </a:extLst>
          </p:cNvPr>
          <p:cNvPicPr>
            <a:picLocks noChangeAspect="1"/>
          </p:cNvPicPr>
          <p:nvPr/>
        </p:nvPicPr>
        <p:blipFill>
          <a:blip r:embed="rId9"/>
          <a:stretch>
            <a:fillRect/>
          </a:stretch>
        </p:blipFill>
        <p:spPr>
          <a:xfrm>
            <a:off x="8314943" y="2565587"/>
            <a:ext cx="384048" cy="384048"/>
          </a:xfrm>
          <a:prstGeom prst="rect">
            <a:avLst/>
          </a:prstGeom>
        </p:spPr>
      </p:pic>
      <p:sp>
        <p:nvSpPr>
          <p:cNvPr id="44" name="TextBox 43">
            <a:extLst>
              <a:ext uri="{FF2B5EF4-FFF2-40B4-BE49-F238E27FC236}">
                <a16:creationId xmlns:a16="http://schemas.microsoft.com/office/drawing/2014/main" id="{28DF0C5B-7E62-611A-3A2E-12608D386D45}"/>
              </a:ext>
            </a:extLst>
          </p:cNvPr>
          <p:cNvSpPr txBox="1"/>
          <p:nvPr/>
        </p:nvSpPr>
        <p:spPr>
          <a:xfrm>
            <a:off x="8799575" y="2501579"/>
            <a:ext cx="2825496" cy="246888"/>
          </a:xfrm>
          <a:prstGeom prst="rect">
            <a:avLst/>
          </a:prstGeom>
          <a:noFill/>
        </p:spPr>
        <p:txBody>
          <a:bodyPr wrap="square" lIns="0" tIns="0" rIns="0" bIns="0" anchor="t">
            <a:spAutoFit/>
          </a:bodyPr>
          <a:lstStyle/>
          <a:p>
            <a:pPr algn="l"/>
            <a:r>
              <a:rPr sz="1500" b="1">
                <a:solidFill>
                  <a:srgbClr val="232F3E"/>
                </a:solidFill>
                <a:latin typeface="Calibri"/>
              </a:rPr>
              <a:t>CloudWatch</a:t>
            </a:r>
          </a:p>
        </p:txBody>
      </p:sp>
      <p:sp>
        <p:nvSpPr>
          <p:cNvPr id="45" name="TextBox 44">
            <a:extLst>
              <a:ext uri="{FF2B5EF4-FFF2-40B4-BE49-F238E27FC236}">
                <a16:creationId xmlns:a16="http://schemas.microsoft.com/office/drawing/2014/main" id="{57A74078-3F09-9BD9-FE90-268C2EC61EA3}"/>
              </a:ext>
            </a:extLst>
          </p:cNvPr>
          <p:cNvSpPr txBox="1"/>
          <p:nvPr/>
        </p:nvSpPr>
        <p:spPr>
          <a:xfrm>
            <a:off x="8799575" y="2757611"/>
            <a:ext cx="2825496" cy="274320"/>
          </a:xfrm>
          <a:prstGeom prst="rect">
            <a:avLst/>
          </a:prstGeom>
          <a:noFill/>
        </p:spPr>
        <p:txBody>
          <a:bodyPr wrap="square" lIns="0" tIns="0" rIns="0" bIns="0" anchor="t">
            <a:spAutoFit/>
          </a:bodyPr>
          <a:lstStyle/>
          <a:p>
            <a:pPr algn="l"/>
            <a:r>
              <a:rPr sz="1400" b="0" dirty="0">
                <a:solidFill>
                  <a:srgbClr val="545B64"/>
                </a:solidFill>
                <a:latin typeface="Calibri"/>
              </a:rPr>
              <a:t>one dashboard, both engines</a:t>
            </a:r>
          </a:p>
        </p:txBody>
      </p:sp>
      <p:sp>
        <p:nvSpPr>
          <p:cNvPr id="46" name="Rounded Rectangle 45">
            <a:extLst>
              <a:ext uri="{FF2B5EF4-FFF2-40B4-BE49-F238E27FC236}">
                <a16:creationId xmlns:a16="http://schemas.microsoft.com/office/drawing/2014/main" id="{E91FA248-A40A-E408-AF14-505C6F096AB8}"/>
              </a:ext>
            </a:extLst>
          </p:cNvPr>
          <p:cNvSpPr/>
          <p:nvPr/>
        </p:nvSpPr>
        <p:spPr>
          <a:xfrm>
            <a:off x="8238744" y="3306251"/>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DynamoDB icon">
            <a:extLst>
              <a:ext uri="{FF2B5EF4-FFF2-40B4-BE49-F238E27FC236}">
                <a16:creationId xmlns:a16="http://schemas.microsoft.com/office/drawing/2014/main" id="{99E4B1DD-64E9-4FC1-F8AD-75AC9A64C395}"/>
              </a:ext>
            </a:extLst>
          </p:cNvPr>
          <p:cNvPicPr>
            <a:picLocks noChangeAspect="1"/>
          </p:cNvPicPr>
          <p:nvPr/>
        </p:nvPicPr>
        <p:blipFill>
          <a:blip r:embed="rId10"/>
          <a:stretch>
            <a:fillRect/>
          </a:stretch>
        </p:blipFill>
        <p:spPr>
          <a:xfrm>
            <a:off x="8339327" y="3425123"/>
            <a:ext cx="384048" cy="384048"/>
          </a:xfrm>
          <a:prstGeom prst="rect">
            <a:avLst/>
          </a:prstGeom>
        </p:spPr>
      </p:pic>
      <p:sp>
        <p:nvSpPr>
          <p:cNvPr id="48" name="TextBox 47">
            <a:extLst>
              <a:ext uri="{FF2B5EF4-FFF2-40B4-BE49-F238E27FC236}">
                <a16:creationId xmlns:a16="http://schemas.microsoft.com/office/drawing/2014/main" id="{2D9D8D90-32D8-8338-16EB-39D7ABF43545}"/>
              </a:ext>
            </a:extLst>
          </p:cNvPr>
          <p:cNvSpPr txBox="1"/>
          <p:nvPr/>
        </p:nvSpPr>
        <p:spPr>
          <a:xfrm>
            <a:off x="8823959" y="3361115"/>
            <a:ext cx="2037329" cy="230832"/>
          </a:xfrm>
          <a:prstGeom prst="rect">
            <a:avLst/>
          </a:prstGeom>
          <a:noFill/>
        </p:spPr>
        <p:txBody>
          <a:bodyPr wrap="square" lIns="0" tIns="0" rIns="0" bIns="0" anchor="t">
            <a:spAutoFit/>
          </a:bodyPr>
          <a:lstStyle/>
          <a:p>
            <a:pPr algn="l"/>
            <a:r>
              <a:rPr sz="1500" b="1">
                <a:solidFill>
                  <a:srgbClr val="232F3E"/>
                </a:solidFill>
                <a:latin typeface="Calibri"/>
              </a:rPr>
              <a:t>DynamoDB</a:t>
            </a:r>
          </a:p>
        </p:txBody>
      </p:sp>
      <p:sp>
        <p:nvSpPr>
          <p:cNvPr id="49" name="TextBox 48">
            <a:extLst>
              <a:ext uri="{FF2B5EF4-FFF2-40B4-BE49-F238E27FC236}">
                <a16:creationId xmlns:a16="http://schemas.microsoft.com/office/drawing/2014/main" id="{66257748-63A0-DD2F-16A9-7DCD81627473}"/>
              </a:ext>
            </a:extLst>
          </p:cNvPr>
          <p:cNvSpPr txBox="1"/>
          <p:nvPr/>
        </p:nvSpPr>
        <p:spPr>
          <a:xfrm>
            <a:off x="8823959" y="3617147"/>
            <a:ext cx="2825496" cy="274320"/>
          </a:xfrm>
          <a:prstGeom prst="rect">
            <a:avLst/>
          </a:prstGeom>
          <a:noFill/>
        </p:spPr>
        <p:txBody>
          <a:bodyPr wrap="square" lIns="0" tIns="0" rIns="0" bIns="0" anchor="t">
            <a:spAutoFit/>
          </a:bodyPr>
          <a:lstStyle/>
          <a:p>
            <a:pPr algn="l"/>
            <a:r>
              <a:rPr sz="1400" b="0">
                <a:solidFill>
                  <a:srgbClr val="545B64"/>
                </a:solidFill>
                <a:latin typeface="Calibri"/>
              </a:rPr>
              <a:t>ValentinTable-dev · shared</a:t>
            </a:r>
          </a:p>
        </p:txBody>
      </p:sp>
      <p:sp>
        <p:nvSpPr>
          <p:cNvPr id="50" name="Rounded Rectangle 49">
            <a:extLst>
              <a:ext uri="{FF2B5EF4-FFF2-40B4-BE49-F238E27FC236}">
                <a16:creationId xmlns:a16="http://schemas.microsoft.com/office/drawing/2014/main" id="{E385E9D8-62B3-319F-3584-8294F0C1155D}"/>
              </a:ext>
            </a:extLst>
          </p:cNvPr>
          <p:cNvSpPr/>
          <p:nvPr/>
        </p:nvSpPr>
        <p:spPr>
          <a:xfrm>
            <a:off x="484632" y="4494971"/>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argate icon">
            <a:extLst>
              <a:ext uri="{FF2B5EF4-FFF2-40B4-BE49-F238E27FC236}">
                <a16:creationId xmlns:a16="http://schemas.microsoft.com/office/drawing/2014/main" id="{13207643-4B4B-D94E-A8B7-8711C03D71AD}"/>
              </a:ext>
            </a:extLst>
          </p:cNvPr>
          <p:cNvPicPr>
            <a:picLocks noChangeAspect="1"/>
          </p:cNvPicPr>
          <p:nvPr/>
        </p:nvPicPr>
        <p:blipFill>
          <a:blip r:embed="rId7"/>
          <a:stretch>
            <a:fillRect/>
          </a:stretch>
        </p:blipFill>
        <p:spPr>
          <a:xfrm>
            <a:off x="585216" y="4613843"/>
            <a:ext cx="384048" cy="384048"/>
          </a:xfrm>
          <a:prstGeom prst="rect">
            <a:avLst/>
          </a:prstGeom>
        </p:spPr>
      </p:pic>
      <p:sp>
        <p:nvSpPr>
          <p:cNvPr id="52" name="TextBox 51">
            <a:extLst>
              <a:ext uri="{FF2B5EF4-FFF2-40B4-BE49-F238E27FC236}">
                <a16:creationId xmlns:a16="http://schemas.microsoft.com/office/drawing/2014/main" id="{CCA4DB43-7280-8D46-06A8-C70B822E7063}"/>
              </a:ext>
            </a:extLst>
          </p:cNvPr>
          <p:cNvSpPr txBox="1"/>
          <p:nvPr/>
        </p:nvSpPr>
        <p:spPr>
          <a:xfrm>
            <a:off x="1069848"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53" name="TextBox 52">
            <a:extLst>
              <a:ext uri="{FF2B5EF4-FFF2-40B4-BE49-F238E27FC236}">
                <a16:creationId xmlns:a16="http://schemas.microsoft.com/office/drawing/2014/main" id="{748D5690-A8A5-576E-7E2F-64298742B042}"/>
              </a:ext>
            </a:extLst>
          </p:cNvPr>
          <p:cNvSpPr txBox="1"/>
          <p:nvPr/>
        </p:nvSpPr>
        <p:spPr>
          <a:xfrm>
            <a:off x="1069848"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valentin-ac-proxy-dev</a:t>
            </a:r>
          </a:p>
        </p:txBody>
      </p:sp>
      <p:sp>
        <p:nvSpPr>
          <p:cNvPr id="54" name="Rounded Rectangle 53">
            <a:extLst>
              <a:ext uri="{FF2B5EF4-FFF2-40B4-BE49-F238E27FC236}">
                <a16:creationId xmlns:a16="http://schemas.microsoft.com/office/drawing/2014/main" id="{6CADBBD7-613E-3808-8052-55CEA985F76F}"/>
              </a:ext>
            </a:extLst>
          </p:cNvPr>
          <p:cNvSpPr/>
          <p:nvPr/>
        </p:nvSpPr>
        <p:spPr>
          <a:xfrm>
            <a:off x="4276648"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Runtime icon">
            <a:extLst>
              <a:ext uri="{FF2B5EF4-FFF2-40B4-BE49-F238E27FC236}">
                <a16:creationId xmlns:a16="http://schemas.microsoft.com/office/drawing/2014/main" id="{BF0AE213-06C0-6260-44C6-197D194F8B24}"/>
              </a:ext>
            </a:extLst>
          </p:cNvPr>
          <p:cNvPicPr>
            <a:picLocks noChangeAspect="1"/>
          </p:cNvPicPr>
          <p:nvPr/>
        </p:nvPicPr>
        <p:blipFill>
          <a:blip r:embed="rId11"/>
          <a:stretch>
            <a:fillRect/>
          </a:stretch>
        </p:blipFill>
        <p:spPr>
          <a:xfrm>
            <a:off x="4377232" y="4613843"/>
            <a:ext cx="384048" cy="384048"/>
          </a:xfrm>
          <a:prstGeom prst="rect">
            <a:avLst/>
          </a:prstGeom>
        </p:spPr>
      </p:pic>
      <p:sp>
        <p:nvSpPr>
          <p:cNvPr id="56" name="TextBox 55">
            <a:extLst>
              <a:ext uri="{FF2B5EF4-FFF2-40B4-BE49-F238E27FC236}">
                <a16:creationId xmlns:a16="http://schemas.microsoft.com/office/drawing/2014/main" id="{C26CC816-F035-0D8C-53CB-1018763CBDC8}"/>
              </a:ext>
            </a:extLst>
          </p:cNvPr>
          <p:cNvSpPr txBox="1"/>
          <p:nvPr/>
        </p:nvSpPr>
        <p:spPr>
          <a:xfrm>
            <a:off x="4861864"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Runtime</a:t>
            </a:r>
          </a:p>
        </p:txBody>
      </p:sp>
      <p:sp>
        <p:nvSpPr>
          <p:cNvPr id="57" name="TextBox 56">
            <a:extLst>
              <a:ext uri="{FF2B5EF4-FFF2-40B4-BE49-F238E27FC236}">
                <a16:creationId xmlns:a16="http://schemas.microsoft.com/office/drawing/2014/main" id="{1F850EE8-D071-3ED8-3A16-32A5ECF1ACF9}"/>
              </a:ext>
            </a:extLst>
          </p:cNvPr>
          <p:cNvSpPr txBox="1"/>
          <p:nvPr/>
        </p:nvSpPr>
        <p:spPr>
          <a:xfrm>
            <a:off x="4861864"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valentin_agent_dev</a:t>
            </a:r>
          </a:p>
        </p:txBody>
      </p:sp>
      <p:sp>
        <p:nvSpPr>
          <p:cNvPr id="58" name="Rounded Rectangle 57">
            <a:extLst>
              <a:ext uri="{FF2B5EF4-FFF2-40B4-BE49-F238E27FC236}">
                <a16:creationId xmlns:a16="http://schemas.microsoft.com/office/drawing/2014/main" id="{76AF5DD0-0B5B-3A22-B46E-4547A45B7201}"/>
              </a:ext>
            </a:extLst>
          </p:cNvPr>
          <p:cNvSpPr/>
          <p:nvPr/>
        </p:nvSpPr>
        <p:spPr>
          <a:xfrm>
            <a:off x="8068665"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Memory icon">
            <a:extLst>
              <a:ext uri="{FF2B5EF4-FFF2-40B4-BE49-F238E27FC236}">
                <a16:creationId xmlns:a16="http://schemas.microsoft.com/office/drawing/2014/main" id="{F2F2E4D4-4460-5209-5795-E33070FEDA76}"/>
              </a:ext>
            </a:extLst>
          </p:cNvPr>
          <p:cNvPicPr>
            <a:picLocks noChangeAspect="1"/>
          </p:cNvPicPr>
          <p:nvPr/>
        </p:nvPicPr>
        <p:blipFill>
          <a:blip r:embed="rId12"/>
          <a:stretch>
            <a:fillRect/>
          </a:stretch>
        </p:blipFill>
        <p:spPr>
          <a:xfrm>
            <a:off x="8169249" y="4613843"/>
            <a:ext cx="384048" cy="384048"/>
          </a:xfrm>
          <a:prstGeom prst="rect">
            <a:avLst/>
          </a:prstGeom>
        </p:spPr>
      </p:pic>
      <p:sp>
        <p:nvSpPr>
          <p:cNvPr id="60" name="TextBox 59">
            <a:extLst>
              <a:ext uri="{FF2B5EF4-FFF2-40B4-BE49-F238E27FC236}">
                <a16:creationId xmlns:a16="http://schemas.microsoft.com/office/drawing/2014/main" id="{AC51B26E-5FBA-9C7D-4922-D5F60DE3CB03}"/>
              </a:ext>
            </a:extLst>
          </p:cNvPr>
          <p:cNvSpPr txBox="1"/>
          <p:nvPr/>
        </p:nvSpPr>
        <p:spPr>
          <a:xfrm>
            <a:off x="8653881"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Memory</a:t>
            </a:r>
          </a:p>
        </p:txBody>
      </p:sp>
      <p:sp>
        <p:nvSpPr>
          <p:cNvPr id="61" name="TextBox 60">
            <a:extLst>
              <a:ext uri="{FF2B5EF4-FFF2-40B4-BE49-F238E27FC236}">
                <a16:creationId xmlns:a16="http://schemas.microsoft.com/office/drawing/2014/main" id="{2466A223-3636-1606-0F81-F9E439F8F847}"/>
              </a:ext>
            </a:extLst>
          </p:cNvPr>
          <p:cNvSpPr txBox="1"/>
          <p:nvPr/>
        </p:nvSpPr>
        <p:spPr>
          <a:xfrm>
            <a:off x="8653881"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valentin_memory_dev</a:t>
            </a:r>
          </a:p>
        </p:txBody>
      </p:sp>
      <p:sp>
        <p:nvSpPr>
          <p:cNvPr id="62" name="Rounded Rectangle 61">
            <a:extLst>
              <a:ext uri="{FF2B5EF4-FFF2-40B4-BE49-F238E27FC236}">
                <a16:creationId xmlns:a16="http://schemas.microsoft.com/office/drawing/2014/main" id="{1ECB9BC3-16E8-B555-5FE6-E00360AE8B6B}"/>
              </a:ext>
            </a:extLst>
          </p:cNvPr>
          <p:cNvSpPr/>
          <p:nvPr/>
        </p:nvSpPr>
        <p:spPr>
          <a:xfrm>
            <a:off x="484632" y="5281355"/>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Observability icon">
            <a:extLst>
              <a:ext uri="{FF2B5EF4-FFF2-40B4-BE49-F238E27FC236}">
                <a16:creationId xmlns:a16="http://schemas.microsoft.com/office/drawing/2014/main" id="{9DD709B5-D6DC-1FFD-A4E6-56D55311892F}"/>
              </a:ext>
            </a:extLst>
          </p:cNvPr>
          <p:cNvPicPr>
            <a:picLocks noChangeAspect="1"/>
          </p:cNvPicPr>
          <p:nvPr/>
        </p:nvPicPr>
        <p:blipFill>
          <a:blip r:embed="rId13"/>
          <a:stretch>
            <a:fillRect/>
          </a:stretch>
        </p:blipFill>
        <p:spPr>
          <a:xfrm>
            <a:off x="585216" y="5400227"/>
            <a:ext cx="384048" cy="384048"/>
          </a:xfrm>
          <a:prstGeom prst="rect">
            <a:avLst/>
          </a:prstGeom>
        </p:spPr>
      </p:pic>
      <p:sp>
        <p:nvSpPr>
          <p:cNvPr id="64" name="TextBox 63">
            <a:extLst>
              <a:ext uri="{FF2B5EF4-FFF2-40B4-BE49-F238E27FC236}">
                <a16:creationId xmlns:a16="http://schemas.microsoft.com/office/drawing/2014/main" id="{7588979E-450A-7FDC-1ED6-8CBD252643E0}"/>
              </a:ext>
            </a:extLst>
          </p:cNvPr>
          <p:cNvSpPr txBox="1"/>
          <p:nvPr/>
        </p:nvSpPr>
        <p:spPr>
          <a:xfrm>
            <a:off x="1069848" y="5336219"/>
            <a:ext cx="2203704" cy="237744"/>
          </a:xfrm>
          <a:prstGeom prst="rect">
            <a:avLst/>
          </a:prstGeom>
          <a:noFill/>
        </p:spPr>
        <p:txBody>
          <a:bodyPr wrap="square" lIns="0" tIns="0" rIns="0" bIns="0" anchor="t">
            <a:spAutoFit/>
          </a:bodyPr>
          <a:lstStyle/>
          <a:p>
            <a:pPr algn="l"/>
            <a:r>
              <a:rPr sz="1500" b="1">
                <a:solidFill>
                  <a:srgbClr val="232F3E"/>
                </a:solidFill>
                <a:latin typeface="Calibri"/>
              </a:rPr>
              <a:t>Observability</a:t>
            </a:r>
          </a:p>
        </p:txBody>
      </p:sp>
      <p:sp>
        <p:nvSpPr>
          <p:cNvPr id="65" name="TextBox 64">
            <a:extLst>
              <a:ext uri="{FF2B5EF4-FFF2-40B4-BE49-F238E27FC236}">
                <a16:creationId xmlns:a16="http://schemas.microsoft.com/office/drawing/2014/main" id="{E9C8831A-74BE-4842-51CA-A5CCE8751267}"/>
              </a:ext>
            </a:extLst>
          </p:cNvPr>
          <p:cNvSpPr txBox="1"/>
          <p:nvPr/>
        </p:nvSpPr>
        <p:spPr>
          <a:xfrm>
            <a:off x="1069848" y="5592251"/>
            <a:ext cx="2043684" cy="215444"/>
          </a:xfrm>
          <a:prstGeom prst="rect">
            <a:avLst/>
          </a:prstGeom>
          <a:noFill/>
        </p:spPr>
        <p:txBody>
          <a:bodyPr wrap="square" lIns="0" tIns="0" rIns="0" bIns="0" anchor="t">
            <a:spAutoFit/>
          </a:bodyPr>
          <a:lstStyle/>
          <a:p>
            <a:pPr algn="l"/>
            <a:r>
              <a:rPr sz="1400" b="0">
                <a:solidFill>
                  <a:srgbClr val="545B64"/>
                </a:solidFill>
                <a:latin typeface="Calibri"/>
              </a:rPr>
              <a:t>session traces</a:t>
            </a:r>
          </a:p>
        </p:txBody>
      </p:sp>
      <p:sp>
        <p:nvSpPr>
          <p:cNvPr id="66" name="Rounded Rectangle 65">
            <a:extLst>
              <a:ext uri="{FF2B5EF4-FFF2-40B4-BE49-F238E27FC236}">
                <a16:creationId xmlns:a16="http://schemas.microsoft.com/office/drawing/2014/main" id="{CB77FD2C-5144-23F4-D0B1-20C619D5B63E}"/>
              </a:ext>
            </a:extLst>
          </p:cNvPr>
          <p:cNvSpPr/>
          <p:nvPr/>
        </p:nvSpPr>
        <p:spPr>
          <a:xfrm>
            <a:off x="4276648"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Gateway icon">
            <a:extLst>
              <a:ext uri="{FF2B5EF4-FFF2-40B4-BE49-F238E27FC236}">
                <a16:creationId xmlns:a16="http://schemas.microsoft.com/office/drawing/2014/main" id="{35EFC596-3463-A497-7069-36FE715DD426}"/>
              </a:ext>
            </a:extLst>
          </p:cNvPr>
          <p:cNvPicPr>
            <a:picLocks noChangeAspect="1"/>
          </p:cNvPicPr>
          <p:nvPr/>
        </p:nvPicPr>
        <p:blipFill>
          <a:blip r:embed="rId14"/>
          <a:stretch>
            <a:fillRect/>
          </a:stretch>
        </p:blipFill>
        <p:spPr>
          <a:xfrm>
            <a:off x="4377232" y="5400227"/>
            <a:ext cx="384048" cy="384048"/>
          </a:xfrm>
          <a:prstGeom prst="rect">
            <a:avLst/>
          </a:prstGeom>
        </p:spPr>
      </p:pic>
      <p:sp>
        <p:nvSpPr>
          <p:cNvPr id="68" name="TextBox 67">
            <a:extLst>
              <a:ext uri="{FF2B5EF4-FFF2-40B4-BE49-F238E27FC236}">
                <a16:creationId xmlns:a16="http://schemas.microsoft.com/office/drawing/2014/main" id="{9D4BC0DB-A450-C673-D86C-5F6206BAE170}"/>
              </a:ext>
            </a:extLst>
          </p:cNvPr>
          <p:cNvSpPr txBox="1"/>
          <p:nvPr/>
        </p:nvSpPr>
        <p:spPr>
          <a:xfrm>
            <a:off x="4861864"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Gateway</a:t>
            </a:r>
          </a:p>
        </p:txBody>
      </p:sp>
      <p:sp>
        <p:nvSpPr>
          <p:cNvPr id="69" name="TextBox 68">
            <a:extLst>
              <a:ext uri="{FF2B5EF4-FFF2-40B4-BE49-F238E27FC236}">
                <a16:creationId xmlns:a16="http://schemas.microsoft.com/office/drawing/2014/main" id="{498A4003-7463-EF0B-997F-A44545D01C3F}"/>
              </a:ext>
            </a:extLst>
          </p:cNvPr>
          <p:cNvSpPr txBox="1"/>
          <p:nvPr/>
        </p:nvSpPr>
        <p:spPr>
          <a:xfrm>
            <a:off x="4861864"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MCP · CUSTOM_JWT</a:t>
            </a:r>
          </a:p>
        </p:txBody>
      </p:sp>
      <p:sp>
        <p:nvSpPr>
          <p:cNvPr id="70" name="Rounded Rectangle 69">
            <a:extLst>
              <a:ext uri="{FF2B5EF4-FFF2-40B4-BE49-F238E27FC236}">
                <a16:creationId xmlns:a16="http://schemas.microsoft.com/office/drawing/2014/main" id="{9B04AEEA-CF18-A0B4-4C6F-CDAA571202BC}"/>
              </a:ext>
            </a:extLst>
          </p:cNvPr>
          <p:cNvSpPr/>
          <p:nvPr/>
        </p:nvSpPr>
        <p:spPr>
          <a:xfrm>
            <a:off x="8068665"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Lambda icon">
            <a:extLst>
              <a:ext uri="{FF2B5EF4-FFF2-40B4-BE49-F238E27FC236}">
                <a16:creationId xmlns:a16="http://schemas.microsoft.com/office/drawing/2014/main" id="{AFA201F7-E1A8-E3BC-B7AB-2C06CA1D4C8B}"/>
              </a:ext>
            </a:extLst>
          </p:cNvPr>
          <p:cNvPicPr>
            <a:picLocks noChangeAspect="1"/>
          </p:cNvPicPr>
          <p:nvPr/>
        </p:nvPicPr>
        <p:blipFill>
          <a:blip r:embed="rId15"/>
          <a:stretch>
            <a:fillRect/>
          </a:stretch>
        </p:blipFill>
        <p:spPr>
          <a:xfrm>
            <a:off x="8169249" y="5400227"/>
            <a:ext cx="384048" cy="384048"/>
          </a:xfrm>
          <a:prstGeom prst="rect">
            <a:avLst/>
          </a:prstGeom>
        </p:spPr>
      </p:pic>
      <p:sp>
        <p:nvSpPr>
          <p:cNvPr id="72" name="TextBox 71">
            <a:extLst>
              <a:ext uri="{FF2B5EF4-FFF2-40B4-BE49-F238E27FC236}">
                <a16:creationId xmlns:a16="http://schemas.microsoft.com/office/drawing/2014/main" id="{82D5506C-8F17-C286-4CD2-250289104540}"/>
              </a:ext>
            </a:extLst>
          </p:cNvPr>
          <p:cNvSpPr txBox="1"/>
          <p:nvPr/>
        </p:nvSpPr>
        <p:spPr>
          <a:xfrm>
            <a:off x="8653881"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Lambda</a:t>
            </a:r>
          </a:p>
        </p:txBody>
      </p:sp>
      <p:sp>
        <p:nvSpPr>
          <p:cNvPr id="73" name="TextBox 72">
            <a:extLst>
              <a:ext uri="{FF2B5EF4-FFF2-40B4-BE49-F238E27FC236}">
                <a16:creationId xmlns:a16="http://schemas.microsoft.com/office/drawing/2014/main" id="{15846E44-8355-40AF-6E11-F8EBB73074D8}"/>
              </a:ext>
            </a:extLst>
          </p:cNvPr>
          <p:cNvSpPr txBox="1"/>
          <p:nvPr/>
        </p:nvSpPr>
        <p:spPr>
          <a:xfrm>
            <a:off x="8653881"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valentin-profile-tools-dev</a:t>
            </a:r>
          </a:p>
        </p:txBody>
      </p:sp>
      <p:cxnSp>
        <p:nvCxnSpPr>
          <p:cNvPr id="74" name="Connector 69">
            <a:extLst>
              <a:ext uri="{FF2B5EF4-FFF2-40B4-BE49-F238E27FC236}">
                <a16:creationId xmlns:a16="http://schemas.microsoft.com/office/drawing/2014/main" id="{F62525F7-403C-D95D-6093-3ABE491DFB28}"/>
              </a:ext>
            </a:extLst>
          </p:cNvPr>
          <p:cNvCxnSpPr/>
          <p:nvPr/>
        </p:nvCxnSpPr>
        <p:spPr>
          <a:xfrm>
            <a:off x="502920" y="6278051"/>
            <a:ext cx="50292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CA7A883-53A0-138B-2C5D-4F666E7868BD}"/>
              </a:ext>
            </a:extLst>
          </p:cNvPr>
          <p:cNvSpPr txBox="1"/>
          <p:nvPr/>
        </p:nvSpPr>
        <p:spPr>
          <a:xfrm>
            <a:off x="1124712"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the request path</a:t>
            </a:r>
          </a:p>
        </p:txBody>
      </p:sp>
      <p:sp>
        <p:nvSpPr>
          <p:cNvPr id="76" name="Rounded Rectangle 75">
            <a:extLst>
              <a:ext uri="{FF2B5EF4-FFF2-40B4-BE49-F238E27FC236}">
                <a16:creationId xmlns:a16="http://schemas.microsoft.com/office/drawing/2014/main" id="{3D8F36A9-0203-C26D-D641-716B9F1BA4FF}"/>
              </a:ext>
            </a:extLst>
          </p:cNvPr>
          <p:cNvSpPr/>
          <p:nvPr/>
        </p:nvSpPr>
        <p:spPr>
          <a:xfrm>
            <a:off x="3310128" y="6159179"/>
            <a:ext cx="502920" cy="237744"/>
          </a:xfrm>
          <a:prstGeom prst="roundRect">
            <a:avLst>
              <a:gd name="adj" fmla="val 15384"/>
            </a:avLst>
          </a:prstGeom>
          <a:solidFill>
            <a:srgbClr val="F7F8FA"/>
          </a:solid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0B10EF-5851-3850-466C-5940922129D2}"/>
              </a:ext>
            </a:extLst>
          </p:cNvPr>
          <p:cNvSpPr txBox="1"/>
          <p:nvPr/>
        </p:nvSpPr>
        <p:spPr>
          <a:xfrm>
            <a:off x="3931920"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A · my code</a:t>
            </a:r>
          </a:p>
        </p:txBody>
      </p:sp>
      <p:sp>
        <p:nvSpPr>
          <p:cNvPr id="78" name="Rounded Rectangle 77">
            <a:extLst>
              <a:ext uri="{FF2B5EF4-FFF2-40B4-BE49-F238E27FC236}">
                <a16:creationId xmlns:a16="http://schemas.microsoft.com/office/drawing/2014/main" id="{F3B40E0D-FC87-70CF-6FD0-7818E4D58932}"/>
              </a:ext>
            </a:extLst>
          </p:cNvPr>
          <p:cNvSpPr/>
          <p:nvPr/>
        </p:nvSpPr>
        <p:spPr>
          <a:xfrm>
            <a:off x="6117336" y="6159179"/>
            <a:ext cx="502920" cy="237744"/>
          </a:xfrm>
          <a:prstGeom prst="roundRect">
            <a:avLst>
              <a:gd name="adj" fmla="val 15384"/>
            </a:avLst>
          </a:prstGeom>
          <a:solidFill>
            <a:srgbClr val="F7F8FA"/>
          </a:solid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9EE8193-42BF-C869-00BF-DC638D8639A7}"/>
              </a:ext>
            </a:extLst>
          </p:cNvPr>
          <p:cNvSpPr txBox="1"/>
          <p:nvPr/>
        </p:nvSpPr>
        <p:spPr>
          <a:xfrm>
            <a:off x="6739127"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B · AgentCore</a:t>
            </a:r>
          </a:p>
        </p:txBody>
      </p:sp>
      <p:sp>
        <p:nvSpPr>
          <p:cNvPr id="80" name="Rounded Rectangle 79">
            <a:extLst>
              <a:ext uri="{FF2B5EF4-FFF2-40B4-BE49-F238E27FC236}">
                <a16:creationId xmlns:a16="http://schemas.microsoft.com/office/drawing/2014/main" id="{71F33B3A-7ED1-3B42-2134-12E4D785D3DE}"/>
              </a:ext>
            </a:extLst>
          </p:cNvPr>
          <p:cNvSpPr/>
          <p:nvPr/>
        </p:nvSpPr>
        <p:spPr>
          <a:xfrm>
            <a:off x="8924544" y="6159179"/>
            <a:ext cx="502920" cy="237744"/>
          </a:xfrm>
          <a:prstGeom prst="roundRect">
            <a:avLst>
              <a:gd name="adj" fmla="val 15384"/>
            </a:avLst>
          </a:prstGeom>
          <a:solidFill>
            <a:srgbClr val="F7F8FA"/>
          </a:solidFill>
          <a:ln w="2222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CBD85F31-15B6-B520-891F-31404183B476}"/>
              </a:ext>
            </a:extLst>
          </p:cNvPr>
          <p:cNvSpPr txBox="1"/>
          <p:nvPr/>
        </p:nvSpPr>
        <p:spPr>
          <a:xfrm>
            <a:off x="9546336"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shared · both engines</a:t>
            </a:r>
          </a:p>
        </p:txBody>
      </p:sp>
      <p:cxnSp>
        <p:nvCxnSpPr>
          <p:cNvPr id="82" name="Connector 77">
            <a:extLst>
              <a:ext uri="{FF2B5EF4-FFF2-40B4-BE49-F238E27FC236}">
                <a16:creationId xmlns:a16="http://schemas.microsoft.com/office/drawing/2014/main" id="{86785538-F13E-1A7F-546E-C8151307D93B}"/>
              </a:ext>
            </a:extLst>
          </p:cNvPr>
          <p:cNvCxnSpPr/>
          <p:nvPr/>
        </p:nvCxnSpPr>
        <p:spPr>
          <a:xfrm>
            <a:off x="2400300" y="1898075"/>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78">
            <a:extLst>
              <a:ext uri="{FF2B5EF4-FFF2-40B4-BE49-F238E27FC236}">
                <a16:creationId xmlns:a16="http://schemas.microsoft.com/office/drawing/2014/main" id="{CB9EDD0E-DC4A-A6AA-D255-B941C4058CF5}"/>
              </a:ext>
            </a:extLst>
          </p:cNvPr>
          <p:cNvCxnSpPr/>
          <p:nvPr/>
        </p:nvCxnSpPr>
        <p:spPr>
          <a:xfrm>
            <a:off x="3486150" y="2208971"/>
            <a:ext cx="0" cy="237744"/>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79">
            <a:extLst>
              <a:ext uri="{FF2B5EF4-FFF2-40B4-BE49-F238E27FC236}">
                <a16:creationId xmlns:a16="http://schemas.microsoft.com/office/drawing/2014/main" id="{C140B896-168D-7EFD-059D-9C21EEAFCD6A}"/>
              </a:ext>
            </a:extLst>
          </p:cNvPr>
          <p:cNvCxnSpPr/>
          <p:nvPr/>
        </p:nvCxnSpPr>
        <p:spPr>
          <a:xfrm>
            <a:off x="2784348" y="2208971"/>
            <a:ext cx="0" cy="118872"/>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5" name="Connector 80">
            <a:extLst>
              <a:ext uri="{FF2B5EF4-FFF2-40B4-BE49-F238E27FC236}">
                <a16:creationId xmlns:a16="http://schemas.microsoft.com/office/drawing/2014/main" id="{2427965A-8896-6F50-2274-0AE9D1582B8B}"/>
              </a:ext>
            </a:extLst>
          </p:cNvPr>
          <p:cNvCxnSpPr/>
          <p:nvPr/>
        </p:nvCxnSpPr>
        <p:spPr>
          <a:xfrm flipH="1">
            <a:off x="1442466" y="2327843"/>
            <a:ext cx="1341882"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6" name="Connector 81">
            <a:extLst>
              <a:ext uri="{FF2B5EF4-FFF2-40B4-BE49-F238E27FC236}">
                <a16:creationId xmlns:a16="http://schemas.microsoft.com/office/drawing/2014/main" id="{666ABABF-B2B3-74C6-08BC-17CC328F2DF4}"/>
              </a:ext>
            </a:extLst>
          </p:cNvPr>
          <p:cNvCxnSpPr/>
          <p:nvPr/>
        </p:nvCxnSpPr>
        <p:spPr>
          <a:xfrm>
            <a:off x="1442466" y="2327843"/>
            <a:ext cx="0" cy="118872"/>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2">
            <a:extLst>
              <a:ext uri="{FF2B5EF4-FFF2-40B4-BE49-F238E27FC236}">
                <a16:creationId xmlns:a16="http://schemas.microsoft.com/office/drawing/2014/main" id="{BD6DEF2A-5407-4DCC-9E95-C94166B82BA2}"/>
              </a:ext>
            </a:extLst>
          </p:cNvPr>
          <p:cNvCxnSpPr/>
          <p:nvPr/>
        </p:nvCxnSpPr>
        <p:spPr>
          <a:xfrm>
            <a:off x="4443984" y="2757611"/>
            <a:ext cx="164592" cy="0"/>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8" name="Connector 83">
            <a:extLst>
              <a:ext uri="{FF2B5EF4-FFF2-40B4-BE49-F238E27FC236}">
                <a16:creationId xmlns:a16="http://schemas.microsoft.com/office/drawing/2014/main" id="{41FDCD60-154B-B076-AAAC-095789EFB9EE}"/>
              </a:ext>
            </a:extLst>
          </p:cNvPr>
          <p:cNvCxnSpPr/>
          <p:nvPr/>
        </p:nvCxnSpPr>
        <p:spPr>
          <a:xfrm flipV="1">
            <a:off x="4608576" y="1898075"/>
            <a:ext cx="0" cy="8595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9" name="Connector 84">
            <a:extLst>
              <a:ext uri="{FF2B5EF4-FFF2-40B4-BE49-F238E27FC236}">
                <a16:creationId xmlns:a16="http://schemas.microsoft.com/office/drawing/2014/main" id="{AFC48D9C-990E-3695-C8A0-396039650229}"/>
              </a:ext>
            </a:extLst>
          </p:cNvPr>
          <p:cNvCxnSpPr/>
          <p:nvPr/>
        </p:nvCxnSpPr>
        <p:spPr>
          <a:xfrm>
            <a:off x="4608576" y="1898075"/>
            <a:ext cx="164592"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5">
            <a:extLst>
              <a:ext uri="{FF2B5EF4-FFF2-40B4-BE49-F238E27FC236}">
                <a16:creationId xmlns:a16="http://schemas.microsoft.com/office/drawing/2014/main" id="{446DA898-5874-9F20-C426-3103CDE3EE4A}"/>
              </a:ext>
            </a:extLst>
          </p:cNvPr>
          <p:cNvCxnSpPr/>
          <p:nvPr/>
        </p:nvCxnSpPr>
        <p:spPr>
          <a:xfrm>
            <a:off x="3486150" y="3068507"/>
            <a:ext cx="0" cy="132588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86">
            <a:extLst>
              <a:ext uri="{FF2B5EF4-FFF2-40B4-BE49-F238E27FC236}">
                <a16:creationId xmlns:a16="http://schemas.microsoft.com/office/drawing/2014/main" id="{18FD3414-A26D-E797-C48D-0360C954EADE}"/>
              </a:ext>
            </a:extLst>
          </p:cNvPr>
          <p:cNvCxnSpPr/>
          <p:nvPr/>
        </p:nvCxnSpPr>
        <p:spPr>
          <a:xfrm>
            <a:off x="7671816" y="1806635"/>
            <a:ext cx="566928"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87">
            <a:extLst>
              <a:ext uri="{FF2B5EF4-FFF2-40B4-BE49-F238E27FC236}">
                <a16:creationId xmlns:a16="http://schemas.microsoft.com/office/drawing/2014/main" id="{6B294470-428C-CE19-FE9E-B40F1D503230}"/>
              </a:ext>
            </a:extLst>
          </p:cNvPr>
          <p:cNvCxnSpPr/>
          <p:nvPr/>
        </p:nvCxnSpPr>
        <p:spPr>
          <a:xfrm>
            <a:off x="7498080" y="2208971"/>
            <a:ext cx="0" cy="140817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3" name="Connector 88">
            <a:extLst>
              <a:ext uri="{FF2B5EF4-FFF2-40B4-BE49-F238E27FC236}">
                <a16:creationId xmlns:a16="http://schemas.microsoft.com/office/drawing/2014/main" id="{9E56131B-D3E3-BE6F-74A9-914DD4986652}"/>
              </a:ext>
            </a:extLst>
          </p:cNvPr>
          <p:cNvCxnSpPr/>
          <p:nvPr/>
        </p:nvCxnSpPr>
        <p:spPr>
          <a:xfrm>
            <a:off x="7498080" y="3617147"/>
            <a:ext cx="740664"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89">
            <a:extLst>
              <a:ext uri="{FF2B5EF4-FFF2-40B4-BE49-F238E27FC236}">
                <a16:creationId xmlns:a16="http://schemas.microsoft.com/office/drawing/2014/main" id="{A48EDD06-F84C-B7DC-09B0-5EB4BB5FFBA2}"/>
              </a:ext>
            </a:extLst>
          </p:cNvPr>
          <p:cNvCxnSpPr>
            <a:cxnSpLocks/>
          </p:cNvCxnSpPr>
          <p:nvPr/>
        </p:nvCxnSpPr>
        <p:spPr>
          <a:xfrm>
            <a:off x="3813048" y="4805867"/>
            <a:ext cx="46360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0">
            <a:extLst>
              <a:ext uri="{FF2B5EF4-FFF2-40B4-BE49-F238E27FC236}">
                <a16:creationId xmlns:a16="http://schemas.microsoft.com/office/drawing/2014/main" id="{06566D52-374B-BD7E-FA13-7C546950E907}"/>
              </a:ext>
            </a:extLst>
          </p:cNvPr>
          <p:cNvCxnSpPr/>
          <p:nvPr/>
        </p:nvCxnSpPr>
        <p:spPr>
          <a:xfrm>
            <a:off x="7940649" y="4805867"/>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1">
            <a:extLst>
              <a:ext uri="{FF2B5EF4-FFF2-40B4-BE49-F238E27FC236}">
                <a16:creationId xmlns:a16="http://schemas.microsoft.com/office/drawing/2014/main" id="{E8F9B5CF-50E4-ED38-661D-12DFC643532C}"/>
              </a:ext>
            </a:extLst>
          </p:cNvPr>
          <p:cNvCxnSpPr/>
          <p:nvPr/>
        </p:nvCxnSpPr>
        <p:spPr>
          <a:xfrm flipV="1">
            <a:off x="7882127" y="2035235"/>
            <a:ext cx="0" cy="24597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7" name="Connector 92">
            <a:extLst>
              <a:ext uri="{FF2B5EF4-FFF2-40B4-BE49-F238E27FC236}">
                <a16:creationId xmlns:a16="http://schemas.microsoft.com/office/drawing/2014/main" id="{1C5826F0-A93E-A510-7B94-C6C0AADFDE43}"/>
              </a:ext>
            </a:extLst>
          </p:cNvPr>
          <p:cNvCxnSpPr/>
          <p:nvPr/>
        </p:nvCxnSpPr>
        <p:spPr>
          <a:xfrm>
            <a:off x="7882127" y="2035235"/>
            <a:ext cx="356617"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3">
            <a:extLst>
              <a:ext uri="{FF2B5EF4-FFF2-40B4-BE49-F238E27FC236}">
                <a16:creationId xmlns:a16="http://schemas.microsoft.com/office/drawing/2014/main" id="{54D6827B-1EBC-7F1A-E7A5-E57FFCBAA6A0}"/>
              </a:ext>
            </a:extLst>
          </p:cNvPr>
          <p:cNvCxnSpPr/>
          <p:nvPr/>
        </p:nvCxnSpPr>
        <p:spPr>
          <a:xfrm>
            <a:off x="6108649" y="5116763"/>
            <a:ext cx="0" cy="164592"/>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4">
            <a:extLst>
              <a:ext uri="{FF2B5EF4-FFF2-40B4-BE49-F238E27FC236}">
                <a16:creationId xmlns:a16="http://schemas.microsoft.com/office/drawing/2014/main" id="{C9C0F088-5C66-98D7-3369-73DF5ABB48C6}"/>
              </a:ext>
            </a:extLst>
          </p:cNvPr>
          <p:cNvCxnSpPr/>
          <p:nvPr/>
        </p:nvCxnSpPr>
        <p:spPr>
          <a:xfrm>
            <a:off x="7940649" y="5592251"/>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5">
            <a:extLst>
              <a:ext uri="{FF2B5EF4-FFF2-40B4-BE49-F238E27FC236}">
                <a16:creationId xmlns:a16="http://schemas.microsoft.com/office/drawing/2014/main" id="{5D30BBD8-9F5E-1E8E-26EB-498BF07C100F}"/>
              </a:ext>
            </a:extLst>
          </p:cNvPr>
          <p:cNvCxnSpPr/>
          <p:nvPr/>
        </p:nvCxnSpPr>
        <p:spPr>
          <a:xfrm flipV="1">
            <a:off x="9900666" y="3928043"/>
            <a:ext cx="0" cy="566928"/>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96">
            <a:extLst>
              <a:ext uri="{FF2B5EF4-FFF2-40B4-BE49-F238E27FC236}">
                <a16:creationId xmlns:a16="http://schemas.microsoft.com/office/drawing/2014/main" id="{10B4B3FE-2DCA-69DF-ADCB-8CBB809EE0B8}"/>
              </a:ext>
            </a:extLst>
          </p:cNvPr>
          <p:cNvCxnSpPr/>
          <p:nvPr/>
        </p:nvCxnSpPr>
        <p:spPr>
          <a:xfrm flipH="1">
            <a:off x="4148632" y="4970458"/>
            <a:ext cx="128016"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2" name="Connector 97">
            <a:extLst>
              <a:ext uri="{FF2B5EF4-FFF2-40B4-BE49-F238E27FC236}">
                <a16:creationId xmlns:a16="http://schemas.microsoft.com/office/drawing/2014/main" id="{3E35032C-022D-262F-36EB-FFC5B6FE02F1}"/>
              </a:ext>
            </a:extLst>
          </p:cNvPr>
          <p:cNvCxnSpPr>
            <a:cxnSpLocks/>
          </p:cNvCxnSpPr>
          <p:nvPr/>
        </p:nvCxnSpPr>
        <p:spPr>
          <a:xfrm>
            <a:off x="4151569" y="4961314"/>
            <a:ext cx="0" cy="621793"/>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3" name="Connector 98">
            <a:extLst>
              <a:ext uri="{FF2B5EF4-FFF2-40B4-BE49-F238E27FC236}">
                <a16:creationId xmlns:a16="http://schemas.microsoft.com/office/drawing/2014/main" id="{D8925AD3-6CDF-8612-8117-F311166D35E9}"/>
              </a:ext>
            </a:extLst>
          </p:cNvPr>
          <p:cNvCxnSpPr/>
          <p:nvPr/>
        </p:nvCxnSpPr>
        <p:spPr>
          <a:xfrm>
            <a:off x="4148632" y="5592251"/>
            <a:ext cx="0" cy="0"/>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61BEA13F-270E-89EB-4D72-C62DAC1371E4}"/>
              </a:ext>
            </a:extLst>
          </p:cNvPr>
          <p:cNvSpPr/>
          <p:nvPr/>
        </p:nvSpPr>
        <p:spPr>
          <a:xfrm>
            <a:off x="8342375" y="2969067"/>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a:t>
            </a:r>
            <a:r>
              <a:rPr lang="en-US" dirty="0" err="1">
                <a:solidFill>
                  <a:srgbClr val="FF0000"/>
                </a:solidFill>
                <a:highlight>
                  <a:srgbClr val="FFFF00"/>
                </a:highlight>
              </a:rPr>
              <a:t>emphasie</a:t>
            </a:r>
            <a:r>
              <a:rPr lang="en-US" dirty="0">
                <a:solidFill>
                  <a:srgbClr val="FF0000"/>
                </a:solidFill>
                <a:highlight>
                  <a:srgbClr val="FFFF00"/>
                </a:highlight>
              </a:rPr>
              <a:t> to myself why the DynamoDB is shared (to distinguish demo reasons </a:t>
            </a:r>
            <a:r>
              <a:rPr lang="en-US" dirty="0" err="1">
                <a:solidFill>
                  <a:srgbClr val="FF0000"/>
                </a:solidFill>
                <a:highlight>
                  <a:srgbClr val="FFFF00"/>
                </a:highlight>
              </a:rPr>
              <a:t>tha</a:t>
            </a:r>
            <a:r>
              <a:rPr lang="en-US" dirty="0">
                <a:solidFill>
                  <a:srgbClr val="FF0000"/>
                </a:solidFill>
                <a:highlight>
                  <a:srgbClr val="FFFF00"/>
                </a:highlight>
              </a:rPr>
              <a:t> </a:t>
            </a:r>
            <a:r>
              <a:rPr lang="en-US" dirty="0" err="1">
                <a:solidFill>
                  <a:srgbClr val="FF0000"/>
                </a:solidFill>
                <a:highlight>
                  <a:srgbClr val="FFFF00"/>
                </a:highlight>
              </a:rPr>
              <a:t>tcmes</a:t>
            </a:r>
            <a:r>
              <a:rPr lang="en-US" dirty="0">
                <a:solidFill>
                  <a:srgbClr val="FF0000"/>
                </a:solidFill>
                <a:highlight>
                  <a:srgbClr val="FFFF00"/>
                </a:highlight>
              </a:rPr>
              <a:t> from the two architecture, to real reason why we may want both DynamoDB and AgentCore Memory (list to </a:t>
            </a:r>
            <a:r>
              <a:rPr lang="en-US" dirty="0" err="1">
                <a:solidFill>
                  <a:srgbClr val="FF0000"/>
                </a:solidFill>
                <a:highlight>
                  <a:srgbClr val="FFFF00"/>
                </a:highlight>
              </a:rPr>
              <a:t>myxelf</a:t>
            </a:r>
            <a:r>
              <a:rPr lang="en-US" dirty="0">
                <a:solidFill>
                  <a:srgbClr val="FF0000"/>
                </a:solidFill>
                <a:highlight>
                  <a:srgbClr val="FFFF00"/>
                </a:highlight>
              </a:rPr>
              <a:t> exactly what is </a:t>
            </a:r>
            <a:r>
              <a:rPr lang="en-US" dirty="0" err="1">
                <a:solidFill>
                  <a:srgbClr val="FF0000"/>
                </a:solidFill>
                <a:highlight>
                  <a:srgbClr val="FFFF00"/>
                </a:highlight>
              </a:rPr>
              <a:t>aved</a:t>
            </a:r>
            <a:r>
              <a:rPr lang="en-US" dirty="0">
                <a:solidFill>
                  <a:srgbClr val="FF0000"/>
                </a:solidFill>
                <a:highlight>
                  <a:srgbClr val="FFFF00"/>
                </a:highlight>
              </a:rPr>
              <a:t> where: conversation, preference, more </a:t>
            </a:r>
            <a:r>
              <a:rPr lang="en-US" dirty="0" err="1">
                <a:solidFill>
                  <a:srgbClr val="FF0000"/>
                </a:solidFill>
                <a:highlight>
                  <a:srgbClr val="FFFF00"/>
                </a:highlight>
              </a:rPr>
              <a:t>thigns</a:t>
            </a:r>
            <a:r>
              <a:rPr lang="en-US" dirty="0">
                <a:solidFill>
                  <a:srgbClr val="FF0000"/>
                </a:solidFill>
                <a:highlight>
                  <a:srgbClr val="FFFF00"/>
                </a:highlight>
              </a:rPr>
              <a:t>?, dates? Does Observability </a:t>
            </a:r>
            <a:r>
              <a:rPr lang="en-US" dirty="0" err="1">
                <a:solidFill>
                  <a:srgbClr val="FF0000"/>
                </a:solidFill>
                <a:highlight>
                  <a:srgbClr val="FFFF00"/>
                </a:highlight>
              </a:rPr>
              <a:t>seeesiosn</a:t>
            </a:r>
            <a:r>
              <a:rPr lang="en-US" dirty="0">
                <a:solidFill>
                  <a:srgbClr val="FF0000"/>
                </a:solidFill>
                <a:highlight>
                  <a:srgbClr val="FFFF00"/>
                </a:highlight>
              </a:rPr>
              <a:t> really </a:t>
            </a:r>
            <a:r>
              <a:rPr lang="en-US" dirty="0" err="1">
                <a:solidFill>
                  <a:srgbClr val="FF0000"/>
                </a:solidFill>
                <a:highlight>
                  <a:srgbClr val="FFFF00"/>
                </a:highlight>
              </a:rPr>
              <a:t>sved</a:t>
            </a:r>
            <a:r>
              <a:rPr lang="en-US" dirty="0">
                <a:solidFill>
                  <a:srgbClr val="FF0000"/>
                </a:solidFill>
                <a:highlight>
                  <a:srgbClr val="FFFF00"/>
                </a:highlight>
              </a:rPr>
              <a:t>? I think not?</a:t>
            </a:r>
            <a:endParaRPr dirty="0">
              <a:solidFill>
                <a:srgbClr val="FF0000"/>
              </a:solidFill>
              <a:highlight>
                <a:srgbClr val="FFFF00"/>
              </a:highlight>
            </a:endParaRPr>
          </a:p>
        </p:txBody>
      </p:sp>
    </p:spTree>
    <p:extLst>
      <p:ext uri="{BB962C8B-B14F-4D97-AF65-F5344CB8AC3E}">
        <p14:creationId xmlns:p14="http://schemas.microsoft.com/office/powerpoint/2010/main" val="69481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41C5-56F3-08D7-5164-11DCA311F8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4AD547-A3A1-445F-C483-150D3D289BD5}"/>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3344538-721D-C585-4D9A-8CD2287FF73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9818B36-4EA8-2094-D58C-C026A897EFD2}"/>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2FCEF234-DD22-2A97-0B3B-39628ACE33E7}"/>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Assumption of use </a:t>
            </a:r>
            <a:r>
              <a:rPr lang="en-US" sz="3000" b="1" i="0" dirty="0">
                <a:solidFill>
                  <a:srgbClr val="232F3E"/>
                </a:solidFill>
                <a:highlight>
                  <a:srgbClr val="FFFF00"/>
                </a:highlight>
                <a:latin typeface="Calibri"/>
              </a:rPr>
              <a:t>for the full </a:t>
            </a:r>
            <a:r>
              <a:rPr lang="en-US" sz="3000" b="1" i="0" dirty="0" err="1">
                <a:solidFill>
                  <a:srgbClr val="232F3E"/>
                </a:solidFill>
                <a:highlight>
                  <a:srgbClr val="FFFF00"/>
                </a:highlight>
                <a:latin typeface="Calibri"/>
              </a:rPr>
              <a:t>analyss</a:t>
            </a:r>
            <a:endParaRPr sz="3000" b="1" i="0" dirty="0">
              <a:solidFill>
                <a:srgbClr val="232F3E"/>
              </a:solidFill>
              <a:highlight>
                <a:srgbClr val="FFFF00"/>
              </a:highlight>
              <a:latin typeface="Calibri"/>
            </a:endParaRPr>
          </a:p>
        </p:txBody>
      </p:sp>
      <p:sp>
        <p:nvSpPr>
          <p:cNvPr id="6" name="Rectangle 5">
            <a:extLst>
              <a:ext uri="{FF2B5EF4-FFF2-40B4-BE49-F238E27FC236}">
                <a16:creationId xmlns:a16="http://schemas.microsoft.com/office/drawing/2014/main" id="{F28B510D-DE17-48CD-232D-07B926FBD7A2}"/>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D866167-30CB-503E-9569-C3D9EBA3B9CB}"/>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a:extLst>
              <a:ext uri="{FF2B5EF4-FFF2-40B4-BE49-F238E27FC236}">
                <a16:creationId xmlns:a16="http://schemas.microsoft.com/office/drawing/2014/main" id="{6A93E0AC-09E2-4970-AC01-1511AA7D023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5BD50576-F8B1-1A95-8E53-A2BA1E890A0B}"/>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50ED7B42-F56A-4616-1E25-7CB29147DEFC}"/>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apples to apples: same hours up, same number of users, same pricing models </a:t>
            </a:r>
            <a:r>
              <a:rPr lang="en-US" dirty="0" err="1">
                <a:solidFill>
                  <a:srgbClr val="FF0000"/>
                </a:solidFill>
                <a:highlight>
                  <a:srgbClr val="FFFF00"/>
                </a:highlight>
              </a:rPr>
              <a:t>fror</a:t>
            </a:r>
            <a:r>
              <a:rPr lang="en-US" dirty="0">
                <a:solidFill>
                  <a:srgbClr val="FF0000"/>
                </a:solidFill>
                <a:highlight>
                  <a:srgbClr val="FFFF00"/>
                </a:highlight>
              </a:rPr>
              <a:t> bedrock</a:t>
            </a:r>
          </a:p>
          <a:p>
            <a:pPr marL="0" algn="ctr" defTabSz="457200" rtl="0" eaLnBrk="1" latinLnBrk="0" hangingPunct="1"/>
            <a:endParaRPr lang="en-US" dirty="0">
              <a:solidFill>
                <a:srgbClr val="FF0000"/>
              </a:solidFill>
              <a:highlight>
                <a:srgbClr val="FFFF00"/>
              </a:highlight>
            </a:endParaRPr>
          </a:p>
          <a:p>
            <a:pPr marL="0" algn="ctr" defTabSz="457200" rtl="0" eaLnBrk="1" latinLnBrk="0" hangingPunct="1"/>
            <a:r>
              <a:rPr lang="en-US" dirty="0">
                <a:solidFill>
                  <a:srgbClr val="FF0000"/>
                </a:solidFill>
                <a:highlight>
                  <a:srgbClr val="FFFF00"/>
                </a:highlight>
              </a:rPr>
              <a:t>Ignore the </a:t>
            </a:r>
            <a:r>
              <a:rPr lang="en-US" dirty="0" err="1">
                <a:solidFill>
                  <a:srgbClr val="FF0000"/>
                </a:solidFill>
                <a:highlight>
                  <a:srgbClr val="FFFF00"/>
                </a:highlight>
              </a:rPr>
              <a:t>fargate</a:t>
            </a:r>
            <a:r>
              <a:rPr lang="en-US" dirty="0">
                <a:solidFill>
                  <a:srgbClr val="FF0000"/>
                </a:solidFill>
                <a:highlight>
                  <a:srgbClr val="FFFF00"/>
                </a:highlight>
              </a:rPr>
              <a:t> and ALB that is there for </a:t>
            </a:r>
            <a:r>
              <a:rPr lang="en-US" dirty="0" err="1">
                <a:solidFill>
                  <a:srgbClr val="FF0000"/>
                </a:solidFill>
                <a:highlight>
                  <a:srgbClr val="FFFF00"/>
                </a:highlight>
              </a:rPr>
              <a:t>learingin</a:t>
            </a:r>
            <a:r>
              <a:rPr lang="en-US" dirty="0">
                <a:solidFill>
                  <a:srgbClr val="FF0000"/>
                </a:solidFill>
                <a:highlight>
                  <a:srgbClr val="FFFF00"/>
                </a:highlight>
              </a:rPr>
              <a:t> purpose, if there are </a:t>
            </a:r>
            <a:r>
              <a:rPr lang="en-US" dirty="0" err="1">
                <a:solidFill>
                  <a:srgbClr val="FF0000"/>
                </a:solidFill>
                <a:highlight>
                  <a:srgbClr val="FFFF00"/>
                </a:highlight>
              </a:rPr>
              <a:t>additiaonl</a:t>
            </a:r>
            <a:r>
              <a:rPr lang="en-US" dirty="0">
                <a:solidFill>
                  <a:srgbClr val="FF0000"/>
                </a:solidFill>
                <a:highlight>
                  <a:srgbClr val="FFFF00"/>
                </a:highlight>
              </a:rPr>
              <a:t> </a:t>
            </a:r>
            <a:r>
              <a:rPr lang="en-US" dirty="0" err="1">
                <a:solidFill>
                  <a:srgbClr val="FF0000"/>
                </a:solidFill>
                <a:highlight>
                  <a:srgbClr val="FFFF00"/>
                </a:highlight>
              </a:rPr>
              <a:t>hiden</a:t>
            </a:r>
            <a:r>
              <a:rPr lang="en-US" dirty="0">
                <a:solidFill>
                  <a:srgbClr val="FF0000"/>
                </a:solidFill>
                <a:highlight>
                  <a:srgbClr val="FFFF00"/>
                </a:highlight>
              </a:rPr>
              <a:t> learning purpose resources that are billed, tell us and we will consider together </a:t>
            </a:r>
            <a:r>
              <a:rPr lang="en-US" dirty="0" err="1">
                <a:solidFill>
                  <a:srgbClr val="FF0000"/>
                </a:solidFill>
                <a:highlight>
                  <a:srgbClr val="FFFF00"/>
                </a:highlight>
              </a:rPr>
              <a:t>thm</a:t>
            </a:r>
            <a:endParaRPr dirty="0">
              <a:solidFill>
                <a:srgbClr val="FF0000"/>
              </a:solidFill>
              <a:highlight>
                <a:srgbClr val="FFFF00"/>
              </a:highlight>
            </a:endParaRPr>
          </a:p>
        </p:txBody>
      </p:sp>
    </p:spTree>
    <p:extLst>
      <p:ext uri="{BB962C8B-B14F-4D97-AF65-F5344CB8AC3E}">
        <p14:creationId xmlns:p14="http://schemas.microsoft.com/office/powerpoint/2010/main" val="299606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6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sz="3000" b="1" dirty="0">
                <a:solidFill>
                  <a:srgbClr val="232F3E"/>
                </a:solidFill>
                <a:latin typeface="Calibri"/>
              </a:rPr>
              <a:t>Two </a:t>
            </a:r>
            <a:r>
              <a:rPr lang="en-US" sz="3000" b="1" dirty="0">
                <a:solidFill>
                  <a:srgbClr val="232F3E"/>
                </a:solidFill>
                <a:latin typeface="Calibri"/>
              </a:rPr>
              <a:t>E</a:t>
            </a:r>
            <a:r>
              <a:rPr sz="3000" b="1" dirty="0">
                <a:solidFill>
                  <a:srgbClr val="232F3E"/>
                </a:solidFill>
                <a:latin typeface="Calibri"/>
              </a:rPr>
              <a:t>ngines, </a:t>
            </a:r>
            <a:r>
              <a:rPr lang="en-US" sz="3000" b="1" dirty="0">
                <a:solidFill>
                  <a:srgbClr val="232F3E"/>
                </a:solidFill>
                <a:latin typeface="Calibri"/>
              </a:rPr>
              <a:t>6</a:t>
            </a:r>
            <a:r>
              <a:rPr sz="3000" b="1" dirty="0">
                <a:solidFill>
                  <a:srgbClr val="232F3E"/>
                </a:solidFill>
                <a:latin typeface="Calibri"/>
              </a:rPr>
              <a:t> </a:t>
            </a:r>
            <a:r>
              <a:rPr lang="en-US" sz="3000" b="1" dirty="0">
                <a:solidFill>
                  <a:srgbClr val="232F3E"/>
                </a:solidFill>
                <a:latin typeface="Calibri"/>
              </a:rPr>
              <a:t>L</a:t>
            </a:r>
            <a:r>
              <a:rPr sz="3000" b="1" dirty="0">
                <a:solidFill>
                  <a:srgbClr val="232F3E"/>
                </a:solidFill>
                <a:latin typeface="Calibri"/>
              </a:rPr>
              <a:t>enses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dirty="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1700784"/>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700784"/>
            <a:ext cx="1517904" cy="365760"/>
          </a:xfrm>
          <a:prstGeom prst="rect">
            <a:avLst/>
          </a:prstGeom>
          <a:noFill/>
        </p:spPr>
        <p:txBody>
          <a:bodyPr wrap="square" lIns="0" tIns="0" rIns="0" bIns="0" anchor="ctr">
            <a:spAutoFit/>
          </a:bodyPr>
          <a:lstStyle/>
          <a:p>
            <a:pPr algn="l"/>
            <a:r>
              <a:rPr sz="1000" b="1">
                <a:solidFill>
                  <a:srgbClr val="FF9900"/>
                </a:solidFill>
                <a:latin typeface="Calibri"/>
              </a:rPr>
              <a:t>THE LENS</a:t>
            </a:r>
          </a:p>
        </p:txBody>
      </p:sp>
      <p:sp>
        <p:nvSpPr>
          <p:cNvPr id="12" name="TextBox 11"/>
          <p:cNvSpPr txBox="1"/>
          <p:nvPr/>
        </p:nvSpPr>
        <p:spPr>
          <a:xfrm>
            <a:off x="4352544" y="1700784"/>
            <a:ext cx="3419856" cy="365760"/>
          </a:xfrm>
          <a:prstGeom prst="rect">
            <a:avLst/>
          </a:prstGeom>
          <a:noFill/>
        </p:spPr>
        <p:txBody>
          <a:bodyPr wrap="square" lIns="0" tIns="0" rIns="0" bIns="0" anchor="ctr">
            <a:spAutoFit/>
          </a:bodyPr>
          <a:lstStyle/>
          <a:p>
            <a:pPr algn="l"/>
            <a:r>
              <a:rPr sz="1000" b="1">
                <a:solidFill>
                  <a:srgbClr val="FFFFFF"/>
                </a:solidFill>
                <a:latin typeface="Calibri"/>
              </a:rPr>
              <a:t>THE UPSIDE</a:t>
            </a:r>
          </a:p>
        </p:txBody>
      </p:sp>
      <p:sp>
        <p:nvSpPr>
          <p:cNvPr id="13" name="TextBox 12"/>
          <p:cNvSpPr txBox="1"/>
          <p:nvPr/>
        </p:nvSpPr>
        <p:spPr>
          <a:xfrm>
            <a:off x="8046719" y="1700784"/>
            <a:ext cx="2432303" cy="365760"/>
          </a:xfrm>
          <a:prstGeom prst="rect">
            <a:avLst/>
          </a:prstGeom>
          <a:noFill/>
        </p:spPr>
        <p:txBody>
          <a:bodyPr wrap="square" lIns="0" tIns="0" rIns="0" bIns="0" anchor="ctr">
            <a:spAutoFit/>
          </a:bodyPr>
          <a:lstStyle/>
          <a:p>
            <a:pPr algn="l"/>
            <a:r>
              <a:rPr sz="1000" b="1">
                <a:solidFill>
                  <a:srgbClr val="FFFFFF"/>
                </a:solidFill>
                <a:latin typeface="Calibri"/>
              </a:rPr>
              <a:t>THE TRADE-OFF</a:t>
            </a:r>
          </a:p>
        </p:txBody>
      </p:sp>
      <p:sp>
        <p:nvSpPr>
          <p:cNvPr id="14" name="TextBox 13"/>
          <p:cNvSpPr txBox="1"/>
          <p:nvPr/>
        </p:nvSpPr>
        <p:spPr>
          <a:xfrm>
            <a:off x="10753344" y="1700784"/>
            <a:ext cx="786384" cy="365760"/>
          </a:xfrm>
          <a:prstGeom prst="rect">
            <a:avLst/>
          </a:prstGeom>
          <a:noFill/>
        </p:spPr>
        <p:txBody>
          <a:bodyPr wrap="square" lIns="0" tIns="0" rIns="0" bIns="0" anchor="ctr">
            <a:spAutoFit/>
          </a:bodyPr>
          <a:lstStyle/>
          <a:p>
            <a:pPr algn="l"/>
            <a:r>
              <a:rPr sz="1000" b="1">
                <a:solidFill>
                  <a:srgbClr val="FFFFFF"/>
                </a:solidFill>
                <a:latin typeface="Calibri"/>
              </a:rPr>
              <a:t>WINNER</a:t>
            </a:r>
          </a:p>
        </p:txBody>
      </p:sp>
      <p:sp>
        <p:nvSpPr>
          <p:cNvPr id="15" name="TextBox 14"/>
          <p:cNvSpPr txBox="1"/>
          <p:nvPr/>
        </p:nvSpPr>
        <p:spPr>
          <a:xfrm>
            <a:off x="2267712"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RUN</a:t>
            </a:r>
          </a:p>
        </p:txBody>
      </p:sp>
      <p:sp>
        <p:nvSpPr>
          <p:cNvPr id="16" name="TextBox 15"/>
          <p:cNvSpPr txBox="1"/>
          <p:nvPr/>
        </p:nvSpPr>
        <p:spPr>
          <a:xfrm>
            <a:off x="2743200"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MEM</a:t>
            </a:r>
          </a:p>
        </p:txBody>
      </p:sp>
      <p:sp>
        <p:nvSpPr>
          <p:cNvPr id="17" name="TextBox 16"/>
          <p:cNvSpPr txBox="1"/>
          <p:nvPr/>
        </p:nvSpPr>
        <p:spPr>
          <a:xfrm>
            <a:off x="3218688"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GTW</a:t>
            </a:r>
          </a:p>
        </p:txBody>
      </p:sp>
      <p:sp>
        <p:nvSpPr>
          <p:cNvPr id="18" name="TextBox 17"/>
          <p:cNvSpPr txBox="1"/>
          <p:nvPr/>
        </p:nvSpPr>
        <p:spPr>
          <a:xfrm>
            <a:off x="3694176"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OBS</a:t>
            </a:r>
          </a:p>
        </p:txBody>
      </p:sp>
      <p:sp>
        <p:nvSpPr>
          <p:cNvPr id="19" name="Rectangle 18"/>
          <p:cNvSpPr/>
          <p:nvPr/>
        </p:nvSpPr>
        <p:spPr>
          <a:xfrm>
            <a:off x="566928" y="212140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7523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2121408"/>
            <a:ext cx="1517904" cy="640080"/>
          </a:xfrm>
          <a:prstGeom prst="rect">
            <a:avLst/>
          </a:prstGeom>
          <a:noFill/>
        </p:spPr>
        <p:txBody>
          <a:bodyPr wrap="square" lIns="0" tIns="0" rIns="0" bIns="0" anchor="ctr">
            <a:spAutoFit/>
          </a:bodyPr>
          <a:lstStyle/>
          <a:p>
            <a:pPr algn="l"/>
            <a:r>
              <a:rPr sz="1250" b="1">
                <a:solidFill>
                  <a:srgbClr val="232F3E"/>
                </a:solidFill>
                <a:latin typeface="Calibri"/>
              </a:rPr>
              <a:t>Cost</a:t>
            </a:r>
          </a:p>
        </p:txBody>
      </p:sp>
      <p:sp>
        <p:nvSpPr>
          <p:cNvPr id="22" name="Oval 21"/>
          <p:cNvSpPr/>
          <p:nvPr/>
        </p:nvSpPr>
        <p:spPr>
          <a:xfrm>
            <a:off x="2427732"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3220"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378708"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4196"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52544" y="2194560"/>
            <a:ext cx="3419856" cy="493775"/>
          </a:xfrm>
          <a:prstGeom prst="rect">
            <a:avLst/>
          </a:prstGeom>
          <a:noFill/>
        </p:spPr>
        <p:txBody>
          <a:bodyPr wrap="square" lIns="0" tIns="0" rIns="0" bIns="0" anchor="ctr">
            <a:spAutoFit/>
          </a:bodyPr>
          <a:lstStyle/>
          <a:p>
            <a:pPr algn="l"/>
            <a:r>
              <a:rPr sz="1000" b="0" dirty="0">
                <a:solidFill>
                  <a:srgbClr val="16191F"/>
                </a:solidFill>
                <a:latin typeface="Calibri"/>
              </a:rPr>
              <a:t>The $18/</a:t>
            </a:r>
            <a:r>
              <a:rPr sz="1000" b="0" dirty="0" err="1">
                <a:solidFill>
                  <a:srgbClr val="16191F"/>
                </a:solidFill>
                <a:latin typeface="Calibri"/>
              </a:rPr>
              <a:t>mo</a:t>
            </a:r>
            <a:r>
              <a:rPr sz="1000" b="0" dirty="0">
                <a:solidFill>
                  <a:srgbClr val="16191F"/>
                </a:solidFill>
                <a:latin typeface="Calibri"/>
              </a:rPr>
              <a:t> idle floor disappears — pay per second of real agent work.</a:t>
            </a:r>
          </a:p>
        </p:txBody>
      </p:sp>
      <p:sp>
        <p:nvSpPr>
          <p:cNvPr id="27" name="TextBox 26"/>
          <p:cNvSpPr txBox="1"/>
          <p:nvPr/>
        </p:nvSpPr>
        <p:spPr>
          <a:xfrm>
            <a:off x="8046719" y="2194560"/>
            <a:ext cx="2432303" cy="493775"/>
          </a:xfrm>
          <a:prstGeom prst="rect">
            <a:avLst/>
          </a:prstGeom>
          <a:noFill/>
        </p:spPr>
        <p:txBody>
          <a:bodyPr wrap="square" lIns="0" tIns="0" rIns="0" bIns="0" anchor="ctr">
            <a:spAutoFit/>
          </a:bodyPr>
          <a:lstStyle/>
          <a:p>
            <a:pPr algn="l"/>
            <a:r>
              <a:rPr sz="1000" b="0">
                <a:solidFill>
                  <a:srgbClr val="16191F"/>
                </a:solidFill>
                <a:latin typeface="Calibri"/>
              </a:rPr>
              <a:t>Unit price is 2.20× dearer per vCPU-hour; it wins on granularity, not rate.</a:t>
            </a:r>
          </a:p>
        </p:txBody>
      </p:sp>
      <p:sp>
        <p:nvSpPr>
          <p:cNvPr id="28" name="Rounded Rectangle 27"/>
          <p:cNvSpPr/>
          <p:nvPr/>
        </p:nvSpPr>
        <p:spPr>
          <a:xfrm>
            <a:off x="10661904" y="232257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61904" y="232257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0" name="Rectangle 29"/>
          <p:cNvSpPr/>
          <p:nvPr/>
        </p:nvSpPr>
        <p:spPr>
          <a:xfrm>
            <a:off x="566928" y="33924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2761487"/>
            <a:ext cx="1517904" cy="640080"/>
          </a:xfrm>
          <a:prstGeom prst="rect">
            <a:avLst/>
          </a:prstGeom>
          <a:noFill/>
        </p:spPr>
        <p:txBody>
          <a:bodyPr wrap="square" lIns="0" tIns="0" rIns="0" bIns="0" anchor="ctr">
            <a:spAutoFit/>
          </a:bodyPr>
          <a:lstStyle/>
          <a:p>
            <a:pPr algn="l"/>
            <a:r>
              <a:rPr sz="1250" b="1">
                <a:solidFill>
                  <a:srgbClr val="232F3E"/>
                </a:solidFill>
                <a:latin typeface="Calibri"/>
              </a:rPr>
              <a:t>Resilience</a:t>
            </a:r>
          </a:p>
        </p:txBody>
      </p:sp>
      <p:sp>
        <p:nvSpPr>
          <p:cNvPr id="32" name="Oval 31"/>
          <p:cNvSpPr/>
          <p:nvPr/>
        </p:nvSpPr>
        <p:spPr>
          <a:xfrm>
            <a:off x="2427732"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926079"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378708"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77056"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52544" y="2834639"/>
            <a:ext cx="3419856" cy="493775"/>
          </a:xfrm>
          <a:prstGeom prst="rect">
            <a:avLst/>
          </a:prstGeom>
          <a:noFill/>
        </p:spPr>
        <p:txBody>
          <a:bodyPr wrap="square" lIns="0" tIns="0" rIns="0" bIns="0" anchor="ctr">
            <a:spAutoFit/>
          </a:bodyPr>
          <a:lstStyle/>
          <a:p>
            <a:pPr algn="l"/>
            <a:r>
              <a:rPr sz="1000" b="0">
                <a:solidFill>
                  <a:srgbClr val="16191F"/>
                </a:solidFill>
                <a:latin typeface="Calibri"/>
              </a:rPr>
              <a:t>A microVM per session and a Lambda per tool: one fault loses 1 session, not 40.</a:t>
            </a:r>
          </a:p>
        </p:txBody>
      </p:sp>
      <p:sp>
        <p:nvSpPr>
          <p:cNvPr id="37" name="TextBox 36"/>
          <p:cNvSpPr txBox="1"/>
          <p:nvPr/>
        </p:nvSpPr>
        <p:spPr>
          <a:xfrm>
            <a:off x="8046719" y="2834639"/>
            <a:ext cx="2432303" cy="493775"/>
          </a:xfrm>
          <a:prstGeom prst="rect">
            <a:avLst/>
          </a:prstGeom>
          <a:noFill/>
        </p:spPr>
        <p:txBody>
          <a:bodyPr wrap="square" lIns="0" tIns="0" rIns="0" bIns="0" anchor="ctr">
            <a:spAutoFit/>
          </a:bodyPr>
          <a:lstStyle/>
          <a:p>
            <a:pPr algn="l"/>
            <a:r>
              <a:rPr sz="1000" b="0">
                <a:solidFill>
                  <a:srgbClr val="16191F"/>
                </a:solidFill>
                <a:latin typeface="Calibri"/>
              </a:rPr>
              <a:t>The container stops being yours — no sidecars, no in-process cache.</a:t>
            </a:r>
          </a:p>
        </p:txBody>
      </p:sp>
      <p:sp>
        <p:nvSpPr>
          <p:cNvPr id="38" name="Rounded Rectangle 37"/>
          <p:cNvSpPr/>
          <p:nvPr/>
        </p:nvSpPr>
        <p:spPr>
          <a:xfrm>
            <a:off x="10661904" y="296265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61904" y="296265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40" name="Rectangle 39"/>
          <p:cNvSpPr/>
          <p:nvPr/>
        </p:nvSpPr>
        <p:spPr>
          <a:xfrm>
            <a:off x="566928" y="340156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66928" y="403250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8368" y="3401568"/>
            <a:ext cx="1517904" cy="640080"/>
          </a:xfrm>
          <a:prstGeom prst="rect">
            <a:avLst/>
          </a:prstGeom>
          <a:noFill/>
        </p:spPr>
        <p:txBody>
          <a:bodyPr wrap="square" lIns="0" tIns="0" rIns="0" bIns="0" anchor="ctr">
            <a:spAutoFit/>
          </a:bodyPr>
          <a:lstStyle/>
          <a:p>
            <a:pPr algn="l"/>
            <a:r>
              <a:rPr sz="1250" b="1">
                <a:solidFill>
                  <a:srgbClr val="232F3E"/>
                </a:solidFill>
                <a:latin typeface="Calibri"/>
              </a:rPr>
              <a:t>Security</a:t>
            </a:r>
          </a:p>
        </p:txBody>
      </p:sp>
      <p:sp>
        <p:nvSpPr>
          <p:cNvPr id="43" name="Oval 42"/>
          <p:cNvSpPr/>
          <p:nvPr/>
        </p:nvSpPr>
        <p:spPr>
          <a:xfrm>
            <a:off x="2427732"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926079"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3378708"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3877056"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52544" y="3474720"/>
            <a:ext cx="3419856" cy="493775"/>
          </a:xfrm>
          <a:prstGeom prst="rect">
            <a:avLst/>
          </a:prstGeom>
          <a:noFill/>
        </p:spPr>
        <p:txBody>
          <a:bodyPr wrap="square" lIns="0" tIns="0" rIns="0" bIns="0" anchor="ctr">
            <a:spAutoFit/>
          </a:bodyPr>
          <a:lstStyle/>
          <a:p>
            <a:pPr algn="l"/>
            <a:r>
              <a:rPr sz="1000" b="0">
                <a:solidFill>
                  <a:srgbClr val="16191F"/>
                </a:solidFill>
                <a:latin typeface="Calibri"/>
              </a:rPr>
              <a:t>Auth resolves per tool; a hijacked session reaches only its own tokens.</a:t>
            </a:r>
          </a:p>
        </p:txBody>
      </p:sp>
      <p:sp>
        <p:nvSpPr>
          <p:cNvPr id="48" name="TextBox 47"/>
          <p:cNvSpPr txBox="1"/>
          <p:nvPr/>
        </p:nvSpPr>
        <p:spPr>
          <a:xfrm>
            <a:off x="8046719" y="3474720"/>
            <a:ext cx="2432303" cy="493775"/>
          </a:xfrm>
          <a:prstGeom prst="rect">
            <a:avLst/>
          </a:prstGeom>
          <a:noFill/>
        </p:spPr>
        <p:txBody>
          <a:bodyPr wrap="square" lIns="0" tIns="0" rIns="0" bIns="0" anchor="ctr">
            <a:spAutoFit/>
          </a:bodyPr>
          <a:lstStyle/>
          <a:p>
            <a:pPr algn="l"/>
            <a:r>
              <a:rPr sz="1000" b="0">
                <a:solidFill>
                  <a:srgbClr val="16191F"/>
                </a:solidFill>
                <a:latin typeface="Calibri"/>
              </a:rPr>
              <a:t>The isolation boundary is managed — you trust it, you cannot inspect it.</a:t>
            </a:r>
          </a:p>
        </p:txBody>
      </p:sp>
      <p:sp>
        <p:nvSpPr>
          <p:cNvPr id="49" name="Rounded Rectangle 48"/>
          <p:cNvSpPr/>
          <p:nvPr/>
        </p:nvSpPr>
        <p:spPr>
          <a:xfrm>
            <a:off x="10661904" y="3602735"/>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661904" y="3602735"/>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51" name="Rectangle 50"/>
          <p:cNvSpPr/>
          <p:nvPr/>
        </p:nvSpPr>
        <p:spPr>
          <a:xfrm>
            <a:off x="566928" y="4672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8368" y="4041648"/>
            <a:ext cx="1517904" cy="640080"/>
          </a:xfrm>
          <a:prstGeom prst="rect">
            <a:avLst/>
          </a:prstGeom>
          <a:noFill/>
        </p:spPr>
        <p:txBody>
          <a:bodyPr wrap="square" lIns="0" tIns="0" rIns="0" bIns="0" anchor="ctr">
            <a:spAutoFit/>
          </a:bodyPr>
          <a:lstStyle/>
          <a:p>
            <a:pPr algn="l"/>
            <a:r>
              <a:rPr sz="1250" b="1" dirty="0">
                <a:solidFill>
                  <a:srgbClr val="232F3E"/>
                </a:solidFill>
                <a:latin typeface="Calibri"/>
              </a:rPr>
              <a:t>Ownership &amp; velocity</a:t>
            </a:r>
          </a:p>
        </p:txBody>
      </p:sp>
      <p:sp>
        <p:nvSpPr>
          <p:cNvPr id="53" name="Oval 52"/>
          <p:cNvSpPr/>
          <p:nvPr/>
        </p:nvSpPr>
        <p:spPr>
          <a:xfrm>
            <a:off x="2450592"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903220"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378708"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877056"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352544" y="4114800"/>
            <a:ext cx="3419856" cy="493775"/>
          </a:xfrm>
          <a:prstGeom prst="rect">
            <a:avLst/>
          </a:prstGeom>
          <a:noFill/>
        </p:spPr>
        <p:txBody>
          <a:bodyPr wrap="square" lIns="0" tIns="0" rIns="0" bIns="0" anchor="ctr">
            <a:spAutoFit/>
          </a:bodyPr>
          <a:lstStyle/>
          <a:p>
            <a:pPr algn="l"/>
            <a:r>
              <a:rPr sz="1000" b="0">
                <a:solidFill>
                  <a:srgbClr val="16191F"/>
                </a:solidFill>
                <a:latin typeface="Calibri"/>
              </a:rPr>
              <a:t>Extraction becomes the service’s prompt; adding a tool stops being a deploy.</a:t>
            </a:r>
          </a:p>
        </p:txBody>
      </p:sp>
      <p:sp>
        <p:nvSpPr>
          <p:cNvPr id="58" name="TextBox 57"/>
          <p:cNvSpPr txBox="1"/>
          <p:nvPr/>
        </p:nvSpPr>
        <p:spPr>
          <a:xfrm>
            <a:off x="8046719" y="4114800"/>
            <a:ext cx="2432303" cy="493775"/>
          </a:xfrm>
          <a:prstGeom prst="rect">
            <a:avLst/>
          </a:prstGeom>
          <a:noFill/>
        </p:spPr>
        <p:txBody>
          <a:bodyPr wrap="square" lIns="0" tIns="0" rIns="0" bIns="0" anchor="ctr">
            <a:spAutoFit/>
          </a:bodyPr>
          <a:lstStyle/>
          <a:p>
            <a:pPr algn="l"/>
            <a:r>
              <a:rPr sz="1000" b="0">
                <a:solidFill>
                  <a:srgbClr val="16191F"/>
                </a:solidFill>
                <a:latin typeface="Calibri"/>
              </a:rPr>
              <a:t>You lose the extraction schema you designed — and the fields only it had.</a:t>
            </a:r>
          </a:p>
        </p:txBody>
      </p:sp>
      <p:sp>
        <p:nvSpPr>
          <p:cNvPr id="59" name="Rounded Rectangle 58"/>
          <p:cNvSpPr/>
          <p:nvPr/>
        </p:nvSpPr>
        <p:spPr>
          <a:xfrm>
            <a:off x="10661904" y="424281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661904" y="424281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61" name="Rectangle 60"/>
          <p:cNvSpPr/>
          <p:nvPr/>
        </p:nvSpPr>
        <p:spPr>
          <a:xfrm>
            <a:off x="566928" y="4681727"/>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66928" y="5312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58368" y="4905587"/>
            <a:ext cx="1517904" cy="192360"/>
          </a:xfrm>
          <a:prstGeom prst="rect">
            <a:avLst/>
          </a:prstGeom>
          <a:noFill/>
        </p:spPr>
        <p:txBody>
          <a:bodyPr wrap="square" lIns="0" tIns="0" rIns="0" bIns="0" anchor="ctr">
            <a:spAutoFit/>
          </a:bodyPr>
          <a:lstStyle/>
          <a:p>
            <a:pPr algn="l"/>
            <a:r>
              <a:rPr lang="en-US" sz="1250" b="1" dirty="0">
                <a:solidFill>
                  <a:srgbClr val="232F3E"/>
                </a:solidFill>
                <a:latin typeface="Calibri"/>
              </a:rPr>
              <a:t>Observability </a:t>
            </a:r>
            <a:endParaRPr sz="1250" b="1" dirty="0">
              <a:solidFill>
                <a:srgbClr val="232F3E"/>
              </a:solidFill>
              <a:latin typeface="Calibri"/>
            </a:endParaRPr>
          </a:p>
        </p:txBody>
      </p:sp>
      <p:sp>
        <p:nvSpPr>
          <p:cNvPr id="64" name="Oval 63"/>
          <p:cNvSpPr/>
          <p:nvPr/>
        </p:nvSpPr>
        <p:spPr>
          <a:xfrm>
            <a:off x="2450592"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926079"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401568"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854196" y="492404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352544" y="4754879"/>
            <a:ext cx="3419856" cy="493775"/>
          </a:xfrm>
          <a:prstGeom prst="rect">
            <a:avLst/>
          </a:prstGeom>
          <a:noFill/>
        </p:spPr>
        <p:txBody>
          <a:bodyPr wrap="square" lIns="0" tIns="0" rIns="0" bIns="0" anchor="ctr">
            <a:spAutoFit/>
          </a:bodyPr>
          <a:lstStyle/>
          <a:p>
            <a:pPr algn="l"/>
            <a:r>
              <a:rPr sz="1000" b="0">
                <a:solidFill>
                  <a:srgbClr val="16191F"/>
                </a:solidFill>
                <a:latin typeface="Calibri"/>
              </a:rPr>
              <a:t>Hand-wired OTEL emits exactly the fields that decide an incident at 2am.</a:t>
            </a:r>
          </a:p>
        </p:txBody>
      </p:sp>
      <p:sp>
        <p:nvSpPr>
          <p:cNvPr id="69" name="TextBox 68"/>
          <p:cNvSpPr txBox="1"/>
          <p:nvPr/>
        </p:nvSpPr>
        <p:spPr>
          <a:xfrm>
            <a:off x="8046719" y="4754879"/>
            <a:ext cx="2432303" cy="493775"/>
          </a:xfrm>
          <a:prstGeom prst="rect">
            <a:avLst/>
          </a:prstGeom>
          <a:noFill/>
        </p:spPr>
        <p:txBody>
          <a:bodyPr wrap="square" lIns="0" tIns="0" rIns="0" bIns="0" anchor="ctr">
            <a:spAutoFit/>
          </a:bodyPr>
          <a:lstStyle/>
          <a:p>
            <a:pPr algn="l"/>
            <a:r>
              <a:rPr sz="1000" b="0">
                <a:solidFill>
                  <a:srgbClr val="16191F"/>
                </a:solidFill>
                <a:latin typeface="Calibri"/>
              </a:rPr>
              <a:t>You write and maintain the span plumbing, plus a CloudWatch bill.</a:t>
            </a:r>
          </a:p>
        </p:txBody>
      </p:sp>
      <p:sp>
        <p:nvSpPr>
          <p:cNvPr id="70" name="Rounded Rectangle 69"/>
          <p:cNvSpPr/>
          <p:nvPr/>
        </p:nvSpPr>
        <p:spPr>
          <a:xfrm>
            <a:off x="10661904" y="4882895"/>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661904" y="4882895"/>
            <a:ext cx="969264" cy="237744"/>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72" name="Rectangle 71"/>
          <p:cNvSpPr/>
          <p:nvPr/>
        </p:nvSpPr>
        <p:spPr>
          <a:xfrm>
            <a:off x="566928" y="59527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58368" y="5321808"/>
            <a:ext cx="1517904" cy="640080"/>
          </a:xfrm>
          <a:prstGeom prst="rect">
            <a:avLst/>
          </a:prstGeom>
          <a:noFill/>
        </p:spPr>
        <p:txBody>
          <a:bodyPr wrap="square" lIns="0" tIns="0" rIns="0" bIns="0" anchor="ctr">
            <a:spAutoFit/>
          </a:bodyPr>
          <a:lstStyle/>
          <a:p>
            <a:pPr algn="l"/>
            <a:r>
              <a:rPr sz="1250" b="1">
                <a:solidFill>
                  <a:srgbClr val="232F3E"/>
                </a:solidFill>
                <a:latin typeface="Calibri"/>
              </a:rPr>
              <a:t>Latency</a:t>
            </a:r>
          </a:p>
        </p:txBody>
      </p:sp>
      <p:sp>
        <p:nvSpPr>
          <p:cNvPr id="74" name="Oval 73"/>
          <p:cNvSpPr/>
          <p:nvPr/>
        </p:nvSpPr>
        <p:spPr>
          <a:xfrm>
            <a:off x="2427732"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926079"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3378708"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3877056"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352544" y="5394960"/>
            <a:ext cx="3419856" cy="493775"/>
          </a:xfrm>
          <a:prstGeom prst="rect">
            <a:avLst/>
          </a:prstGeom>
          <a:noFill/>
        </p:spPr>
        <p:txBody>
          <a:bodyPr wrap="square" lIns="0" tIns="0" rIns="0" bIns="0" anchor="ctr">
            <a:spAutoFit/>
          </a:bodyPr>
          <a:lstStyle/>
          <a:p>
            <a:pPr algn="l"/>
            <a:r>
              <a:rPr sz="1000" b="0">
                <a:solidFill>
                  <a:srgbClr val="16191F"/>
                </a:solidFill>
                <a:latin typeface="Calibri"/>
              </a:rPr>
              <a:t>In-process tools on a warm task — a turn never waits on a hop.</a:t>
            </a:r>
          </a:p>
        </p:txBody>
      </p:sp>
      <p:sp>
        <p:nvSpPr>
          <p:cNvPr id="79" name="TextBox 78"/>
          <p:cNvSpPr txBox="1"/>
          <p:nvPr/>
        </p:nvSpPr>
        <p:spPr>
          <a:xfrm>
            <a:off x="8046719" y="5394960"/>
            <a:ext cx="2432303" cy="493775"/>
          </a:xfrm>
          <a:prstGeom prst="rect">
            <a:avLst/>
          </a:prstGeom>
          <a:noFill/>
        </p:spPr>
        <p:txBody>
          <a:bodyPr wrap="square" lIns="0" tIns="0" rIns="0" bIns="0" anchor="ctr">
            <a:spAutoFit/>
          </a:bodyPr>
          <a:lstStyle/>
          <a:p>
            <a:pPr algn="l"/>
            <a:r>
              <a:rPr sz="1000" b="0">
                <a:solidFill>
                  <a:srgbClr val="16191F"/>
                </a:solidFill>
                <a:latin typeface="Calibri"/>
              </a:rPr>
              <a:t>Engine B cold-starts an idle session and pays a Gateway hop per tool call.</a:t>
            </a:r>
          </a:p>
        </p:txBody>
      </p:sp>
      <p:sp>
        <p:nvSpPr>
          <p:cNvPr id="80" name="Rounded Rectangle 79"/>
          <p:cNvSpPr/>
          <p:nvPr/>
        </p:nvSpPr>
        <p:spPr>
          <a:xfrm>
            <a:off x="10661904" y="5522976"/>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661904" y="5522976"/>
            <a:ext cx="969264" cy="237744"/>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82" name="Rounded Rectangle 81"/>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749808" y="6120290"/>
            <a:ext cx="10698480" cy="176972"/>
          </a:xfrm>
          <a:prstGeom prst="rect">
            <a:avLst/>
          </a:prstGeom>
          <a:noFill/>
        </p:spPr>
        <p:txBody>
          <a:bodyPr wrap="square" lIns="0" tIns="0" rIns="0" bIns="0" anchor="ctr">
            <a:spAutoFit/>
          </a:bodyPr>
          <a:lstStyle/>
          <a:p>
            <a:pPr algn="l"/>
            <a:r>
              <a:rPr sz="1150" b="1" dirty="0">
                <a:solidFill>
                  <a:srgbClr val="232F3E"/>
                </a:solidFill>
                <a:highlight>
                  <a:srgbClr val="FFFF00"/>
                </a:highlight>
                <a:latin typeface="Calibri"/>
              </a:rPr>
              <a:t>4–2 to AgentCore — and the two it loses are the honest half. Latency stays on this slide: it does not change the decision.</a:t>
            </a:r>
          </a:p>
        </p:txBody>
      </p:sp>
      <p:sp>
        <p:nvSpPr>
          <p:cNvPr id="86" name="Rounded Rectangle 85">
            <a:extLst>
              <a:ext uri="{FF2B5EF4-FFF2-40B4-BE49-F238E27FC236}">
                <a16:creationId xmlns:a16="http://schemas.microsoft.com/office/drawing/2014/main" id="{217983E9-2881-B43C-8467-C68770626632}"/>
              </a:ext>
            </a:extLst>
          </p:cNvPr>
          <p:cNvSpPr/>
          <p:nvPr/>
        </p:nvSpPr>
        <p:spPr>
          <a:xfrm>
            <a:off x="5808911" y="426911"/>
            <a:ext cx="5999461" cy="871537"/>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general structure of the slide is good – the selected area isn’t good enough, have many </a:t>
            </a:r>
            <a:r>
              <a:rPr lang="en-US" dirty="0" err="1">
                <a:solidFill>
                  <a:srgbClr val="FF0000"/>
                </a:solidFill>
                <a:highlight>
                  <a:srgbClr val="FFFF00"/>
                </a:highlight>
              </a:rPr>
              <a:t>nuancves</a:t>
            </a:r>
            <a:r>
              <a:rPr lang="en-US" dirty="0">
                <a:solidFill>
                  <a:srgbClr val="FF0000"/>
                </a:solidFill>
                <a:highlight>
                  <a:srgbClr val="FFFF00"/>
                </a:highlight>
              </a:rPr>
              <a:t> and I </a:t>
            </a:r>
            <a:r>
              <a:rPr lang="en-US" dirty="0" err="1">
                <a:solidFill>
                  <a:srgbClr val="FF0000"/>
                </a:solidFill>
                <a:highlight>
                  <a:srgbClr val="FFFF00"/>
                </a:highlight>
              </a:rPr>
              <a:t>thingk</a:t>
            </a:r>
            <a:r>
              <a:rPr lang="en-US" dirty="0">
                <a:solidFill>
                  <a:srgbClr val="FF0000"/>
                </a:solidFill>
                <a:highlight>
                  <a:srgbClr val="FFFF00"/>
                </a:highlight>
              </a:rPr>
              <a:t> you did a bad job summarizing it</a:t>
            </a:r>
            <a:endParaRPr dirty="0">
              <a:solidFill>
                <a:srgbClr val="FF0000"/>
              </a:solidFill>
              <a:highlight>
                <a:srgbClr val="FFFF00"/>
              </a:highlight>
            </a:endParaRPr>
          </a:p>
        </p:txBody>
      </p:sp>
      <p:sp>
        <p:nvSpPr>
          <p:cNvPr id="87" name="Rounded Rectangle 86">
            <a:extLst>
              <a:ext uri="{FF2B5EF4-FFF2-40B4-BE49-F238E27FC236}">
                <a16:creationId xmlns:a16="http://schemas.microsoft.com/office/drawing/2014/main" id="{CE949B9A-8BC2-63D3-5952-0E396A2B8882}"/>
              </a:ext>
            </a:extLst>
          </p:cNvPr>
          <p:cNvSpPr/>
          <p:nvPr/>
        </p:nvSpPr>
        <p:spPr>
          <a:xfrm>
            <a:off x="4329683" y="2103120"/>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not nuanced enough and need revision</a:t>
            </a:r>
            <a:endParaRPr dirty="0">
              <a:solidFill>
                <a:srgbClr val="FF0000"/>
              </a:solidFill>
              <a:highlight>
                <a:srgbClr val="FFFF00"/>
              </a:highlight>
            </a:endParaRPr>
          </a:p>
        </p:txBody>
      </p:sp>
      <p:sp>
        <p:nvSpPr>
          <p:cNvPr id="88" name="Rounded Rectangle 87">
            <a:extLst>
              <a:ext uri="{FF2B5EF4-FFF2-40B4-BE49-F238E27FC236}">
                <a16:creationId xmlns:a16="http://schemas.microsoft.com/office/drawing/2014/main" id="{02DA8FA1-372D-85AC-6842-46C1E04C7717}"/>
              </a:ext>
            </a:extLst>
          </p:cNvPr>
          <p:cNvSpPr/>
          <p:nvPr/>
        </p:nvSpPr>
        <p:spPr>
          <a:xfrm>
            <a:off x="2173277" y="1173742"/>
            <a:ext cx="2118359"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Write the full name and add little symbol</a:t>
            </a:r>
            <a:endParaRPr dirty="0">
              <a:solidFill>
                <a:srgbClr val="FF0000"/>
              </a:solidFill>
              <a:highlight>
                <a:srgbClr val="FFFF00"/>
              </a:highlight>
            </a:endParaRPr>
          </a:p>
        </p:txBody>
      </p:sp>
      <p:sp>
        <p:nvSpPr>
          <p:cNvPr id="89" name="Rounded Rectangle 88">
            <a:extLst>
              <a:ext uri="{FF2B5EF4-FFF2-40B4-BE49-F238E27FC236}">
                <a16:creationId xmlns:a16="http://schemas.microsoft.com/office/drawing/2014/main" id="{D303AF6C-0786-B509-F544-093B93AF00AF}"/>
              </a:ext>
            </a:extLst>
          </p:cNvPr>
          <p:cNvSpPr/>
          <p:nvPr/>
        </p:nvSpPr>
        <p:spPr>
          <a:xfrm>
            <a:off x="-755140" y="3694176"/>
            <a:ext cx="2735577"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split isn’t so good, we </a:t>
            </a:r>
            <a:r>
              <a:rPr lang="en-US" dirty="0" err="1">
                <a:solidFill>
                  <a:srgbClr val="FF0000"/>
                </a:solidFill>
                <a:highlight>
                  <a:srgbClr val="FFFF00"/>
                </a:highlight>
              </a:rPr>
              <a:t>nned</a:t>
            </a:r>
            <a:r>
              <a:rPr lang="en-US" dirty="0">
                <a:solidFill>
                  <a:srgbClr val="FF0000"/>
                </a:solidFill>
                <a:highlight>
                  <a:srgbClr val="FFFF00"/>
                </a:highlight>
              </a:rPr>
              <a:t> 4 sections, lets </a:t>
            </a:r>
            <a:r>
              <a:rPr lang="en-US" dirty="0" err="1">
                <a:solidFill>
                  <a:srgbClr val="FF0000"/>
                </a:solidFill>
                <a:highlight>
                  <a:srgbClr val="FFFF00"/>
                </a:highlight>
              </a:rPr>
              <a:t>thignk</a:t>
            </a:r>
            <a:r>
              <a:rPr lang="en-US" dirty="0">
                <a:solidFill>
                  <a:srgbClr val="FF0000"/>
                </a:solidFill>
                <a:highlight>
                  <a:srgbClr val="FFFF00"/>
                </a:highlight>
              </a:rPr>
              <a:t> on it together</a:t>
            </a:r>
            <a:endParaRPr dirty="0">
              <a:solidFill>
                <a:srgbClr val="FF0000"/>
              </a:solidFill>
              <a:highlight>
                <a:srgbClr val="FFFF00"/>
              </a:highlight>
            </a:endParaRPr>
          </a:p>
        </p:txBody>
      </p:sp>
      <p:sp>
        <p:nvSpPr>
          <p:cNvPr id="90" name="Rounded Rectangle 89">
            <a:extLst>
              <a:ext uri="{FF2B5EF4-FFF2-40B4-BE49-F238E27FC236}">
                <a16:creationId xmlns:a16="http://schemas.microsoft.com/office/drawing/2014/main" id="{D08F9B6C-521F-D275-61E6-05273B3D8622}"/>
              </a:ext>
            </a:extLst>
          </p:cNvPr>
          <p:cNvSpPr/>
          <p:nvPr/>
        </p:nvSpPr>
        <p:spPr>
          <a:xfrm>
            <a:off x="4910327" y="4658865"/>
            <a:ext cx="6108193" cy="1030226"/>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what DIY actually means?</a:t>
            </a:r>
            <a:endParaRPr dirty="0">
              <a:solidFill>
                <a:srgbClr val="FF0000"/>
              </a:solidFill>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2C5000-38B5-B7F7-8194-CBCAAD6653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Cost split</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657E02C7-A751-D88F-1E47-9F43053613B6}"/>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to explain how the costs are </a:t>
            </a:r>
            <a:r>
              <a:rPr lang="en-US" dirty="0" err="1">
                <a:solidFill>
                  <a:srgbClr val="FF0000"/>
                </a:solidFill>
                <a:highlight>
                  <a:srgbClr val="FFFF00"/>
                </a:highlight>
              </a:rPr>
              <a:t>splited</a:t>
            </a:r>
            <a:r>
              <a:rPr lang="en-US" dirty="0">
                <a:solidFill>
                  <a:srgbClr val="FF0000"/>
                </a:solidFill>
                <a:highlight>
                  <a:srgbClr val="FFFF00"/>
                </a:highlight>
              </a:rPr>
              <a:t>:</a:t>
            </a:r>
          </a:p>
          <a:p>
            <a:pPr marL="342900" indent="-342900" algn="ctr" defTabSz="457200" rtl="0" eaLnBrk="1" latinLnBrk="0" hangingPunct="1">
              <a:buAutoNum type="arabicPeriod"/>
            </a:pPr>
            <a:r>
              <a:rPr lang="en-US" dirty="0">
                <a:solidFill>
                  <a:srgbClr val="FF0000"/>
                </a:solidFill>
                <a:highlight>
                  <a:srgbClr val="FFFF00"/>
                </a:highlight>
              </a:rPr>
              <a:t>Per turn model invocation</a:t>
            </a:r>
          </a:p>
          <a:p>
            <a:pPr marL="342900" indent="-342900" algn="ctr" defTabSz="457200" rtl="0" eaLnBrk="1" latinLnBrk="0" hangingPunct="1">
              <a:buAutoNum type="arabicPeriod"/>
            </a:pPr>
            <a:r>
              <a:rPr lang="en-US" dirty="0">
                <a:solidFill>
                  <a:srgbClr val="FF0000"/>
                </a:solidFill>
                <a:highlight>
                  <a:srgbClr val="FFFF00"/>
                </a:highlight>
              </a:rPr>
              <a:t>Preference extraction</a:t>
            </a:r>
          </a:p>
          <a:p>
            <a:pPr marL="342900" indent="-342900" algn="ctr" defTabSz="457200" rtl="0" eaLnBrk="1" latinLnBrk="0" hangingPunct="1">
              <a:buAutoNum type="arabicPeriod"/>
            </a:pPr>
            <a:r>
              <a:rPr lang="en-US" dirty="0">
                <a:solidFill>
                  <a:srgbClr val="FF0000"/>
                </a:solidFill>
                <a:highlight>
                  <a:srgbClr val="FFFF00"/>
                </a:highlight>
              </a:rPr>
              <a:t>Conversation saving over time</a:t>
            </a:r>
          </a:p>
          <a:p>
            <a:pPr marL="342900" indent="-342900" algn="ctr" defTabSz="457200" rtl="0" eaLnBrk="1" latinLnBrk="0" hangingPunct="1">
              <a:buAutoNum type="arabicPeriod"/>
            </a:pPr>
            <a:r>
              <a:rPr lang="en-US" dirty="0" err="1">
                <a:solidFill>
                  <a:srgbClr val="FF0000"/>
                </a:solidFill>
                <a:highlight>
                  <a:srgbClr val="FFFF00"/>
                </a:highlight>
              </a:rPr>
              <a:t>Additiona</a:t>
            </a:r>
            <a:r>
              <a:rPr lang="en-US" dirty="0">
                <a:solidFill>
                  <a:srgbClr val="FF0000"/>
                </a:solidFill>
                <a:highlight>
                  <a:srgbClr val="FFFF00"/>
                </a:highlight>
              </a:rPr>
              <a:t> thing I didn’t think of</a:t>
            </a:r>
          </a:p>
          <a:p>
            <a:pPr marL="342900" indent="-342900" algn="ctr" defTabSz="457200" rtl="0" eaLnBrk="1" latinLnBrk="0" hangingPunct="1">
              <a:buAutoNum type="arabicPeriod"/>
            </a:pPr>
            <a:r>
              <a:rPr lang="en-US" dirty="0">
                <a:solidFill>
                  <a:srgbClr val="FF0000"/>
                </a:solidFill>
                <a:highlight>
                  <a:srgbClr val="FFFF00"/>
                </a:highlight>
              </a:rPr>
              <a:t>Per user vs fixed cost</a:t>
            </a:r>
          </a:p>
          <a:p>
            <a:pPr marL="342900" indent="-342900" algn="ctr" defTabSz="457200" rtl="0" eaLnBrk="1" latinLnBrk="0" hangingPunct="1">
              <a:buAutoNum type="arabicPeriod"/>
            </a:pPr>
            <a:r>
              <a:rPr lang="en-US" dirty="0" err="1">
                <a:solidFill>
                  <a:srgbClr val="FF0000"/>
                </a:solidFill>
                <a:highlight>
                  <a:srgbClr val="FFFF00"/>
                </a:highlight>
              </a:rPr>
              <a:t>Igonoreing</a:t>
            </a:r>
            <a:r>
              <a:rPr lang="en-US" dirty="0">
                <a:solidFill>
                  <a:srgbClr val="FF0000"/>
                </a:solidFill>
                <a:highlight>
                  <a:srgbClr val="FFFF00"/>
                </a:highlight>
              </a:rPr>
              <a:t> educational </a:t>
            </a:r>
            <a:r>
              <a:rPr lang="en-US" dirty="0" err="1">
                <a:solidFill>
                  <a:srgbClr val="FF0000"/>
                </a:solidFill>
                <a:highlight>
                  <a:srgbClr val="FFFF00"/>
                </a:highlight>
              </a:rPr>
              <a:t>resourecs</a:t>
            </a:r>
            <a:endParaRPr lang="en-US" dirty="0">
              <a:solidFill>
                <a:srgbClr val="FF0000"/>
              </a:solidFill>
              <a:highlight>
                <a:srgbClr val="FFFF00"/>
              </a:highlight>
            </a:endParaRPr>
          </a:p>
          <a:p>
            <a:pPr marL="342900" indent="-342900" algn="ctr" defTabSz="457200" rtl="0" eaLnBrk="1" latinLnBrk="0" hangingPunct="1">
              <a:buAutoNum type="arabicPeriod"/>
            </a:pPr>
            <a:r>
              <a:rPr lang="en-US" dirty="0">
                <a:solidFill>
                  <a:srgbClr val="FF0000"/>
                </a:solidFill>
                <a:highlight>
                  <a:srgbClr val="FFFF00"/>
                </a:highlight>
              </a:rPr>
              <a:t>Not in the </a:t>
            </a:r>
            <a:r>
              <a:rPr lang="en-US" dirty="0" err="1">
                <a:solidFill>
                  <a:srgbClr val="FF0000"/>
                </a:solidFill>
                <a:highlight>
                  <a:srgbClr val="FFFF00"/>
                </a:highlight>
              </a:rPr>
              <a:t>lisde</a:t>
            </a:r>
            <a:r>
              <a:rPr lang="en-US" dirty="0">
                <a:solidFill>
                  <a:srgbClr val="FF0000"/>
                </a:solidFill>
                <a:highlight>
                  <a:srgbClr val="FFFF00"/>
                </a:highlight>
              </a:rPr>
              <a:t> itself, but in the notes put reference to every cost you mention because it is super important to be super exact and refer to the exact </a:t>
            </a:r>
            <a:r>
              <a:rPr lang="en-US" dirty="0" err="1">
                <a:solidFill>
                  <a:srgbClr val="FF0000"/>
                </a:solidFill>
                <a:highlight>
                  <a:srgbClr val="FFFF00"/>
                </a:highlight>
              </a:rPr>
              <a:t>palce</a:t>
            </a:r>
            <a:r>
              <a:rPr lang="en-US" dirty="0">
                <a:solidFill>
                  <a:srgbClr val="FF0000"/>
                </a:solidFill>
                <a:highlight>
                  <a:srgbClr val="FFFF00"/>
                </a:highlight>
              </a:rPr>
              <a:t> where it say it cost like that</a:t>
            </a:r>
          </a:p>
          <a:p>
            <a:pPr marL="342900" indent="-342900" algn="ctr" defTabSz="457200" rtl="0" eaLnBrk="1" latinLnBrk="0" hangingPunct="1">
              <a:buAutoNum type="arabicPeriod"/>
            </a:pPr>
            <a:endParaRPr lang="en-US" dirty="0">
              <a:solidFill>
                <a:srgbClr val="FF0000"/>
              </a:solidFill>
              <a:highlight>
                <a:srgbClr val="FFFF00"/>
              </a:highlight>
            </a:endParaRPr>
          </a:p>
          <a:p>
            <a:pPr marL="342900" indent="-342900" algn="ctr" defTabSz="457200" rtl="0" eaLnBrk="1" latinLnBrk="0" hangingPunct="1">
              <a:buAutoNum type="arabicPeriod"/>
            </a:pPr>
            <a:endParaRPr lang="en-US" dirty="0">
              <a:solidFill>
                <a:srgbClr val="FF0000"/>
              </a:solidFill>
              <a:highlight>
                <a:srgbClr val="FFFF00"/>
              </a:highlight>
            </a:endParaRPr>
          </a:p>
          <a:p>
            <a:pPr algn="ctr" defTabSz="457200" rtl="0" eaLnBrk="1" latinLnBrk="0" hangingPunct="1"/>
            <a:r>
              <a:rPr lang="en-US" dirty="0">
                <a:solidFill>
                  <a:srgbClr val="FF0000"/>
                </a:solidFill>
                <a:highlight>
                  <a:srgbClr val="FFFF00"/>
                </a:highlight>
              </a:rPr>
              <a:t>Put special effort into this slide</a:t>
            </a:r>
            <a:endParaRPr dirty="0">
              <a:solidFill>
                <a:srgbClr val="FF0000"/>
              </a:solidFill>
              <a:highlight>
                <a:srgbClr val="FFFF00"/>
              </a:highlight>
            </a:endParaRPr>
          </a:p>
        </p:txBody>
      </p:sp>
    </p:spTree>
    <p:extLst>
      <p:ext uri="{BB962C8B-B14F-4D97-AF65-F5344CB8AC3E}">
        <p14:creationId xmlns:p14="http://schemas.microsoft.com/office/powerpoint/2010/main" val="32920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
        <p:nvSpPr>
          <p:cNvPr id="40" name="Rounded Rectangle 39">
            <a:extLst>
              <a:ext uri="{FF2B5EF4-FFF2-40B4-BE49-F238E27FC236}">
                <a16:creationId xmlns:a16="http://schemas.microsoft.com/office/drawing/2014/main" id="{764A659E-300D-E977-FDF8-0BAB0030297A}"/>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err="1">
                <a:solidFill>
                  <a:srgbClr val="FF0000"/>
                </a:solidFill>
                <a:highlight>
                  <a:srgbClr val="FFFF00"/>
                </a:highlight>
              </a:rPr>
              <a:t>Resilance</a:t>
            </a:r>
            <a:r>
              <a:rPr lang="en-US" dirty="0">
                <a:solidFill>
                  <a:srgbClr val="FF0000"/>
                </a:solidFill>
                <a:highlight>
                  <a:srgbClr val="FFFF00"/>
                </a:highlight>
              </a:rPr>
              <a:t> of what?</a:t>
            </a:r>
            <a:endParaRPr dirty="0">
              <a:solidFill>
                <a:srgbClr val="FF0000"/>
              </a:solidFill>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Debuggability — the lens DIY wins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5340"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5340"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5340"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97449"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97449"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7449"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9558"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39558"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39558"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81667"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81667"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681667"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tIns="0" r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870448"/>
            <a:ext cx="10661904" cy="384048"/>
          </a:xfrm>
          <a:prstGeom prst="rect">
            <a:avLst/>
          </a:prstGeom>
          <a:noFill/>
        </p:spPr>
        <p:txBody>
          <a:bodyPr wrap="square" lIns="0" tIns="0" r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4156"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9428"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tIns="0" r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tIns="0" r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tIns="0" r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tIns="0" r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tIns="0" r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tIns="0" r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tIns="0" r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tIns="0" r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tIns="0" rIns="0" bIns="0" anchor="ctr">
            <a:spAutoFit/>
          </a:bodyPr>
          <a:lstStyle/>
          <a:p>
            <a:pPr algn="r"/>
            <a:r>
              <a:rPr sz="1000" b="1">
                <a:solidFill>
                  <a:srgbClr val="232F3E"/>
                </a:solidFill>
                <a:latin typeface="Calibri"/>
              </a:rPr>
              <a:t>Infra / Workflow</a:t>
            </a:r>
          </a:p>
        </p:txBody>
      </p:sp>
      <p:pic>
        <p:nvPicPr>
          <p:cNvPr id="35"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64792"/>
            <a:ext cx="10277856" cy="676656"/>
          </a:xfrm>
          <a:prstGeom prst="rect">
            <a:avLst/>
          </a:prstGeom>
          <a:noFill/>
        </p:spPr>
        <p:txBody>
          <a:bodyPr wrap="square" lIns="0" tIns="0" rIns="0" bIns="0" anchor="ctr">
            <a:spAutoFit/>
          </a:bodyPr>
          <a:lstStyle/>
          <a:p>
            <a:pPr algn="l"/>
            <a:r>
              <a:rPr sz="1250" b="1">
                <a:solidFill>
                  <a:srgbClr val="232F3E"/>
                </a:solidFill>
                <a:latin typeface="Calibri"/>
              </a:rPr>
              <a:t>An agent is a loop, not a chatbot.  </a:t>
            </a:r>
            <a:r>
              <a:rPr sz="1250" b="0">
                <a:solidFill>
                  <a:srgbClr val="16191F"/>
                </a:solidFill>
                <a:latin typeface="Calibri"/>
              </a:rPr>
              <a:t>The agentic part of Valentin isn’t Claude — it’s trigger → tools → propose → extract → re-schedule, and every pass rewrites the timeline that feeds the next one. EventBridge closes the loop, not the model.</a:t>
            </a: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808767"/>
            <a:ext cx="420624" cy="307777"/>
          </a:xfrm>
          <a:prstGeom prst="rect">
            <a:avLst/>
          </a:prstGeom>
          <a:noFill/>
        </p:spPr>
        <p:txBody>
          <a:bodyPr wrap="square" lIns="0" tIns="0" rIns="0" bIns="0" anchor="ctr">
            <a:spAutoFit/>
          </a:bodyPr>
          <a:lstStyle/>
          <a:p>
            <a:pPr algn="ctr"/>
            <a:r>
              <a:rPr sz="2000" b="1">
                <a:solidFill>
                  <a:srgbClr val="FF9900"/>
                </a:solidFill>
                <a:highlight>
                  <a:srgbClr val="FFFF00"/>
                </a:highlight>
                <a:latin typeface="Calibri"/>
              </a:rPr>
              <a:t>2</a:t>
            </a:r>
          </a:p>
        </p:txBody>
      </p:sp>
      <p:sp>
        <p:nvSpPr>
          <p:cNvPr id="17" name="TextBox 16"/>
          <p:cNvSpPr txBox="1"/>
          <p:nvPr/>
        </p:nvSpPr>
        <p:spPr>
          <a:xfrm>
            <a:off x="1207008" y="2624327"/>
            <a:ext cx="10277856" cy="676656"/>
          </a:xfrm>
          <a:prstGeom prst="rect">
            <a:avLst/>
          </a:prstGeom>
          <a:noFill/>
        </p:spPr>
        <p:txBody>
          <a:bodyPr wrap="square" lIns="0" tIns="0" rIns="0" bIns="0" anchor="ctr">
            <a:spAutoFit/>
          </a:bodyPr>
          <a:lstStyle/>
          <a:p>
            <a:pPr algn="l"/>
            <a:r>
              <a:rPr sz="1250" b="1">
                <a:solidFill>
                  <a:srgbClr val="232F3E"/>
                </a:solidFill>
                <a:latin typeface="Calibri"/>
              </a:rPr>
              <a:t>When you and the agent are both stuck, the next prompt is not the answer.  </a:t>
            </a:r>
            <a:r>
              <a:rPr sz="1250" b="0">
                <a:solidFill>
                  <a:srgbClr val="16191F"/>
                </a:solidFill>
                <a:latin typeface="Calibri"/>
              </a:rPr>
              <a:t>Stop and spend five minutes with pen and paper. Every long débâcle in this project ended the moment I stopped prompting and drew the thing.</a:t>
            </a: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668303"/>
            <a:ext cx="420624" cy="307777"/>
          </a:xfrm>
          <a:prstGeom prst="rect">
            <a:avLst/>
          </a:prstGeom>
          <a:noFill/>
        </p:spPr>
        <p:txBody>
          <a:bodyPr wrap="square" lIns="0" tIns="0" rIns="0" bIns="0" anchor="ctr">
            <a:spAutoFit/>
          </a:bodyPr>
          <a:lstStyle/>
          <a:p>
            <a:pPr algn="ctr"/>
            <a:r>
              <a:rPr sz="2000" b="1" dirty="0">
                <a:solidFill>
                  <a:srgbClr val="FF9900"/>
                </a:solidFill>
                <a:highlight>
                  <a:srgbClr val="FFFF00"/>
                </a:highlight>
                <a:latin typeface="Calibri"/>
              </a:rPr>
              <a:t>3</a:t>
            </a:r>
          </a:p>
        </p:txBody>
      </p:sp>
      <p:sp>
        <p:nvSpPr>
          <p:cNvPr id="21" name="TextBox 20"/>
          <p:cNvSpPr txBox="1"/>
          <p:nvPr/>
        </p:nvSpPr>
        <p:spPr>
          <a:xfrm>
            <a:off x="1207008" y="3483864"/>
            <a:ext cx="10277856" cy="676656"/>
          </a:xfrm>
          <a:prstGeom prst="rect">
            <a:avLst/>
          </a:prstGeom>
          <a:noFill/>
        </p:spPr>
        <p:txBody>
          <a:bodyPr wrap="square" lIns="0" tIns="0" rIns="0" bIns="0" anchor="ctr">
            <a:spAutoFit/>
          </a:bodyPr>
          <a:lstStyle/>
          <a:p>
            <a:pPr algn="l"/>
            <a:r>
              <a:rPr sz="1250" b="1">
                <a:solidFill>
                  <a:srgbClr val="232F3E"/>
                </a:solidFill>
                <a:latin typeface="Calibri"/>
              </a:rPr>
              <a:t>Most of the tokens went to the workflow, not the code.  </a:t>
            </a:r>
            <a:r>
              <a:rPr sz="1250" b="0">
                <a:solidFill>
                  <a:srgbClr val="16191F"/>
                </a:solidFill>
                <a:latin typeface="Calibri"/>
              </a:rPr>
              <a:t>31 of 56 PRs built the factory — specs, review loops, merge gates, regression tests for the automation itself. That is what made the other 25 safe to merge.</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a:solidFill>
                  <a:srgbClr val="232F3E"/>
                </a:solidFill>
                <a:latin typeface="Calibri"/>
              </a:rPr>
              <a:t>The strongest case for AgentCore isn’t the bill, it’s the blast radius.  </a:t>
            </a:r>
            <a:r>
              <a:rPr sz="1250" b="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202936"/>
            <a:ext cx="10277856" cy="676656"/>
          </a:xfrm>
          <a:prstGeom prst="rect">
            <a:avLst/>
          </a:prstGeom>
          <a:noFill/>
        </p:spPr>
        <p:txBody>
          <a:bodyPr wrap="square" lIns="0" tIns="0" rIns="0" bIns="0" anchor="ctr">
            <a:spAutoFit/>
          </a:bodyPr>
          <a:lstStyle/>
          <a:p>
            <a:pPr algn="l"/>
            <a:r>
              <a:rPr sz="1250" b="1">
                <a:solidFill>
                  <a:srgbClr val="232F3E"/>
                </a:solidFill>
                <a:latin typeface="Calibri"/>
              </a:rPr>
              <a:t>It’s easy to gate “the service is up,” hard to gate “the LLM works.”  </a:t>
            </a:r>
            <a:r>
              <a:rPr sz="1250" b="0">
                <a:solidFill>
                  <a:srgbClr val="16191F"/>
                </a:solidFill>
                <a:latin typeface="Calibri"/>
              </a:rPr>
              <a:t>A missing Bedrock permission returned a polite fallback with HTTP 200; a # in the actorId made Memory silently store nothing while chat kept chatting. The only gate that caught either was a live conversation asserting on what the agent remembered.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7907</TotalTime>
  <Words>4185</Words>
  <Application>Microsoft Macintosh PowerPoint</Application>
  <PresentationFormat>Widescreen</PresentationFormat>
  <Paragraphs>564</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6</cp:revision>
  <dcterms:created xsi:type="dcterms:W3CDTF">2013-01-27T09:14:16Z</dcterms:created>
  <dcterms:modified xsi:type="dcterms:W3CDTF">2026-09-12T07:38:49Z</dcterms:modified>
  <cp:category/>
</cp:coreProperties>
</file>