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600" b="1">
                <a:solidFill>
                  <a:srgbClr val="FF9900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65760"/>
            <a:ext cx="100584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232F3E"/>
                </a:solidFill>
                <a:latin typeface="Calibri"/>
              </a:rPr>
              <a:t>Every node is a real pull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371600" cy="3657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45B64"/>
                </a:solidFill>
                <a:latin typeface="Calibri"/>
              </a:rPr>
              <a:t>All 148 of them, in the order they were opened, connected to where they merged.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45B64"/>
                </a:solidFill>
                <a:latin typeface="Calibri"/>
              </a:rPr>
              <a:t>VALENTIN   ·   GenAI TFC Capstone Deep-Dive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45B64"/>
                </a:solidFill>
                <a:latin typeface="Calibri"/>
              </a:rPr>
              <a:t>16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92224"/>
            <a:ext cx="11064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B64"/>
                </a:solidFill>
                <a:latin typeface="Calibri"/>
              </a:rPr>
              <a:t>node size = files changed   ·   ring = a genuine multi-agent review thread   ·   dashed = reviewed, then closed without merging   ·   left to right = the order the PRs were opened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50592"/>
            <a:ext cx="120700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>
                <a:solidFill>
                  <a:srgbClr val="232F3E"/>
                </a:solidFill>
                <a:latin typeface="Calibri"/>
              </a:rPr>
              <a:t>Master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734056"/>
            <a:ext cx="120700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>
                <a:solidFill>
                  <a:srgbClr val="232F3E"/>
                </a:solidFill>
                <a:latin typeface="Calibri"/>
              </a:rPr>
              <a:t>System 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17520"/>
            <a:ext cx="120700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>
                <a:solidFill>
                  <a:srgbClr val="232F3E"/>
                </a:solidFill>
                <a:latin typeface="Calibri"/>
              </a:rPr>
              <a:t>Frontend 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300984"/>
            <a:ext cx="120700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>
                <a:solidFill>
                  <a:srgbClr val="232F3E"/>
                </a:solidFill>
                <a:latin typeface="Calibri"/>
              </a:rPr>
              <a:t>Backend 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84448"/>
            <a:ext cx="120700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>
                <a:solidFill>
                  <a:srgbClr val="232F3E"/>
                </a:solidFill>
                <a:latin typeface="Calibri"/>
              </a:rPr>
              <a:t>UI Designer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867912"/>
            <a:ext cx="120700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>
                <a:solidFill>
                  <a:srgbClr val="232F3E"/>
                </a:solidFill>
                <a:latin typeface="Calibri"/>
              </a:rPr>
              <a:t>QA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151376"/>
            <a:ext cx="120700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>
                <a:solidFill>
                  <a:srgbClr val="232F3E"/>
                </a:solidFill>
                <a:latin typeface="Calibri"/>
              </a:rPr>
              <a:t>Infra / Workflow</a:t>
            </a:r>
          </a:p>
        </p:txBody>
      </p:sp>
      <p:pic>
        <p:nvPicPr>
          <p:cNvPr id="17" name="Picture 16" descr="pr-graph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2148840"/>
            <a:ext cx="9756648" cy="224786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66928" y="4956048"/>
            <a:ext cx="2651760" cy="78638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10912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232F3E"/>
                </a:solidFill>
                <a:latin typeface="Calibri"/>
              </a:rPr>
              <a:t>148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1" y="5010912"/>
            <a:ext cx="14264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Calibri"/>
              </a:rPr>
              <a:t>pull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232257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45B64"/>
                </a:solidFill>
                <a:latin typeface="Calibri"/>
              </a:rPr>
              <a:t>134 merged · 9 closed · 5 open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67278" y="4956048"/>
            <a:ext cx="2651760" cy="78638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1870" y="5010912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232F3E"/>
                </a:solidFill>
                <a:latin typeface="Calibri"/>
              </a:rPr>
              <a:t>697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7982" y="5010912"/>
            <a:ext cx="14264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Calibri"/>
              </a:rPr>
              <a:t>commits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1870" y="5394960"/>
            <a:ext cx="232257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45B64"/>
                </a:solidFill>
                <a:latin typeface="Calibri"/>
              </a:rPr>
              <a:t>+264,206 lines, 2,579 files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7628" y="4956048"/>
            <a:ext cx="2651760" cy="78638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2220" y="5010912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232F3E"/>
                </a:solidFill>
                <a:latin typeface="Calibri"/>
              </a:rPr>
              <a:t>164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8332" y="5010912"/>
            <a:ext cx="14264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Calibri"/>
              </a:rPr>
              <a:t>review comments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2220" y="5394960"/>
            <a:ext cx="232257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45B64"/>
                </a:solidFill>
                <a:latin typeface="Calibri"/>
              </a:rPr>
              <a:t>the longest thread ran 6 rounds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7978" y="4956048"/>
            <a:ext cx="2651760" cy="78638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32569" y="5010912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232F3E"/>
                </a:solidFill>
                <a:latin typeface="Calibri"/>
              </a:rPr>
              <a:t>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8682" y="5010912"/>
            <a:ext cx="14264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Calibri"/>
              </a:rPr>
              <a:t>workflow PRs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69" y="5394960"/>
            <a:ext cx="232257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45B64"/>
                </a:solidFill>
                <a:latin typeface="Calibri"/>
              </a:rPr>
              <a:t>the methodology is the biggest lane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888736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0">
                <a:solidFill>
                  <a:srgbClr val="545B64"/>
                </a:solidFill>
                <a:latin typeface="Calibri"/>
              </a:rPr>
              <a:t>Generated from the repo’s PR history by a script, so it cannot drift. Node size is files changed; a ring means a genuine multi-agent review thread; the axis is PR order, not a calendar. At the peak, 10 PRs were open at once.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